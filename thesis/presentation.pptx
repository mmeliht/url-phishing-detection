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8" r:id="rId3"/>
    <p:sldId id="269" r:id="rId4"/>
    <p:sldId id="257" r:id="rId5"/>
    <p:sldId id="270" r:id="rId6"/>
    <p:sldId id="271" r:id="rId7"/>
    <p:sldId id="259" r:id="rId8"/>
    <p:sldId id="272" r:id="rId9"/>
    <p:sldId id="273" r:id="rId10"/>
    <p:sldId id="261" r:id="rId11"/>
    <p:sldId id="274" r:id="rId12"/>
    <p:sldId id="275" r:id="rId13"/>
    <p:sldId id="292" r:id="rId14"/>
    <p:sldId id="277" r:id="rId15"/>
    <p:sldId id="263" r:id="rId16"/>
    <p:sldId id="280" r:id="rId17"/>
    <p:sldId id="279" r:id="rId18"/>
    <p:sldId id="290" r:id="rId19"/>
    <p:sldId id="282" r:id="rId20"/>
    <p:sldId id="293" r:id="rId21"/>
    <p:sldId id="284" r:id="rId22"/>
    <p:sldId id="291" r:id="rId23"/>
    <p:sldId id="286" r:id="rId24"/>
    <p:sldId id="287" r:id="rId25"/>
    <p:sldId id="288" r:id="rId26"/>
    <p:sldId id="267"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978" autoAdjust="0"/>
    <p:restoredTop sz="94646"/>
  </p:normalViewPr>
  <p:slideViewPr>
    <p:cSldViewPr snapToGrid="0" snapToObjects="1">
      <p:cViewPr varScale="1">
        <p:scale>
          <a:sx n="108" d="100"/>
          <a:sy n="108" d="100"/>
        </p:scale>
        <p:origin x="928" y="19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7/27/26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7/27/26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7/27/26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7/27/26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7/27/26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7/27/26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jpe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6" Type="http://schemas.openxmlformats.org/officeDocument/2006/relationships/image" Target="../media/image4.jpeg"/><Relationship Id="rId1" Type="http://schemas.openxmlformats.org/officeDocument/2006/relationships/slideLayout" Target="../slideLayouts/slideLayout7.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5" Type="http://schemas.openxmlformats.org/officeDocument/2006/relationships/image" Target="../media/image1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s>
</file>

<file path=ppt/slides/_rels/slide3.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5.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27.png"/><Relationship Id="rId10" Type="http://schemas.openxmlformats.org/officeDocument/2006/relationships/image" Target="../media/image4.jpeg"/><Relationship Id="rId4" Type="http://schemas.openxmlformats.org/officeDocument/2006/relationships/image" Target="../media/image26.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4.png"/><Relationship Id="rId5" Type="http://schemas.openxmlformats.org/officeDocument/2006/relationships/image" Target="../media/image33.png"/><Relationship Id="rId10" Type="http://schemas.openxmlformats.org/officeDocument/2006/relationships/image" Target="../media/image4.jpeg"/><Relationship Id="rId4" Type="http://schemas.openxmlformats.org/officeDocument/2006/relationships/image" Target="../media/image32.png"/><Relationship Id="rId9"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7" Type="http://schemas.openxmlformats.org/officeDocument/2006/relationships/image" Target="../media/image4.jpe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 Id="rId9" Type="http://schemas.openxmlformats.org/officeDocument/2006/relationships/image" Target="../media/image4.jpeg"/></Relationships>
</file>

<file path=ppt/slides/_rels/slide13.xml.rels><?xml version="1.0" encoding="UTF-8" standalone="yes"?>
<Relationships xmlns="http://schemas.openxmlformats.org/package/2006/relationships"><Relationship Id="rId8" Type="http://schemas.openxmlformats.org/officeDocument/2006/relationships/image" Target="../media/image51.png"/><Relationship Id="rId13" Type="http://schemas.openxmlformats.org/officeDocument/2006/relationships/image" Target="../media/image18.png"/><Relationship Id="rId3" Type="http://schemas.openxmlformats.org/officeDocument/2006/relationships/image" Target="../media/image46.png"/><Relationship Id="rId7" Type="http://schemas.openxmlformats.org/officeDocument/2006/relationships/image" Target="../media/image50.png"/><Relationship Id="rId12" Type="http://schemas.openxmlformats.org/officeDocument/2006/relationships/image" Target="../media/image55.png"/><Relationship Id="rId2" Type="http://schemas.openxmlformats.org/officeDocument/2006/relationships/slideLayout" Target="../slideLayouts/slideLayout7.xml"/><Relationship Id="rId1" Type="http://schemas.openxmlformats.org/officeDocument/2006/relationships/themeOverride" Target="../theme/themeOverride1.xml"/><Relationship Id="rId6" Type="http://schemas.openxmlformats.org/officeDocument/2006/relationships/image" Target="../media/image49.png"/><Relationship Id="rId11" Type="http://schemas.openxmlformats.org/officeDocument/2006/relationships/image" Target="../media/image54.png"/><Relationship Id="rId5" Type="http://schemas.openxmlformats.org/officeDocument/2006/relationships/image" Target="../media/image48.png"/><Relationship Id="rId10" Type="http://schemas.openxmlformats.org/officeDocument/2006/relationships/image" Target="../media/image53.png"/><Relationship Id="rId4" Type="http://schemas.openxmlformats.org/officeDocument/2006/relationships/image" Target="../media/image47.png"/><Relationship Id="rId9" Type="http://schemas.openxmlformats.org/officeDocument/2006/relationships/image" Target="../media/image52.png"/><Relationship Id="rId14" Type="http://schemas.openxmlformats.org/officeDocument/2006/relationships/image" Target="../media/image4.jpeg"/></Relationships>
</file>

<file path=ppt/slides/_rels/slide14.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image" Target="../media/image56.png"/><Relationship Id="rId7"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6.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12" Type="http://schemas.openxmlformats.org/officeDocument/2006/relationships/image" Target="../media/image4.jpe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64.png"/><Relationship Id="rId11" Type="http://schemas.openxmlformats.org/officeDocument/2006/relationships/image" Target="../media/image18.png"/><Relationship Id="rId5" Type="http://schemas.openxmlformats.org/officeDocument/2006/relationships/image" Target="../media/image63.png"/><Relationship Id="rId10" Type="http://schemas.openxmlformats.org/officeDocument/2006/relationships/image" Target="../media/image68.png"/><Relationship Id="rId4" Type="http://schemas.openxmlformats.org/officeDocument/2006/relationships/image" Target="../media/image62.png"/><Relationship Id="rId9" Type="http://schemas.openxmlformats.org/officeDocument/2006/relationships/image" Target="../media/image67.png"/></Relationships>
</file>

<file path=ppt/slides/_rels/slide17.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18.png"/><Relationship Id="rId4" Type="http://schemas.openxmlformats.org/officeDocument/2006/relationships/image" Target="../media/image70.png"/></Relationships>
</file>

<file path=ppt/slides/_rels/slide1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1.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74.png"/><Relationship Id="rId5" Type="http://schemas.openxmlformats.org/officeDocument/2006/relationships/image" Target="../media/image73.png"/><Relationship Id="rId10" Type="http://schemas.openxmlformats.org/officeDocument/2006/relationships/image" Target="../media/image4.jpeg"/><Relationship Id="rId4" Type="http://schemas.openxmlformats.org/officeDocument/2006/relationships/image" Target="../media/image72.png"/><Relationship Id="rId9" Type="http://schemas.openxmlformats.org/officeDocument/2006/relationships/image" Target="../media/image18.png"/></Relationships>
</file>

<file path=ppt/slides/_rels/slide22.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23.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image" Target="../media/image77.png"/><Relationship Id="rId7"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24.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18.png"/><Relationship Id="rId4" Type="http://schemas.openxmlformats.org/officeDocument/2006/relationships/image" Target="../media/image82.png"/></Relationships>
</file>

<file path=ppt/slides/_rels/slide25.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83.png"/><Relationship Id="rId7" Type="http://schemas.openxmlformats.org/officeDocument/2006/relationships/image" Target="../media/image87.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6.png"/><Relationship Id="rId5" Type="http://schemas.openxmlformats.org/officeDocument/2006/relationships/image" Target="../media/image85.png"/><Relationship Id="rId4" Type="http://schemas.openxmlformats.org/officeDocument/2006/relationships/image" Target="../media/image84.png"/><Relationship Id="rId9" Type="http://schemas.openxmlformats.org/officeDocument/2006/relationships/image" Target="../media/image4.jpeg"/></Relationships>
</file>

<file path=ppt/slides/_rels/slide2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4.jpeg"/><Relationship Id="rId5" Type="http://schemas.openxmlformats.org/officeDocument/2006/relationships/image" Target="../media/image90.png"/><Relationship Id="rId4" Type="http://schemas.openxmlformats.org/officeDocument/2006/relationships/image" Target="../media/image8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666750" y="2505075"/>
            <a:ext cx="10858500" cy="171450"/>
          </a:xfrm>
          <a:prstGeom prst="rect">
            <a:avLst/>
          </a:prstGeom>
        </p:spPr>
      </p:pic>
      <p:pic>
        <p:nvPicPr>
          <p:cNvPr id="4" name="Picture 3" descr="image.png"/>
          <p:cNvPicPr>
            <a:picLocks noChangeAspect="1"/>
          </p:cNvPicPr>
          <p:nvPr/>
        </p:nvPicPr>
        <p:blipFill>
          <a:blip r:embed="rId4"/>
          <a:stretch>
            <a:fillRect/>
          </a:stretch>
        </p:blipFill>
        <p:spPr>
          <a:xfrm>
            <a:off x="666750" y="5695950"/>
            <a:ext cx="10858500" cy="685800"/>
          </a:xfrm>
          <a:prstGeom prst="rect">
            <a:avLst/>
          </a:prstGeom>
        </p:spPr>
      </p:pic>
      <p:sp>
        <p:nvSpPr>
          <p:cNvPr id="5" name="TextBox 4"/>
          <p:cNvSpPr txBox="1"/>
          <p:nvPr/>
        </p:nvSpPr>
        <p:spPr>
          <a:xfrm>
            <a:off x="10639425" y="628650"/>
            <a:ext cx="885825" cy="152400"/>
          </a:xfrm>
          <a:prstGeom prst="rect">
            <a:avLst/>
          </a:prstGeom>
          <a:noFill/>
        </p:spPr>
        <p:txBody>
          <a:bodyPr wrap="square" lIns="0" tIns="0" rIns="0" bIns="0" anchor="t">
            <a:spAutoFit/>
          </a:bodyPr>
          <a:lstStyle/>
          <a:p>
            <a:pPr algn="l"/>
            <a:r>
              <a:rPr sz="900" b="0" i="0" u="none">
                <a:solidFill>
                  <a:srgbClr val="CBD5E1"/>
                </a:solidFill>
                <a:latin typeface="DM Sans Medium"/>
              </a:rPr>
              <a:t>TEMMUZ 2026</a:t>
            </a:r>
          </a:p>
        </p:txBody>
      </p:sp>
      <p:sp>
        <p:nvSpPr>
          <p:cNvPr id="6" name="TextBox 5"/>
          <p:cNvSpPr txBox="1"/>
          <p:nvPr/>
        </p:nvSpPr>
        <p:spPr>
          <a:xfrm>
            <a:off x="666750" y="1314450"/>
            <a:ext cx="11001375" cy="904875"/>
          </a:xfrm>
          <a:prstGeom prst="rect">
            <a:avLst/>
          </a:prstGeom>
          <a:noFill/>
        </p:spPr>
        <p:txBody>
          <a:bodyPr wrap="square" lIns="0" tIns="0" rIns="0" bIns="0" anchor="t">
            <a:spAutoFit/>
          </a:bodyPr>
          <a:lstStyle/>
          <a:p>
            <a:pPr algn="l">
              <a:lnSpc>
                <a:spcPts val="3562"/>
              </a:lnSpc>
            </a:pPr>
            <a:r>
              <a:rPr sz="2850" b="1" i="0" u="none">
                <a:solidFill>
                  <a:srgbClr val="FFFFFF"/>
                </a:solidFill>
                <a:latin typeface="Merriweather"/>
              </a:rPr>
              <a:t>Gerçek Zamanlı URL Analizi ile Kimlik Avı Saldırılarının Sınıflandırılması ve Tarayıcı Eklentisi Geliştirme</a:t>
            </a:r>
          </a:p>
        </p:txBody>
      </p:sp>
      <p:sp>
        <p:nvSpPr>
          <p:cNvPr id="7" name="TextBox 6"/>
          <p:cNvSpPr txBox="1"/>
          <p:nvPr/>
        </p:nvSpPr>
        <p:spPr>
          <a:xfrm>
            <a:off x="666750" y="6534150"/>
            <a:ext cx="2009775" cy="126958"/>
          </a:xfrm>
          <a:prstGeom prst="rect">
            <a:avLst/>
          </a:prstGeom>
          <a:noFill/>
        </p:spPr>
        <p:txBody>
          <a:bodyPr wrap="square" lIns="0" tIns="0" rIns="0" bIns="0" anchor="t">
            <a:spAutoFit/>
          </a:bodyPr>
          <a:lstStyle/>
          <a:p>
            <a:pPr algn="l"/>
            <a:r>
              <a:rPr sz="825" b="0" i="0" u="none" dirty="0" err="1">
                <a:solidFill>
                  <a:srgbClr val="94A3B8"/>
                </a:solidFill>
                <a:latin typeface="DM Sans"/>
              </a:rPr>
              <a:t>Siber</a:t>
            </a:r>
            <a:r>
              <a:rPr sz="825" b="0" i="0" u="none" dirty="0">
                <a:solidFill>
                  <a:srgbClr val="94A3B8"/>
                </a:solidFill>
                <a:latin typeface="DM Sans"/>
              </a:rPr>
              <a:t> </a:t>
            </a:r>
            <a:r>
              <a:rPr sz="825" b="0" i="0" u="none" dirty="0" err="1">
                <a:solidFill>
                  <a:srgbClr val="94A3B8"/>
                </a:solidFill>
                <a:latin typeface="DM Sans"/>
              </a:rPr>
              <a:t>Güvenlik</a:t>
            </a:r>
            <a:r>
              <a:rPr sz="825" b="0" i="0" u="none" dirty="0">
                <a:solidFill>
                  <a:srgbClr val="94A3B8"/>
                </a:solidFill>
                <a:latin typeface="DM Sans"/>
              </a:rPr>
              <a:t> • Fen </a:t>
            </a:r>
            <a:r>
              <a:rPr sz="825" b="0" i="0" u="none" dirty="0" err="1">
                <a:solidFill>
                  <a:srgbClr val="94A3B8"/>
                </a:solidFill>
                <a:latin typeface="DM Sans"/>
              </a:rPr>
              <a:t>Bilimleri</a:t>
            </a:r>
            <a:r>
              <a:rPr sz="825" b="0" i="0" u="none" dirty="0">
                <a:solidFill>
                  <a:srgbClr val="94A3B8"/>
                </a:solidFill>
                <a:latin typeface="DM Sans"/>
              </a:rPr>
              <a:t> </a:t>
            </a:r>
            <a:r>
              <a:rPr sz="825" b="0" i="0" u="none" dirty="0" err="1">
                <a:solidFill>
                  <a:srgbClr val="94A3B8"/>
                </a:solidFill>
                <a:latin typeface="DM Sans"/>
              </a:rPr>
              <a:t>Enstitüsü</a:t>
            </a:r>
            <a:endParaRPr sz="825" b="0" i="0" u="none" dirty="0">
              <a:solidFill>
                <a:srgbClr val="94A3B8"/>
              </a:solidFill>
              <a:latin typeface="DM Sans"/>
            </a:endParaRPr>
          </a:p>
        </p:txBody>
      </p:sp>
      <p:sp>
        <p:nvSpPr>
          <p:cNvPr id="8" name="TextBox 7"/>
          <p:cNvSpPr txBox="1"/>
          <p:nvPr/>
        </p:nvSpPr>
        <p:spPr>
          <a:xfrm>
            <a:off x="10572750" y="6534150"/>
            <a:ext cx="1021842" cy="126958"/>
          </a:xfrm>
          <a:prstGeom prst="rect">
            <a:avLst/>
          </a:prstGeom>
          <a:noFill/>
        </p:spPr>
        <p:txBody>
          <a:bodyPr wrap="square" lIns="0" tIns="0" rIns="0" bIns="0" anchor="t">
            <a:spAutoFit/>
          </a:bodyPr>
          <a:lstStyle/>
          <a:p>
            <a:pPr algn="l"/>
            <a:r>
              <a:rPr sz="825" b="0" i="0" u="none">
                <a:solidFill>
                  <a:srgbClr val="FFFFFF"/>
                </a:solidFill>
                <a:latin typeface="DM Sans Medium"/>
              </a:rPr>
              <a:t>www.sakarya.edu.tr</a:t>
            </a:r>
          </a:p>
        </p:txBody>
      </p:sp>
      <p:sp>
        <p:nvSpPr>
          <p:cNvPr id="10" name="TextBox 9"/>
          <p:cNvSpPr txBox="1"/>
          <p:nvPr/>
        </p:nvSpPr>
        <p:spPr>
          <a:xfrm>
            <a:off x="666750" y="542925"/>
            <a:ext cx="2324100" cy="323850"/>
          </a:xfrm>
          <a:prstGeom prst="rect">
            <a:avLst/>
          </a:prstGeom>
          <a:noFill/>
        </p:spPr>
        <p:txBody>
          <a:bodyPr wrap="square" lIns="0" tIns="0" rIns="0" bIns="0" anchor="t">
            <a:spAutoFit/>
          </a:bodyPr>
          <a:lstStyle/>
          <a:p>
            <a:pPr algn="l"/>
            <a:r>
              <a:rPr sz="1200" b="1" i="0" u="none" dirty="0">
                <a:solidFill>
                  <a:srgbClr val="FFFFFF"/>
                </a:solidFill>
                <a:latin typeface="DM Sans"/>
              </a:rPr>
              <a:t>SAKARYA ÜNİVERSİTESİ</a:t>
            </a:r>
            <a:r>
              <a:rPr sz="1200" b="0" i="0" u="none" dirty="0">
                <a:solidFill>
                  <a:srgbClr val="FFFFFF"/>
                </a:solidFill>
                <a:latin typeface="DM Sans"/>
              </a:rPr>
              <a:t> YÜKSEK LİSANS TEZ SAVUNMASI</a:t>
            </a:r>
          </a:p>
        </p:txBody>
      </p:sp>
      <p:sp>
        <p:nvSpPr>
          <p:cNvPr id="11" name="TextBox 10"/>
          <p:cNvSpPr txBox="1"/>
          <p:nvPr/>
        </p:nvSpPr>
        <p:spPr>
          <a:xfrm>
            <a:off x="666750" y="5943600"/>
            <a:ext cx="5238750" cy="161925"/>
          </a:xfrm>
          <a:prstGeom prst="rect">
            <a:avLst/>
          </a:prstGeom>
          <a:noFill/>
        </p:spPr>
        <p:txBody>
          <a:bodyPr wrap="square" lIns="0" tIns="0" rIns="0" bIns="0" anchor="t">
            <a:spAutoFit/>
          </a:bodyPr>
          <a:lstStyle/>
          <a:p>
            <a:pPr algn="l"/>
            <a:r>
              <a:rPr sz="975" b="0" i="0" u="none">
                <a:solidFill>
                  <a:srgbClr val="94A3B8"/>
                </a:solidFill>
                <a:latin typeface="DM Sans"/>
              </a:rPr>
              <a:t>TEZI HAZIRLAYAN</a:t>
            </a:r>
          </a:p>
        </p:txBody>
      </p:sp>
      <p:sp>
        <p:nvSpPr>
          <p:cNvPr id="12" name="TextBox 11"/>
          <p:cNvSpPr txBox="1"/>
          <p:nvPr/>
        </p:nvSpPr>
        <p:spPr>
          <a:xfrm>
            <a:off x="666750" y="6153150"/>
            <a:ext cx="5238750" cy="228600"/>
          </a:xfrm>
          <a:prstGeom prst="rect">
            <a:avLst/>
          </a:prstGeom>
          <a:noFill/>
        </p:spPr>
        <p:txBody>
          <a:bodyPr wrap="square" lIns="0" tIns="0" rIns="0" bIns="0" anchor="t">
            <a:spAutoFit/>
          </a:bodyPr>
          <a:lstStyle/>
          <a:p>
            <a:pPr algn="l"/>
            <a:r>
              <a:rPr sz="1350" b="1" i="0" u="none">
                <a:solidFill>
                  <a:srgbClr val="FFFFFF"/>
                </a:solidFill>
                <a:latin typeface="DM Sans"/>
              </a:rPr>
              <a:t>Mustafa Melih TÜFEKCİOĞLU</a:t>
            </a:r>
          </a:p>
        </p:txBody>
      </p:sp>
      <p:sp>
        <p:nvSpPr>
          <p:cNvPr id="13" name="TextBox 12"/>
          <p:cNvSpPr txBox="1"/>
          <p:nvPr/>
        </p:nvSpPr>
        <p:spPr>
          <a:xfrm>
            <a:off x="6286500" y="5943600"/>
            <a:ext cx="5238750" cy="161925"/>
          </a:xfrm>
          <a:prstGeom prst="rect">
            <a:avLst/>
          </a:prstGeom>
          <a:noFill/>
        </p:spPr>
        <p:txBody>
          <a:bodyPr wrap="square" lIns="0" tIns="0" rIns="0" bIns="0" anchor="t">
            <a:spAutoFit/>
          </a:bodyPr>
          <a:lstStyle/>
          <a:p>
            <a:pPr algn="l"/>
            <a:r>
              <a:rPr sz="975" b="0" i="0" u="none">
                <a:solidFill>
                  <a:srgbClr val="94A3B8"/>
                </a:solidFill>
                <a:latin typeface="DM Sans"/>
              </a:rPr>
              <a:t>TEZ DANIŞMANI</a:t>
            </a:r>
          </a:p>
        </p:txBody>
      </p:sp>
      <p:sp>
        <p:nvSpPr>
          <p:cNvPr id="14" name="TextBox 13"/>
          <p:cNvSpPr txBox="1"/>
          <p:nvPr/>
        </p:nvSpPr>
        <p:spPr>
          <a:xfrm>
            <a:off x="6286500" y="6153150"/>
            <a:ext cx="5238750" cy="228600"/>
          </a:xfrm>
          <a:prstGeom prst="rect">
            <a:avLst/>
          </a:prstGeom>
          <a:noFill/>
        </p:spPr>
        <p:txBody>
          <a:bodyPr wrap="square" lIns="0" tIns="0" rIns="0" bIns="0" anchor="t">
            <a:spAutoFit/>
          </a:bodyPr>
          <a:lstStyle/>
          <a:p>
            <a:pPr algn="l"/>
            <a:r>
              <a:rPr sz="1350" b="1" i="0" u="none">
                <a:solidFill>
                  <a:srgbClr val="FFFFFF"/>
                </a:solidFill>
                <a:latin typeface="DM Sans"/>
              </a:rPr>
              <a:t>Dr. Öğr. Üyesi Musa BALTA</a:t>
            </a:r>
          </a:p>
        </p:txBody>
      </p:sp>
      <p:pic>
        <p:nvPicPr>
          <p:cNvPr id="16" name="İçerik Yer Tutucusu 10">
            <a:extLst>
              <a:ext uri="{FF2B5EF4-FFF2-40B4-BE49-F238E27FC236}">
                <a16:creationId xmlns:a16="http://schemas.microsoft.com/office/drawing/2014/main" id="{F4EFEE5A-68A6-7625-B4A7-553332BAF6AA}"/>
              </a:ext>
            </a:extLst>
          </p:cNvPr>
          <p:cNvPicPr>
            <a:picLocks noChangeAspect="1"/>
          </p:cNvPicPr>
          <p:nvPr/>
        </p:nvPicPr>
        <p:blipFill>
          <a:blip r:embed="rId5">
            <a:extLst>
              <a:ext uri="{28A0092B-C50C-407E-A947-70E740481C1C}">
                <a14:useLocalDpi xmlns:a14="http://schemas.microsoft.com/office/drawing/2010/main" val="0"/>
              </a:ext>
            </a:extLst>
          </a:blip>
          <a:srcRect/>
          <a:stretch>
            <a:fillRect/>
          </a:stretch>
        </p:blipFill>
        <p:spPr bwMode="auto">
          <a:xfrm>
            <a:off x="5090319" y="4032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55950" cy="2090737"/>
          </a:xfrm>
          <a:prstGeom prst="rect">
            <a:avLst/>
          </a:prstGeom>
        </p:spPr>
      </p:pic>
      <p:pic>
        <p:nvPicPr>
          <p:cNvPr id="5" name="Picture 4" descr="image.png"/>
          <p:cNvPicPr>
            <a:picLocks noChangeAspect="1"/>
          </p:cNvPicPr>
          <p:nvPr/>
        </p:nvPicPr>
        <p:blipFill>
          <a:blip r:embed="rId4"/>
          <a:stretch>
            <a:fillRect/>
          </a:stretch>
        </p:blipFill>
        <p:spPr>
          <a:xfrm>
            <a:off x="4317950" y="1252537"/>
            <a:ext cx="3555950" cy="2090737"/>
          </a:xfrm>
          <a:prstGeom prst="rect">
            <a:avLst/>
          </a:prstGeom>
        </p:spPr>
      </p:pic>
      <p:pic>
        <p:nvPicPr>
          <p:cNvPr id="6" name="Picture 5" descr="image.png"/>
          <p:cNvPicPr>
            <a:picLocks noChangeAspect="1"/>
          </p:cNvPicPr>
          <p:nvPr/>
        </p:nvPicPr>
        <p:blipFill>
          <a:blip r:embed="rId5"/>
          <a:stretch>
            <a:fillRect/>
          </a:stretch>
        </p:blipFill>
        <p:spPr>
          <a:xfrm>
            <a:off x="8064400" y="1252537"/>
            <a:ext cx="3556099" cy="2090737"/>
          </a:xfrm>
          <a:prstGeom prst="rect">
            <a:avLst/>
          </a:prstGeom>
        </p:spPr>
      </p:pic>
      <p:pic>
        <p:nvPicPr>
          <p:cNvPr id="7" name="Picture 6" descr="image.png"/>
          <p:cNvPicPr>
            <a:picLocks noChangeAspect="1"/>
          </p:cNvPicPr>
          <p:nvPr/>
        </p:nvPicPr>
        <p:blipFill>
          <a:blip r:embed="rId6"/>
          <a:stretch>
            <a:fillRect/>
          </a:stretch>
        </p:blipFill>
        <p:spPr>
          <a:xfrm>
            <a:off x="571500" y="3533775"/>
            <a:ext cx="3555950" cy="2090737"/>
          </a:xfrm>
          <a:prstGeom prst="rect">
            <a:avLst/>
          </a:prstGeom>
        </p:spPr>
      </p:pic>
      <p:pic>
        <p:nvPicPr>
          <p:cNvPr id="8" name="Picture 7" descr="image.png"/>
          <p:cNvPicPr>
            <a:picLocks noChangeAspect="1"/>
          </p:cNvPicPr>
          <p:nvPr/>
        </p:nvPicPr>
        <p:blipFill>
          <a:blip r:embed="rId7"/>
          <a:stretch>
            <a:fillRect/>
          </a:stretch>
        </p:blipFill>
        <p:spPr>
          <a:xfrm>
            <a:off x="4317950" y="3533775"/>
            <a:ext cx="3555950" cy="2090737"/>
          </a:xfrm>
          <a:prstGeom prst="rect">
            <a:avLst/>
          </a:prstGeom>
        </p:spPr>
      </p:pic>
      <p:pic>
        <p:nvPicPr>
          <p:cNvPr id="9" name="Picture 8" descr="image.png"/>
          <p:cNvPicPr>
            <a:picLocks noChangeAspect="1"/>
          </p:cNvPicPr>
          <p:nvPr/>
        </p:nvPicPr>
        <p:blipFill>
          <a:blip r:embed="rId8"/>
          <a:stretch>
            <a:fillRect/>
          </a:stretch>
        </p:blipFill>
        <p:spPr>
          <a:xfrm>
            <a:off x="8064400" y="3533775"/>
            <a:ext cx="3556099" cy="2090737"/>
          </a:xfrm>
          <a:prstGeom prst="rect">
            <a:avLst/>
          </a:prstGeom>
        </p:spPr>
      </p:pic>
      <p:sp>
        <p:nvSpPr>
          <p:cNvPr id="10" name="TextBox 9"/>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Sunum</a:t>
            </a:r>
            <a:r>
              <a:rPr sz="2550" b="1" i="0" u="none" dirty="0">
                <a:solidFill>
                  <a:srgbClr val="005088"/>
                </a:solidFill>
                <a:latin typeface="Merriweather"/>
              </a:rPr>
              <a:t> </a:t>
            </a:r>
            <a:r>
              <a:rPr sz="2550" b="1" i="0" u="none" dirty="0" err="1">
                <a:solidFill>
                  <a:srgbClr val="005088"/>
                </a:solidFill>
                <a:latin typeface="Merriweather"/>
              </a:rPr>
              <a:t>Planı</a:t>
            </a:r>
            <a:r>
              <a:rPr sz="2550" b="1" i="0" u="none" dirty="0">
                <a:solidFill>
                  <a:srgbClr val="005088"/>
                </a:solidFill>
                <a:latin typeface="Merriweather"/>
              </a:rPr>
              <a:t> </a:t>
            </a:r>
            <a:r>
              <a:rPr sz="2550" b="1" i="0" u="none" dirty="0" err="1">
                <a:solidFill>
                  <a:srgbClr val="005088"/>
                </a:solidFill>
                <a:latin typeface="Merriweather"/>
              </a:rPr>
              <a:t>ve</a:t>
            </a:r>
            <a:r>
              <a:rPr sz="2550" b="1" i="0" u="none" dirty="0">
                <a:solidFill>
                  <a:srgbClr val="005088"/>
                </a:solidFill>
                <a:latin typeface="Merriweather"/>
              </a:rPr>
              <a:t> </a:t>
            </a:r>
            <a:r>
              <a:rPr sz="2550" b="1" i="0" u="none" dirty="0" err="1">
                <a:solidFill>
                  <a:srgbClr val="005088"/>
                </a:solidFill>
                <a:latin typeface="Merriweather"/>
              </a:rPr>
              <a:t>İçindekiler</a:t>
            </a:r>
            <a:endParaRPr sz="2550" b="1" i="0" u="none" dirty="0">
              <a:solidFill>
                <a:srgbClr val="005088"/>
              </a:solidFill>
              <a:latin typeface="Merriweather"/>
            </a:endParaRPr>
          </a:p>
        </p:txBody>
      </p:sp>
      <p:sp>
        <p:nvSpPr>
          <p:cNvPr id="11" name="Rectangle 10"/>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3" name="TextBox 12"/>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a:t>
            </a:r>
          </a:p>
        </p:txBody>
      </p:sp>
      <p:sp>
        <p:nvSpPr>
          <p:cNvPr id="14" name="TextBox 13"/>
          <p:cNvSpPr txBox="1"/>
          <p:nvPr/>
        </p:nvSpPr>
        <p:spPr>
          <a:xfrm>
            <a:off x="819150" y="2119312"/>
            <a:ext cx="3213682" cy="238125"/>
          </a:xfrm>
          <a:prstGeom prst="rect">
            <a:avLst/>
          </a:prstGeom>
          <a:noFill/>
        </p:spPr>
        <p:txBody>
          <a:bodyPr wrap="square" lIns="0" tIns="0" rIns="0" bIns="0" anchor="t">
            <a:spAutoFit/>
          </a:bodyPr>
          <a:lstStyle/>
          <a:p>
            <a:pPr algn="l"/>
            <a:r>
              <a:rPr sz="1500" b="1" i="0" u="none" dirty="0">
                <a:solidFill>
                  <a:srgbClr val="0F172A"/>
                </a:solidFill>
                <a:latin typeface="Merriweather"/>
              </a:rPr>
              <a:t>01. </a:t>
            </a:r>
            <a:r>
              <a:rPr sz="1500" b="1" i="0" u="none" dirty="0" err="1">
                <a:solidFill>
                  <a:srgbClr val="0F172A"/>
                </a:solidFill>
                <a:latin typeface="Merriweather"/>
              </a:rPr>
              <a:t>Giriş</a:t>
            </a:r>
            <a:r>
              <a:rPr sz="1500" b="1" i="0" u="none" dirty="0">
                <a:solidFill>
                  <a:srgbClr val="0F172A"/>
                </a:solidFill>
                <a:latin typeface="Merriweather"/>
              </a:rPr>
              <a:t> </a:t>
            </a:r>
            <a:r>
              <a:rPr sz="1500" b="1" i="0" u="none" dirty="0" err="1">
                <a:solidFill>
                  <a:srgbClr val="0F172A"/>
                </a:solidFill>
                <a:latin typeface="Merriweather"/>
              </a:rPr>
              <a:t>ve</a:t>
            </a:r>
            <a:r>
              <a:rPr sz="1500" b="1" i="0" u="none" dirty="0">
                <a:solidFill>
                  <a:srgbClr val="0F172A"/>
                </a:solidFill>
                <a:latin typeface="Merriweather"/>
              </a:rPr>
              <a:t> Problem</a:t>
            </a:r>
          </a:p>
        </p:txBody>
      </p:sp>
      <p:sp>
        <p:nvSpPr>
          <p:cNvPr id="15" name="TextBox 14"/>
          <p:cNvSpPr txBox="1"/>
          <p:nvPr/>
        </p:nvSpPr>
        <p:spPr>
          <a:xfrm>
            <a:off x="819150" y="2452687"/>
            <a:ext cx="3060650" cy="428625"/>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Oltalama tehditleri, tez amacı, motivasyon ve literatüre yapılan özgün akademik katkılar.</a:t>
            </a:r>
          </a:p>
        </p:txBody>
      </p:sp>
      <p:sp>
        <p:nvSpPr>
          <p:cNvPr id="16" name="TextBox 15"/>
          <p:cNvSpPr txBox="1"/>
          <p:nvPr/>
        </p:nvSpPr>
        <p:spPr>
          <a:xfrm>
            <a:off x="4565600" y="2119312"/>
            <a:ext cx="3213682" cy="238125"/>
          </a:xfrm>
          <a:prstGeom prst="rect">
            <a:avLst/>
          </a:prstGeom>
          <a:noFill/>
        </p:spPr>
        <p:txBody>
          <a:bodyPr wrap="square" lIns="0" tIns="0" rIns="0" bIns="0" anchor="t">
            <a:spAutoFit/>
          </a:bodyPr>
          <a:lstStyle/>
          <a:p>
            <a:pPr algn="l"/>
            <a:r>
              <a:rPr sz="1500" b="1" i="0" u="none">
                <a:solidFill>
                  <a:srgbClr val="0F172A"/>
                </a:solidFill>
                <a:latin typeface="Merriweather"/>
              </a:rPr>
              <a:t>02. Literatür Analizi</a:t>
            </a:r>
          </a:p>
        </p:txBody>
      </p:sp>
      <p:sp>
        <p:nvSpPr>
          <p:cNvPr id="17" name="TextBox 16"/>
          <p:cNvSpPr txBox="1"/>
          <p:nvPr/>
        </p:nvSpPr>
        <p:spPr>
          <a:xfrm>
            <a:off x="4565600" y="2452687"/>
            <a:ext cx="3060650" cy="422744"/>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2020-2026 </a:t>
            </a:r>
            <a:r>
              <a:rPr sz="1125" b="0" i="0" u="none" dirty="0" err="1">
                <a:solidFill>
                  <a:srgbClr val="64748B"/>
                </a:solidFill>
                <a:latin typeface="DM Sans"/>
              </a:rPr>
              <a:t>güncel</a:t>
            </a:r>
            <a:r>
              <a:rPr sz="1125" b="0" i="0" u="none" dirty="0">
                <a:solidFill>
                  <a:srgbClr val="64748B"/>
                </a:solidFill>
                <a:latin typeface="DM Sans"/>
              </a:rPr>
              <a:t> </a:t>
            </a:r>
            <a:r>
              <a:rPr sz="1125" b="0" i="0" u="none" dirty="0" err="1">
                <a:solidFill>
                  <a:srgbClr val="64748B"/>
                </a:solidFill>
                <a:latin typeface="DM Sans"/>
              </a:rPr>
              <a:t>literatür</a:t>
            </a:r>
            <a:r>
              <a:rPr sz="1125" b="0" i="0" u="none" dirty="0">
                <a:solidFill>
                  <a:srgbClr val="64748B"/>
                </a:solidFill>
                <a:latin typeface="DM Sans"/>
              </a:rPr>
              <a:t> </a:t>
            </a:r>
            <a:r>
              <a:rPr sz="1125" b="0" i="0" u="none" dirty="0" err="1">
                <a:solidFill>
                  <a:srgbClr val="64748B"/>
                </a:solidFill>
                <a:latin typeface="DM Sans"/>
              </a:rPr>
              <a:t>incelemesi</a:t>
            </a:r>
            <a:r>
              <a:rPr sz="1125" b="0" i="0" u="none" dirty="0">
                <a:solidFill>
                  <a:srgbClr val="64748B"/>
                </a:solidFill>
                <a:latin typeface="DM Sans"/>
              </a:rPr>
              <a:t>, </a:t>
            </a:r>
            <a:r>
              <a:rPr sz="1125" b="0" i="0" u="none" dirty="0" err="1">
                <a:solidFill>
                  <a:srgbClr val="64748B"/>
                </a:solidFill>
                <a:latin typeface="DM Sans"/>
              </a:rPr>
              <a:t>yöntemler</a:t>
            </a:r>
            <a:r>
              <a:rPr lang="tr-TR" sz="1125" dirty="0">
                <a:solidFill>
                  <a:srgbClr val="64748B"/>
                </a:solidFill>
                <a:latin typeface="DM Sans"/>
              </a:rPr>
              <a:t> ve</a:t>
            </a:r>
            <a:r>
              <a:rPr sz="1125" b="0" i="0" u="none" dirty="0">
                <a:solidFill>
                  <a:srgbClr val="64748B"/>
                </a:solidFill>
                <a:latin typeface="DM Sans"/>
              </a:rPr>
              <a:t> </a:t>
            </a:r>
            <a:r>
              <a:rPr sz="1125" b="0" i="0" u="none" dirty="0" err="1">
                <a:solidFill>
                  <a:srgbClr val="64748B"/>
                </a:solidFill>
                <a:latin typeface="DM Sans"/>
              </a:rPr>
              <a:t>başarım</a:t>
            </a:r>
            <a:r>
              <a:rPr sz="1125" b="0" i="0" u="none" dirty="0">
                <a:solidFill>
                  <a:srgbClr val="64748B"/>
                </a:solidFill>
                <a:latin typeface="DM Sans"/>
              </a:rPr>
              <a:t> </a:t>
            </a:r>
            <a:r>
              <a:rPr sz="1125" b="0" i="0" u="none" dirty="0" err="1">
                <a:solidFill>
                  <a:srgbClr val="64748B"/>
                </a:solidFill>
                <a:latin typeface="DM Sans"/>
              </a:rPr>
              <a:t>oranları</a:t>
            </a:r>
            <a:endParaRPr sz="1125" b="0" i="0" u="none" dirty="0">
              <a:solidFill>
                <a:srgbClr val="64748B"/>
              </a:solidFill>
              <a:latin typeface="DM Sans"/>
            </a:endParaRPr>
          </a:p>
        </p:txBody>
      </p:sp>
      <p:sp>
        <p:nvSpPr>
          <p:cNvPr id="18" name="TextBox 17"/>
          <p:cNvSpPr txBox="1"/>
          <p:nvPr/>
        </p:nvSpPr>
        <p:spPr>
          <a:xfrm>
            <a:off x="8312050" y="2119312"/>
            <a:ext cx="3213839" cy="238125"/>
          </a:xfrm>
          <a:prstGeom prst="rect">
            <a:avLst/>
          </a:prstGeom>
          <a:noFill/>
        </p:spPr>
        <p:txBody>
          <a:bodyPr wrap="square" lIns="0" tIns="0" rIns="0" bIns="0" anchor="t">
            <a:spAutoFit/>
          </a:bodyPr>
          <a:lstStyle/>
          <a:p>
            <a:pPr algn="l"/>
            <a:r>
              <a:rPr sz="1500" b="1" i="0" u="none">
                <a:solidFill>
                  <a:srgbClr val="0F172A"/>
                </a:solidFill>
                <a:latin typeface="Merriweather"/>
              </a:rPr>
              <a:t>03. Metodoloji ve Veri</a:t>
            </a:r>
          </a:p>
        </p:txBody>
      </p:sp>
      <p:sp>
        <p:nvSpPr>
          <p:cNvPr id="19" name="TextBox 18"/>
          <p:cNvSpPr txBox="1"/>
          <p:nvPr/>
        </p:nvSpPr>
        <p:spPr>
          <a:xfrm>
            <a:off x="8312050" y="2452687"/>
            <a:ext cx="3060799" cy="428625"/>
          </a:xfrm>
          <a:prstGeom prst="rect">
            <a:avLst/>
          </a:prstGeom>
          <a:noFill/>
        </p:spPr>
        <p:txBody>
          <a:bodyPr wrap="square" lIns="0" tIns="0" rIns="0" bIns="0" anchor="t">
            <a:spAutoFit/>
          </a:bodyPr>
          <a:lstStyle/>
          <a:p>
            <a:pPr algn="l">
              <a:lnSpc>
                <a:spcPts val="1687"/>
              </a:lnSpc>
            </a:pPr>
            <a:r>
              <a:rPr lang="tr-TR" sz="1125" dirty="0">
                <a:solidFill>
                  <a:srgbClr val="64748B"/>
                </a:solidFill>
                <a:latin typeface="DM Sans"/>
              </a:rPr>
              <a:t>336750</a:t>
            </a:r>
            <a:r>
              <a:rPr sz="1125" b="0" i="0" u="none" dirty="0">
                <a:solidFill>
                  <a:srgbClr val="64748B"/>
                </a:solidFill>
                <a:latin typeface="DM Sans"/>
              </a:rPr>
              <a:t> URL </a:t>
            </a:r>
            <a:r>
              <a:rPr sz="1125" b="0" i="0" u="none" dirty="0" err="1">
                <a:solidFill>
                  <a:srgbClr val="64748B"/>
                </a:solidFill>
                <a:latin typeface="DM Sans"/>
              </a:rPr>
              <a:t>veri</a:t>
            </a:r>
            <a:r>
              <a:rPr sz="1125" b="0" i="0" u="none" dirty="0">
                <a:solidFill>
                  <a:srgbClr val="64748B"/>
                </a:solidFill>
                <a:latin typeface="DM Sans"/>
              </a:rPr>
              <a:t> </a:t>
            </a:r>
            <a:r>
              <a:rPr sz="1125" b="0" i="0" u="none" dirty="0" err="1">
                <a:solidFill>
                  <a:srgbClr val="64748B"/>
                </a:solidFill>
                <a:latin typeface="DM Sans"/>
              </a:rPr>
              <a:t>seti</a:t>
            </a:r>
            <a:r>
              <a:rPr sz="1125" b="0" i="0" u="none" dirty="0">
                <a:solidFill>
                  <a:srgbClr val="64748B"/>
                </a:solidFill>
                <a:latin typeface="DM Sans"/>
              </a:rPr>
              <a:t>, </a:t>
            </a:r>
            <a:r>
              <a:rPr sz="1125" b="0" i="0" u="none" dirty="0" err="1">
                <a:solidFill>
                  <a:srgbClr val="64748B"/>
                </a:solidFill>
                <a:latin typeface="DM Sans"/>
              </a:rPr>
              <a:t>ön</a:t>
            </a:r>
            <a:r>
              <a:rPr sz="1125" b="0" i="0" u="none" dirty="0">
                <a:solidFill>
                  <a:srgbClr val="64748B"/>
                </a:solidFill>
                <a:latin typeface="DM Sans"/>
              </a:rPr>
              <a:t> </a:t>
            </a:r>
            <a:r>
              <a:rPr sz="1125" b="0" i="0" u="none" dirty="0" err="1">
                <a:solidFill>
                  <a:srgbClr val="64748B"/>
                </a:solidFill>
                <a:latin typeface="DM Sans"/>
              </a:rPr>
              <a:t>işleme</a:t>
            </a:r>
            <a:r>
              <a:rPr sz="1125" b="0" i="0" u="none" dirty="0">
                <a:solidFill>
                  <a:srgbClr val="64748B"/>
                </a:solidFill>
                <a:latin typeface="DM Sans"/>
              </a:rPr>
              <a:t>, lexical </a:t>
            </a:r>
            <a:r>
              <a:rPr sz="1125" b="0" i="0" u="none" dirty="0" err="1">
                <a:solidFill>
                  <a:srgbClr val="64748B"/>
                </a:solidFill>
                <a:latin typeface="DM Sans"/>
              </a:rPr>
              <a:t>öznitelik</a:t>
            </a:r>
            <a:r>
              <a:rPr sz="1125" b="0" i="0" u="none" dirty="0">
                <a:solidFill>
                  <a:srgbClr val="64748B"/>
                </a:solidFill>
                <a:latin typeface="DM Sans"/>
              </a:rPr>
              <a:t> </a:t>
            </a:r>
            <a:r>
              <a:rPr sz="1125" b="0" i="0" u="none" dirty="0" err="1">
                <a:solidFill>
                  <a:srgbClr val="64748B"/>
                </a:solidFill>
                <a:latin typeface="DM Sans"/>
              </a:rPr>
              <a:t>çıkarımı</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öznitelik</a:t>
            </a:r>
            <a:r>
              <a:rPr sz="1125" b="0" i="0" u="none" dirty="0">
                <a:solidFill>
                  <a:srgbClr val="64748B"/>
                </a:solidFill>
                <a:latin typeface="DM Sans"/>
              </a:rPr>
              <a:t> </a:t>
            </a:r>
            <a:r>
              <a:rPr sz="1125" b="0" i="0" u="none" dirty="0" err="1">
                <a:solidFill>
                  <a:srgbClr val="64748B"/>
                </a:solidFill>
                <a:latin typeface="DM Sans"/>
              </a:rPr>
              <a:t>seçimi</a:t>
            </a:r>
            <a:r>
              <a:rPr sz="1125" b="0" i="0" u="none" dirty="0">
                <a:solidFill>
                  <a:srgbClr val="64748B"/>
                </a:solidFill>
                <a:latin typeface="DM Sans"/>
              </a:rPr>
              <a:t>.</a:t>
            </a:r>
          </a:p>
        </p:txBody>
      </p:sp>
      <p:sp>
        <p:nvSpPr>
          <p:cNvPr id="20" name="TextBox 19"/>
          <p:cNvSpPr txBox="1"/>
          <p:nvPr/>
        </p:nvSpPr>
        <p:spPr>
          <a:xfrm>
            <a:off x="819150" y="4400550"/>
            <a:ext cx="3213682" cy="238125"/>
          </a:xfrm>
          <a:prstGeom prst="rect">
            <a:avLst/>
          </a:prstGeom>
          <a:noFill/>
        </p:spPr>
        <p:txBody>
          <a:bodyPr wrap="square" lIns="0" tIns="0" rIns="0" bIns="0" anchor="t">
            <a:spAutoFit/>
          </a:bodyPr>
          <a:lstStyle/>
          <a:p>
            <a:pPr algn="l"/>
            <a:r>
              <a:rPr sz="1500" b="1" i="0" u="none">
                <a:solidFill>
                  <a:srgbClr val="0F172A"/>
                </a:solidFill>
                <a:latin typeface="Merriweather"/>
              </a:rPr>
              <a:t>04. Makine Öğrenmesi</a:t>
            </a:r>
          </a:p>
        </p:txBody>
      </p:sp>
      <p:sp>
        <p:nvSpPr>
          <p:cNvPr id="21" name="TextBox 20"/>
          <p:cNvSpPr txBox="1"/>
          <p:nvPr/>
        </p:nvSpPr>
        <p:spPr>
          <a:xfrm>
            <a:off x="819150" y="4733925"/>
            <a:ext cx="3060650" cy="422744"/>
          </a:xfrm>
          <a:prstGeom prst="rect">
            <a:avLst/>
          </a:prstGeom>
          <a:noFill/>
        </p:spPr>
        <p:txBody>
          <a:bodyPr wrap="square" lIns="0" tIns="0" rIns="0" bIns="0" anchor="t">
            <a:spAutoFit/>
          </a:bodyPr>
          <a:lstStyle/>
          <a:p>
            <a:pPr algn="l">
              <a:lnSpc>
                <a:spcPts val="1687"/>
              </a:lnSpc>
            </a:pPr>
            <a:r>
              <a:rPr sz="1125" b="0" i="0" u="none" dirty="0" err="1">
                <a:solidFill>
                  <a:srgbClr val="64748B"/>
                </a:solidFill>
                <a:latin typeface="DM Sans"/>
              </a:rPr>
              <a:t>XGBoost</a:t>
            </a:r>
            <a:r>
              <a:rPr sz="1125" b="0" i="0" u="none" dirty="0">
                <a:solidFill>
                  <a:srgbClr val="64748B"/>
                </a:solidFill>
                <a:latin typeface="DM Sans"/>
              </a:rPr>
              <a:t>, Random Forest, Decision Tree, LR, SVM, KNN </a:t>
            </a:r>
            <a:r>
              <a:rPr sz="1125" b="0" i="0" u="none" dirty="0" err="1">
                <a:solidFill>
                  <a:srgbClr val="64748B"/>
                </a:solidFill>
                <a:latin typeface="DM Sans"/>
              </a:rPr>
              <a:t>algoritma</a:t>
            </a:r>
            <a:r>
              <a:rPr sz="1125" b="0" i="0" u="none" dirty="0">
                <a:solidFill>
                  <a:srgbClr val="64748B"/>
                </a:solidFill>
                <a:latin typeface="DM Sans"/>
              </a:rPr>
              <a:t> </a:t>
            </a:r>
            <a:r>
              <a:rPr sz="1125" b="0" i="0" u="none" dirty="0" err="1">
                <a:solidFill>
                  <a:srgbClr val="64748B"/>
                </a:solidFill>
                <a:latin typeface="DM Sans"/>
              </a:rPr>
              <a:t>detayları</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modelleme</a:t>
            </a:r>
            <a:r>
              <a:rPr sz="1125" b="0" i="0" u="none" dirty="0">
                <a:solidFill>
                  <a:srgbClr val="64748B"/>
                </a:solidFill>
                <a:latin typeface="DM Sans"/>
              </a:rPr>
              <a:t>.</a:t>
            </a:r>
          </a:p>
        </p:txBody>
      </p:sp>
      <p:sp>
        <p:nvSpPr>
          <p:cNvPr id="22" name="TextBox 21"/>
          <p:cNvSpPr txBox="1"/>
          <p:nvPr/>
        </p:nvSpPr>
        <p:spPr>
          <a:xfrm>
            <a:off x="4565600" y="4400550"/>
            <a:ext cx="3213682" cy="238125"/>
          </a:xfrm>
          <a:prstGeom prst="rect">
            <a:avLst/>
          </a:prstGeom>
          <a:noFill/>
        </p:spPr>
        <p:txBody>
          <a:bodyPr wrap="square" lIns="0" tIns="0" rIns="0" bIns="0" anchor="t">
            <a:spAutoFit/>
          </a:bodyPr>
          <a:lstStyle/>
          <a:p>
            <a:pPr algn="l"/>
            <a:r>
              <a:rPr sz="1500" b="1" i="0" u="none">
                <a:solidFill>
                  <a:srgbClr val="0F172A"/>
                </a:solidFill>
                <a:latin typeface="Merriweather"/>
              </a:rPr>
              <a:t>05. Deneysel Sonuçlar</a:t>
            </a:r>
          </a:p>
        </p:txBody>
      </p:sp>
      <p:sp>
        <p:nvSpPr>
          <p:cNvPr id="23" name="TextBox 22"/>
          <p:cNvSpPr txBox="1"/>
          <p:nvPr/>
        </p:nvSpPr>
        <p:spPr>
          <a:xfrm>
            <a:off x="4565600" y="4733925"/>
            <a:ext cx="3060650" cy="204736"/>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Model </a:t>
            </a:r>
            <a:r>
              <a:rPr sz="1125" b="0" i="0" u="none" dirty="0" err="1">
                <a:solidFill>
                  <a:srgbClr val="64748B"/>
                </a:solidFill>
                <a:latin typeface="DM Sans"/>
              </a:rPr>
              <a:t>başarım</a:t>
            </a:r>
            <a:r>
              <a:rPr sz="1125" b="0" i="0" u="none" dirty="0">
                <a:solidFill>
                  <a:srgbClr val="64748B"/>
                </a:solidFill>
                <a:latin typeface="DM Sans"/>
              </a:rPr>
              <a:t> </a:t>
            </a:r>
            <a:r>
              <a:rPr sz="1125" b="0" i="0" u="none" dirty="0" err="1">
                <a:solidFill>
                  <a:srgbClr val="64748B"/>
                </a:solidFill>
                <a:latin typeface="DM Sans"/>
              </a:rPr>
              <a:t>tabloları</a:t>
            </a:r>
            <a:r>
              <a:rPr sz="1125" b="0" i="0" u="none" dirty="0">
                <a:solidFill>
                  <a:srgbClr val="64748B"/>
                </a:solidFill>
                <a:latin typeface="DM Sans"/>
              </a:rPr>
              <a:t>, </a:t>
            </a:r>
            <a:r>
              <a:rPr lang="tr-TR" sz="1125" b="0" i="0" u="none" dirty="0">
                <a:solidFill>
                  <a:srgbClr val="64748B"/>
                </a:solidFill>
                <a:latin typeface="DM Sans"/>
              </a:rPr>
              <a:t>model kıyaslamaları</a:t>
            </a:r>
            <a:endParaRPr sz="1125" b="0" i="0" u="none" dirty="0">
              <a:solidFill>
                <a:srgbClr val="64748B"/>
              </a:solidFill>
              <a:latin typeface="DM Sans"/>
            </a:endParaRPr>
          </a:p>
        </p:txBody>
      </p:sp>
      <p:sp>
        <p:nvSpPr>
          <p:cNvPr id="24" name="TextBox 23"/>
          <p:cNvSpPr txBox="1"/>
          <p:nvPr/>
        </p:nvSpPr>
        <p:spPr>
          <a:xfrm>
            <a:off x="8312050" y="4400550"/>
            <a:ext cx="3213839" cy="238125"/>
          </a:xfrm>
          <a:prstGeom prst="rect">
            <a:avLst/>
          </a:prstGeom>
          <a:noFill/>
        </p:spPr>
        <p:txBody>
          <a:bodyPr wrap="square" lIns="0" tIns="0" rIns="0" bIns="0" anchor="t">
            <a:spAutoFit/>
          </a:bodyPr>
          <a:lstStyle/>
          <a:p>
            <a:pPr algn="l"/>
            <a:r>
              <a:rPr sz="1500" b="1" i="0" u="none">
                <a:solidFill>
                  <a:srgbClr val="0F172A"/>
                </a:solidFill>
                <a:latin typeface="Merriweather"/>
              </a:rPr>
              <a:t>06. Eklenti &amp; Saha Testi</a:t>
            </a:r>
          </a:p>
        </p:txBody>
      </p:sp>
      <p:sp>
        <p:nvSpPr>
          <p:cNvPr id="25" name="TextBox 24"/>
          <p:cNvSpPr txBox="1"/>
          <p:nvPr/>
        </p:nvSpPr>
        <p:spPr>
          <a:xfrm>
            <a:off x="8312050" y="4733925"/>
            <a:ext cx="3060799" cy="642937"/>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Manifest V3 </a:t>
            </a:r>
            <a:r>
              <a:rPr sz="1125" b="0" i="0" u="none" dirty="0" err="1">
                <a:solidFill>
                  <a:srgbClr val="64748B"/>
                </a:solidFill>
                <a:latin typeface="DM Sans"/>
              </a:rPr>
              <a:t>istemci-sunucu</a:t>
            </a:r>
            <a:r>
              <a:rPr sz="1125" b="0" i="0" u="none" dirty="0">
                <a:solidFill>
                  <a:srgbClr val="64748B"/>
                </a:solidFill>
                <a:latin typeface="DM Sans"/>
              </a:rPr>
              <a:t> </a:t>
            </a:r>
            <a:r>
              <a:rPr sz="1125" b="0" i="0" u="none" dirty="0" err="1">
                <a:solidFill>
                  <a:srgbClr val="64748B"/>
                </a:solidFill>
                <a:latin typeface="DM Sans"/>
              </a:rPr>
              <a:t>mimarisi</a:t>
            </a:r>
            <a:r>
              <a:rPr sz="1125" b="0" i="0" u="none" dirty="0">
                <a:solidFill>
                  <a:srgbClr val="64748B"/>
                </a:solidFill>
                <a:latin typeface="DM Sans"/>
              </a:rPr>
              <a:t>, 177 </a:t>
            </a:r>
            <a:r>
              <a:rPr sz="1125" b="0" i="0" u="none" dirty="0" err="1">
                <a:solidFill>
                  <a:srgbClr val="64748B"/>
                </a:solidFill>
                <a:latin typeface="DM Sans"/>
              </a:rPr>
              <a:t>canlı</a:t>
            </a:r>
            <a:r>
              <a:rPr sz="1125" b="0" i="0" u="none" dirty="0">
                <a:solidFill>
                  <a:srgbClr val="64748B"/>
                </a:solidFill>
                <a:latin typeface="DM Sans"/>
              </a:rPr>
              <a:t> URL </a:t>
            </a:r>
            <a:r>
              <a:rPr sz="1125" b="0" i="0" u="none" dirty="0" err="1">
                <a:solidFill>
                  <a:srgbClr val="64748B"/>
                </a:solidFill>
                <a:latin typeface="DM Sans"/>
              </a:rPr>
              <a:t>testi</a:t>
            </a:r>
            <a:r>
              <a:rPr sz="1125" b="0" i="0" u="none" dirty="0">
                <a:solidFill>
                  <a:srgbClr val="64748B"/>
                </a:solidFill>
                <a:latin typeface="DM Sans"/>
              </a:rPr>
              <a:t>, 16.5 </a:t>
            </a:r>
            <a:r>
              <a:rPr sz="1125" b="0" i="0" u="none" dirty="0" err="1">
                <a:solidFill>
                  <a:srgbClr val="64748B"/>
                </a:solidFill>
                <a:latin typeface="DM Sans"/>
              </a:rPr>
              <a:t>ms</a:t>
            </a:r>
            <a:r>
              <a:rPr sz="1125" b="0" i="0" u="none" dirty="0">
                <a:solidFill>
                  <a:srgbClr val="64748B"/>
                </a:solidFill>
                <a:latin typeface="DM Sans"/>
              </a:rPr>
              <a:t> </a:t>
            </a:r>
            <a:r>
              <a:rPr sz="1125" b="0" i="0" u="none" dirty="0" err="1">
                <a:solidFill>
                  <a:srgbClr val="64748B"/>
                </a:solidFill>
                <a:latin typeface="DM Sans"/>
              </a:rPr>
              <a:t>tepki</a:t>
            </a:r>
            <a:r>
              <a:rPr sz="1125" b="0" i="0" u="none" dirty="0">
                <a:solidFill>
                  <a:srgbClr val="64748B"/>
                </a:solidFill>
                <a:latin typeface="DM Sans"/>
              </a:rPr>
              <a:t> </a:t>
            </a:r>
            <a:r>
              <a:rPr sz="1125" b="0" i="0" u="none" dirty="0" err="1">
                <a:solidFill>
                  <a:srgbClr val="64748B"/>
                </a:solidFill>
                <a:latin typeface="DM Sans"/>
              </a:rPr>
              <a:t>süresi</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sonuçlar</a:t>
            </a:r>
            <a:r>
              <a:rPr sz="1125" b="0" i="0" u="none" dirty="0">
                <a:solidFill>
                  <a:srgbClr val="64748B"/>
                </a:solidFill>
                <a:latin typeface="DM Sans"/>
              </a:rPr>
              <a:t>.</a:t>
            </a:r>
          </a:p>
        </p:txBody>
      </p:sp>
      <p:pic>
        <p:nvPicPr>
          <p:cNvPr id="26" name="Picture 25" descr="image.png"/>
          <p:cNvPicPr>
            <a:picLocks noChangeAspect="1"/>
          </p:cNvPicPr>
          <p:nvPr/>
        </p:nvPicPr>
        <p:blipFill>
          <a:blip r:embed="rId9"/>
          <a:stretch>
            <a:fillRect/>
          </a:stretch>
        </p:blipFill>
        <p:spPr>
          <a:xfrm>
            <a:off x="819150" y="1576387"/>
            <a:ext cx="342900" cy="342900"/>
          </a:xfrm>
          <a:prstGeom prst="rect">
            <a:avLst/>
          </a:prstGeom>
        </p:spPr>
      </p:pic>
      <p:pic>
        <p:nvPicPr>
          <p:cNvPr id="27" name="Picture 26" descr="image.png"/>
          <p:cNvPicPr>
            <a:picLocks noChangeAspect="1"/>
          </p:cNvPicPr>
          <p:nvPr/>
        </p:nvPicPr>
        <p:blipFill>
          <a:blip r:embed="rId10"/>
          <a:stretch>
            <a:fillRect/>
          </a:stretch>
        </p:blipFill>
        <p:spPr>
          <a:xfrm>
            <a:off x="4565600" y="1576387"/>
            <a:ext cx="304800" cy="342900"/>
          </a:xfrm>
          <a:prstGeom prst="rect">
            <a:avLst/>
          </a:prstGeom>
        </p:spPr>
      </p:pic>
      <p:pic>
        <p:nvPicPr>
          <p:cNvPr id="28" name="Picture 27" descr="image.png"/>
          <p:cNvPicPr>
            <a:picLocks noChangeAspect="1"/>
          </p:cNvPicPr>
          <p:nvPr/>
        </p:nvPicPr>
        <p:blipFill>
          <a:blip r:embed="rId11"/>
          <a:stretch>
            <a:fillRect/>
          </a:stretch>
        </p:blipFill>
        <p:spPr>
          <a:xfrm>
            <a:off x="8312050" y="1576387"/>
            <a:ext cx="304800" cy="342900"/>
          </a:xfrm>
          <a:prstGeom prst="rect">
            <a:avLst/>
          </a:prstGeom>
        </p:spPr>
      </p:pic>
      <p:pic>
        <p:nvPicPr>
          <p:cNvPr id="29" name="Picture 28" descr="image.png"/>
          <p:cNvPicPr>
            <a:picLocks noChangeAspect="1"/>
          </p:cNvPicPr>
          <p:nvPr/>
        </p:nvPicPr>
        <p:blipFill>
          <a:blip r:embed="rId12"/>
          <a:stretch>
            <a:fillRect/>
          </a:stretch>
        </p:blipFill>
        <p:spPr>
          <a:xfrm>
            <a:off x="819150" y="3857625"/>
            <a:ext cx="342900" cy="342900"/>
          </a:xfrm>
          <a:prstGeom prst="rect">
            <a:avLst/>
          </a:prstGeom>
        </p:spPr>
      </p:pic>
      <p:pic>
        <p:nvPicPr>
          <p:cNvPr id="30" name="Picture 29" descr="image.png"/>
          <p:cNvPicPr>
            <a:picLocks noChangeAspect="1"/>
          </p:cNvPicPr>
          <p:nvPr/>
        </p:nvPicPr>
        <p:blipFill>
          <a:blip r:embed="rId13"/>
          <a:stretch>
            <a:fillRect/>
          </a:stretch>
        </p:blipFill>
        <p:spPr>
          <a:xfrm>
            <a:off x="4565600" y="3857625"/>
            <a:ext cx="342900" cy="342900"/>
          </a:xfrm>
          <a:prstGeom prst="rect">
            <a:avLst/>
          </a:prstGeom>
        </p:spPr>
      </p:pic>
      <p:pic>
        <p:nvPicPr>
          <p:cNvPr id="31" name="Picture 30" descr="image.png"/>
          <p:cNvPicPr>
            <a:picLocks noChangeAspect="1"/>
          </p:cNvPicPr>
          <p:nvPr/>
        </p:nvPicPr>
        <p:blipFill>
          <a:blip r:embed="rId14"/>
          <a:stretch>
            <a:fillRect/>
          </a:stretch>
        </p:blipFill>
        <p:spPr>
          <a:xfrm>
            <a:off x="8312050" y="3857625"/>
            <a:ext cx="342900" cy="342900"/>
          </a:xfrm>
          <a:prstGeom prst="rect">
            <a:avLst/>
          </a:prstGeom>
        </p:spPr>
      </p:pic>
      <p:pic>
        <p:nvPicPr>
          <p:cNvPr id="32" name="Picture 1" descr="image.png">
            <a:extLst>
              <a:ext uri="{FF2B5EF4-FFF2-40B4-BE49-F238E27FC236}">
                <a16:creationId xmlns:a16="http://schemas.microsoft.com/office/drawing/2014/main" id="{147CFF62-D139-C60D-55F5-C5CE9605AD3C}"/>
              </a:ext>
            </a:extLst>
          </p:cNvPr>
          <p:cNvPicPr>
            <a:picLocks noChangeAspect="1"/>
          </p:cNvPicPr>
          <p:nvPr/>
        </p:nvPicPr>
        <p:blipFill>
          <a:blip r:embed="rId15"/>
          <a:stretch>
            <a:fillRect/>
          </a:stretch>
        </p:blipFill>
        <p:spPr>
          <a:xfrm>
            <a:off x="571500" y="928687"/>
            <a:ext cx="11048999" cy="174458"/>
          </a:xfrm>
          <a:prstGeom prst="rect">
            <a:avLst/>
          </a:prstGeom>
        </p:spPr>
      </p:pic>
      <p:pic>
        <p:nvPicPr>
          <p:cNvPr id="33" name="İçerik Yer Tutucusu 10">
            <a:extLst>
              <a:ext uri="{FF2B5EF4-FFF2-40B4-BE49-F238E27FC236}">
                <a16:creationId xmlns:a16="http://schemas.microsoft.com/office/drawing/2014/main" id="{7DD7A4BD-ADC0-D165-77D7-6A3F51BFCDA6}"/>
              </a:ext>
            </a:extLst>
          </p:cNvPr>
          <p:cNvPicPr>
            <a:picLocks noChangeAspect="1"/>
          </p:cNvPicPr>
          <p:nvPr/>
        </p:nvPicPr>
        <p:blipFill>
          <a:blip r:embed="rId16">
            <a:extLst>
              <a:ext uri="{28A0092B-C50C-407E-A947-70E740481C1C}">
                <a14:useLocalDpi xmlns:a14="http://schemas.microsoft.com/office/drawing/2010/main" val="0"/>
              </a:ext>
            </a:extLst>
          </a:blip>
          <a:srcRect/>
          <a:stretch>
            <a:fillRect/>
          </a:stretch>
        </p:blipFill>
        <p:spPr bwMode="auto">
          <a:xfrm>
            <a:off x="9609138" y="456406"/>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5334000" cy="1514475"/>
          </a:xfrm>
          <a:prstGeom prst="rect">
            <a:avLst/>
          </a:prstGeom>
        </p:spPr>
      </p:pic>
      <p:pic>
        <p:nvPicPr>
          <p:cNvPr id="5" name="Picture 4" descr="image.png"/>
          <p:cNvPicPr>
            <a:picLocks noChangeAspect="1"/>
          </p:cNvPicPr>
          <p:nvPr/>
        </p:nvPicPr>
        <p:blipFill>
          <a:blip r:embed="rId4"/>
          <a:stretch>
            <a:fillRect/>
          </a:stretch>
        </p:blipFill>
        <p:spPr>
          <a:xfrm>
            <a:off x="571500" y="2957512"/>
            <a:ext cx="5334000" cy="1514475"/>
          </a:xfrm>
          <a:prstGeom prst="rect">
            <a:avLst/>
          </a:prstGeom>
        </p:spPr>
      </p:pic>
      <p:sp>
        <p:nvSpPr>
          <p:cNvPr id="6" name="TextBox 5"/>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Çalışmanın Amacı, Motivasyonu ve Katkıları</a:t>
            </a: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3</a:t>
            </a:r>
          </a:p>
        </p:txBody>
      </p:sp>
      <p:sp>
        <p:nvSpPr>
          <p:cNvPr id="10" name="TextBox 9"/>
          <p:cNvSpPr txBox="1"/>
          <p:nvPr/>
        </p:nvSpPr>
        <p:spPr>
          <a:xfrm>
            <a:off x="6286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Tezin Akademik ve Pratik Katkıları</a:t>
            </a:r>
          </a:p>
        </p:txBody>
      </p:sp>
      <p:sp>
        <p:nvSpPr>
          <p:cNvPr id="11" name="TextBox 10"/>
          <p:cNvSpPr txBox="1"/>
          <p:nvPr/>
        </p:nvSpPr>
        <p:spPr>
          <a:xfrm>
            <a:off x="809625" y="1443037"/>
            <a:ext cx="5150643" cy="219075"/>
          </a:xfrm>
          <a:prstGeom prst="rect">
            <a:avLst/>
          </a:prstGeom>
          <a:noFill/>
        </p:spPr>
        <p:txBody>
          <a:bodyPr wrap="square" lIns="247650" tIns="0" rIns="0" bIns="0" anchor="t">
            <a:spAutoFit/>
          </a:bodyPr>
          <a:lstStyle/>
          <a:p>
            <a:pPr algn="l"/>
            <a:r>
              <a:rPr sz="1350" b="1" i="0" u="none">
                <a:solidFill>
                  <a:srgbClr val="065F46"/>
                </a:solidFill>
                <a:latin typeface="Merriweather"/>
              </a:rPr>
              <a:t>Tezin Temel Amacı</a:t>
            </a:r>
          </a:p>
        </p:txBody>
      </p:sp>
      <p:sp>
        <p:nvSpPr>
          <p:cNvPr id="12" name="TextBox 11"/>
          <p:cNvSpPr txBox="1"/>
          <p:nvPr/>
        </p:nvSpPr>
        <p:spPr>
          <a:xfrm>
            <a:off x="809625" y="1719262"/>
            <a:ext cx="4905375" cy="857250"/>
          </a:xfrm>
          <a:prstGeom prst="rect">
            <a:avLst/>
          </a:prstGeom>
          <a:noFill/>
        </p:spPr>
        <p:txBody>
          <a:bodyPr wrap="square" lIns="0" tIns="0" rIns="0" bIns="0" anchor="t">
            <a:spAutoFit/>
          </a:bodyPr>
          <a:lstStyle/>
          <a:p>
            <a:pPr algn="l">
              <a:lnSpc>
                <a:spcPts val="1687"/>
              </a:lnSpc>
            </a:pPr>
            <a:r>
              <a:rPr sz="1125" b="0" i="0" u="none" dirty="0" err="1">
                <a:solidFill>
                  <a:srgbClr val="475569"/>
                </a:solidFill>
                <a:latin typeface="DM Sans"/>
              </a:rPr>
              <a:t>Dinamik</a:t>
            </a:r>
            <a:r>
              <a:rPr sz="1125" b="0" i="0" u="none" dirty="0">
                <a:solidFill>
                  <a:srgbClr val="475569"/>
                </a:solidFill>
                <a:latin typeface="DM Sans"/>
              </a:rPr>
              <a:t> </a:t>
            </a:r>
            <a:r>
              <a:rPr sz="1125" b="0" i="0" u="none" dirty="0" err="1">
                <a:solidFill>
                  <a:srgbClr val="475569"/>
                </a:solidFill>
                <a:latin typeface="DM Sans"/>
              </a:rPr>
              <a:t>ve</a:t>
            </a:r>
            <a:r>
              <a:rPr sz="1125" b="0" i="0" u="none" dirty="0">
                <a:solidFill>
                  <a:srgbClr val="475569"/>
                </a:solidFill>
                <a:latin typeface="DM Sans"/>
              </a:rPr>
              <a:t> </a:t>
            </a:r>
            <a:r>
              <a:rPr lang="tr-TR" sz="1125" b="0" i="0" u="none" dirty="0">
                <a:solidFill>
                  <a:srgbClr val="475569"/>
                </a:solidFill>
                <a:latin typeface="DM Sans"/>
              </a:rPr>
              <a:t>milisaniyeler</a:t>
            </a:r>
            <a:r>
              <a:rPr sz="1125" b="0" i="0" u="none" dirty="0">
                <a:solidFill>
                  <a:srgbClr val="475569"/>
                </a:solidFill>
                <a:latin typeface="DM Sans"/>
              </a:rPr>
              <a:t> </a:t>
            </a:r>
            <a:r>
              <a:rPr sz="1125" b="0" i="0" u="none" dirty="0" err="1">
                <a:solidFill>
                  <a:srgbClr val="475569"/>
                </a:solidFill>
                <a:latin typeface="DM Sans"/>
              </a:rPr>
              <a:t>içinde</a:t>
            </a:r>
            <a:r>
              <a:rPr sz="1125" b="0" i="0" u="none" dirty="0">
                <a:solidFill>
                  <a:srgbClr val="475569"/>
                </a:solidFill>
                <a:latin typeface="DM Sans"/>
              </a:rPr>
              <a:t> </a:t>
            </a:r>
            <a:r>
              <a:rPr sz="1125" b="0" i="0" u="none" dirty="0" err="1">
                <a:solidFill>
                  <a:srgbClr val="475569"/>
                </a:solidFill>
                <a:latin typeface="DM Sans"/>
              </a:rPr>
              <a:t>değişen</a:t>
            </a:r>
            <a:r>
              <a:rPr sz="1125" b="0" i="0" u="none" dirty="0">
                <a:solidFill>
                  <a:srgbClr val="475569"/>
                </a:solidFill>
                <a:latin typeface="DM Sans"/>
              </a:rPr>
              <a:t> </a:t>
            </a:r>
            <a:r>
              <a:rPr sz="1125" b="0" i="0" u="none" dirty="0" err="1">
                <a:solidFill>
                  <a:srgbClr val="475569"/>
                </a:solidFill>
                <a:latin typeface="DM Sans"/>
              </a:rPr>
              <a:t>sıfırıncı</a:t>
            </a:r>
            <a:r>
              <a:rPr sz="1125" b="0" i="0" u="none" dirty="0">
                <a:solidFill>
                  <a:srgbClr val="475569"/>
                </a:solidFill>
                <a:latin typeface="DM Sans"/>
              </a:rPr>
              <a:t> </a:t>
            </a:r>
            <a:r>
              <a:rPr sz="1125" b="0" i="0" u="none" dirty="0" err="1">
                <a:solidFill>
                  <a:srgbClr val="475569"/>
                </a:solidFill>
                <a:latin typeface="DM Sans"/>
              </a:rPr>
              <a:t>gün</a:t>
            </a:r>
            <a:r>
              <a:rPr sz="1125" b="0" i="0" u="none" dirty="0">
                <a:solidFill>
                  <a:srgbClr val="475569"/>
                </a:solidFill>
                <a:latin typeface="DM Sans"/>
              </a:rPr>
              <a:t> (zero-day) </a:t>
            </a:r>
            <a:r>
              <a:rPr sz="1125" b="0" i="0" u="none" dirty="0" err="1">
                <a:solidFill>
                  <a:srgbClr val="475569"/>
                </a:solidFill>
                <a:latin typeface="DM Sans"/>
              </a:rPr>
              <a:t>oltalama</a:t>
            </a:r>
            <a:r>
              <a:rPr sz="1125" b="0" i="0" u="none" dirty="0">
                <a:solidFill>
                  <a:srgbClr val="475569"/>
                </a:solidFill>
                <a:latin typeface="DM Sans"/>
              </a:rPr>
              <a:t> </a:t>
            </a:r>
            <a:r>
              <a:rPr sz="1125" b="0" i="0" u="none" dirty="0" err="1">
                <a:solidFill>
                  <a:srgbClr val="475569"/>
                </a:solidFill>
                <a:latin typeface="DM Sans"/>
              </a:rPr>
              <a:t>URL'lerini</a:t>
            </a:r>
            <a:r>
              <a:rPr sz="1125" b="0" i="0" u="none" dirty="0">
                <a:solidFill>
                  <a:srgbClr val="475569"/>
                </a:solidFill>
                <a:latin typeface="DM Sans"/>
              </a:rPr>
              <a:t>, </a:t>
            </a:r>
            <a:r>
              <a:rPr sz="1125" b="0" i="0" u="none" dirty="0" err="1">
                <a:solidFill>
                  <a:srgbClr val="475569"/>
                </a:solidFill>
                <a:latin typeface="DM Sans"/>
              </a:rPr>
              <a:t>sunucu</a:t>
            </a:r>
            <a:r>
              <a:rPr sz="1125" b="0" i="0" u="none" dirty="0">
                <a:solidFill>
                  <a:srgbClr val="475569"/>
                </a:solidFill>
                <a:latin typeface="DM Sans"/>
              </a:rPr>
              <a:t> </a:t>
            </a:r>
            <a:r>
              <a:rPr sz="1125" b="0" i="0" u="none" dirty="0" err="1">
                <a:solidFill>
                  <a:srgbClr val="475569"/>
                </a:solidFill>
                <a:latin typeface="DM Sans"/>
              </a:rPr>
              <a:t>içeriğine</a:t>
            </a:r>
            <a:r>
              <a:rPr sz="1125" b="0" i="0" u="none" dirty="0">
                <a:solidFill>
                  <a:srgbClr val="475569"/>
                </a:solidFill>
                <a:latin typeface="DM Sans"/>
              </a:rPr>
              <a:t> </a:t>
            </a:r>
            <a:r>
              <a:rPr sz="1125" b="0" i="0" u="none" dirty="0" err="1">
                <a:solidFill>
                  <a:srgbClr val="475569"/>
                </a:solidFill>
                <a:latin typeface="DM Sans"/>
              </a:rPr>
              <a:t>erişim</a:t>
            </a:r>
            <a:r>
              <a:rPr sz="1125" b="0" i="0" u="none" dirty="0">
                <a:solidFill>
                  <a:srgbClr val="475569"/>
                </a:solidFill>
                <a:latin typeface="DM Sans"/>
              </a:rPr>
              <a:t> </a:t>
            </a:r>
            <a:r>
              <a:rPr sz="1125" b="0" i="0" u="none" dirty="0" err="1">
                <a:solidFill>
                  <a:srgbClr val="475569"/>
                </a:solidFill>
                <a:latin typeface="DM Sans"/>
              </a:rPr>
              <a:t>zorunluluğu</a:t>
            </a:r>
            <a:r>
              <a:rPr sz="1125" b="0" i="0" u="none" dirty="0">
                <a:solidFill>
                  <a:srgbClr val="475569"/>
                </a:solidFill>
                <a:latin typeface="DM Sans"/>
              </a:rPr>
              <a:t> </a:t>
            </a:r>
            <a:r>
              <a:rPr sz="1125" b="0" i="0" u="none" dirty="0" err="1">
                <a:solidFill>
                  <a:srgbClr val="475569"/>
                </a:solidFill>
                <a:latin typeface="DM Sans"/>
              </a:rPr>
              <a:t>olmadan</a:t>
            </a:r>
            <a:r>
              <a:rPr sz="1125" b="0" i="0" u="none" dirty="0">
                <a:solidFill>
                  <a:srgbClr val="475569"/>
                </a:solidFill>
                <a:latin typeface="DM Sans"/>
              </a:rPr>
              <a:t> </a:t>
            </a:r>
            <a:r>
              <a:rPr sz="1125" b="0" i="0" u="none" dirty="0" err="1">
                <a:solidFill>
                  <a:srgbClr val="475569"/>
                </a:solidFill>
                <a:latin typeface="DM Sans"/>
              </a:rPr>
              <a:t>yalnızca</a:t>
            </a:r>
            <a:r>
              <a:rPr sz="1125" b="0" i="0" u="none" dirty="0">
                <a:solidFill>
                  <a:srgbClr val="475569"/>
                </a:solidFill>
                <a:latin typeface="DM Sans"/>
              </a:rPr>
              <a:t> </a:t>
            </a:r>
            <a:r>
              <a:rPr sz="1125" b="0" i="0" u="none" dirty="0" err="1">
                <a:solidFill>
                  <a:srgbClr val="475569"/>
                </a:solidFill>
                <a:latin typeface="DM Sans"/>
              </a:rPr>
              <a:t>yapısal</a:t>
            </a:r>
            <a:r>
              <a:rPr sz="1125" b="0" i="0" u="none" dirty="0">
                <a:solidFill>
                  <a:srgbClr val="475569"/>
                </a:solidFill>
                <a:latin typeface="DM Sans"/>
              </a:rPr>
              <a:t> </a:t>
            </a:r>
            <a:r>
              <a:rPr sz="1125" b="0" i="0" u="none" dirty="0" err="1">
                <a:solidFill>
                  <a:srgbClr val="475569"/>
                </a:solidFill>
                <a:latin typeface="DM Sans"/>
              </a:rPr>
              <a:t>öznitelikler</a:t>
            </a:r>
            <a:r>
              <a:rPr sz="1125" b="0" i="0" u="none" dirty="0">
                <a:solidFill>
                  <a:srgbClr val="475569"/>
                </a:solidFill>
                <a:latin typeface="DM Sans"/>
              </a:rPr>
              <a:t> </a:t>
            </a:r>
            <a:r>
              <a:rPr sz="1125" b="0" i="0" u="none" dirty="0" err="1">
                <a:solidFill>
                  <a:srgbClr val="475569"/>
                </a:solidFill>
                <a:latin typeface="DM Sans"/>
              </a:rPr>
              <a:t>kullanarak</a:t>
            </a:r>
            <a:r>
              <a:rPr sz="1125" b="0" i="0" u="none" dirty="0">
                <a:solidFill>
                  <a:srgbClr val="475569"/>
                </a:solidFill>
                <a:latin typeface="DM Sans"/>
              </a:rPr>
              <a:t> </a:t>
            </a:r>
            <a:r>
              <a:rPr lang="tr-TR" sz="1125" dirty="0">
                <a:solidFill>
                  <a:srgbClr val="475569"/>
                </a:solidFill>
                <a:latin typeface="DM Sans"/>
              </a:rPr>
              <a:t>yüksek</a:t>
            </a:r>
            <a:r>
              <a:rPr sz="1125" b="0" i="0" u="none" dirty="0">
                <a:solidFill>
                  <a:srgbClr val="475569"/>
                </a:solidFill>
                <a:latin typeface="DM Sans"/>
              </a:rPr>
              <a:t> </a:t>
            </a:r>
            <a:r>
              <a:rPr sz="1125" b="0" i="0" u="none" dirty="0" err="1">
                <a:solidFill>
                  <a:srgbClr val="475569"/>
                </a:solidFill>
                <a:latin typeface="DM Sans"/>
              </a:rPr>
              <a:t>doğrulukla</a:t>
            </a:r>
            <a:r>
              <a:rPr sz="1125" b="0" i="0" u="none" dirty="0">
                <a:solidFill>
                  <a:srgbClr val="475569"/>
                </a:solidFill>
                <a:latin typeface="DM Sans"/>
              </a:rPr>
              <a:t> </a:t>
            </a:r>
            <a:r>
              <a:rPr sz="1125" b="0" i="0" u="none" dirty="0" err="1">
                <a:solidFill>
                  <a:srgbClr val="475569"/>
                </a:solidFill>
                <a:latin typeface="DM Sans"/>
              </a:rPr>
              <a:t>tespit</a:t>
            </a:r>
            <a:r>
              <a:rPr sz="1125" b="0" i="0" u="none" dirty="0">
                <a:solidFill>
                  <a:srgbClr val="475569"/>
                </a:solidFill>
                <a:latin typeface="DM Sans"/>
              </a:rPr>
              <a:t> </a:t>
            </a:r>
            <a:r>
              <a:rPr sz="1125" b="0" i="0" u="none" dirty="0" err="1">
                <a:solidFill>
                  <a:srgbClr val="475569"/>
                </a:solidFill>
                <a:latin typeface="DM Sans"/>
              </a:rPr>
              <a:t>eden</a:t>
            </a:r>
            <a:r>
              <a:rPr sz="1125" b="0" i="0" u="none" dirty="0">
                <a:solidFill>
                  <a:srgbClr val="475569"/>
                </a:solidFill>
                <a:latin typeface="DM Sans"/>
              </a:rPr>
              <a:t> </a:t>
            </a:r>
            <a:r>
              <a:rPr sz="1125" b="0" i="0" u="none" dirty="0" err="1">
                <a:solidFill>
                  <a:srgbClr val="475569"/>
                </a:solidFill>
                <a:latin typeface="DM Sans"/>
              </a:rPr>
              <a:t>istemci</a:t>
            </a:r>
            <a:r>
              <a:rPr sz="1125" b="0" i="0" u="none" dirty="0">
                <a:solidFill>
                  <a:srgbClr val="475569"/>
                </a:solidFill>
                <a:latin typeface="DM Sans"/>
              </a:rPr>
              <a:t> </a:t>
            </a:r>
            <a:r>
              <a:rPr sz="1125" b="0" i="0" u="none" dirty="0" err="1">
                <a:solidFill>
                  <a:srgbClr val="475569"/>
                </a:solidFill>
                <a:latin typeface="DM Sans"/>
              </a:rPr>
              <a:t>taraflı</a:t>
            </a:r>
            <a:r>
              <a:rPr sz="1125" b="0" i="0" u="none" dirty="0">
                <a:solidFill>
                  <a:srgbClr val="475569"/>
                </a:solidFill>
                <a:latin typeface="DM Sans"/>
              </a:rPr>
              <a:t> </a:t>
            </a:r>
            <a:r>
              <a:rPr sz="1125" b="0" i="0" u="none" dirty="0" err="1">
                <a:solidFill>
                  <a:srgbClr val="475569"/>
                </a:solidFill>
                <a:latin typeface="DM Sans"/>
              </a:rPr>
              <a:t>tarayıcı</a:t>
            </a:r>
            <a:r>
              <a:rPr sz="1125" b="0" i="0" u="none" dirty="0">
                <a:solidFill>
                  <a:srgbClr val="475569"/>
                </a:solidFill>
                <a:latin typeface="DM Sans"/>
              </a:rPr>
              <a:t> </a:t>
            </a:r>
            <a:r>
              <a:rPr sz="1125" b="0" i="0" u="none" dirty="0" err="1">
                <a:solidFill>
                  <a:srgbClr val="475569"/>
                </a:solidFill>
                <a:latin typeface="DM Sans"/>
              </a:rPr>
              <a:t>eklentisi</a:t>
            </a:r>
            <a:r>
              <a:rPr sz="1125" b="0" i="0" u="none" dirty="0">
                <a:solidFill>
                  <a:srgbClr val="475569"/>
                </a:solidFill>
                <a:latin typeface="DM Sans"/>
              </a:rPr>
              <a:t> </a:t>
            </a:r>
            <a:r>
              <a:rPr sz="1125" b="0" i="0" u="none" dirty="0" err="1">
                <a:solidFill>
                  <a:srgbClr val="475569"/>
                </a:solidFill>
                <a:latin typeface="DM Sans"/>
              </a:rPr>
              <a:t>geliştirmektir</a:t>
            </a:r>
            <a:r>
              <a:rPr sz="1125" b="0" i="0" u="none" dirty="0">
                <a:solidFill>
                  <a:srgbClr val="475569"/>
                </a:solidFill>
                <a:latin typeface="DM Sans"/>
              </a:rPr>
              <a:t>.</a:t>
            </a:r>
          </a:p>
        </p:txBody>
      </p:sp>
      <p:sp>
        <p:nvSpPr>
          <p:cNvPr id="13" name="TextBox 12"/>
          <p:cNvSpPr txBox="1"/>
          <p:nvPr/>
        </p:nvSpPr>
        <p:spPr>
          <a:xfrm>
            <a:off x="809625" y="3148012"/>
            <a:ext cx="5150643" cy="219075"/>
          </a:xfrm>
          <a:prstGeom prst="rect">
            <a:avLst/>
          </a:prstGeom>
          <a:noFill/>
        </p:spPr>
        <p:txBody>
          <a:bodyPr wrap="square" lIns="209550" tIns="0" rIns="0" bIns="0" anchor="t">
            <a:spAutoFit/>
          </a:bodyPr>
          <a:lstStyle/>
          <a:p>
            <a:pPr algn="l"/>
            <a:r>
              <a:rPr sz="1350" b="1" i="0" u="none">
                <a:solidFill>
                  <a:srgbClr val="065F46"/>
                </a:solidFill>
                <a:latin typeface="Merriweather"/>
              </a:rPr>
              <a:t>Temel Motivasyon</a:t>
            </a:r>
          </a:p>
        </p:txBody>
      </p:sp>
      <p:sp>
        <p:nvSpPr>
          <p:cNvPr id="14" name="TextBox 13"/>
          <p:cNvSpPr txBox="1"/>
          <p:nvPr/>
        </p:nvSpPr>
        <p:spPr>
          <a:xfrm>
            <a:off x="809625" y="3424237"/>
            <a:ext cx="4905375" cy="857250"/>
          </a:xfrm>
          <a:prstGeom prst="rect">
            <a:avLst/>
          </a:prstGeom>
          <a:noFill/>
        </p:spPr>
        <p:txBody>
          <a:bodyPr wrap="square" lIns="0" tIns="0" rIns="0" bIns="0" anchor="t">
            <a:spAutoFit/>
          </a:bodyPr>
          <a:lstStyle/>
          <a:p>
            <a:pPr algn="l">
              <a:lnSpc>
                <a:spcPts val="1687"/>
              </a:lnSpc>
            </a:pPr>
            <a:r>
              <a:rPr sz="1125" b="0" i="0" u="none">
                <a:solidFill>
                  <a:srgbClr val="475569"/>
                </a:solidFill>
                <a:latin typeface="DM Sans"/>
              </a:rPr>
              <a:t>Geleneksel kara listelerin ortalama 24-48 saat gecikmeyle güncellenmesi ve ağ trafiğini tarayan ağır derin öğrenme modellerinin yüksek işlemci/bellek tüketimi nedeniyle son kullanıcı tarayıcılarında gecikme (latency) oluşturmasıdır.</a:t>
            </a:r>
          </a:p>
        </p:txBody>
      </p:sp>
      <p:sp>
        <p:nvSpPr>
          <p:cNvPr id="15" name="TextBox 14"/>
          <p:cNvSpPr txBox="1"/>
          <p:nvPr/>
        </p:nvSpPr>
        <p:spPr>
          <a:xfrm>
            <a:off x="6572250" y="1633537"/>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Özgün Hibrit Öznitelik Seti:</a:t>
            </a:r>
            <a:r>
              <a:rPr sz="1200" b="0" i="0" u="none">
                <a:solidFill>
                  <a:srgbClr val="334155"/>
                </a:solidFill>
                <a:latin typeface="DM Sans"/>
              </a:rPr>
              <a:t> 33 adet lexical, istatistiksel karmaşıklık (entropi) ve alan adı yapısal özelliğinin kombinasyonu.</a:t>
            </a:r>
          </a:p>
        </p:txBody>
      </p:sp>
      <p:sp>
        <p:nvSpPr>
          <p:cNvPr id="16" name="TextBox 15"/>
          <p:cNvSpPr txBox="1"/>
          <p:nvPr/>
        </p:nvSpPr>
        <p:spPr>
          <a:xfrm>
            <a:off x="6572250" y="2224087"/>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Hafif ve Hızlı Modelleme:</a:t>
            </a:r>
            <a:r>
              <a:rPr sz="1200" b="0" i="0" u="none">
                <a:solidFill>
                  <a:srgbClr val="334155"/>
                </a:solidFill>
                <a:latin typeface="DM Sans"/>
              </a:rPr>
              <a:t> Yalnızca 16.5 ms ortalama karar süresi ile CPU kaynaklarını yormayan istemci dostu mimari.</a:t>
            </a:r>
          </a:p>
        </p:txBody>
      </p:sp>
      <p:sp>
        <p:nvSpPr>
          <p:cNvPr id="17" name="TextBox 16"/>
          <p:cNvSpPr txBox="1"/>
          <p:nvPr/>
        </p:nvSpPr>
        <p:spPr>
          <a:xfrm>
            <a:off x="6572250" y="2814637"/>
            <a:ext cx="5048250" cy="6858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Canlı Eklenti Entegrasyonu:</a:t>
            </a:r>
            <a:r>
              <a:rPr sz="1200" b="0" i="0" u="none">
                <a:solidFill>
                  <a:srgbClr val="334155"/>
                </a:solidFill>
                <a:latin typeface="DM Sans"/>
              </a:rPr>
              <a:t> Google Chrome Manifest V3 standartlarına uygun asenkron arka plan servis çalıştırıcısı (Service Worker).</a:t>
            </a:r>
          </a:p>
        </p:txBody>
      </p:sp>
      <p:sp>
        <p:nvSpPr>
          <p:cNvPr id="18" name="TextBox 17"/>
          <p:cNvSpPr txBox="1"/>
          <p:nvPr/>
        </p:nvSpPr>
        <p:spPr>
          <a:xfrm>
            <a:off x="6572250" y="3633787"/>
            <a:ext cx="5048250" cy="457200"/>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False</a:t>
            </a:r>
            <a:r>
              <a:rPr lang="tr-TR" sz="1200" b="1" dirty="0">
                <a:solidFill>
                  <a:srgbClr val="334155"/>
                </a:solidFill>
                <a:latin typeface="DM Sans"/>
              </a:rPr>
              <a:t> </a:t>
            </a:r>
            <a:r>
              <a:rPr lang="tr-TR" sz="1200" b="1" dirty="0" err="1">
                <a:solidFill>
                  <a:srgbClr val="334155"/>
                </a:solidFill>
                <a:latin typeface="DM Sans"/>
              </a:rPr>
              <a:t>Positive</a:t>
            </a:r>
            <a:r>
              <a:rPr sz="1200" b="1" i="0" u="none" dirty="0">
                <a:solidFill>
                  <a:srgbClr val="334155"/>
                </a:solidFill>
                <a:latin typeface="DM Sans"/>
              </a:rPr>
              <a:t> </a:t>
            </a:r>
            <a:r>
              <a:rPr sz="1200" b="1" i="0" u="none" dirty="0" err="1">
                <a:solidFill>
                  <a:srgbClr val="334155"/>
                </a:solidFill>
                <a:latin typeface="DM Sans"/>
              </a:rPr>
              <a:t>Oranı</a:t>
            </a:r>
            <a:r>
              <a:rPr sz="1200" b="1" i="0" u="none" dirty="0">
                <a:solidFill>
                  <a:srgbClr val="334155"/>
                </a:solidFill>
                <a:latin typeface="DM Sans"/>
              </a:rPr>
              <a:t>:</a:t>
            </a:r>
            <a:r>
              <a:rPr sz="1200" b="0" i="0" u="none" dirty="0">
                <a:solidFill>
                  <a:srgbClr val="334155"/>
                </a:solidFill>
                <a:latin typeface="DM Sans"/>
              </a:rPr>
              <a:t> Saha </a:t>
            </a:r>
            <a:r>
              <a:rPr sz="1200" b="0" i="0" u="none" dirty="0" err="1">
                <a:solidFill>
                  <a:srgbClr val="334155"/>
                </a:solidFill>
                <a:latin typeface="DM Sans"/>
              </a:rPr>
              <a:t>doğrulama</a:t>
            </a:r>
            <a:r>
              <a:rPr sz="1200" b="0" i="0" u="none" dirty="0">
                <a:solidFill>
                  <a:srgbClr val="334155"/>
                </a:solidFill>
                <a:latin typeface="DM Sans"/>
              </a:rPr>
              <a:t> </a:t>
            </a:r>
            <a:r>
              <a:rPr sz="1200" b="0" i="0" u="none" dirty="0" err="1">
                <a:solidFill>
                  <a:srgbClr val="334155"/>
                </a:solidFill>
                <a:latin typeface="DM Sans"/>
              </a:rPr>
              <a:t>testlerinde</a:t>
            </a:r>
            <a:r>
              <a:rPr sz="1200" b="0" i="0" u="none" dirty="0">
                <a:solidFill>
                  <a:srgbClr val="334155"/>
                </a:solidFill>
                <a:latin typeface="DM Sans"/>
              </a:rPr>
              <a:t> </a:t>
            </a:r>
            <a:r>
              <a:rPr sz="1200" b="0" i="0" u="none" dirty="0" err="1">
                <a:solidFill>
                  <a:srgbClr val="334155"/>
                </a:solidFill>
                <a:latin typeface="DM Sans"/>
              </a:rPr>
              <a:t>meşru</a:t>
            </a:r>
            <a:r>
              <a:rPr sz="1200" b="0" i="0" u="none" dirty="0">
                <a:solidFill>
                  <a:srgbClr val="334155"/>
                </a:solidFill>
                <a:latin typeface="DM Sans"/>
              </a:rPr>
              <a:t> web </a:t>
            </a:r>
            <a:r>
              <a:rPr sz="1200" b="0" i="0" u="none" dirty="0" err="1">
                <a:solidFill>
                  <a:srgbClr val="334155"/>
                </a:solidFill>
                <a:latin typeface="DM Sans"/>
              </a:rPr>
              <a:t>sitelerini</a:t>
            </a:r>
            <a:r>
              <a:rPr sz="1200" b="0" i="0" u="none" dirty="0">
                <a:solidFill>
                  <a:srgbClr val="334155"/>
                </a:solidFill>
                <a:latin typeface="DM Sans"/>
              </a:rPr>
              <a:t> </a:t>
            </a:r>
            <a:r>
              <a:rPr sz="1200" b="0" i="0" u="none" dirty="0" err="1">
                <a:solidFill>
                  <a:srgbClr val="334155"/>
                </a:solidFill>
                <a:latin typeface="DM Sans"/>
              </a:rPr>
              <a:t>hatalı</a:t>
            </a:r>
            <a:r>
              <a:rPr sz="1200" b="0" i="0" u="none" dirty="0">
                <a:solidFill>
                  <a:srgbClr val="334155"/>
                </a:solidFill>
                <a:latin typeface="DM Sans"/>
              </a:rPr>
              <a:t> </a:t>
            </a:r>
            <a:r>
              <a:rPr sz="1200" b="0" i="0" u="none" dirty="0" err="1">
                <a:solidFill>
                  <a:srgbClr val="334155"/>
                </a:solidFill>
                <a:latin typeface="DM Sans"/>
              </a:rPr>
              <a:t>engellemeyen</a:t>
            </a:r>
            <a:r>
              <a:rPr sz="1200" b="0" i="0" u="none" dirty="0">
                <a:solidFill>
                  <a:srgbClr val="334155"/>
                </a:solidFill>
                <a:latin typeface="DM Sans"/>
              </a:rPr>
              <a:t> </a:t>
            </a:r>
            <a:r>
              <a:rPr sz="1200" b="0" i="0" u="none" dirty="0" err="1">
                <a:solidFill>
                  <a:srgbClr val="334155"/>
                </a:solidFill>
                <a:latin typeface="DM Sans"/>
              </a:rPr>
              <a:t>güvenilir</a:t>
            </a:r>
            <a:r>
              <a:rPr sz="1200" b="0" i="0" u="none" dirty="0">
                <a:solidFill>
                  <a:srgbClr val="334155"/>
                </a:solidFill>
                <a:latin typeface="DM Sans"/>
              </a:rPr>
              <a:t> </a:t>
            </a:r>
            <a:r>
              <a:rPr sz="1200" b="0" i="0" u="none" dirty="0" err="1">
                <a:solidFill>
                  <a:srgbClr val="334155"/>
                </a:solidFill>
                <a:latin typeface="DM Sans"/>
              </a:rPr>
              <a:t>sınıflandırma</a:t>
            </a:r>
            <a:r>
              <a:rPr sz="1200" b="0" i="0" u="none" dirty="0">
                <a:solidFill>
                  <a:srgbClr val="334155"/>
                </a:solidFill>
                <a:latin typeface="DM Sans"/>
              </a:rPr>
              <a:t>.</a:t>
            </a:r>
          </a:p>
        </p:txBody>
      </p:sp>
      <p:pic>
        <p:nvPicPr>
          <p:cNvPr id="19" name="Picture 18" descr="image.png"/>
          <p:cNvPicPr>
            <a:picLocks noChangeAspect="1"/>
          </p:cNvPicPr>
          <p:nvPr/>
        </p:nvPicPr>
        <p:blipFill>
          <a:blip r:embed="rId5"/>
          <a:stretch>
            <a:fillRect/>
          </a:stretch>
        </p:blipFill>
        <p:spPr>
          <a:xfrm>
            <a:off x="809625" y="1471612"/>
            <a:ext cx="171450" cy="171450"/>
          </a:xfrm>
          <a:prstGeom prst="rect">
            <a:avLst/>
          </a:prstGeom>
        </p:spPr>
      </p:pic>
      <p:pic>
        <p:nvPicPr>
          <p:cNvPr id="20" name="Picture 19" descr="image.png"/>
          <p:cNvPicPr>
            <a:picLocks noChangeAspect="1"/>
          </p:cNvPicPr>
          <p:nvPr/>
        </p:nvPicPr>
        <p:blipFill>
          <a:blip r:embed="rId6"/>
          <a:stretch>
            <a:fillRect/>
          </a:stretch>
        </p:blipFill>
        <p:spPr>
          <a:xfrm>
            <a:off x="809625" y="3176587"/>
            <a:ext cx="133350" cy="171450"/>
          </a:xfrm>
          <a:prstGeom prst="rect">
            <a:avLst/>
          </a:prstGeom>
        </p:spPr>
      </p:pic>
      <p:pic>
        <p:nvPicPr>
          <p:cNvPr id="21" name="Picture 20" descr="image.png"/>
          <p:cNvPicPr>
            <a:picLocks noChangeAspect="1"/>
          </p:cNvPicPr>
          <p:nvPr/>
        </p:nvPicPr>
        <p:blipFill>
          <a:blip r:embed="rId7"/>
          <a:stretch>
            <a:fillRect/>
          </a:stretch>
        </p:blipFill>
        <p:spPr>
          <a:xfrm>
            <a:off x="6286500" y="1657350"/>
            <a:ext cx="171450" cy="180975"/>
          </a:xfrm>
          <a:prstGeom prst="rect">
            <a:avLst/>
          </a:prstGeom>
        </p:spPr>
      </p:pic>
      <p:pic>
        <p:nvPicPr>
          <p:cNvPr id="22" name="Picture 21" descr="image.png"/>
          <p:cNvPicPr>
            <a:picLocks noChangeAspect="1"/>
          </p:cNvPicPr>
          <p:nvPr/>
        </p:nvPicPr>
        <p:blipFill>
          <a:blip r:embed="rId7"/>
          <a:stretch>
            <a:fillRect/>
          </a:stretch>
        </p:blipFill>
        <p:spPr>
          <a:xfrm>
            <a:off x="6286500" y="2247900"/>
            <a:ext cx="171450" cy="180975"/>
          </a:xfrm>
          <a:prstGeom prst="rect">
            <a:avLst/>
          </a:prstGeom>
        </p:spPr>
      </p:pic>
      <p:pic>
        <p:nvPicPr>
          <p:cNvPr id="23" name="Picture 22" descr="image.png"/>
          <p:cNvPicPr>
            <a:picLocks noChangeAspect="1"/>
          </p:cNvPicPr>
          <p:nvPr/>
        </p:nvPicPr>
        <p:blipFill>
          <a:blip r:embed="rId7"/>
          <a:stretch>
            <a:fillRect/>
          </a:stretch>
        </p:blipFill>
        <p:spPr>
          <a:xfrm>
            <a:off x="6286500" y="2838450"/>
            <a:ext cx="171450" cy="180975"/>
          </a:xfrm>
          <a:prstGeom prst="rect">
            <a:avLst/>
          </a:prstGeom>
        </p:spPr>
      </p:pic>
      <p:pic>
        <p:nvPicPr>
          <p:cNvPr id="24" name="Picture 23" descr="image.png"/>
          <p:cNvPicPr>
            <a:picLocks noChangeAspect="1"/>
          </p:cNvPicPr>
          <p:nvPr/>
        </p:nvPicPr>
        <p:blipFill>
          <a:blip r:embed="rId7"/>
          <a:stretch>
            <a:fillRect/>
          </a:stretch>
        </p:blipFill>
        <p:spPr>
          <a:xfrm>
            <a:off x="6286500" y="3657600"/>
            <a:ext cx="171450" cy="180975"/>
          </a:xfrm>
          <a:prstGeom prst="rect">
            <a:avLst/>
          </a:prstGeom>
        </p:spPr>
      </p:pic>
      <p:pic>
        <p:nvPicPr>
          <p:cNvPr id="25" name="Picture 1" descr="image.png">
            <a:extLst>
              <a:ext uri="{FF2B5EF4-FFF2-40B4-BE49-F238E27FC236}">
                <a16:creationId xmlns:a16="http://schemas.microsoft.com/office/drawing/2014/main" id="{67A4E002-5D95-991E-4C08-5DE8A795E153}"/>
              </a:ext>
            </a:extLst>
          </p:cNvPr>
          <p:cNvPicPr>
            <a:picLocks noChangeAspect="1"/>
          </p:cNvPicPr>
          <p:nvPr/>
        </p:nvPicPr>
        <p:blipFill>
          <a:blip r:embed="rId8"/>
          <a:stretch>
            <a:fillRect/>
          </a:stretch>
        </p:blipFill>
        <p:spPr>
          <a:xfrm>
            <a:off x="571500" y="928687"/>
            <a:ext cx="11048999" cy="174458"/>
          </a:xfrm>
          <a:prstGeom prst="rect">
            <a:avLst/>
          </a:prstGeom>
        </p:spPr>
      </p:pic>
      <p:pic>
        <p:nvPicPr>
          <p:cNvPr id="26" name="İçerik Yer Tutucusu 10">
            <a:extLst>
              <a:ext uri="{FF2B5EF4-FFF2-40B4-BE49-F238E27FC236}">
                <a16:creationId xmlns:a16="http://schemas.microsoft.com/office/drawing/2014/main" id="{141DE077-B4E6-801C-C9C0-880899014269}"/>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9609138" y="456406"/>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717577"/>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dirty="0">
                <a:solidFill>
                  <a:srgbClr val="FFFFFF"/>
                </a:solidFill>
                <a:latin typeface="DM Sans"/>
              </a:rPr>
              <a:t>SAKARYA ÜNİVERSİTESİ</a:t>
            </a:r>
          </a:p>
        </p:txBody>
      </p:sp>
      <p:sp>
        <p:nvSpPr>
          <p:cNvPr id="5" name="TextBox 4"/>
          <p:cNvSpPr txBox="1"/>
          <p:nvPr/>
        </p:nvSpPr>
        <p:spPr>
          <a:xfrm>
            <a:off x="2095500" y="257279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01</a:t>
            </a:r>
          </a:p>
        </p:txBody>
      </p:sp>
      <p:sp>
        <p:nvSpPr>
          <p:cNvPr id="6" name="TextBox 5"/>
          <p:cNvSpPr txBox="1"/>
          <p:nvPr/>
        </p:nvSpPr>
        <p:spPr>
          <a:xfrm>
            <a:off x="2095500" y="2953791"/>
            <a:ext cx="8001000" cy="525660"/>
          </a:xfrm>
          <a:prstGeom prst="rect">
            <a:avLst/>
          </a:prstGeom>
          <a:noFill/>
        </p:spPr>
        <p:txBody>
          <a:bodyPr wrap="square" lIns="0" tIns="0" rIns="0" bIns="0" anchor="t">
            <a:spAutoFit/>
          </a:bodyPr>
          <a:lstStyle/>
          <a:p>
            <a:pPr algn="ctr">
              <a:lnSpc>
                <a:spcPts val="4140"/>
              </a:lnSpc>
            </a:pPr>
            <a:r>
              <a:rPr sz="3450" b="1" i="0" u="none">
                <a:solidFill>
                  <a:srgbClr val="FFFFFF"/>
                </a:solidFill>
                <a:latin typeface="Merriweather"/>
              </a:rPr>
              <a:t>GİRİŞ VE TEHDİT MATRİSİ</a:t>
            </a:r>
          </a:p>
        </p:txBody>
      </p:sp>
      <p:sp>
        <p:nvSpPr>
          <p:cNvPr id="7" name="TextBox 6"/>
          <p:cNvSpPr txBox="1"/>
          <p:nvPr/>
        </p:nvSpPr>
        <p:spPr>
          <a:xfrm>
            <a:off x="2286000" y="4174777"/>
            <a:ext cx="7620000" cy="243780"/>
          </a:xfrm>
          <a:prstGeom prst="rect">
            <a:avLst/>
          </a:prstGeom>
          <a:noFill/>
        </p:spPr>
        <p:txBody>
          <a:bodyPr wrap="square" lIns="0" tIns="0" rIns="0" bIns="0" anchor="t">
            <a:spAutoFit/>
          </a:bodyPr>
          <a:lstStyle/>
          <a:p>
            <a:pPr algn="ctr">
              <a:lnSpc>
                <a:spcPts val="1920"/>
              </a:lnSpc>
            </a:pPr>
            <a:r>
              <a:rPr sz="1200" b="0" i="0" u="none">
                <a:solidFill>
                  <a:srgbClr val="CBD5E1"/>
                </a:solidFill>
                <a:latin typeface="DM Sans"/>
              </a:rPr>
              <a:t>Problem Tanımı, Tezin Amacı ve Oltalama (Phishing) Saldırılarının Günümüzdeki Küresel Etkileri.</a:t>
            </a:r>
          </a:p>
        </p:txBody>
      </p:sp>
      <p:sp>
        <p:nvSpPr>
          <p:cNvPr id="8" name="TextBox 7"/>
          <p:cNvSpPr txBox="1"/>
          <p:nvPr/>
        </p:nvSpPr>
        <p:spPr>
          <a:xfrm>
            <a:off x="666750" y="6534150"/>
            <a:ext cx="2451354"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10925" y="6534150"/>
            <a:ext cx="478848" cy="126958"/>
          </a:xfrm>
          <a:prstGeom prst="rect">
            <a:avLst/>
          </a:prstGeom>
          <a:noFill/>
        </p:spPr>
        <p:txBody>
          <a:bodyPr wrap="square" lIns="0" tIns="0" rIns="0" bIns="0" anchor="t">
            <a:spAutoFit/>
          </a:bodyPr>
          <a:lstStyle/>
          <a:p>
            <a:pPr algn="l"/>
            <a:r>
              <a:rPr sz="825" b="0" i="0" u="none" dirty="0" err="1">
                <a:solidFill>
                  <a:srgbClr val="94A3B8"/>
                </a:solidFill>
                <a:latin typeface="DM Sans"/>
              </a:rPr>
              <a:t>Slayt</a:t>
            </a:r>
            <a:r>
              <a:rPr sz="825" b="0" i="0" u="none" dirty="0">
                <a:solidFill>
                  <a:srgbClr val="94A3B8"/>
                </a:solidFill>
                <a:latin typeface="DM Sans"/>
              </a:rPr>
              <a:t> </a:t>
            </a:r>
            <a:r>
              <a:rPr lang="tr-TR" sz="825" b="0" i="0" u="none" dirty="0">
                <a:solidFill>
                  <a:srgbClr val="94A3B8"/>
                </a:solidFill>
                <a:latin typeface="DM Sans"/>
              </a:rPr>
              <a:t>4</a:t>
            </a:r>
            <a:endParaRPr sz="825" b="0" i="0" u="none" dirty="0">
              <a:solidFill>
                <a:srgbClr val="94A3B8"/>
              </a:solidFill>
              <a:latin typeface="DM Sans"/>
            </a:endParaRPr>
          </a:p>
        </p:txBody>
      </p:sp>
      <p:pic>
        <p:nvPicPr>
          <p:cNvPr id="10" name="İçerik Yer Tutucusu 10">
            <a:extLst>
              <a:ext uri="{FF2B5EF4-FFF2-40B4-BE49-F238E27FC236}">
                <a16:creationId xmlns:a16="http://schemas.microsoft.com/office/drawing/2014/main" id="{97C8F7BC-80A7-ACB8-5889-0B1E77A65D3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0231" y="300012"/>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4848969" cy="1181100"/>
          </a:xfrm>
          <a:prstGeom prst="rect">
            <a:avLst/>
          </a:prstGeom>
        </p:spPr>
      </p:pic>
      <p:pic>
        <p:nvPicPr>
          <p:cNvPr id="5" name="Picture 4" descr="image.png"/>
          <p:cNvPicPr>
            <a:picLocks noChangeAspect="1"/>
          </p:cNvPicPr>
          <p:nvPr/>
        </p:nvPicPr>
        <p:blipFill>
          <a:blip r:embed="rId4"/>
          <a:stretch>
            <a:fillRect/>
          </a:stretch>
        </p:blipFill>
        <p:spPr>
          <a:xfrm>
            <a:off x="571500" y="2576512"/>
            <a:ext cx="4848969" cy="1181100"/>
          </a:xfrm>
          <a:prstGeom prst="rect">
            <a:avLst/>
          </a:prstGeom>
        </p:spPr>
      </p:pic>
      <p:sp>
        <p:nvSpPr>
          <p:cNvPr id="6" name="TextBox 5"/>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Siber</a:t>
            </a:r>
            <a:r>
              <a:rPr sz="2550" b="1" i="0" u="none" dirty="0">
                <a:solidFill>
                  <a:srgbClr val="005088"/>
                </a:solidFill>
                <a:latin typeface="Merriweather"/>
              </a:rPr>
              <a:t> </a:t>
            </a:r>
            <a:r>
              <a:rPr sz="2550" b="1" i="0" u="none" dirty="0" err="1">
                <a:solidFill>
                  <a:srgbClr val="005088"/>
                </a:solidFill>
                <a:latin typeface="Merriweather"/>
              </a:rPr>
              <a:t>Tehdit</a:t>
            </a:r>
            <a:r>
              <a:rPr sz="2550" b="1" i="0" u="none" dirty="0">
                <a:solidFill>
                  <a:srgbClr val="005088"/>
                </a:solidFill>
                <a:latin typeface="Merriweather"/>
              </a:rPr>
              <a:t> </a:t>
            </a:r>
            <a:r>
              <a:rPr sz="2550" b="1" i="0" u="none" dirty="0" err="1">
                <a:solidFill>
                  <a:srgbClr val="005088"/>
                </a:solidFill>
                <a:latin typeface="Merriweather"/>
              </a:rPr>
              <a:t>Ortamı</a:t>
            </a:r>
            <a:r>
              <a:rPr sz="2550" b="1" i="0" u="none" dirty="0">
                <a:solidFill>
                  <a:srgbClr val="005088"/>
                </a:solidFill>
                <a:latin typeface="Merriweather"/>
              </a:rPr>
              <a:t> </a:t>
            </a:r>
            <a:r>
              <a:rPr sz="2550" b="1" i="0" u="none" dirty="0" err="1">
                <a:solidFill>
                  <a:srgbClr val="005088"/>
                </a:solidFill>
                <a:latin typeface="Merriweather"/>
              </a:rPr>
              <a:t>ve</a:t>
            </a:r>
            <a:r>
              <a:rPr sz="2550" b="1" i="0" u="none" dirty="0">
                <a:solidFill>
                  <a:srgbClr val="005088"/>
                </a:solidFill>
                <a:latin typeface="Merriweather"/>
              </a:rPr>
              <a:t> </a:t>
            </a:r>
            <a:r>
              <a:rPr sz="2550" b="1" i="0" u="none" dirty="0" err="1">
                <a:solidFill>
                  <a:srgbClr val="005088"/>
                </a:solidFill>
                <a:latin typeface="Merriweather"/>
              </a:rPr>
              <a:t>Oltalama</a:t>
            </a:r>
            <a:r>
              <a:rPr sz="2550" b="1" i="0" u="none" dirty="0">
                <a:solidFill>
                  <a:srgbClr val="005088"/>
                </a:solidFill>
                <a:latin typeface="Merriweather"/>
              </a:rPr>
              <a:t> </a:t>
            </a:r>
            <a:r>
              <a:rPr sz="2550" b="1" i="0" u="none" dirty="0" err="1">
                <a:solidFill>
                  <a:srgbClr val="005088"/>
                </a:solidFill>
                <a:latin typeface="Merriweather"/>
              </a:rPr>
              <a:t>Trendleri</a:t>
            </a:r>
            <a:endParaRPr sz="2550" b="1" i="0" u="none" dirty="0">
              <a:solidFill>
                <a:srgbClr val="005088"/>
              </a:solidFill>
              <a:latin typeface="Merriweather"/>
            </a:endParaRP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dirty="0" err="1">
                <a:solidFill>
                  <a:srgbClr val="94A3B8"/>
                </a:solidFill>
                <a:latin typeface="DM Sans"/>
              </a:rPr>
              <a:t>Slayt</a:t>
            </a:r>
            <a:r>
              <a:rPr sz="900" b="0" i="0" u="none" dirty="0">
                <a:solidFill>
                  <a:srgbClr val="94A3B8"/>
                </a:solidFill>
                <a:latin typeface="DM Sans"/>
              </a:rPr>
              <a:t> 5</a:t>
            </a:r>
          </a:p>
        </p:txBody>
      </p:sp>
      <p:sp>
        <p:nvSpPr>
          <p:cNvPr id="10" name="TextBox 9"/>
          <p:cNvSpPr txBox="1"/>
          <p:nvPr/>
        </p:nvSpPr>
        <p:spPr>
          <a:xfrm>
            <a:off x="5801469" y="1252537"/>
            <a:ext cx="6109982" cy="238125"/>
          </a:xfrm>
          <a:prstGeom prst="rect">
            <a:avLst/>
          </a:prstGeom>
          <a:noFill/>
        </p:spPr>
        <p:txBody>
          <a:bodyPr wrap="square" lIns="0" tIns="0" rIns="0" bIns="0" anchor="t">
            <a:spAutoFit/>
          </a:bodyPr>
          <a:lstStyle/>
          <a:p>
            <a:pPr algn="l"/>
            <a:r>
              <a:rPr sz="1500" b="1" i="0" u="none">
                <a:solidFill>
                  <a:srgbClr val="005088"/>
                </a:solidFill>
                <a:latin typeface="Merriweather"/>
              </a:rPr>
              <a:t>Oltalama Saldırılarının Karakteristiği</a:t>
            </a:r>
          </a:p>
        </p:txBody>
      </p:sp>
      <p:sp>
        <p:nvSpPr>
          <p:cNvPr id="11" name="TextBox 10"/>
          <p:cNvSpPr txBox="1"/>
          <p:nvPr/>
        </p:nvSpPr>
        <p:spPr>
          <a:xfrm>
            <a:off x="809625" y="1490662"/>
            <a:ext cx="4372719" cy="438150"/>
          </a:xfrm>
          <a:prstGeom prst="rect">
            <a:avLst/>
          </a:prstGeom>
          <a:noFill/>
        </p:spPr>
        <p:txBody>
          <a:bodyPr wrap="square" lIns="0" tIns="0" rIns="0" bIns="0" anchor="t">
            <a:spAutoFit/>
          </a:bodyPr>
          <a:lstStyle/>
          <a:p>
            <a:pPr algn="ctr">
              <a:lnSpc>
                <a:spcPts val="3450"/>
              </a:lnSpc>
            </a:pPr>
            <a:r>
              <a:rPr sz="3450" b="1" i="0" u="none">
                <a:solidFill>
                  <a:srgbClr val="11CAA0"/>
                </a:solidFill>
                <a:latin typeface="Merriweather"/>
              </a:rPr>
              <a:t>%300+</a:t>
            </a:r>
          </a:p>
        </p:txBody>
      </p:sp>
      <p:sp>
        <p:nvSpPr>
          <p:cNvPr id="12" name="TextBox 11"/>
          <p:cNvSpPr txBox="1"/>
          <p:nvPr/>
        </p:nvSpPr>
        <p:spPr>
          <a:xfrm>
            <a:off x="809625" y="2005012"/>
            <a:ext cx="4372719" cy="190500"/>
          </a:xfrm>
          <a:prstGeom prst="rect">
            <a:avLst/>
          </a:prstGeom>
          <a:noFill/>
        </p:spPr>
        <p:txBody>
          <a:bodyPr wrap="square" lIns="0" tIns="0" rIns="0" bIns="0" anchor="t">
            <a:spAutoFit/>
          </a:bodyPr>
          <a:lstStyle/>
          <a:p>
            <a:pPr algn="ctr"/>
            <a:r>
              <a:rPr sz="1125" b="0" i="0" u="none">
                <a:solidFill>
                  <a:srgbClr val="F3F0DF"/>
                </a:solidFill>
                <a:latin typeface="DM Sans Medium"/>
              </a:rPr>
              <a:t>Son 10 Yılda Küresel Siber Saldırı Artış Oranı</a:t>
            </a:r>
          </a:p>
        </p:txBody>
      </p:sp>
      <p:sp>
        <p:nvSpPr>
          <p:cNvPr id="13" name="TextBox 12"/>
          <p:cNvSpPr txBox="1"/>
          <p:nvPr/>
        </p:nvSpPr>
        <p:spPr>
          <a:xfrm>
            <a:off x="809625" y="2814637"/>
            <a:ext cx="4372719" cy="438150"/>
          </a:xfrm>
          <a:prstGeom prst="rect">
            <a:avLst/>
          </a:prstGeom>
          <a:noFill/>
        </p:spPr>
        <p:txBody>
          <a:bodyPr wrap="square" lIns="0" tIns="0" rIns="0" bIns="0" anchor="t">
            <a:spAutoFit/>
          </a:bodyPr>
          <a:lstStyle/>
          <a:p>
            <a:pPr algn="ctr">
              <a:lnSpc>
                <a:spcPts val="3450"/>
              </a:lnSpc>
            </a:pPr>
            <a:r>
              <a:rPr sz="3450" b="1" i="0" u="none">
                <a:solidFill>
                  <a:srgbClr val="FACC15"/>
                </a:solidFill>
                <a:latin typeface="Merriweather"/>
              </a:rPr>
              <a:t>10.5 Trilyon $</a:t>
            </a:r>
          </a:p>
        </p:txBody>
      </p:sp>
      <p:sp>
        <p:nvSpPr>
          <p:cNvPr id="14" name="TextBox 13"/>
          <p:cNvSpPr txBox="1"/>
          <p:nvPr/>
        </p:nvSpPr>
        <p:spPr>
          <a:xfrm>
            <a:off x="809625" y="3328987"/>
            <a:ext cx="4372719" cy="190500"/>
          </a:xfrm>
          <a:prstGeom prst="rect">
            <a:avLst/>
          </a:prstGeom>
          <a:noFill/>
        </p:spPr>
        <p:txBody>
          <a:bodyPr wrap="square" lIns="0" tIns="0" rIns="0" bIns="0" anchor="t">
            <a:spAutoFit/>
          </a:bodyPr>
          <a:lstStyle/>
          <a:p>
            <a:pPr algn="ctr"/>
            <a:r>
              <a:rPr sz="1125" b="0" i="0" u="none">
                <a:solidFill>
                  <a:srgbClr val="F3F0DF"/>
                </a:solidFill>
                <a:latin typeface="DM Sans Medium"/>
              </a:rPr>
              <a:t>Siber Suçların 2025+ Yıllık Küresel Maliyeti</a:t>
            </a:r>
          </a:p>
        </p:txBody>
      </p:sp>
      <p:sp>
        <p:nvSpPr>
          <p:cNvPr id="15" name="TextBox 14"/>
          <p:cNvSpPr txBox="1"/>
          <p:nvPr/>
        </p:nvSpPr>
        <p:spPr>
          <a:xfrm>
            <a:off x="6087219" y="1633537"/>
            <a:ext cx="553328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Saldırı</a:t>
            </a:r>
            <a:r>
              <a:rPr sz="1200" b="1" i="0" u="none" dirty="0">
                <a:solidFill>
                  <a:srgbClr val="334155"/>
                </a:solidFill>
                <a:latin typeface="DM Sans"/>
              </a:rPr>
              <a:t> </a:t>
            </a:r>
            <a:r>
              <a:rPr sz="1200" b="1" i="0" u="none" dirty="0" err="1">
                <a:solidFill>
                  <a:srgbClr val="334155"/>
                </a:solidFill>
                <a:latin typeface="DM Sans"/>
              </a:rPr>
              <a:t>Payı</a:t>
            </a:r>
            <a:r>
              <a:rPr sz="1200" b="1" i="0" u="none" dirty="0">
                <a:solidFill>
                  <a:srgbClr val="334155"/>
                </a:solidFill>
                <a:latin typeface="DM Sans"/>
              </a:rPr>
              <a:t>:</a:t>
            </a:r>
            <a:r>
              <a:rPr sz="1200" b="0" i="0" u="none" dirty="0">
                <a:solidFill>
                  <a:srgbClr val="334155"/>
                </a:solidFill>
                <a:latin typeface="DM Sans"/>
              </a:rPr>
              <a:t> </a:t>
            </a:r>
            <a:r>
              <a:rPr sz="1200" b="0" i="0" u="none" dirty="0" err="1">
                <a:solidFill>
                  <a:srgbClr val="334155"/>
                </a:solidFill>
                <a:latin typeface="DM Sans"/>
              </a:rPr>
              <a:t>Küresel</a:t>
            </a:r>
            <a:r>
              <a:rPr sz="1200" b="0" i="0" u="none" dirty="0">
                <a:solidFill>
                  <a:srgbClr val="334155"/>
                </a:solidFill>
                <a:latin typeface="DM Sans"/>
              </a:rPr>
              <a:t> </a:t>
            </a:r>
            <a:r>
              <a:rPr sz="1200" b="0" i="0" u="none" dirty="0" err="1">
                <a:solidFill>
                  <a:srgbClr val="334155"/>
                </a:solidFill>
                <a:latin typeface="DM Sans"/>
              </a:rPr>
              <a:t>ölçekte</a:t>
            </a:r>
            <a:r>
              <a:rPr sz="1200" b="0" i="0" u="none" dirty="0">
                <a:solidFill>
                  <a:srgbClr val="334155"/>
                </a:solidFill>
                <a:latin typeface="DM Sans"/>
              </a:rPr>
              <a:t> </a:t>
            </a:r>
            <a:r>
              <a:rPr sz="1200" b="0" i="0" u="none" dirty="0" err="1">
                <a:solidFill>
                  <a:srgbClr val="334155"/>
                </a:solidFill>
                <a:latin typeface="DM Sans"/>
              </a:rPr>
              <a:t>gerçekleşen</a:t>
            </a:r>
            <a:r>
              <a:rPr sz="1200" b="0" i="0" u="none" dirty="0">
                <a:solidFill>
                  <a:srgbClr val="334155"/>
                </a:solidFill>
                <a:latin typeface="DM Sans"/>
              </a:rPr>
              <a:t> </a:t>
            </a:r>
            <a:r>
              <a:rPr sz="1200" b="0" i="0" u="none" dirty="0" err="1">
                <a:solidFill>
                  <a:srgbClr val="334155"/>
                </a:solidFill>
                <a:latin typeface="DM Sans"/>
              </a:rPr>
              <a:t>siber</a:t>
            </a:r>
            <a:r>
              <a:rPr sz="1200" b="0" i="0" u="none" dirty="0">
                <a:solidFill>
                  <a:srgbClr val="334155"/>
                </a:solidFill>
                <a:latin typeface="DM Sans"/>
              </a:rPr>
              <a:t> </a:t>
            </a:r>
            <a:r>
              <a:rPr sz="1200" b="0" i="0" u="none" dirty="0" err="1">
                <a:solidFill>
                  <a:srgbClr val="334155"/>
                </a:solidFill>
                <a:latin typeface="DM Sans"/>
              </a:rPr>
              <a:t>güvenlik</a:t>
            </a:r>
            <a:r>
              <a:rPr sz="1200" b="0" i="0" u="none" dirty="0">
                <a:solidFill>
                  <a:srgbClr val="334155"/>
                </a:solidFill>
                <a:latin typeface="DM Sans"/>
              </a:rPr>
              <a:t> </a:t>
            </a:r>
            <a:r>
              <a:rPr sz="1200" b="0" i="0" u="none" dirty="0" err="1">
                <a:solidFill>
                  <a:srgbClr val="334155"/>
                </a:solidFill>
                <a:latin typeface="DM Sans"/>
              </a:rPr>
              <a:t>ihlallerinin</a:t>
            </a:r>
            <a:r>
              <a:rPr sz="1200" b="0" i="0" u="none" dirty="0">
                <a:solidFill>
                  <a:srgbClr val="334155"/>
                </a:solidFill>
                <a:latin typeface="DM Sans"/>
              </a:rPr>
              <a:t> </a:t>
            </a:r>
            <a:r>
              <a:rPr sz="1200" b="0" i="0" u="none" dirty="0" err="1">
                <a:solidFill>
                  <a:srgbClr val="334155"/>
                </a:solidFill>
                <a:latin typeface="DM Sans"/>
              </a:rPr>
              <a:t>yaklaşık</a:t>
            </a:r>
            <a:r>
              <a:rPr sz="1200" b="0" i="0" u="none" dirty="0">
                <a:solidFill>
                  <a:srgbClr val="334155"/>
                </a:solidFill>
                <a:latin typeface="DM Sans"/>
              </a:rPr>
              <a:t> %3</a:t>
            </a:r>
            <a:r>
              <a:rPr lang="tr-TR" sz="1200" dirty="0">
                <a:solidFill>
                  <a:srgbClr val="334155"/>
                </a:solidFill>
                <a:latin typeface="DM Sans"/>
              </a:rPr>
              <a:t>6</a:t>
            </a:r>
            <a:r>
              <a:rPr sz="1200" b="0" i="0" u="none" dirty="0">
                <a:solidFill>
                  <a:srgbClr val="334155"/>
                </a:solidFill>
                <a:latin typeface="DM Sans"/>
              </a:rPr>
              <a:t>-40'ı </a:t>
            </a:r>
            <a:r>
              <a:rPr sz="1200" b="0" i="0" u="none" dirty="0" err="1">
                <a:solidFill>
                  <a:srgbClr val="334155"/>
                </a:solidFill>
                <a:latin typeface="DM Sans"/>
              </a:rPr>
              <a:t>doğrudan</a:t>
            </a:r>
            <a:r>
              <a:rPr sz="1200" b="0" i="0" u="none" dirty="0">
                <a:solidFill>
                  <a:srgbClr val="334155"/>
                </a:solidFill>
                <a:latin typeface="DM Sans"/>
              </a:rPr>
              <a:t> </a:t>
            </a:r>
            <a:r>
              <a:rPr sz="1200" b="0" i="0" u="none" dirty="0" err="1">
                <a:solidFill>
                  <a:srgbClr val="334155"/>
                </a:solidFill>
                <a:latin typeface="DM Sans"/>
              </a:rPr>
              <a:t>oltalama</a:t>
            </a:r>
            <a:r>
              <a:rPr sz="1200" b="0" i="0" u="none" dirty="0">
                <a:solidFill>
                  <a:srgbClr val="334155"/>
                </a:solidFill>
                <a:latin typeface="DM Sans"/>
              </a:rPr>
              <a:t> </a:t>
            </a:r>
            <a:r>
              <a:rPr sz="1200" b="0" i="0" u="none" dirty="0" err="1">
                <a:solidFill>
                  <a:srgbClr val="334155"/>
                </a:solidFill>
                <a:latin typeface="DM Sans"/>
              </a:rPr>
              <a:t>saldırıları</a:t>
            </a:r>
            <a:r>
              <a:rPr sz="1200" b="0" i="0" u="none" dirty="0">
                <a:solidFill>
                  <a:srgbClr val="334155"/>
                </a:solidFill>
                <a:latin typeface="DM Sans"/>
              </a:rPr>
              <a:t> </a:t>
            </a:r>
            <a:r>
              <a:rPr sz="1200" b="0" i="0" u="none" dirty="0" err="1">
                <a:solidFill>
                  <a:srgbClr val="334155"/>
                </a:solidFill>
                <a:latin typeface="DM Sans"/>
              </a:rPr>
              <a:t>ile</a:t>
            </a:r>
            <a:r>
              <a:rPr sz="1200" b="0" i="0" u="none" dirty="0">
                <a:solidFill>
                  <a:srgbClr val="334155"/>
                </a:solidFill>
                <a:latin typeface="DM Sans"/>
              </a:rPr>
              <a:t> </a:t>
            </a:r>
            <a:r>
              <a:rPr sz="1200" b="0" i="0" u="none" dirty="0" err="1">
                <a:solidFill>
                  <a:srgbClr val="334155"/>
                </a:solidFill>
                <a:latin typeface="DM Sans"/>
              </a:rPr>
              <a:t>başlamaktadır</a:t>
            </a:r>
            <a:r>
              <a:rPr sz="1200" b="0" i="0" u="none" dirty="0">
                <a:solidFill>
                  <a:srgbClr val="334155"/>
                </a:solidFill>
                <a:latin typeface="DM Sans"/>
              </a:rPr>
              <a:t>.</a:t>
            </a:r>
          </a:p>
        </p:txBody>
      </p:sp>
      <p:sp>
        <p:nvSpPr>
          <p:cNvPr id="16" name="TextBox 15"/>
          <p:cNvSpPr txBox="1"/>
          <p:nvPr/>
        </p:nvSpPr>
        <p:spPr>
          <a:xfrm>
            <a:off x="6087219" y="2224087"/>
            <a:ext cx="553328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Kısa Ömürlü URL'ler:</a:t>
            </a:r>
            <a:r>
              <a:rPr sz="1200" b="0" i="0" u="none">
                <a:solidFill>
                  <a:srgbClr val="334155"/>
                </a:solidFill>
                <a:latin typeface="DM Sans"/>
              </a:rPr>
              <a:t> Saldırganların kullandığı URL'lerin %80'inden fazlası yalnızca 24 saat aktif kalmakta ve ardından kapatılmaktadır.</a:t>
            </a:r>
          </a:p>
        </p:txBody>
      </p:sp>
      <p:sp>
        <p:nvSpPr>
          <p:cNvPr id="17" name="TextBox 16"/>
          <p:cNvSpPr txBox="1"/>
          <p:nvPr/>
        </p:nvSpPr>
        <p:spPr>
          <a:xfrm>
            <a:off x="6087219" y="2814637"/>
            <a:ext cx="553328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Sosyal</a:t>
            </a:r>
            <a:r>
              <a:rPr sz="1200" b="1" i="0" u="none" dirty="0">
                <a:solidFill>
                  <a:srgbClr val="334155"/>
                </a:solidFill>
                <a:latin typeface="DM Sans"/>
              </a:rPr>
              <a:t> </a:t>
            </a:r>
            <a:r>
              <a:rPr sz="1200" b="1" i="0" u="none" dirty="0" err="1">
                <a:solidFill>
                  <a:srgbClr val="334155"/>
                </a:solidFill>
                <a:latin typeface="DM Sans"/>
              </a:rPr>
              <a:t>Mühendislik</a:t>
            </a:r>
            <a:r>
              <a:rPr sz="1200" b="1" i="0" u="none" dirty="0">
                <a:solidFill>
                  <a:srgbClr val="334155"/>
                </a:solidFill>
                <a:latin typeface="DM Sans"/>
              </a:rPr>
              <a:t> </a:t>
            </a:r>
            <a:r>
              <a:rPr sz="1200" b="1" i="0" u="none" dirty="0" err="1">
                <a:solidFill>
                  <a:srgbClr val="334155"/>
                </a:solidFill>
                <a:latin typeface="DM Sans"/>
              </a:rPr>
              <a:t>Manipülasyonu</a:t>
            </a:r>
            <a:r>
              <a:rPr sz="1200" b="1" i="0" u="none" dirty="0">
                <a:solidFill>
                  <a:srgbClr val="334155"/>
                </a:solidFill>
                <a:latin typeface="DM Sans"/>
              </a:rPr>
              <a:t>:</a:t>
            </a:r>
            <a:r>
              <a:rPr sz="1200" b="0" i="0" u="none" dirty="0">
                <a:solidFill>
                  <a:srgbClr val="334155"/>
                </a:solidFill>
                <a:latin typeface="DM Sans"/>
              </a:rPr>
              <a:t> Alan </a:t>
            </a:r>
            <a:r>
              <a:rPr sz="1200" b="0" i="0" u="none" dirty="0" err="1">
                <a:solidFill>
                  <a:srgbClr val="334155"/>
                </a:solidFill>
                <a:latin typeface="DM Sans"/>
              </a:rPr>
              <a:t>adı</a:t>
            </a:r>
            <a:r>
              <a:rPr sz="1200" b="0" i="0" u="none" dirty="0">
                <a:solidFill>
                  <a:srgbClr val="334155"/>
                </a:solidFill>
                <a:latin typeface="DM Sans"/>
              </a:rPr>
              <a:t> </a:t>
            </a:r>
            <a:r>
              <a:rPr sz="1200" b="0" i="0" u="none" dirty="0" err="1">
                <a:solidFill>
                  <a:srgbClr val="334155"/>
                </a:solidFill>
                <a:latin typeface="DM Sans"/>
              </a:rPr>
              <a:t>gizleme</a:t>
            </a:r>
            <a:r>
              <a:rPr sz="1200" b="0" i="0" u="none" dirty="0">
                <a:solidFill>
                  <a:srgbClr val="334155"/>
                </a:solidFill>
                <a:latin typeface="DM Sans"/>
              </a:rPr>
              <a:t> (</a:t>
            </a:r>
            <a:r>
              <a:rPr sz="1200" b="0" i="0" u="none" dirty="0" err="1">
                <a:solidFill>
                  <a:srgbClr val="334155"/>
                </a:solidFill>
                <a:latin typeface="DM Sans"/>
              </a:rPr>
              <a:t>typosquatting</a:t>
            </a:r>
            <a:r>
              <a:rPr sz="1200" b="0" i="0" u="none" dirty="0">
                <a:solidFill>
                  <a:srgbClr val="334155"/>
                </a:solidFill>
                <a:latin typeface="DM Sans"/>
              </a:rPr>
              <a:t>), IP </a:t>
            </a:r>
            <a:r>
              <a:rPr sz="1200" b="0" i="0" u="none" dirty="0" err="1">
                <a:solidFill>
                  <a:srgbClr val="334155"/>
                </a:solidFill>
                <a:latin typeface="DM Sans"/>
              </a:rPr>
              <a:t>kullanımı</a:t>
            </a:r>
            <a:r>
              <a:rPr sz="1200" b="0" i="0" u="none" dirty="0">
                <a:solidFill>
                  <a:srgbClr val="334155"/>
                </a:solidFill>
                <a:latin typeface="DM Sans"/>
              </a:rPr>
              <a:t> </a:t>
            </a:r>
            <a:r>
              <a:rPr sz="1200" b="0" i="0" u="none" dirty="0" err="1">
                <a:solidFill>
                  <a:srgbClr val="334155"/>
                </a:solidFill>
                <a:latin typeface="DM Sans"/>
              </a:rPr>
              <a:t>ve</a:t>
            </a:r>
            <a:r>
              <a:rPr sz="1200" b="0" i="0" u="none" dirty="0">
                <a:solidFill>
                  <a:srgbClr val="334155"/>
                </a:solidFill>
                <a:latin typeface="DM Sans"/>
              </a:rPr>
              <a:t> </a:t>
            </a:r>
            <a:r>
              <a:rPr sz="1200" b="0" i="0" u="none" dirty="0" err="1">
                <a:solidFill>
                  <a:srgbClr val="334155"/>
                </a:solidFill>
                <a:latin typeface="DM Sans"/>
              </a:rPr>
              <a:t>karmaşık</a:t>
            </a:r>
            <a:r>
              <a:rPr sz="1200" b="0" i="0" u="none" dirty="0">
                <a:solidFill>
                  <a:srgbClr val="334155"/>
                </a:solidFill>
                <a:latin typeface="DM Sans"/>
              </a:rPr>
              <a:t> </a:t>
            </a:r>
            <a:r>
              <a:rPr sz="1200" b="0" i="0" u="none" dirty="0" err="1">
                <a:solidFill>
                  <a:srgbClr val="334155"/>
                </a:solidFill>
                <a:latin typeface="DM Sans"/>
              </a:rPr>
              <a:t>sorgu</a:t>
            </a:r>
            <a:r>
              <a:rPr sz="1200" b="0" i="0" u="none" dirty="0">
                <a:solidFill>
                  <a:srgbClr val="334155"/>
                </a:solidFill>
                <a:latin typeface="DM Sans"/>
              </a:rPr>
              <a:t> </a:t>
            </a:r>
            <a:r>
              <a:rPr sz="1200" b="0" i="0" u="none" dirty="0" err="1">
                <a:solidFill>
                  <a:srgbClr val="334155"/>
                </a:solidFill>
                <a:latin typeface="DM Sans"/>
              </a:rPr>
              <a:t>dizileri</a:t>
            </a:r>
            <a:r>
              <a:rPr sz="1200" b="0" i="0" u="none" dirty="0">
                <a:solidFill>
                  <a:srgbClr val="334155"/>
                </a:solidFill>
                <a:latin typeface="DM Sans"/>
              </a:rPr>
              <a:t> </a:t>
            </a:r>
            <a:r>
              <a:rPr sz="1200" b="0" i="0" u="none" dirty="0" err="1">
                <a:solidFill>
                  <a:srgbClr val="334155"/>
                </a:solidFill>
                <a:latin typeface="DM Sans"/>
              </a:rPr>
              <a:t>ile</a:t>
            </a:r>
            <a:r>
              <a:rPr sz="1200" b="0" i="0" u="none" dirty="0">
                <a:solidFill>
                  <a:srgbClr val="334155"/>
                </a:solidFill>
                <a:latin typeface="DM Sans"/>
              </a:rPr>
              <a:t> son </a:t>
            </a:r>
            <a:r>
              <a:rPr sz="1200" b="0" i="0" u="none" dirty="0" err="1">
                <a:solidFill>
                  <a:srgbClr val="334155"/>
                </a:solidFill>
                <a:latin typeface="DM Sans"/>
              </a:rPr>
              <a:t>kullanıcı</a:t>
            </a:r>
            <a:r>
              <a:rPr sz="1200" b="0" i="0" u="none" dirty="0">
                <a:solidFill>
                  <a:srgbClr val="334155"/>
                </a:solidFill>
                <a:latin typeface="DM Sans"/>
              </a:rPr>
              <a:t> </a:t>
            </a:r>
            <a:r>
              <a:rPr sz="1200" b="0" i="0" u="none" dirty="0" err="1">
                <a:solidFill>
                  <a:srgbClr val="334155"/>
                </a:solidFill>
                <a:latin typeface="DM Sans"/>
              </a:rPr>
              <a:t>ikna</a:t>
            </a:r>
            <a:r>
              <a:rPr sz="1200" b="0" i="0" u="none" dirty="0">
                <a:solidFill>
                  <a:srgbClr val="334155"/>
                </a:solidFill>
                <a:latin typeface="DM Sans"/>
              </a:rPr>
              <a:t> </a:t>
            </a:r>
            <a:r>
              <a:rPr sz="1200" b="0" i="0" u="none" dirty="0" err="1">
                <a:solidFill>
                  <a:srgbClr val="334155"/>
                </a:solidFill>
                <a:latin typeface="DM Sans"/>
              </a:rPr>
              <a:t>edilmektedir</a:t>
            </a:r>
            <a:r>
              <a:rPr sz="1200" b="0" i="0" u="none" dirty="0">
                <a:solidFill>
                  <a:srgbClr val="334155"/>
                </a:solidFill>
                <a:latin typeface="DM Sans"/>
              </a:rPr>
              <a:t>.</a:t>
            </a:r>
          </a:p>
        </p:txBody>
      </p:sp>
      <p:sp>
        <p:nvSpPr>
          <p:cNvPr id="18" name="TextBox 17"/>
          <p:cNvSpPr txBox="1"/>
          <p:nvPr/>
        </p:nvSpPr>
        <p:spPr>
          <a:xfrm>
            <a:off x="6087219" y="3405187"/>
            <a:ext cx="553328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Zero-Day Yükü:</a:t>
            </a:r>
            <a:r>
              <a:rPr sz="1200" b="0" i="0" u="none">
                <a:solidFill>
                  <a:srgbClr val="334155"/>
                </a:solidFill>
                <a:latin typeface="DM Sans"/>
              </a:rPr>
              <a:t> Statik tespit mekanizmalarını atlatmak adına her gün yüz binlerce yeni tespit edilmemiş URL üretilmektedir.</a:t>
            </a:r>
          </a:p>
        </p:txBody>
      </p:sp>
      <p:pic>
        <p:nvPicPr>
          <p:cNvPr id="19" name="Picture 18" descr="image.png"/>
          <p:cNvPicPr>
            <a:picLocks noChangeAspect="1"/>
          </p:cNvPicPr>
          <p:nvPr/>
        </p:nvPicPr>
        <p:blipFill>
          <a:blip r:embed="rId5"/>
          <a:stretch>
            <a:fillRect/>
          </a:stretch>
        </p:blipFill>
        <p:spPr>
          <a:xfrm>
            <a:off x="5801469" y="1657350"/>
            <a:ext cx="171450" cy="180975"/>
          </a:xfrm>
          <a:prstGeom prst="rect">
            <a:avLst/>
          </a:prstGeom>
        </p:spPr>
      </p:pic>
      <p:pic>
        <p:nvPicPr>
          <p:cNvPr id="20" name="Picture 19" descr="image.png"/>
          <p:cNvPicPr>
            <a:picLocks noChangeAspect="1"/>
          </p:cNvPicPr>
          <p:nvPr/>
        </p:nvPicPr>
        <p:blipFill>
          <a:blip r:embed="rId6"/>
          <a:stretch>
            <a:fillRect/>
          </a:stretch>
        </p:blipFill>
        <p:spPr>
          <a:xfrm>
            <a:off x="5801469" y="2247900"/>
            <a:ext cx="171450" cy="180975"/>
          </a:xfrm>
          <a:prstGeom prst="rect">
            <a:avLst/>
          </a:prstGeom>
        </p:spPr>
      </p:pic>
      <p:pic>
        <p:nvPicPr>
          <p:cNvPr id="21" name="Picture 20" descr="image.png"/>
          <p:cNvPicPr>
            <a:picLocks noChangeAspect="1"/>
          </p:cNvPicPr>
          <p:nvPr/>
        </p:nvPicPr>
        <p:blipFill>
          <a:blip r:embed="rId7"/>
          <a:stretch>
            <a:fillRect/>
          </a:stretch>
        </p:blipFill>
        <p:spPr>
          <a:xfrm>
            <a:off x="5801469" y="2838450"/>
            <a:ext cx="152400" cy="180975"/>
          </a:xfrm>
          <a:prstGeom prst="rect">
            <a:avLst/>
          </a:prstGeom>
        </p:spPr>
      </p:pic>
      <p:pic>
        <p:nvPicPr>
          <p:cNvPr id="22" name="Picture 21" descr="image.png"/>
          <p:cNvPicPr>
            <a:picLocks noChangeAspect="1"/>
          </p:cNvPicPr>
          <p:nvPr/>
        </p:nvPicPr>
        <p:blipFill>
          <a:blip r:embed="rId8"/>
          <a:stretch>
            <a:fillRect/>
          </a:stretch>
        </p:blipFill>
        <p:spPr>
          <a:xfrm>
            <a:off x="5801469" y="3429000"/>
            <a:ext cx="219075" cy="180975"/>
          </a:xfrm>
          <a:prstGeom prst="rect">
            <a:avLst/>
          </a:prstGeom>
        </p:spPr>
      </p:pic>
      <p:pic>
        <p:nvPicPr>
          <p:cNvPr id="23" name="Picture 1" descr="image.png">
            <a:extLst>
              <a:ext uri="{FF2B5EF4-FFF2-40B4-BE49-F238E27FC236}">
                <a16:creationId xmlns:a16="http://schemas.microsoft.com/office/drawing/2014/main" id="{900354B0-868E-84D0-D03E-26C746BA38B8}"/>
              </a:ext>
            </a:extLst>
          </p:cNvPr>
          <p:cNvPicPr>
            <a:picLocks noChangeAspect="1"/>
          </p:cNvPicPr>
          <p:nvPr/>
        </p:nvPicPr>
        <p:blipFill>
          <a:blip r:embed="rId9"/>
          <a:stretch>
            <a:fillRect/>
          </a:stretch>
        </p:blipFill>
        <p:spPr>
          <a:xfrm>
            <a:off x="666750" y="952500"/>
            <a:ext cx="10858500" cy="171450"/>
          </a:xfrm>
          <a:prstGeom prst="rect">
            <a:avLst/>
          </a:prstGeom>
        </p:spPr>
      </p:pic>
      <p:pic>
        <p:nvPicPr>
          <p:cNvPr id="24" name="İçerik Yer Tutucusu 10">
            <a:extLst>
              <a:ext uri="{FF2B5EF4-FFF2-40B4-BE49-F238E27FC236}">
                <a16:creationId xmlns:a16="http://schemas.microsoft.com/office/drawing/2014/main" id="{D0BB3651-52C8-B2B0-D772-E7157BDDACB6}"/>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9513887"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24250" cy="2519362"/>
          </a:xfrm>
          <a:prstGeom prst="rect">
            <a:avLst/>
          </a:prstGeom>
        </p:spPr>
      </p:pic>
      <p:pic>
        <p:nvPicPr>
          <p:cNvPr id="5" name="Picture 4" descr="image.png"/>
          <p:cNvPicPr>
            <a:picLocks noChangeAspect="1"/>
          </p:cNvPicPr>
          <p:nvPr/>
        </p:nvPicPr>
        <p:blipFill>
          <a:blip r:embed="rId4"/>
          <a:stretch>
            <a:fillRect/>
          </a:stretch>
        </p:blipFill>
        <p:spPr>
          <a:xfrm>
            <a:off x="4333875" y="1252537"/>
            <a:ext cx="3524250" cy="2519362"/>
          </a:xfrm>
          <a:prstGeom prst="rect">
            <a:avLst/>
          </a:prstGeom>
        </p:spPr>
      </p:pic>
      <p:pic>
        <p:nvPicPr>
          <p:cNvPr id="6" name="Picture 5" descr="image.png"/>
          <p:cNvPicPr>
            <a:picLocks noChangeAspect="1"/>
          </p:cNvPicPr>
          <p:nvPr/>
        </p:nvPicPr>
        <p:blipFill>
          <a:blip r:embed="rId5"/>
          <a:stretch>
            <a:fillRect/>
          </a:stretch>
        </p:blipFill>
        <p:spPr>
          <a:xfrm>
            <a:off x="8096250" y="1252537"/>
            <a:ext cx="3524250" cy="2519362"/>
          </a:xfrm>
          <a:prstGeom prst="rect">
            <a:avLst/>
          </a:prstGeom>
        </p:spPr>
      </p:pic>
      <p:sp>
        <p:nvSpPr>
          <p:cNvPr id="7" name="TextBox 6"/>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Geleneksel Çözümlerin Sınırları ve Problem Tanımı</a:t>
            </a:r>
          </a:p>
        </p:txBody>
      </p:sp>
      <p:sp>
        <p:nvSpPr>
          <p:cNvPr id="8" name="Rectangle 7"/>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0" name="TextBox 9"/>
          <p:cNvSpPr txBox="1"/>
          <p:nvPr/>
        </p:nvSpPr>
        <p:spPr>
          <a:xfrm>
            <a:off x="11239500" y="6496050"/>
            <a:ext cx="3810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6</a:t>
            </a:r>
          </a:p>
        </p:txBody>
      </p:sp>
      <p:sp>
        <p:nvSpPr>
          <p:cNvPr id="11" name="TextBox 10"/>
          <p:cNvSpPr txBox="1"/>
          <p:nvPr/>
        </p:nvSpPr>
        <p:spPr>
          <a:xfrm>
            <a:off x="81915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Statik Kara Listeler</a:t>
            </a:r>
          </a:p>
        </p:txBody>
      </p:sp>
      <p:sp>
        <p:nvSpPr>
          <p:cNvPr id="12" name="TextBox 11"/>
          <p:cNvSpPr txBox="1"/>
          <p:nvPr/>
        </p:nvSpPr>
        <p:spPr>
          <a:xfrm>
            <a:off x="819150" y="2452687"/>
            <a:ext cx="3028950" cy="857250"/>
          </a:xfrm>
          <a:prstGeom prst="rect">
            <a:avLst/>
          </a:prstGeom>
          <a:noFill/>
        </p:spPr>
        <p:txBody>
          <a:bodyPr wrap="square" lIns="0" tIns="0" rIns="0" bIns="0" anchor="t">
            <a:spAutoFit/>
          </a:bodyPr>
          <a:lstStyle/>
          <a:p>
            <a:pPr algn="l">
              <a:lnSpc>
                <a:spcPts val="1687"/>
              </a:lnSpc>
            </a:pPr>
            <a:r>
              <a:rPr sz="1125" b="0" i="0" u="none" dirty="0">
                <a:solidFill>
                  <a:srgbClr val="64748B"/>
                </a:solidFill>
                <a:latin typeface="DM Sans"/>
              </a:rPr>
              <a:t>Google Safe Browsing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PhishTank</a:t>
            </a:r>
            <a:r>
              <a:rPr sz="1125" b="0" i="0" u="none" dirty="0">
                <a:solidFill>
                  <a:srgbClr val="64748B"/>
                </a:solidFill>
                <a:latin typeface="DM Sans"/>
              </a:rPr>
              <a:t> </a:t>
            </a:r>
            <a:r>
              <a:rPr sz="1125" b="0" i="0" u="none" dirty="0" err="1">
                <a:solidFill>
                  <a:srgbClr val="64748B"/>
                </a:solidFill>
                <a:latin typeface="DM Sans"/>
              </a:rPr>
              <a:t>gibi</a:t>
            </a:r>
            <a:r>
              <a:rPr sz="1125" b="0" i="0" u="none" dirty="0">
                <a:solidFill>
                  <a:srgbClr val="64748B"/>
                </a:solidFill>
                <a:latin typeface="DM Sans"/>
              </a:rPr>
              <a:t> kara </a:t>
            </a:r>
            <a:r>
              <a:rPr sz="1125" b="0" i="0" u="none" dirty="0" err="1">
                <a:solidFill>
                  <a:srgbClr val="64748B"/>
                </a:solidFill>
                <a:latin typeface="DM Sans"/>
              </a:rPr>
              <a:t>listeler</a:t>
            </a:r>
            <a:r>
              <a:rPr sz="1125" b="0" i="0" u="none" dirty="0">
                <a:solidFill>
                  <a:srgbClr val="64748B"/>
                </a:solidFill>
                <a:latin typeface="DM Sans"/>
              </a:rPr>
              <a:t> </a:t>
            </a:r>
            <a:r>
              <a:rPr sz="1125" b="0" i="0" u="none" dirty="0" err="1">
                <a:solidFill>
                  <a:srgbClr val="64748B"/>
                </a:solidFill>
                <a:latin typeface="DM Sans"/>
              </a:rPr>
              <a:t>tepkiseldir</a:t>
            </a:r>
            <a:r>
              <a:rPr sz="1125" b="0" i="0" u="none" dirty="0">
                <a:solidFill>
                  <a:srgbClr val="64748B"/>
                </a:solidFill>
                <a:latin typeface="DM Sans"/>
              </a:rPr>
              <a:t>. Yeni </a:t>
            </a:r>
            <a:r>
              <a:rPr sz="1125" b="0" i="0" u="none" dirty="0" err="1">
                <a:solidFill>
                  <a:srgbClr val="64748B"/>
                </a:solidFill>
                <a:latin typeface="DM Sans"/>
              </a:rPr>
              <a:t>üretilen</a:t>
            </a:r>
            <a:r>
              <a:rPr sz="1125" b="0" i="0" u="none" dirty="0">
                <a:solidFill>
                  <a:srgbClr val="64748B"/>
                </a:solidFill>
                <a:latin typeface="DM Sans"/>
              </a:rPr>
              <a:t> </a:t>
            </a:r>
            <a:r>
              <a:rPr sz="1125" b="0" i="0" u="none" dirty="0" err="1">
                <a:solidFill>
                  <a:srgbClr val="64748B"/>
                </a:solidFill>
                <a:latin typeface="DM Sans"/>
              </a:rPr>
              <a:t>zararlı</a:t>
            </a:r>
            <a:r>
              <a:rPr sz="1125" b="0" i="0" u="none" dirty="0">
                <a:solidFill>
                  <a:srgbClr val="64748B"/>
                </a:solidFill>
                <a:latin typeface="DM Sans"/>
              </a:rPr>
              <a:t> </a:t>
            </a:r>
            <a:r>
              <a:rPr sz="1125" b="0" i="0" u="none" dirty="0" err="1">
                <a:solidFill>
                  <a:srgbClr val="64748B"/>
                </a:solidFill>
                <a:latin typeface="DM Sans"/>
              </a:rPr>
              <a:t>bir</a:t>
            </a:r>
            <a:r>
              <a:rPr sz="1125" b="0" i="0" u="none" dirty="0">
                <a:solidFill>
                  <a:srgbClr val="64748B"/>
                </a:solidFill>
                <a:latin typeface="DM Sans"/>
              </a:rPr>
              <a:t> </a:t>
            </a:r>
            <a:r>
              <a:rPr sz="1125" b="0" i="0" u="none" dirty="0" err="1">
                <a:solidFill>
                  <a:srgbClr val="64748B"/>
                </a:solidFill>
                <a:latin typeface="DM Sans"/>
              </a:rPr>
              <a:t>adresin</a:t>
            </a:r>
            <a:r>
              <a:rPr sz="1125" b="0" i="0" u="none" dirty="0">
                <a:solidFill>
                  <a:srgbClr val="64748B"/>
                </a:solidFill>
                <a:latin typeface="DM Sans"/>
              </a:rPr>
              <a:t> </a:t>
            </a:r>
            <a:r>
              <a:rPr sz="1125" b="0" i="0" u="none" dirty="0" err="1">
                <a:solidFill>
                  <a:srgbClr val="64748B"/>
                </a:solidFill>
                <a:latin typeface="DM Sans"/>
              </a:rPr>
              <a:t>listeye</a:t>
            </a:r>
            <a:r>
              <a:rPr sz="1125" b="0" i="0" u="none" dirty="0">
                <a:solidFill>
                  <a:srgbClr val="64748B"/>
                </a:solidFill>
                <a:latin typeface="DM Sans"/>
              </a:rPr>
              <a:t> </a:t>
            </a:r>
            <a:r>
              <a:rPr sz="1125" b="0" i="0" u="none" dirty="0" err="1">
                <a:solidFill>
                  <a:srgbClr val="64748B"/>
                </a:solidFill>
                <a:latin typeface="DM Sans"/>
              </a:rPr>
              <a:t>eklenmesi</a:t>
            </a:r>
            <a:r>
              <a:rPr sz="1125" b="0" i="0" u="none" dirty="0">
                <a:solidFill>
                  <a:srgbClr val="64748B"/>
                </a:solidFill>
                <a:latin typeface="DM Sans"/>
              </a:rPr>
              <a:t> </a:t>
            </a:r>
            <a:r>
              <a:rPr sz="1125" b="0" i="0" u="none" dirty="0" err="1">
                <a:solidFill>
                  <a:srgbClr val="64748B"/>
                </a:solidFill>
                <a:latin typeface="DM Sans"/>
              </a:rPr>
              <a:t>saatler</a:t>
            </a:r>
            <a:r>
              <a:rPr sz="1125" b="0" i="0" u="none" dirty="0">
                <a:solidFill>
                  <a:srgbClr val="64748B"/>
                </a:solidFill>
                <a:latin typeface="DM Sans"/>
              </a:rPr>
              <a:t> </a:t>
            </a:r>
            <a:r>
              <a:rPr sz="1125" b="0" i="0" u="none" dirty="0" err="1">
                <a:solidFill>
                  <a:srgbClr val="64748B"/>
                </a:solidFill>
                <a:latin typeface="DM Sans"/>
              </a:rPr>
              <a:t>veya</a:t>
            </a:r>
            <a:r>
              <a:rPr sz="1125" b="0" i="0" u="none" dirty="0">
                <a:solidFill>
                  <a:srgbClr val="64748B"/>
                </a:solidFill>
                <a:latin typeface="DM Sans"/>
              </a:rPr>
              <a:t> </a:t>
            </a:r>
            <a:r>
              <a:rPr sz="1125" b="0" i="0" u="none" dirty="0" err="1">
                <a:solidFill>
                  <a:srgbClr val="64748B"/>
                </a:solidFill>
                <a:latin typeface="DM Sans"/>
              </a:rPr>
              <a:t>günler</a:t>
            </a:r>
            <a:r>
              <a:rPr sz="1125" b="0" i="0" u="none" dirty="0">
                <a:solidFill>
                  <a:srgbClr val="64748B"/>
                </a:solidFill>
                <a:latin typeface="DM Sans"/>
              </a:rPr>
              <a:t> </a:t>
            </a:r>
            <a:r>
              <a:rPr sz="1125" b="0" i="0" u="none" dirty="0" err="1">
                <a:solidFill>
                  <a:srgbClr val="64748B"/>
                </a:solidFill>
                <a:latin typeface="DM Sans"/>
              </a:rPr>
              <a:t>sürebilir</a:t>
            </a:r>
            <a:r>
              <a:rPr sz="1125" b="0" i="0" u="none" dirty="0">
                <a:solidFill>
                  <a:srgbClr val="64748B"/>
                </a:solidFill>
                <a:latin typeface="DM Sans"/>
              </a:rPr>
              <a:t>.</a:t>
            </a:r>
          </a:p>
        </p:txBody>
      </p:sp>
      <p:sp>
        <p:nvSpPr>
          <p:cNvPr id="13" name="TextBox 12"/>
          <p:cNvSpPr txBox="1"/>
          <p:nvPr/>
        </p:nvSpPr>
        <p:spPr>
          <a:xfrm>
            <a:off x="4581525"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Web Sayfası İçerik Analizi</a:t>
            </a:r>
          </a:p>
        </p:txBody>
      </p:sp>
      <p:sp>
        <p:nvSpPr>
          <p:cNvPr id="14" name="TextBox 13"/>
          <p:cNvSpPr txBox="1"/>
          <p:nvPr/>
        </p:nvSpPr>
        <p:spPr>
          <a:xfrm>
            <a:off x="4581525" y="2452687"/>
            <a:ext cx="3028950" cy="1071562"/>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HTML DOM ağacı, DOM öznitelikleri ve ekran görüntüsü (OCR) analizi yapan sistemler zararlı siteye bağlantı kurulmasını ve verinin indirilmesini gerektirir; bu durum güvenlik riski doğurur.</a:t>
            </a:r>
          </a:p>
        </p:txBody>
      </p:sp>
      <p:sp>
        <p:nvSpPr>
          <p:cNvPr id="15" name="TextBox 14"/>
          <p:cNvSpPr txBox="1"/>
          <p:nvPr/>
        </p:nvSpPr>
        <p:spPr>
          <a:xfrm>
            <a:off x="834390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Ağır Hesaplama Karmaşıklığı</a:t>
            </a:r>
          </a:p>
        </p:txBody>
      </p:sp>
      <p:sp>
        <p:nvSpPr>
          <p:cNvPr id="16" name="TextBox 15"/>
          <p:cNvSpPr txBox="1"/>
          <p:nvPr/>
        </p:nvSpPr>
        <p:spPr>
          <a:xfrm>
            <a:off x="8343900" y="2452687"/>
            <a:ext cx="3028950" cy="1071562"/>
          </a:xfrm>
          <a:prstGeom prst="rect">
            <a:avLst/>
          </a:prstGeom>
          <a:noFill/>
        </p:spPr>
        <p:txBody>
          <a:bodyPr wrap="square" lIns="0" tIns="0" rIns="0" bIns="0" anchor="t">
            <a:spAutoFit/>
          </a:bodyPr>
          <a:lstStyle/>
          <a:p>
            <a:pPr algn="l">
              <a:lnSpc>
                <a:spcPts val="1687"/>
              </a:lnSpc>
            </a:pPr>
            <a:r>
              <a:rPr sz="1125" b="0" i="0" u="none" dirty="0" err="1">
                <a:solidFill>
                  <a:srgbClr val="64748B"/>
                </a:solidFill>
                <a:latin typeface="DM Sans"/>
              </a:rPr>
              <a:t>Karmaşık</a:t>
            </a:r>
            <a:r>
              <a:rPr sz="1125" b="0" i="0" u="none" dirty="0">
                <a:solidFill>
                  <a:srgbClr val="64748B"/>
                </a:solidFill>
                <a:latin typeface="DM Sans"/>
              </a:rPr>
              <a:t> </a:t>
            </a:r>
            <a:r>
              <a:rPr sz="1125" b="0" i="0" u="none" dirty="0" err="1">
                <a:solidFill>
                  <a:srgbClr val="64748B"/>
                </a:solidFill>
                <a:latin typeface="DM Sans"/>
              </a:rPr>
              <a:t>Derin</a:t>
            </a:r>
            <a:r>
              <a:rPr sz="1125" b="0" i="0" u="none" dirty="0">
                <a:solidFill>
                  <a:srgbClr val="64748B"/>
                </a:solidFill>
                <a:latin typeface="DM Sans"/>
              </a:rPr>
              <a:t> </a:t>
            </a:r>
            <a:r>
              <a:rPr sz="1125" b="0" i="0" u="none" dirty="0" err="1">
                <a:solidFill>
                  <a:srgbClr val="64748B"/>
                </a:solidFill>
                <a:latin typeface="DM Sans"/>
              </a:rPr>
              <a:t>Öğrenme</a:t>
            </a:r>
            <a:r>
              <a:rPr sz="1125" b="0" i="0" u="none" dirty="0">
                <a:solidFill>
                  <a:srgbClr val="64748B"/>
                </a:solidFill>
                <a:latin typeface="DM Sans"/>
              </a:rPr>
              <a:t> (CNN, LSTM) </a:t>
            </a:r>
            <a:r>
              <a:rPr sz="1125" b="0" i="0" u="none" dirty="0" err="1">
                <a:solidFill>
                  <a:srgbClr val="64748B"/>
                </a:solidFill>
                <a:latin typeface="DM Sans"/>
              </a:rPr>
              <a:t>modelleri</a:t>
            </a:r>
            <a:r>
              <a:rPr sz="1125" b="0" i="0" u="none" dirty="0">
                <a:solidFill>
                  <a:srgbClr val="64748B"/>
                </a:solidFill>
                <a:latin typeface="DM Sans"/>
              </a:rPr>
              <a:t> </a:t>
            </a:r>
            <a:r>
              <a:rPr sz="1125" b="0" i="0" u="none" dirty="0" err="1">
                <a:solidFill>
                  <a:srgbClr val="64748B"/>
                </a:solidFill>
                <a:latin typeface="DM Sans"/>
              </a:rPr>
              <a:t>yüksek</a:t>
            </a:r>
            <a:r>
              <a:rPr sz="1125" b="0" i="0" u="none" dirty="0">
                <a:solidFill>
                  <a:srgbClr val="64748B"/>
                </a:solidFill>
                <a:latin typeface="DM Sans"/>
              </a:rPr>
              <a:t> </a:t>
            </a:r>
            <a:r>
              <a:rPr sz="1125" b="0" i="0" u="none" dirty="0" err="1">
                <a:solidFill>
                  <a:srgbClr val="64748B"/>
                </a:solidFill>
                <a:latin typeface="DM Sans"/>
              </a:rPr>
              <a:t>doğruluk</a:t>
            </a:r>
            <a:r>
              <a:rPr sz="1125" b="0" i="0" u="none" dirty="0">
                <a:solidFill>
                  <a:srgbClr val="64748B"/>
                </a:solidFill>
                <a:latin typeface="DM Sans"/>
              </a:rPr>
              <a:t> </a:t>
            </a:r>
            <a:r>
              <a:rPr sz="1125" b="0" i="0" u="none" dirty="0" err="1">
                <a:solidFill>
                  <a:srgbClr val="64748B"/>
                </a:solidFill>
                <a:latin typeface="DM Sans"/>
              </a:rPr>
              <a:t>sağlasa</a:t>
            </a:r>
            <a:r>
              <a:rPr sz="1125" b="0" i="0" u="none" dirty="0">
                <a:solidFill>
                  <a:srgbClr val="64748B"/>
                </a:solidFill>
                <a:latin typeface="DM Sans"/>
              </a:rPr>
              <a:t> da </a:t>
            </a:r>
            <a:r>
              <a:rPr sz="1125" b="0" i="0" u="none" dirty="0" err="1">
                <a:solidFill>
                  <a:srgbClr val="64748B"/>
                </a:solidFill>
                <a:latin typeface="DM Sans"/>
              </a:rPr>
              <a:t>istemci</a:t>
            </a:r>
            <a:r>
              <a:rPr sz="1125" b="0" i="0" u="none" dirty="0">
                <a:solidFill>
                  <a:srgbClr val="64748B"/>
                </a:solidFill>
                <a:latin typeface="DM Sans"/>
              </a:rPr>
              <a:t> </a:t>
            </a:r>
            <a:r>
              <a:rPr sz="1125" b="0" i="0" u="none" dirty="0" err="1">
                <a:solidFill>
                  <a:srgbClr val="64748B"/>
                </a:solidFill>
                <a:latin typeface="DM Sans"/>
              </a:rPr>
              <a:t>cihazlarda</a:t>
            </a:r>
            <a:r>
              <a:rPr sz="1125" b="0" i="0" u="none" dirty="0">
                <a:solidFill>
                  <a:srgbClr val="64748B"/>
                </a:solidFill>
                <a:latin typeface="DM Sans"/>
              </a:rPr>
              <a:t> </a:t>
            </a:r>
            <a:r>
              <a:rPr sz="1125" b="0" i="0" u="none" dirty="0" err="1">
                <a:solidFill>
                  <a:srgbClr val="64748B"/>
                </a:solidFill>
                <a:latin typeface="DM Sans"/>
              </a:rPr>
              <a:t>gecikmeye</a:t>
            </a:r>
            <a:r>
              <a:rPr sz="1125" b="0" i="0" u="none" dirty="0">
                <a:solidFill>
                  <a:srgbClr val="64748B"/>
                </a:solidFill>
                <a:latin typeface="DM Sans"/>
              </a:rPr>
              <a:t> </a:t>
            </a:r>
            <a:r>
              <a:rPr sz="1125" b="0" i="0" u="none" dirty="0" err="1">
                <a:solidFill>
                  <a:srgbClr val="64748B"/>
                </a:solidFill>
                <a:latin typeface="DM Sans"/>
              </a:rPr>
              <a:t>yol</a:t>
            </a:r>
            <a:r>
              <a:rPr sz="1125" b="0" i="0" u="none" dirty="0">
                <a:solidFill>
                  <a:srgbClr val="64748B"/>
                </a:solidFill>
                <a:latin typeface="DM Sans"/>
              </a:rPr>
              <a:t> </a:t>
            </a:r>
            <a:r>
              <a:rPr sz="1125" b="0" i="0" u="none" dirty="0" err="1">
                <a:solidFill>
                  <a:srgbClr val="64748B"/>
                </a:solidFill>
                <a:latin typeface="DM Sans"/>
              </a:rPr>
              <a:t>açar</a:t>
            </a:r>
            <a:r>
              <a:rPr sz="1125" b="0" i="0" u="none" dirty="0">
                <a:solidFill>
                  <a:srgbClr val="64748B"/>
                </a:solidFill>
                <a:latin typeface="DM Sans"/>
              </a:rPr>
              <a:t> </a:t>
            </a:r>
            <a:r>
              <a:rPr sz="1125" b="0" i="0" u="none" dirty="0" err="1">
                <a:solidFill>
                  <a:srgbClr val="64748B"/>
                </a:solidFill>
                <a:latin typeface="DM Sans"/>
              </a:rPr>
              <a:t>ve</a:t>
            </a:r>
            <a:r>
              <a:rPr sz="1125" b="0" i="0" u="none" dirty="0">
                <a:solidFill>
                  <a:srgbClr val="64748B"/>
                </a:solidFill>
                <a:latin typeface="DM Sans"/>
              </a:rPr>
              <a:t> </a:t>
            </a:r>
            <a:r>
              <a:rPr sz="1125" b="0" i="0" u="none" dirty="0" err="1">
                <a:solidFill>
                  <a:srgbClr val="64748B"/>
                </a:solidFill>
                <a:latin typeface="DM Sans"/>
              </a:rPr>
              <a:t>uç</a:t>
            </a:r>
            <a:r>
              <a:rPr sz="1125" b="0" i="0" u="none" dirty="0">
                <a:solidFill>
                  <a:srgbClr val="64748B"/>
                </a:solidFill>
                <a:latin typeface="DM Sans"/>
              </a:rPr>
              <a:t> </a:t>
            </a:r>
            <a:r>
              <a:rPr sz="1125" b="0" i="0" u="none" dirty="0" err="1">
                <a:solidFill>
                  <a:srgbClr val="64748B"/>
                </a:solidFill>
                <a:latin typeface="DM Sans"/>
              </a:rPr>
              <a:t>cihaz</a:t>
            </a:r>
            <a:r>
              <a:rPr sz="1125" b="0" i="0" u="none" dirty="0">
                <a:solidFill>
                  <a:srgbClr val="64748B"/>
                </a:solidFill>
                <a:latin typeface="DM Sans"/>
              </a:rPr>
              <a:t> </a:t>
            </a:r>
            <a:r>
              <a:rPr sz="1125" b="0" i="0" u="none" dirty="0" err="1">
                <a:solidFill>
                  <a:srgbClr val="64748B"/>
                </a:solidFill>
                <a:latin typeface="DM Sans"/>
              </a:rPr>
              <a:t>tarayıcı</a:t>
            </a:r>
            <a:r>
              <a:rPr sz="1125" b="0" i="0" u="none" dirty="0">
                <a:solidFill>
                  <a:srgbClr val="64748B"/>
                </a:solidFill>
                <a:latin typeface="DM Sans"/>
              </a:rPr>
              <a:t> </a:t>
            </a:r>
            <a:r>
              <a:rPr sz="1125" b="0" i="0" u="none" dirty="0" err="1">
                <a:solidFill>
                  <a:srgbClr val="64748B"/>
                </a:solidFill>
                <a:latin typeface="DM Sans"/>
              </a:rPr>
              <a:t>eklentilerinde</a:t>
            </a:r>
            <a:r>
              <a:rPr sz="1125" b="0" i="0" u="none" dirty="0">
                <a:solidFill>
                  <a:srgbClr val="64748B"/>
                </a:solidFill>
                <a:latin typeface="DM Sans"/>
              </a:rPr>
              <a:t> </a:t>
            </a:r>
            <a:r>
              <a:rPr sz="1125" b="0" i="0" u="none" dirty="0" err="1">
                <a:solidFill>
                  <a:srgbClr val="64748B"/>
                </a:solidFill>
                <a:latin typeface="DM Sans"/>
              </a:rPr>
              <a:t>kullanıma</a:t>
            </a:r>
            <a:r>
              <a:rPr sz="1125" b="0" i="0" u="none" dirty="0">
                <a:solidFill>
                  <a:srgbClr val="64748B"/>
                </a:solidFill>
                <a:latin typeface="DM Sans"/>
              </a:rPr>
              <a:t> </a:t>
            </a:r>
            <a:r>
              <a:rPr sz="1125" b="0" i="0" u="none" dirty="0" err="1">
                <a:solidFill>
                  <a:srgbClr val="64748B"/>
                </a:solidFill>
                <a:latin typeface="DM Sans"/>
              </a:rPr>
              <a:t>uygun</a:t>
            </a:r>
            <a:r>
              <a:rPr sz="1125" b="0" i="0" u="none" dirty="0">
                <a:solidFill>
                  <a:srgbClr val="64748B"/>
                </a:solidFill>
                <a:latin typeface="DM Sans"/>
              </a:rPr>
              <a:t> </a:t>
            </a:r>
            <a:r>
              <a:rPr sz="1125" b="0" i="0" u="none" dirty="0" err="1">
                <a:solidFill>
                  <a:srgbClr val="64748B"/>
                </a:solidFill>
                <a:latin typeface="DM Sans"/>
              </a:rPr>
              <a:t>değildir</a:t>
            </a:r>
            <a:r>
              <a:rPr sz="1125" b="0" i="0" u="none" dirty="0">
                <a:solidFill>
                  <a:srgbClr val="64748B"/>
                </a:solidFill>
                <a:latin typeface="DM Sans"/>
              </a:rPr>
              <a:t>.</a:t>
            </a:r>
          </a:p>
        </p:txBody>
      </p:sp>
      <p:pic>
        <p:nvPicPr>
          <p:cNvPr id="17" name="Picture 16" descr="image.png"/>
          <p:cNvPicPr>
            <a:picLocks noChangeAspect="1"/>
          </p:cNvPicPr>
          <p:nvPr/>
        </p:nvPicPr>
        <p:blipFill>
          <a:blip r:embed="rId6"/>
          <a:stretch>
            <a:fillRect/>
          </a:stretch>
        </p:blipFill>
        <p:spPr>
          <a:xfrm>
            <a:off x="819150" y="1576387"/>
            <a:ext cx="342900" cy="342900"/>
          </a:xfrm>
          <a:prstGeom prst="rect">
            <a:avLst/>
          </a:prstGeom>
        </p:spPr>
      </p:pic>
      <p:pic>
        <p:nvPicPr>
          <p:cNvPr id="18" name="Picture 17" descr="image.png"/>
          <p:cNvPicPr>
            <a:picLocks noChangeAspect="1"/>
          </p:cNvPicPr>
          <p:nvPr/>
        </p:nvPicPr>
        <p:blipFill>
          <a:blip r:embed="rId7"/>
          <a:stretch>
            <a:fillRect/>
          </a:stretch>
        </p:blipFill>
        <p:spPr>
          <a:xfrm>
            <a:off x="4581525" y="1576387"/>
            <a:ext cx="342900" cy="342900"/>
          </a:xfrm>
          <a:prstGeom prst="rect">
            <a:avLst/>
          </a:prstGeom>
        </p:spPr>
      </p:pic>
      <p:pic>
        <p:nvPicPr>
          <p:cNvPr id="19" name="Picture 18" descr="image.png"/>
          <p:cNvPicPr>
            <a:picLocks noChangeAspect="1"/>
          </p:cNvPicPr>
          <p:nvPr/>
        </p:nvPicPr>
        <p:blipFill>
          <a:blip r:embed="rId8"/>
          <a:stretch>
            <a:fillRect/>
          </a:stretch>
        </p:blipFill>
        <p:spPr>
          <a:xfrm>
            <a:off x="8343900" y="1576387"/>
            <a:ext cx="342900" cy="342900"/>
          </a:xfrm>
          <a:prstGeom prst="rect">
            <a:avLst/>
          </a:prstGeom>
        </p:spPr>
      </p:pic>
      <p:pic>
        <p:nvPicPr>
          <p:cNvPr id="20" name="Picture 1" descr="image.png">
            <a:extLst>
              <a:ext uri="{FF2B5EF4-FFF2-40B4-BE49-F238E27FC236}">
                <a16:creationId xmlns:a16="http://schemas.microsoft.com/office/drawing/2014/main" id="{E98833FC-0B71-4E32-4375-080E3C7005C6}"/>
              </a:ext>
            </a:extLst>
          </p:cNvPr>
          <p:cNvPicPr>
            <a:picLocks noChangeAspect="1"/>
          </p:cNvPicPr>
          <p:nvPr/>
        </p:nvPicPr>
        <p:blipFill>
          <a:blip r:embed="rId9"/>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18E3B83B-B134-00A4-1D58-3F0F6E80ACF7}"/>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9513887"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858517"/>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dirty="0">
                <a:solidFill>
                  <a:srgbClr val="FFFFFF"/>
                </a:solidFill>
                <a:latin typeface="DM Sans"/>
              </a:rPr>
              <a:t>SAKARYA ÜNİVERSİTESİ</a:t>
            </a:r>
          </a:p>
        </p:txBody>
      </p:sp>
      <p:sp>
        <p:nvSpPr>
          <p:cNvPr id="5" name="TextBox 4"/>
          <p:cNvSpPr txBox="1"/>
          <p:nvPr/>
        </p:nvSpPr>
        <p:spPr>
          <a:xfrm>
            <a:off x="2095500" y="218807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02</a:t>
            </a:r>
          </a:p>
        </p:txBody>
      </p:sp>
      <p:sp>
        <p:nvSpPr>
          <p:cNvPr id="6" name="TextBox 5"/>
          <p:cNvSpPr txBox="1"/>
          <p:nvPr/>
        </p:nvSpPr>
        <p:spPr>
          <a:xfrm>
            <a:off x="2095500" y="2569071"/>
            <a:ext cx="8001000" cy="1051321"/>
          </a:xfrm>
          <a:prstGeom prst="rect">
            <a:avLst/>
          </a:prstGeom>
          <a:noFill/>
        </p:spPr>
        <p:txBody>
          <a:bodyPr wrap="square" lIns="0" tIns="0" rIns="0" bIns="0" anchor="t">
            <a:spAutoFit/>
          </a:bodyPr>
          <a:lstStyle/>
          <a:p>
            <a:pPr algn="ctr">
              <a:lnSpc>
                <a:spcPts val="4140"/>
              </a:lnSpc>
            </a:pPr>
            <a:r>
              <a:rPr sz="3450" b="1" i="0" u="none">
                <a:solidFill>
                  <a:srgbClr val="FFFFFF"/>
                </a:solidFill>
                <a:latin typeface="Merriweather"/>
              </a:rPr>
              <a:t>LİTERATÜR ANALİZİ VE AKADEMİK DURUM</a:t>
            </a:r>
          </a:p>
        </p:txBody>
      </p:sp>
      <p:sp>
        <p:nvSpPr>
          <p:cNvPr id="7" name="TextBox 6"/>
          <p:cNvSpPr txBox="1"/>
          <p:nvPr/>
        </p:nvSpPr>
        <p:spPr>
          <a:xfrm>
            <a:off x="2286000" y="4315717"/>
            <a:ext cx="7620000" cy="487560"/>
          </a:xfrm>
          <a:prstGeom prst="rect">
            <a:avLst/>
          </a:prstGeom>
          <a:noFill/>
        </p:spPr>
        <p:txBody>
          <a:bodyPr wrap="square" lIns="0" tIns="0" rIns="0" bIns="0" anchor="t">
            <a:spAutoFit/>
          </a:bodyPr>
          <a:lstStyle/>
          <a:p>
            <a:pPr algn="ctr">
              <a:lnSpc>
                <a:spcPts val="1920"/>
              </a:lnSpc>
            </a:pPr>
            <a:r>
              <a:rPr sz="1200" b="0" i="0" u="none">
                <a:solidFill>
                  <a:srgbClr val="CBD5E1"/>
                </a:solidFill>
                <a:latin typeface="DM Sans"/>
              </a:rPr>
              <a:t>Dünya genelindeki oltalama tespiti çalışmaları, kullanılan sınıflandırıcılar ve elde edilen başarım değerlerinin kıyaslanması.</a:t>
            </a: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323850" cy="126958"/>
          </a:xfrm>
          <a:prstGeom prst="rect">
            <a:avLst/>
          </a:prstGeom>
          <a:noFill/>
        </p:spPr>
        <p:txBody>
          <a:bodyPr wrap="square" lIns="0" tIns="0" rIns="0" bIns="0" anchor="t">
            <a:spAutoFit/>
          </a:bodyPr>
          <a:lstStyle/>
          <a:p>
            <a:pPr algn="l"/>
            <a:r>
              <a:rPr sz="825" b="0" i="0" u="none">
                <a:solidFill>
                  <a:srgbClr val="94A3B8"/>
                </a:solidFill>
                <a:latin typeface="DM Sans"/>
              </a:rPr>
              <a:t>Slayt </a:t>
            </a:r>
            <a:r>
              <a:rPr lang="tr-TR" sz="825" b="0" i="0" u="none">
                <a:solidFill>
                  <a:srgbClr val="94A3B8"/>
                </a:solidFill>
                <a:latin typeface="DM Sans"/>
              </a:rPr>
              <a:t>7</a:t>
            </a:r>
            <a:endParaRPr sz="825" b="0" i="0" u="none">
              <a:solidFill>
                <a:srgbClr val="94A3B8"/>
              </a:solidFill>
              <a:latin typeface="DM Sans"/>
            </a:endParaRPr>
          </a:p>
        </p:txBody>
      </p:sp>
      <p:pic>
        <p:nvPicPr>
          <p:cNvPr id="10" name="İçerik Yer Tutucusu 10">
            <a:extLst>
              <a:ext uri="{FF2B5EF4-FFF2-40B4-BE49-F238E27FC236}">
                <a16:creationId xmlns:a16="http://schemas.microsoft.com/office/drawing/2014/main" id="{DF86BEEA-DE10-F713-6293-90151D48B95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0231" y="24447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Literatür Çalışmalarının Kıyaslanması (2020 - 2022)</a:t>
            </a: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7" name="TextBox 6"/>
          <p:cNvSpPr txBox="1"/>
          <p:nvPr/>
        </p:nvSpPr>
        <p:spPr>
          <a:xfrm>
            <a:off x="11249025" y="6496050"/>
            <a:ext cx="3714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8</a:t>
            </a:r>
          </a:p>
        </p:txBody>
      </p:sp>
      <p:pic>
        <p:nvPicPr>
          <p:cNvPr id="34" name="Picture 1" descr="image.png">
            <a:extLst>
              <a:ext uri="{FF2B5EF4-FFF2-40B4-BE49-F238E27FC236}">
                <a16:creationId xmlns:a16="http://schemas.microsoft.com/office/drawing/2014/main" id="{6816AFBD-0F6E-97EC-3448-F1B6B70EC158}"/>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35" name="İçerik Yer Tutucusu 10">
            <a:extLst>
              <a:ext uri="{FF2B5EF4-FFF2-40B4-BE49-F238E27FC236}">
                <a16:creationId xmlns:a16="http://schemas.microsoft.com/office/drawing/2014/main" id="{00C87510-F95C-33AD-0F6C-009BE2D7B680}"/>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13888"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E26B4BF3-61DD-BF97-D2CA-F366673C9E98}"/>
              </a:ext>
            </a:extLst>
          </p:cNvPr>
          <p:cNvGraphicFramePr>
            <a:graphicFrameLocks noGrp="1"/>
          </p:cNvGraphicFramePr>
          <p:nvPr>
            <p:extLst>
              <p:ext uri="{D42A27DB-BD31-4B8C-83A1-F6EECF244321}">
                <p14:modId xmlns:p14="http://schemas.microsoft.com/office/powerpoint/2010/main" val="1232740790"/>
              </p:ext>
            </p:extLst>
          </p:nvPr>
        </p:nvGraphicFramePr>
        <p:xfrm>
          <a:off x="685800" y="1459705"/>
          <a:ext cx="10839450" cy="1913732"/>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597739189"/>
                    </a:ext>
                  </a:extLst>
                </a:gridCol>
                <a:gridCol w="845194">
                  <a:extLst>
                    <a:ext uri="{9D8B030D-6E8A-4147-A177-3AD203B41FA5}">
                      <a16:colId xmlns:a16="http://schemas.microsoft.com/office/drawing/2014/main" val="2586540196"/>
                    </a:ext>
                  </a:extLst>
                </a:gridCol>
                <a:gridCol w="4473326">
                  <a:extLst>
                    <a:ext uri="{9D8B030D-6E8A-4147-A177-3AD203B41FA5}">
                      <a16:colId xmlns:a16="http://schemas.microsoft.com/office/drawing/2014/main" val="2545839624"/>
                    </a:ext>
                  </a:extLst>
                </a:gridCol>
                <a:gridCol w="3173313">
                  <a:extLst>
                    <a:ext uri="{9D8B030D-6E8A-4147-A177-3AD203B41FA5}">
                      <a16:colId xmlns:a16="http://schemas.microsoft.com/office/drawing/2014/main" val="3852894523"/>
                    </a:ext>
                  </a:extLst>
                </a:gridCol>
              </a:tblGrid>
              <a:tr h="373062">
                <a:tc>
                  <a:txBody>
                    <a:bodyPr/>
                    <a:lstStyle/>
                    <a:p>
                      <a:pPr algn="l"/>
                      <a:r>
                        <a:rPr lang="tr-TR" sz="975" b="1" i="0" u="none" dirty="0">
                          <a:solidFill>
                            <a:srgbClr val="FFFFFF"/>
                          </a:solidFill>
                          <a:latin typeface="Merriweather"/>
                        </a:rPr>
                        <a:t>Çalışma</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a:solidFill>
                            <a:srgbClr val="FFFFFF"/>
                          </a:solidFill>
                          <a:latin typeface="Merriweather"/>
                        </a:rPr>
                        <a:t>Yıl</a:t>
                      </a:r>
                    </a:p>
                  </a:txBody>
                  <a:tcPr marL="63500" marR="63500" marT="25400" marB="25400" anchor="ctr">
                    <a:lnL>
                      <a:noFill/>
                    </a:lnL>
                    <a:lnR>
                      <a:noFill/>
                    </a:lnR>
                    <a:lnT>
                      <a:noFill/>
                    </a:lnT>
                    <a:lnB>
                      <a:noFill/>
                    </a:lnB>
                    <a:solidFill>
                      <a:srgbClr val="0B2C5C"/>
                    </a:solidFill>
                  </a:tcPr>
                </a:tc>
                <a:tc>
                  <a:txBody>
                    <a:bodyPr/>
                    <a:lstStyle/>
                    <a:p>
                      <a:pPr algn="l"/>
                      <a:r>
                        <a:rPr sz="975" b="1" i="0" u="none">
                          <a:solidFill>
                            <a:srgbClr val="FFFFFF"/>
                          </a:solidFill>
                          <a:latin typeface="Merriweather"/>
                        </a:rPr>
                        <a:t>Kullanılan Sınıflandırıcı / Yöntem</a:t>
                      </a:r>
                    </a:p>
                  </a:txBody>
                  <a:tcPr marL="63500" marR="63500" marT="25400" marB="25400" anchor="ctr">
                    <a:lnL>
                      <a:noFill/>
                    </a:lnL>
                    <a:lnR>
                      <a:noFill/>
                    </a:lnR>
                    <a:lnT>
                      <a:noFill/>
                    </a:lnT>
                    <a:lnB>
                      <a:noFill/>
                    </a:lnB>
                    <a:solidFill>
                      <a:srgbClr val="0B2C5C"/>
                    </a:solidFill>
                  </a:tcPr>
                </a:tc>
                <a:tc>
                  <a:txBody>
                    <a:bodyPr/>
                    <a:lstStyle/>
                    <a:p>
                      <a:pPr algn="l"/>
                      <a:r>
                        <a:rPr sz="975" b="1" i="0" u="none">
                          <a:solidFill>
                            <a:srgbClr val="FFFFFF"/>
                          </a:solidFill>
                          <a:latin typeface="Merriweather"/>
                        </a:rPr>
                        <a:t>Sınıflandırma Doğruluk Başarımı</a:t>
                      </a:r>
                    </a:p>
                  </a:txBody>
                  <a:tcPr marL="63500" marR="63500" marT="25400" marB="25400" anchor="ctr">
                    <a:lnL>
                      <a:noFill/>
                    </a:lnL>
                    <a:lnR>
                      <a:noFill/>
                    </a:lnR>
                    <a:lnT>
                      <a:noFill/>
                    </a:lnT>
                    <a:lnB>
                      <a:noFill/>
                    </a:lnB>
                    <a:solidFill>
                      <a:srgbClr val="0B2C5C"/>
                    </a:solidFill>
                  </a:tcPr>
                </a:tc>
                <a:extLst>
                  <a:ext uri="{0D108BD9-81ED-4DB2-BD59-A6C34878D82A}">
                    <a16:rowId xmlns:a16="http://schemas.microsoft.com/office/drawing/2014/main" val="4086173002"/>
                  </a:ext>
                </a:extLst>
              </a:tr>
              <a:tr h="373062">
                <a:tc>
                  <a:txBody>
                    <a:bodyPr/>
                    <a:lstStyle/>
                    <a:p>
                      <a:r>
                        <a:rPr lang="tr-TR" sz="1200" b="0" i="0" u="none" kern="1200" dirty="0" err="1">
                          <a:solidFill>
                            <a:srgbClr val="334155"/>
                          </a:solidFill>
                          <a:latin typeface="DM Sans"/>
                          <a:ea typeface="+mn-ea"/>
                          <a:cs typeface="+mn-cs"/>
                        </a:rPr>
                        <a:t>Yu</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2020</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DBN-SVM, CNN, LR, SVM</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%99,96</a:t>
                      </a:r>
                    </a:p>
                  </a:txBody>
                  <a:tcPr anchor="ctr">
                    <a:lnL>
                      <a:noFill/>
                    </a:lnL>
                    <a:lnR>
                      <a:noFill/>
                    </a:lnR>
                    <a:lnT>
                      <a:noFill/>
                    </a:lnT>
                    <a:lnB>
                      <a:noFill/>
                    </a:lnB>
                    <a:noFill/>
                  </a:tcPr>
                </a:tc>
                <a:extLst>
                  <a:ext uri="{0D108BD9-81ED-4DB2-BD59-A6C34878D82A}">
                    <a16:rowId xmlns:a16="http://schemas.microsoft.com/office/drawing/2014/main" val="2840748683"/>
                  </a:ext>
                </a:extLst>
              </a:tr>
              <a:tr h="373062">
                <a:tc>
                  <a:txBody>
                    <a:bodyPr/>
                    <a:lstStyle/>
                    <a:p>
                      <a:r>
                        <a:rPr lang="tr-TR" sz="1200" b="0" i="0" u="none" kern="1200" dirty="0" err="1">
                          <a:solidFill>
                            <a:srgbClr val="334155"/>
                          </a:solidFill>
                          <a:latin typeface="DM Sans"/>
                          <a:ea typeface="+mn-ea"/>
                          <a:cs typeface="+mn-cs"/>
                        </a:rPr>
                        <a:t>Ispahany</a:t>
                      </a:r>
                      <a:r>
                        <a:rPr lang="tr-TR" sz="1200" b="0" i="0" u="none" kern="1200" dirty="0">
                          <a:solidFill>
                            <a:srgbClr val="334155"/>
                          </a:solidFill>
                          <a:latin typeface="DM Sans"/>
                          <a:ea typeface="+mn-ea"/>
                          <a:cs typeface="+mn-cs"/>
                        </a:rPr>
                        <a:t> &amp; </a:t>
                      </a:r>
                      <a:r>
                        <a:rPr lang="tr-TR" sz="1200" b="0" i="0" u="none" kern="1200" dirty="0" err="1">
                          <a:solidFill>
                            <a:srgbClr val="334155"/>
                          </a:solidFill>
                          <a:latin typeface="DM Sans"/>
                          <a:ea typeface="+mn-ea"/>
                          <a:cs typeface="+mn-cs"/>
                        </a:rPr>
                        <a:t>Islam</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2020</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KNN (Entropi olmadan)</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%99,20</a:t>
                      </a:r>
                    </a:p>
                  </a:txBody>
                  <a:tcPr anchor="ctr">
                    <a:lnL>
                      <a:noFill/>
                    </a:lnL>
                    <a:lnR>
                      <a:noFill/>
                    </a:lnR>
                    <a:lnT>
                      <a:noFill/>
                    </a:lnT>
                    <a:lnB>
                      <a:noFill/>
                    </a:lnB>
                    <a:noFill/>
                  </a:tcPr>
                </a:tc>
                <a:extLst>
                  <a:ext uri="{0D108BD9-81ED-4DB2-BD59-A6C34878D82A}">
                    <a16:rowId xmlns:a16="http://schemas.microsoft.com/office/drawing/2014/main" val="2136417538"/>
                  </a:ext>
                </a:extLst>
              </a:tr>
              <a:tr h="421484">
                <a:tc>
                  <a:txBody>
                    <a:bodyPr/>
                    <a:lstStyle/>
                    <a:p>
                      <a:r>
                        <a:rPr lang="tr-TR" sz="1200" b="0" i="0" u="none" kern="1200">
                          <a:solidFill>
                            <a:srgbClr val="334155"/>
                          </a:solidFill>
                          <a:latin typeface="DM Sans"/>
                          <a:ea typeface="+mn-ea"/>
                          <a:cs typeface="+mn-cs"/>
                        </a:rPr>
                        <a:t>Yuan et al.</a:t>
                      </a: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2021</a:t>
                      </a:r>
                    </a:p>
                  </a:txBody>
                  <a:tcPr anchor="ctr">
                    <a:lnL>
                      <a:noFill/>
                    </a:lnL>
                    <a:lnR>
                      <a:noFill/>
                    </a:lnR>
                    <a:lnT>
                      <a:noFill/>
                    </a:lnT>
                    <a:lnB>
                      <a:noFill/>
                    </a:lnB>
                    <a:noFill/>
                  </a:tcPr>
                </a:tc>
                <a:tc>
                  <a:txBody>
                    <a:bodyPr/>
                    <a:lstStyle/>
                    <a:p>
                      <a:r>
                        <a:rPr lang="tr-TR" sz="1200" b="0" i="0" u="none" kern="1200" dirty="0" err="1">
                          <a:solidFill>
                            <a:srgbClr val="334155"/>
                          </a:solidFill>
                          <a:latin typeface="DM Sans"/>
                          <a:ea typeface="+mn-ea"/>
                          <a:cs typeface="+mn-cs"/>
                        </a:rPr>
                        <a:t>Bi-IndRNN</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CapsNet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%99,89</a:t>
                      </a:r>
                    </a:p>
                  </a:txBody>
                  <a:tcPr anchor="ctr">
                    <a:lnL>
                      <a:noFill/>
                    </a:lnL>
                    <a:lnR>
                      <a:noFill/>
                    </a:lnR>
                    <a:lnT>
                      <a:noFill/>
                    </a:lnT>
                    <a:lnB>
                      <a:noFill/>
                    </a:lnB>
                    <a:noFill/>
                  </a:tcPr>
                </a:tc>
                <a:extLst>
                  <a:ext uri="{0D108BD9-81ED-4DB2-BD59-A6C34878D82A}">
                    <a16:rowId xmlns:a16="http://schemas.microsoft.com/office/drawing/2014/main" val="85843424"/>
                  </a:ext>
                </a:extLst>
              </a:tr>
              <a:tr h="373062">
                <a:tc>
                  <a:txBody>
                    <a:bodyPr/>
                    <a:lstStyle/>
                    <a:p>
                      <a:r>
                        <a:rPr lang="tr-TR" sz="1200" b="0" i="0" u="none" kern="1200">
                          <a:solidFill>
                            <a:srgbClr val="334155"/>
                          </a:solidFill>
                          <a:latin typeface="DM Sans"/>
                          <a:ea typeface="+mn-ea"/>
                          <a:cs typeface="+mn-cs"/>
                        </a:rPr>
                        <a:t>He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2021</a:t>
                      </a: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CS-</a:t>
                      </a:r>
                      <a:r>
                        <a:rPr lang="tr-TR" sz="1200" b="0" i="0" u="none" kern="1200" dirty="0" err="1">
                          <a:solidFill>
                            <a:srgbClr val="334155"/>
                          </a:solidFill>
                          <a:latin typeface="DM Sans"/>
                          <a:ea typeface="+mn-ea"/>
                          <a:cs typeface="+mn-cs"/>
                        </a:rPr>
                        <a:t>XGBoost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SMOTE+XGBoost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%99,05</a:t>
                      </a:r>
                    </a:p>
                  </a:txBody>
                  <a:tcPr anchor="ctr">
                    <a:lnL>
                      <a:noFill/>
                    </a:lnL>
                    <a:lnR>
                      <a:noFill/>
                    </a:lnR>
                    <a:lnT>
                      <a:noFill/>
                    </a:lnT>
                    <a:lnB>
                      <a:noFill/>
                    </a:lnB>
                    <a:noFill/>
                  </a:tcPr>
                </a:tc>
                <a:extLst>
                  <a:ext uri="{0D108BD9-81ED-4DB2-BD59-A6C34878D82A}">
                    <a16:rowId xmlns:a16="http://schemas.microsoft.com/office/drawing/2014/main" val="3666670535"/>
                  </a:ext>
                </a:extLst>
              </a:tr>
            </a:tbl>
          </a:graphicData>
        </a:graphic>
      </p:graphicFrame>
      <p:graphicFrame>
        <p:nvGraphicFramePr>
          <p:cNvPr id="37" name="Tablo 36">
            <a:extLst>
              <a:ext uri="{FF2B5EF4-FFF2-40B4-BE49-F238E27FC236}">
                <a16:creationId xmlns:a16="http://schemas.microsoft.com/office/drawing/2014/main" id="{4D9FA29A-D17A-7E58-7E88-1020FD60E20A}"/>
              </a:ext>
            </a:extLst>
          </p:cNvPr>
          <p:cNvGraphicFramePr>
            <a:graphicFrameLocks noGrp="1"/>
          </p:cNvGraphicFramePr>
          <p:nvPr>
            <p:extLst>
              <p:ext uri="{D42A27DB-BD31-4B8C-83A1-F6EECF244321}">
                <p14:modId xmlns:p14="http://schemas.microsoft.com/office/powerpoint/2010/main" val="2780342510"/>
              </p:ext>
            </p:extLst>
          </p:nvPr>
        </p:nvGraphicFramePr>
        <p:xfrm>
          <a:off x="666750" y="3341686"/>
          <a:ext cx="10839450" cy="1540670"/>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1348160844"/>
                    </a:ext>
                  </a:extLst>
                </a:gridCol>
                <a:gridCol w="845194">
                  <a:extLst>
                    <a:ext uri="{9D8B030D-6E8A-4147-A177-3AD203B41FA5}">
                      <a16:colId xmlns:a16="http://schemas.microsoft.com/office/drawing/2014/main" val="1882331439"/>
                    </a:ext>
                  </a:extLst>
                </a:gridCol>
                <a:gridCol w="4473326">
                  <a:extLst>
                    <a:ext uri="{9D8B030D-6E8A-4147-A177-3AD203B41FA5}">
                      <a16:colId xmlns:a16="http://schemas.microsoft.com/office/drawing/2014/main" val="703671192"/>
                    </a:ext>
                  </a:extLst>
                </a:gridCol>
                <a:gridCol w="3173313">
                  <a:extLst>
                    <a:ext uri="{9D8B030D-6E8A-4147-A177-3AD203B41FA5}">
                      <a16:colId xmlns:a16="http://schemas.microsoft.com/office/drawing/2014/main" val="95878702"/>
                    </a:ext>
                  </a:extLst>
                </a:gridCol>
              </a:tblGrid>
              <a:tr h="373062">
                <a:tc>
                  <a:txBody>
                    <a:bodyPr/>
                    <a:lstStyle/>
                    <a:p>
                      <a:r>
                        <a:rPr lang="tr-TR" sz="1200" b="0" i="0" u="none" kern="1200" dirty="0" err="1">
                          <a:solidFill>
                            <a:srgbClr val="334155"/>
                          </a:solidFill>
                          <a:latin typeface="DM Sans"/>
                          <a:ea typeface="+mn-ea"/>
                          <a:cs typeface="+mn-cs"/>
                        </a:rPr>
                        <a:t>Aljabri</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CNN, LSTM, NB, RF</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%96,01</a:t>
                      </a:r>
                    </a:p>
                  </a:txBody>
                  <a:tcPr anchor="ctr">
                    <a:lnL>
                      <a:noFill/>
                    </a:lnL>
                    <a:lnR>
                      <a:noFill/>
                    </a:lnR>
                    <a:lnT>
                      <a:noFill/>
                    </a:lnT>
                    <a:lnB>
                      <a:noFill/>
                    </a:lnB>
                    <a:noFill/>
                  </a:tcPr>
                </a:tc>
                <a:extLst>
                  <a:ext uri="{0D108BD9-81ED-4DB2-BD59-A6C34878D82A}">
                    <a16:rowId xmlns:a16="http://schemas.microsoft.com/office/drawing/2014/main" val="4073228933"/>
                  </a:ext>
                </a:extLst>
              </a:tr>
              <a:tr h="373062">
                <a:tc>
                  <a:txBody>
                    <a:bodyPr/>
                    <a:lstStyle/>
                    <a:p>
                      <a:r>
                        <a:rPr lang="tr-TR" sz="1200" b="0" i="0" u="none" kern="1200" dirty="0" err="1">
                          <a:solidFill>
                            <a:srgbClr val="334155"/>
                          </a:solidFill>
                          <a:latin typeface="DM Sans"/>
                          <a:ea typeface="+mn-ea"/>
                          <a:cs typeface="+mn-cs"/>
                        </a:rPr>
                        <a:t>Umer</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MLP (Yapay Sinir Ağları)</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%99,62</a:t>
                      </a:r>
                    </a:p>
                  </a:txBody>
                  <a:tcPr anchor="ctr">
                    <a:lnL>
                      <a:noFill/>
                    </a:lnL>
                    <a:lnR>
                      <a:noFill/>
                    </a:lnR>
                    <a:lnT>
                      <a:noFill/>
                    </a:lnT>
                    <a:lnB>
                      <a:noFill/>
                    </a:lnB>
                    <a:noFill/>
                  </a:tcPr>
                </a:tc>
                <a:extLst>
                  <a:ext uri="{0D108BD9-81ED-4DB2-BD59-A6C34878D82A}">
                    <a16:rowId xmlns:a16="http://schemas.microsoft.com/office/drawing/2014/main" val="2451798105"/>
                  </a:ext>
                </a:extLst>
              </a:tr>
              <a:tr h="421484">
                <a:tc>
                  <a:txBody>
                    <a:bodyPr/>
                    <a:lstStyle/>
                    <a:p>
                      <a:r>
                        <a:rPr lang="tr-TR" sz="1200" b="0" i="0" u="none" kern="1200">
                          <a:solidFill>
                            <a:srgbClr val="334155"/>
                          </a:solidFill>
                          <a:latin typeface="DM Sans"/>
                          <a:ea typeface="+mn-ea"/>
                          <a:cs typeface="+mn-cs"/>
                        </a:rPr>
                        <a:t>Hajaj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dirty="0" err="1">
                          <a:solidFill>
                            <a:srgbClr val="334155"/>
                          </a:solidFill>
                          <a:latin typeface="DM Sans"/>
                          <a:ea typeface="+mn-ea"/>
                          <a:cs typeface="+mn-cs"/>
                        </a:rPr>
                        <a:t>Random</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Forest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%99,80</a:t>
                      </a:r>
                    </a:p>
                  </a:txBody>
                  <a:tcPr anchor="ctr">
                    <a:lnL>
                      <a:noFill/>
                    </a:lnL>
                    <a:lnR>
                      <a:noFill/>
                    </a:lnR>
                    <a:lnT>
                      <a:noFill/>
                    </a:lnT>
                    <a:lnB>
                      <a:noFill/>
                    </a:lnB>
                    <a:noFill/>
                  </a:tcPr>
                </a:tc>
                <a:extLst>
                  <a:ext uri="{0D108BD9-81ED-4DB2-BD59-A6C34878D82A}">
                    <a16:rowId xmlns:a16="http://schemas.microsoft.com/office/drawing/2014/main" val="3178215238"/>
                  </a:ext>
                </a:extLst>
              </a:tr>
              <a:tr h="373062">
                <a:tc>
                  <a:txBody>
                    <a:bodyPr/>
                    <a:lstStyle/>
                    <a:p>
                      <a:r>
                        <a:rPr lang="tr-TR" sz="1200" b="0" i="0" u="none" kern="1200">
                          <a:solidFill>
                            <a:srgbClr val="334155"/>
                          </a:solidFill>
                          <a:latin typeface="DM Sans"/>
                          <a:ea typeface="+mn-ea"/>
                          <a:cs typeface="+mn-cs"/>
                        </a:rPr>
                        <a:t>Roy et al.</a:t>
                      </a:r>
                    </a:p>
                  </a:txBody>
                  <a:tcPr anchor="ctr">
                    <a:lnL>
                      <a:noFill/>
                    </a:lnL>
                    <a:lnR>
                      <a:noFill/>
                    </a:lnR>
                    <a:lnT>
                      <a:noFill/>
                    </a:lnT>
                    <a:lnB>
                      <a:noFill/>
                    </a:lnB>
                    <a:noFill/>
                  </a:tcPr>
                </a:tc>
                <a:tc>
                  <a:txBody>
                    <a:bodyPr/>
                    <a:lstStyle/>
                    <a:p>
                      <a:r>
                        <a:rPr lang="tr-TR" sz="1200" b="0" i="0" u="none" kern="1200">
                          <a:solidFill>
                            <a:srgbClr val="334155"/>
                          </a:solidFill>
                          <a:latin typeface="DM Sans"/>
                          <a:ea typeface="+mn-ea"/>
                          <a:cs typeface="+mn-cs"/>
                        </a:rPr>
                        <a:t>2022</a:t>
                      </a:r>
                    </a:p>
                  </a:txBody>
                  <a:tcPr anchor="ctr">
                    <a:lnL>
                      <a:noFill/>
                    </a:lnL>
                    <a:lnR>
                      <a:noFill/>
                    </a:lnR>
                    <a:lnT>
                      <a:noFill/>
                    </a:lnT>
                    <a:lnB>
                      <a:noFill/>
                    </a:lnB>
                    <a:noFill/>
                  </a:tcPr>
                </a:tc>
                <a:tc>
                  <a:txBody>
                    <a:bodyPr/>
                    <a:lstStyle/>
                    <a:p>
                      <a:r>
                        <a:rPr lang="tr-TR" sz="1200" b="0" i="0" u="none" kern="1200" dirty="0" err="1">
                          <a:solidFill>
                            <a:srgbClr val="334155"/>
                          </a:solidFill>
                          <a:latin typeface="DM Sans"/>
                          <a:ea typeface="+mn-ea"/>
                          <a:cs typeface="+mn-cs"/>
                        </a:rPr>
                        <a:t>Bi</a:t>
                      </a:r>
                      <a:r>
                        <a:rPr lang="tr-TR" sz="1200" b="0" i="0" u="none" kern="1200" dirty="0">
                          <a:solidFill>
                            <a:srgbClr val="334155"/>
                          </a:solidFill>
                          <a:latin typeface="DM Sans"/>
                          <a:ea typeface="+mn-ea"/>
                          <a:cs typeface="+mn-cs"/>
                        </a:rPr>
                        <a:t>-LSTM, LSTM, GRU</a:t>
                      </a:r>
                    </a:p>
                  </a:txBody>
                  <a:tcPr anchor="ctr">
                    <a:lnL>
                      <a:noFill/>
                    </a:lnL>
                    <a:lnR>
                      <a:noFill/>
                    </a:lnR>
                    <a:lnT>
                      <a:noFill/>
                    </a:lnT>
                    <a:lnB>
                      <a:noFill/>
                    </a:lnB>
                    <a:noFill/>
                  </a:tcPr>
                </a:tc>
                <a:tc>
                  <a:txBody>
                    <a:bodyPr/>
                    <a:lstStyle/>
                    <a:p>
                      <a:r>
                        <a:rPr lang="tr-TR" sz="1200" b="0" i="0" u="none" kern="1200" dirty="0">
                          <a:solidFill>
                            <a:srgbClr val="334155"/>
                          </a:solidFill>
                          <a:latin typeface="DM Sans"/>
                          <a:ea typeface="+mn-ea"/>
                          <a:cs typeface="+mn-cs"/>
                        </a:rPr>
                        <a:t>%99,00</a:t>
                      </a:r>
                    </a:p>
                  </a:txBody>
                  <a:tcPr anchor="ctr">
                    <a:lnL>
                      <a:noFill/>
                    </a:lnL>
                    <a:lnR>
                      <a:noFill/>
                    </a:lnR>
                    <a:lnT>
                      <a:noFill/>
                    </a:lnT>
                    <a:lnB>
                      <a:noFill/>
                    </a:lnB>
                    <a:noFill/>
                  </a:tcPr>
                </a:tc>
                <a:extLst>
                  <a:ext uri="{0D108BD9-81ED-4DB2-BD59-A6C34878D82A}">
                    <a16:rowId xmlns:a16="http://schemas.microsoft.com/office/drawing/2014/main" val="2514575940"/>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Literatür Çalışmalarının Kıyaslanması (2023 - 2026)</a:t>
            </a: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7" name="TextBox 6"/>
          <p:cNvSpPr txBox="1"/>
          <p:nvPr/>
        </p:nvSpPr>
        <p:spPr>
          <a:xfrm>
            <a:off x="11239500" y="6496050"/>
            <a:ext cx="3810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9</a:t>
            </a:r>
          </a:p>
        </p:txBody>
      </p:sp>
      <p:pic>
        <p:nvPicPr>
          <p:cNvPr id="34" name="Picture 1" descr="image.png">
            <a:extLst>
              <a:ext uri="{FF2B5EF4-FFF2-40B4-BE49-F238E27FC236}">
                <a16:creationId xmlns:a16="http://schemas.microsoft.com/office/drawing/2014/main" id="{466F07D2-592A-1605-7029-8012CE6507AA}"/>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35" name="İçerik Yer Tutucusu 10">
            <a:extLst>
              <a:ext uri="{FF2B5EF4-FFF2-40B4-BE49-F238E27FC236}">
                <a16:creationId xmlns:a16="http://schemas.microsoft.com/office/drawing/2014/main" id="{F69F5E07-549A-60DE-7554-E60999902EB2}"/>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13888" y="476250"/>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080D9694-282D-1ACC-ED95-6F68F4B636AF}"/>
              </a:ext>
            </a:extLst>
          </p:cNvPr>
          <p:cNvGraphicFramePr>
            <a:graphicFrameLocks noGrp="1"/>
          </p:cNvGraphicFramePr>
          <p:nvPr>
            <p:extLst>
              <p:ext uri="{D42A27DB-BD31-4B8C-83A1-F6EECF244321}">
                <p14:modId xmlns:p14="http://schemas.microsoft.com/office/powerpoint/2010/main" val="2181063629"/>
              </p:ext>
            </p:extLst>
          </p:nvPr>
        </p:nvGraphicFramePr>
        <p:xfrm>
          <a:off x="685800" y="1459705"/>
          <a:ext cx="10839450" cy="1913732"/>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597739189"/>
                    </a:ext>
                  </a:extLst>
                </a:gridCol>
                <a:gridCol w="845194">
                  <a:extLst>
                    <a:ext uri="{9D8B030D-6E8A-4147-A177-3AD203B41FA5}">
                      <a16:colId xmlns:a16="http://schemas.microsoft.com/office/drawing/2014/main" val="2586540196"/>
                    </a:ext>
                  </a:extLst>
                </a:gridCol>
                <a:gridCol w="4473326">
                  <a:extLst>
                    <a:ext uri="{9D8B030D-6E8A-4147-A177-3AD203B41FA5}">
                      <a16:colId xmlns:a16="http://schemas.microsoft.com/office/drawing/2014/main" val="2545839624"/>
                    </a:ext>
                  </a:extLst>
                </a:gridCol>
                <a:gridCol w="3173313">
                  <a:extLst>
                    <a:ext uri="{9D8B030D-6E8A-4147-A177-3AD203B41FA5}">
                      <a16:colId xmlns:a16="http://schemas.microsoft.com/office/drawing/2014/main" val="3852894523"/>
                    </a:ext>
                  </a:extLst>
                </a:gridCol>
              </a:tblGrid>
              <a:tr h="373062">
                <a:tc>
                  <a:txBody>
                    <a:bodyPr/>
                    <a:lstStyle/>
                    <a:p>
                      <a:pPr algn="l"/>
                      <a:r>
                        <a:rPr lang="tr-TR" sz="975" b="1" i="0" u="none" dirty="0">
                          <a:solidFill>
                            <a:srgbClr val="FFFFFF"/>
                          </a:solidFill>
                          <a:latin typeface="Merriweather"/>
                        </a:rPr>
                        <a:t>Çalışma</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dirty="0" err="1">
                          <a:solidFill>
                            <a:srgbClr val="FFFFFF"/>
                          </a:solidFill>
                          <a:latin typeface="Merriweather"/>
                        </a:rPr>
                        <a:t>Yıl</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dirty="0" err="1">
                          <a:solidFill>
                            <a:srgbClr val="FFFFFF"/>
                          </a:solidFill>
                          <a:latin typeface="Merriweather"/>
                        </a:rPr>
                        <a:t>Kullanılan</a:t>
                      </a:r>
                      <a:r>
                        <a:rPr sz="975" b="1" i="0" u="none" dirty="0">
                          <a:solidFill>
                            <a:srgbClr val="FFFFFF"/>
                          </a:solidFill>
                          <a:latin typeface="Merriweather"/>
                        </a:rPr>
                        <a:t> </a:t>
                      </a:r>
                      <a:r>
                        <a:rPr sz="975" b="1" i="0" u="none" dirty="0" err="1">
                          <a:solidFill>
                            <a:srgbClr val="FFFFFF"/>
                          </a:solidFill>
                          <a:latin typeface="Merriweather"/>
                        </a:rPr>
                        <a:t>Sınıflandırıcı</a:t>
                      </a:r>
                      <a:r>
                        <a:rPr sz="975" b="1" i="0" u="none" dirty="0">
                          <a:solidFill>
                            <a:srgbClr val="FFFFFF"/>
                          </a:solidFill>
                          <a:latin typeface="Merriweather"/>
                        </a:rPr>
                        <a:t> / </a:t>
                      </a:r>
                      <a:r>
                        <a:rPr sz="975" b="1" i="0" u="none" dirty="0" err="1">
                          <a:solidFill>
                            <a:srgbClr val="FFFFFF"/>
                          </a:solidFill>
                          <a:latin typeface="Merriweather"/>
                        </a:rPr>
                        <a:t>Yöntem</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tc>
                  <a:txBody>
                    <a:bodyPr/>
                    <a:lstStyle/>
                    <a:p>
                      <a:pPr algn="l"/>
                      <a:r>
                        <a:rPr sz="975" b="1" i="0" u="none" dirty="0" err="1">
                          <a:solidFill>
                            <a:srgbClr val="FFFFFF"/>
                          </a:solidFill>
                          <a:latin typeface="Merriweather"/>
                        </a:rPr>
                        <a:t>Sınıflandırma</a:t>
                      </a:r>
                      <a:r>
                        <a:rPr sz="975" b="1" i="0" u="none" dirty="0">
                          <a:solidFill>
                            <a:srgbClr val="FFFFFF"/>
                          </a:solidFill>
                          <a:latin typeface="Merriweather"/>
                        </a:rPr>
                        <a:t> </a:t>
                      </a:r>
                      <a:r>
                        <a:rPr sz="975" b="1" i="0" u="none" dirty="0" err="1">
                          <a:solidFill>
                            <a:srgbClr val="FFFFFF"/>
                          </a:solidFill>
                          <a:latin typeface="Merriweather"/>
                        </a:rPr>
                        <a:t>Doğruluk</a:t>
                      </a:r>
                      <a:r>
                        <a:rPr sz="975" b="1" i="0" u="none" dirty="0">
                          <a:solidFill>
                            <a:srgbClr val="FFFFFF"/>
                          </a:solidFill>
                          <a:latin typeface="Merriweather"/>
                        </a:rPr>
                        <a:t> </a:t>
                      </a:r>
                      <a:r>
                        <a:rPr sz="975" b="1" i="0" u="none" dirty="0" err="1">
                          <a:solidFill>
                            <a:srgbClr val="FFFFFF"/>
                          </a:solidFill>
                          <a:latin typeface="Merriweather"/>
                        </a:rPr>
                        <a:t>Başarımı</a:t>
                      </a:r>
                      <a:endParaRPr sz="975" b="1" i="0" u="none" dirty="0">
                        <a:solidFill>
                          <a:srgbClr val="FFFFFF"/>
                        </a:solidFill>
                        <a:latin typeface="Merriweather"/>
                      </a:endParaRPr>
                    </a:p>
                  </a:txBody>
                  <a:tcPr marL="63500" marR="63500" marT="25400" marB="25400" anchor="ctr">
                    <a:lnL>
                      <a:noFill/>
                    </a:lnL>
                    <a:lnR>
                      <a:noFill/>
                    </a:lnR>
                    <a:lnT>
                      <a:noFill/>
                    </a:lnT>
                    <a:lnB>
                      <a:noFill/>
                    </a:lnB>
                    <a:solidFill>
                      <a:srgbClr val="0B2C5C"/>
                    </a:solidFill>
                  </a:tcPr>
                </a:tc>
                <a:extLst>
                  <a:ext uri="{0D108BD9-81ED-4DB2-BD59-A6C34878D82A}">
                    <a16:rowId xmlns:a16="http://schemas.microsoft.com/office/drawing/2014/main" val="4086173002"/>
                  </a:ext>
                </a:extLst>
              </a:tr>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Tong</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2023</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MM-ComBERT-LMS</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%98,72</a:t>
                      </a:r>
                    </a:p>
                  </a:txBody>
                  <a:tcPr anchor="ctr">
                    <a:lnL>
                      <a:noFill/>
                    </a:lnL>
                    <a:lnR>
                      <a:noFill/>
                    </a:lnR>
                    <a:lnT>
                      <a:noFill/>
                    </a:lnT>
                    <a:lnB>
                      <a:noFill/>
                    </a:lnB>
                    <a:noFill/>
                  </a:tcPr>
                </a:tc>
                <a:extLst>
                  <a:ext uri="{0D108BD9-81ED-4DB2-BD59-A6C34878D82A}">
                    <a16:rowId xmlns:a16="http://schemas.microsoft.com/office/drawing/2014/main" val="2840748683"/>
                  </a:ext>
                </a:extLst>
              </a:tr>
              <a:tr h="373062">
                <a:tc>
                  <a:txBody>
                    <a:bodyPr/>
                    <a:lstStyle/>
                    <a:p>
                      <a:pPr marL="0" algn="l" defTabSz="457200" rtl="0" eaLnBrk="1" latinLnBrk="0" hangingPunct="1"/>
                      <a:r>
                        <a:rPr lang="tr-TR" sz="1200" b="0" i="0" u="none" kern="1200">
                          <a:solidFill>
                            <a:srgbClr val="334155"/>
                          </a:solidFill>
                          <a:latin typeface="DM Sans"/>
                          <a:ea typeface="+mn-ea"/>
                          <a:cs typeface="+mn-cs"/>
                        </a:rPr>
                        <a:t>Abdul Samad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2023</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RF, </a:t>
                      </a:r>
                      <a:r>
                        <a:rPr lang="tr-TR" sz="1200" b="0" i="0" u="none" kern="1200" dirty="0" err="1">
                          <a:solidFill>
                            <a:srgbClr val="334155"/>
                          </a:solidFill>
                          <a:latin typeface="DM Sans"/>
                          <a:ea typeface="+mn-ea"/>
                          <a:cs typeface="+mn-cs"/>
                        </a:rPr>
                        <a:t>Gradient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Boost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XGBoost</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%98,27</a:t>
                      </a:r>
                    </a:p>
                  </a:txBody>
                  <a:tcPr anchor="ctr">
                    <a:lnL>
                      <a:noFill/>
                    </a:lnL>
                    <a:lnR>
                      <a:noFill/>
                    </a:lnR>
                    <a:lnT>
                      <a:noFill/>
                    </a:lnT>
                    <a:lnB>
                      <a:noFill/>
                    </a:lnB>
                    <a:noFill/>
                  </a:tcPr>
                </a:tc>
                <a:extLst>
                  <a:ext uri="{0D108BD9-81ED-4DB2-BD59-A6C34878D82A}">
                    <a16:rowId xmlns:a16="http://schemas.microsoft.com/office/drawing/2014/main" val="2136417538"/>
                  </a:ext>
                </a:extLst>
              </a:tr>
              <a:tr h="421484">
                <a:tc>
                  <a:txBody>
                    <a:bodyPr/>
                    <a:lstStyle/>
                    <a:p>
                      <a:pPr marL="0" algn="l" defTabSz="457200" rtl="0" eaLnBrk="1" latinLnBrk="0" hangingPunct="1"/>
                      <a:r>
                        <a:rPr lang="tr-TR" sz="1200" b="0" i="0" u="none" kern="1200">
                          <a:solidFill>
                            <a:srgbClr val="334155"/>
                          </a:solidFill>
                          <a:latin typeface="DM Sans"/>
                          <a:ea typeface="+mn-ea"/>
                          <a:cs typeface="+mn-cs"/>
                        </a:rPr>
                        <a:t>Nagy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2023</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NB, CNN, RF, LSTM</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%96,00</a:t>
                      </a:r>
                    </a:p>
                  </a:txBody>
                  <a:tcPr anchor="ctr">
                    <a:lnL>
                      <a:noFill/>
                    </a:lnL>
                    <a:lnR>
                      <a:noFill/>
                    </a:lnR>
                    <a:lnT>
                      <a:noFill/>
                    </a:lnT>
                    <a:lnB>
                      <a:noFill/>
                    </a:lnB>
                    <a:noFill/>
                  </a:tcPr>
                </a:tc>
                <a:extLst>
                  <a:ext uri="{0D108BD9-81ED-4DB2-BD59-A6C34878D82A}">
                    <a16:rowId xmlns:a16="http://schemas.microsoft.com/office/drawing/2014/main" val="85843424"/>
                  </a:ext>
                </a:extLst>
              </a:tr>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Nazeeruddin</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2024</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RF, CNN, NB, LR</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%96,40</a:t>
                      </a:r>
                    </a:p>
                  </a:txBody>
                  <a:tcPr anchor="ctr">
                    <a:lnL>
                      <a:noFill/>
                    </a:lnL>
                    <a:lnR>
                      <a:noFill/>
                    </a:lnR>
                    <a:lnT>
                      <a:noFill/>
                    </a:lnT>
                    <a:lnB>
                      <a:noFill/>
                    </a:lnB>
                    <a:noFill/>
                  </a:tcPr>
                </a:tc>
                <a:extLst>
                  <a:ext uri="{0D108BD9-81ED-4DB2-BD59-A6C34878D82A}">
                    <a16:rowId xmlns:a16="http://schemas.microsoft.com/office/drawing/2014/main" val="3666670535"/>
                  </a:ext>
                </a:extLst>
              </a:tr>
            </a:tbl>
          </a:graphicData>
        </a:graphic>
      </p:graphicFrame>
      <p:graphicFrame>
        <p:nvGraphicFramePr>
          <p:cNvPr id="36" name="Tablo 35">
            <a:extLst>
              <a:ext uri="{FF2B5EF4-FFF2-40B4-BE49-F238E27FC236}">
                <a16:creationId xmlns:a16="http://schemas.microsoft.com/office/drawing/2014/main" id="{0A21CEBE-6B9A-F3F1-F3E0-0EACB7E72195}"/>
              </a:ext>
            </a:extLst>
          </p:cNvPr>
          <p:cNvGraphicFramePr>
            <a:graphicFrameLocks noGrp="1"/>
          </p:cNvGraphicFramePr>
          <p:nvPr>
            <p:extLst>
              <p:ext uri="{D42A27DB-BD31-4B8C-83A1-F6EECF244321}">
                <p14:modId xmlns:p14="http://schemas.microsoft.com/office/powerpoint/2010/main" val="3203460513"/>
              </p:ext>
            </p:extLst>
          </p:nvPr>
        </p:nvGraphicFramePr>
        <p:xfrm>
          <a:off x="666750" y="3341686"/>
          <a:ext cx="10839450" cy="1540670"/>
        </p:xfrm>
        <a:graphic>
          <a:graphicData uri="http://schemas.openxmlformats.org/drawingml/2006/table">
            <a:tbl>
              <a:tblPr firstRow="1" bandRow="1">
                <a:tableStyleId>{5C22544A-7EE6-4342-B048-85BDC9FD1C3A}</a:tableStyleId>
              </a:tblPr>
              <a:tblGrid>
                <a:gridCol w="2347617">
                  <a:extLst>
                    <a:ext uri="{9D8B030D-6E8A-4147-A177-3AD203B41FA5}">
                      <a16:colId xmlns:a16="http://schemas.microsoft.com/office/drawing/2014/main" val="1348160844"/>
                    </a:ext>
                  </a:extLst>
                </a:gridCol>
                <a:gridCol w="845194">
                  <a:extLst>
                    <a:ext uri="{9D8B030D-6E8A-4147-A177-3AD203B41FA5}">
                      <a16:colId xmlns:a16="http://schemas.microsoft.com/office/drawing/2014/main" val="1882331439"/>
                    </a:ext>
                  </a:extLst>
                </a:gridCol>
                <a:gridCol w="4473326">
                  <a:extLst>
                    <a:ext uri="{9D8B030D-6E8A-4147-A177-3AD203B41FA5}">
                      <a16:colId xmlns:a16="http://schemas.microsoft.com/office/drawing/2014/main" val="703671192"/>
                    </a:ext>
                  </a:extLst>
                </a:gridCol>
                <a:gridCol w="3173313">
                  <a:extLst>
                    <a:ext uri="{9D8B030D-6E8A-4147-A177-3AD203B41FA5}">
                      <a16:colId xmlns:a16="http://schemas.microsoft.com/office/drawing/2014/main" val="95878702"/>
                    </a:ext>
                  </a:extLst>
                </a:gridCol>
              </a:tblGrid>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Rehman</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2025</a:t>
                      </a:r>
                    </a:p>
                  </a:txBody>
                  <a:tcPr anchor="ctr">
                    <a:lnL>
                      <a:noFill/>
                    </a:lnL>
                    <a:lnR>
                      <a:noFill/>
                    </a:lnR>
                    <a:lnT>
                      <a:noFill/>
                    </a:lnT>
                    <a:lnB>
                      <a:noFill/>
                    </a:lnB>
                    <a:noFill/>
                  </a:tcPr>
                </a:tc>
                <a:tc>
                  <a:txBody>
                    <a:bodyPr/>
                    <a:lstStyle/>
                    <a:p>
                      <a:pPr marL="0" algn="l" defTabSz="457200" rtl="0" eaLnBrk="1" latinLnBrk="0" hangingPunct="1"/>
                      <a:r>
                        <a:rPr lang="de-DE" sz="1200" b="0" i="0" u="none" kern="1200">
                          <a:solidFill>
                            <a:srgbClr val="334155"/>
                          </a:solidFill>
                          <a:latin typeface="DM Sans"/>
                          <a:ea typeface="+mn-ea"/>
                          <a:cs typeface="+mn-cs"/>
                        </a:rPr>
                        <a:t>RF, DT, KNN, Naive Bayes</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%99,99</a:t>
                      </a:r>
                    </a:p>
                  </a:txBody>
                  <a:tcPr anchor="ctr">
                    <a:lnL>
                      <a:noFill/>
                    </a:lnL>
                    <a:lnR>
                      <a:noFill/>
                    </a:lnR>
                    <a:lnT>
                      <a:noFill/>
                    </a:lnT>
                    <a:lnB>
                      <a:noFill/>
                    </a:lnB>
                    <a:noFill/>
                  </a:tcPr>
                </a:tc>
                <a:extLst>
                  <a:ext uri="{0D108BD9-81ED-4DB2-BD59-A6C34878D82A}">
                    <a16:rowId xmlns:a16="http://schemas.microsoft.com/office/drawing/2014/main" val="4073228933"/>
                  </a:ext>
                </a:extLst>
              </a:tr>
              <a:tr h="373062">
                <a:tc>
                  <a:txBody>
                    <a:bodyPr/>
                    <a:lstStyle/>
                    <a:p>
                      <a:pPr marL="0" algn="l" defTabSz="457200" rtl="0" eaLnBrk="1" latinLnBrk="0" hangingPunct="1"/>
                      <a:r>
                        <a:rPr lang="tr-TR" sz="1200" b="0" i="0" u="none" kern="1200" dirty="0" err="1">
                          <a:solidFill>
                            <a:srgbClr val="334155"/>
                          </a:solidFill>
                          <a:latin typeface="DM Sans"/>
                          <a:ea typeface="+mn-ea"/>
                          <a:cs typeface="+mn-cs"/>
                        </a:rPr>
                        <a:t>Almohaimeed</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2025</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Paralel CNN + BiGRU</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%98,46</a:t>
                      </a:r>
                    </a:p>
                  </a:txBody>
                  <a:tcPr anchor="ctr">
                    <a:lnL>
                      <a:noFill/>
                    </a:lnL>
                    <a:lnR>
                      <a:noFill/>
                    </a:lnR>
                    <a:lnT>
                      <a:noFill/>
                    </a:lnT>
                    <a:lnB>
                      <a:noFill/>
                    </a:lnB>
                    <a:noFill/>
                  </a:tcPr>
                </a:tc>
                <a:extLst>
                  <a:ext uri="{0D108BD9-81ED-4DB2-BD59-A6C34878D82A}">
                    <a16:rowId xmlns:a16="http://schemas.microsoft.com/office/drawing/2014/main" val="2451798105"/>
                  </a:ext>
                </a:extLst>
              </a:tr>
              <a:tr h="421484">
                <a:tc>
                  <a:txBody>
                    <a:bodyPr/>
                    <a:lstStyle/>
                    <a:p>
                      <a:pPr marL="0" algn="l" defTabSz="457200" rtl="0" eaLnBrk="1" latinLnBrk="0" hangingPunct="1"/>
                      <a:r>
                        <a:rPr lang="tr-TR" sz="1200" b="0" i="0" u="none" kern="1200" dirty="0" err="1">
                          <a:solidFill>
                            <a:srgbClr val="334155"/>
                          </a:solidFill>
                          <a:latin typeface="DM Sans"/>
                          <a:ea typeface="+mn-ea"/>
                          <a:cs typeface="+mn-cs"/>
                        </a:rPr>
                        <a:t>Yi</a:t>
                      </a:r>
                      <a:r>
                        <a:rPr lang="tr-TR" sz="1200" b="0" i="0" u="none" kern="1200" dirty="0">
                          <a:solidFill>
                            <a:srgbClr val="334155"/>
                          </a:solidFill>
                          <a:latin typeface="DM Sans"/>
                          <a:ea typeface="+mn-ea"/>
                          <a:cs typeface="+mn-cs"/>
                        </a:rPr>
                        <a:t> et al.</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2026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RF, </a:t>
                      </a:r>
                      <a:r>
                        <a:rPr lang="tr-TR" sz="1200" b="0" i="0" u="none" kern="1200" dirty="0" err="1">
                          <a:solidFill>
                            <a:srgbClr val="334155"/>
                          </a:solidFill>
                          <a:latin typeface="DM Sans"/>
                          <a:ea typeface="+mn-ea"/>
                          <a:cs typeface="+mn-cs"/>
                        </a:rPr>
                        <a:t>XGBoost</a:t>
                      </a:r>
                      <a:r>
                        <a:rPr lang="tr-TR" sz="1200" b="0" i="0" u="none" kern="1200" dirty="0">
                          <a:solidFill>
                            <a:srgbClr val="334155"/>
                          </a:solidFill>
                          <a:latin typeface="DM Sans"/>
                          <a:ea typeface="+mn-ea"/>
                          <a:cs typeface="+mn-cs"/>
                        </a:rPr>
                        <a:t>, SVM, LR</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%97,00</a:t>
                      </a:r>
                    </a:p>
                  </a:txBody>
                  <a:tcPr anchor="ctr">
                    <a:lnL>
                      <a:noFill/>
                    </a:lnL>
                    <a:lnR>
                      <a:noFill/>
                    </a:lnR>
                    <a:lnT>
                      <a:noFill/>
                    </a:lnT>
                    <a:lnB>
                      <a:noFill/>
                    </a:lnB>
                    <a:noFill/>
                  </a:tcPr>
                </a:tc>
                <a:extLst>
                  <a:ext uri="{0D108BD9-81ED-4DB2-BD59-A6C34878D82A}">
                    <a16:rowId xmlns:a16="http://schemas.microsoft.com/office/drawing/2014/main" val="3178215238"/>
                  </a:ext>
                </a:extLst>
              </a:tr>
              <a:tr h="373062">
                <a:tc>
                  <a:txBody>
                    <a:bodyPr/>
                    <a:lstStyle/>
                    <a:p>
                      <a:pPr marL="0" algn="l" defTabSz="457200" rtl="0" eaLnBrk="1" latinLnBrk="0" hangingPunct="1"/>
                      <a:r>
                        <a:rPr sz="1200" b="1" i="0" u="none" kern="1200" dirty="0">
                          <a:solidFill>
                            <a:srgbClr val="0B2C5C"/>
                          </a:solidFill>
                          <a:latin typeface="DM Sans"/>
                          <a:ea typeface="+mn-ea"/>
                          <a:cs typeface="+mn-cs"/>
                        </a:rPr>
                        <a:t>Bu Tez </a:t>
                      </a:r>
                      <a:r>
                        <a:rPr sz="1200" b="1" i="0" u="none" kern="1200" dirty="0" err="1">
                          <a:solidFill>
                            <a:srgbClr val="0B2C5C"/>
                          </a:solidFill>
                          <a:latin typeface="DM Sans"/>
                          <a:ea typeface="+mn-ea"/>
                          <a:cs typeface="+mn-cs"/>
                        </a:rPr>
                        <a:t>Çalışması</a:t>
                      </a:r>
                      <a:r>
                        <a:rPr sz="1200" b="1" i="0" u="none" kern="1200" dirty="0">
                          <a:solidFill>
                            <a:srgbClr val="0B2C5C"/>
                          </a:solidFill>
                          <a:latin typeface="DM Sans"/>
                          <a:ea typeface="+mn-ea"/>
                          <a:cs typeface="+mn-cs"/>
                        </a:rPr>
                        <a:t> (2026)</a:t>
                      </a:r>
                    </a:p>
                  </a:txBody>
                  <a:tcPr marL="63500" marR="63500" marT="25400" marB="25400" anchor="ctr">
                    <a:lnL>
                      <a:noFill/>
                    </a:lnL>
                    <a:lnR>
                      <a:noFill/>
                    </a:lnR>
                    <a:lnT>
                      <a:noFill/>
                    </a:lnT>
                    <a:lnB>
                      <a:noFill/>
                    </a:lnB>
                    <a:noFill/>
                  </a:tcPr>
                </a:tc>
                <a:tc>
                  <a:txBody>
                    <a:bodyPr/>
                    <a:lstStyle/>
                    <a:p>
                      <a:pPr marL="0" algn="l" defTabSz="457200" rtl="0" eaLnBrk="1" latinLnBrk="0" hangingPunct="1"/>
                      <a:r>
                        <a:rPr sz="1200" b="1" i="0" u="none" kern="1200" dirty="0">
                          <a:solidFill>
                            <a:srgbClr val="0B2C5C"/>
                          </a:solidFill>
                          <a:latin typeface="DM Sans"/>
                          <a:ea typeface="+mn-ea"/>
                          <a:cs typeface="+mn-cs"/>
                        </a:rPr>
                        <a:t>2026</a:t>
                      </a:r>
                    </a:p>
                  </a:txBody>
                  <a:tcPr marL="63500" marR="63500" marT="25400" marB="25400" anchor="ctr">
                    <a:lnL>
                      <a:noFill/>
                    </a:lnL>
                    <a:lnR>
                      <a:noFill/>
                    </a:lnR>
                    <a:lnT>
                      <a:noFill/>
                    </a:lnT>
                    <a:lnB>
                      <a:noFill/>
                    </a:lnB>
                    <a:noFill/>
                  </a:tcPr>
                </a:tc>
                <a:tc>
                  <a:txBody>
                    <a:bodyPr/>
                    <a:lstStyle/>
                    <a:p>
                      <a:pPr marL="0" algn="l" defTabSz="457200" rtl="0" eaLnBrk="1" latinLnBrk="0" hangingPunct="1"/>
                      <a:r>
                        <a:rPr sz="1200" b="1" i="0" u="none" kern="1200" dirty="0" err="1">
                          <a:solidFill>
                            <a:srgbClr val="0B2C5C"/>
                          </a:solidFill>
                          <a:latin typeface="DM Sans"/>
                          <a:ea typeface="+mn-ea"/>
                          <a:cs typeface="+mn-cs"/>
                        </a:rPr>
                        <a:t>XGBoost</a:t>
                      </a:r>
                      <a:r>
                        <a:rPr sz="1200" b="1" i="0" u="none" kern="1200" dirty="0">
                          <a:solidFill>
                            <a:srgbClr val="0B2C5C"/>
                          </a:solidFill>
                          <a:latin typeface="DM Sans"/>
                          <a:ea typeface="+mn-ea"/>
                          <a:cs typeface="+mn-cs"/>
                        </a:rPr>
                        <a:t> (Optimize </a:t>
                      </a:r>
                      <a:r>
                        <a:rPr sz="1200" b="1" i="0" u="none" kern="1200" dirty="0" err="1">
                          <a:solidFill>
                            <a:srgbClr val="0B2C5C"/>
                          </a:solidFill>
                          <a:latin typeface="DM Sans"/>
                          <a:ea typeface="+mn-ea"/>
                          <a:cs typeface="+mn-cs"/>
                        </a:rPr>
                        <a:t>Edilmiş</a:t>
                      </a:r>
                      <a:r>
                        <a:rPr sz="1200" b="1" i="0" u="none" kern="1200" dirty="0">
                          <a:solidFill>
                            <a:srgbClr val="0B2C5C"/>
                          </a:solidFill>
                          <a:latin typeface="DM Sans"/>
                          <a:ea typeface="+mn-ea"/>
                          <a:cs typeface="+mn-cs"/>
                        </a:rPr>
                        <a:t> Lexical </a:t>
                      </a:r>
                      <a:r>
                        <a:rPr sz="1200" b="1" i="0" u="none" kern="1200" dirty="0" err="1">
                          <a:solidFill>
                            <a:srgbClr val="0B2C5C"/>
                          </a:solidFill>
                          <a:latin typeface="DM Sans"/>
                          <a:ea typeface="+mn-ea"/>
                          <a:cs typeface="+mn-cs"/>
                        </a:rPr>
                        <a:t>Özellik</a:t>
                      </a:r>
                      <a:r>
                        <a:rPr sz="1200" b="1" i="0" u="none" kern="1200" dirty="0">
                          <a:solidFill>
                            <a:srgbClr val="0B2C5C"/>
                          </a:solidFill>
                          <a:latin typeface="DM Sans"/>
                          <a:ea typeface="+mn-ea"/>
                          <a:cs typeface="+mn-cs"/>
                        </a:rPr>
                        <a:t> </a:t>
                      </a:r>
                      <a:r>
                        <a:rPr sz="1200" b="1" i="0" u="none" kern="1200" dirty="0" err="1">
                          <a:solidFill>
                            <a:srgbClr val="0B2C5C"/>
                          </a:solidFill>
                          <a:latin typeface="DM Sans"/>
                          <a:ea typeface="+mn-ea"/>
                          <a:cs typeface="+mn-cs"/>
                        </a:rPr>
                        <a:t>Kümesi</a:t>
                      </a:r>
                      <a:r>
                        <a:rPr sz="1200" b="1" i="0" u="none" kern="1200" dirty="0">
                          <a:solidFill>
                            <a:srgbClr val="0B2C5C"/>
                          </a:solidFill>
                          <a:latin typeface="DM Sans"/>
                          <a:ea typeface="+mn-ea"/>
                          <a:cs typeface="+mn-cs"/>
                        </a:rPr>
                        <a:t>)</a:t>
                      </a:r>
                    </a:p>
                  </a:txBody>
                  <a:tcPr marL="63500" marR="63500" marT="25400" marB="25400" anchor="ctr">
                    <a:lnL>
                      <a:noFill/>
                    </a:lnL>
                    <a:lnR>
                      <a:noFill/>
                    </a:lnR>
                    <a:lnT>
                      <a:noFill/>
                    </a:lnT>
                    <a:lnB>
                      <a:noFill/>
                    </a:lnB>
                    <a:noFill/>
                  </a:tcPr>
                </a:tc>
                <a:tc>
                  <a:txBody>
                    <a:bodyPr/>
                    <a:lstStyle/>
                    <a:p>
                      <a:pPr marL="0" algn="l" defTabSz="457200" rtl="0" eaLnBrk="1" latinLnBrk="0" hangingPunct="1"/>
                      <a:r>
                        <a:rPr sz="1200" b="1" i="0" u="none" kern="1200" dirty="0">
                          <a:solidFill>
                            <a:srgbClr val="0B2C5C"/>
                          </a:solidFill>
                          <a:latin typeface="DM Sans"/>
                          <a:ea typeface="+mn-ea"/>
                          <a:cs typeface="+mn-cs"/>
                        </a:rPr>
                        <a:t>%99,76 Lab (Saha </a:t>
                      </a:r>
                      <a:r>
                        <a:rPr sz="1200" b="1" i="0" u="none" kern="1200" dirty="0" err="1">
                          <a:solidFill>
                            <a:srgbClr val="0B2C5C"/>
                          </a:solidFill>
                          <a:latin typeface="DM Sans"/>
                          <a:ea typeface="+mn-ea"/>
                          <a:cs typeface="+mn-cs"/>
                        </a:rPr>
                        <a:t>Testi</a:t>
                      </a:r>
                      <a:r>
                        <a:rPr sz="1200" b="1" i="0" u="none" kern="1200" dirty="0">
                          <a:solidFill>
                            <a:srgbClr val="0B2C5C"/>
                          </a:solidFill>
                          <a:latin typeface="DM Sans"/>
                          <a:ea typeface="+mn-ea"/>
                          <a:cs typeface="+mn-cs"/>
                        </a:rPr>
                        <a:t>: %99,44)</a:t>
                      </a:r>
                    </a:p>
                  </a:txBody>
                  <a:tcPr marL="63500" marR="63500" marT="25400" marB="25400" anchor="ctr">
                    <a:lnL>
                      <a:noFill/>
                    </a:lnL>
                    <a:lnR>
                      <a:noFill/>
                    </a:lnR>
                    <a:lnT>
                      <a:noFill/>
                    </a:lnT>
                    <a:lnB>
                      <a:noFill/>
                    </a:lnB>
                    <a:noFill/>
                  </a:tcPr>
                </a:tc>
                <a:extLst>
                  <a:ext uri="{0D108BD9-81ED-4DB2-BD59-A6C34878D82A}">
                    <a16:rowId xmlns:a16="http://schemas.microsoft.com/office/drawing/2014/main" val="2514575940"/>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717577"/>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dirty="0">
                <a:solidFill>
                  <a:srgbClr val="FFFFFF"/>
                </a:solidFill>
                <a:latin typeface="DM Sans"/>
              </a:rPr>
              <a:t>SAKARYA ÜNİVERSİTESİ</a:t>
            </a:r>
          </a:p>
        </p:txBody>
      </p:sp>
      <p:sp>
        <p:nvSpPr>
          <p:cNvPr id="5" name="TextBox 4"/>
          <p:cNvSpPr txBox="1"/>
          <p:nvPr/>
        </p:nvSpPr>
        <p:spPr>
          <a:xfrm>
            <a:off x="2095500" y="257279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03</a:t>
            </a:r>
          </a:p>
        </p:txBody>
      </p:sp>
      <p:sp>
        <p:nvSpPr>
          <p:cNvPr id="6" name="TextBox 5"/>
          <p:cNvSpPr txBox="1"/>
          <p:nvPr/>
        </p:nvSpPr>
        <p:spPr>
          <a:xfrm>
            <a:off x="2095500" y="2963679"/>
            <a:ext cx="8001000" cy="525660"/>
          </a:xfrm>
          <a:prstGeom prst="rect">
            <a:avLst/>
          </a:prstGeom>
          <a:noFill/>
        </p:spPr>
        <p:txBody>
          <a:bodyPr wrap="square" lIns="0" tIns="0" rIns="0" bIns="0" anchor="t">
            <a:spAutoFit/>
          </a:bodyPr>
          <a:lstStyle/>
          <a:p>
            <a:pPr algn="ctr">
              <a:lnSpc>
                <a:spcPts val="4140"/>
              </a:lnSpc>
            </a:pPr>
            <a:r>
              <a:rPr lang="tr-TR" sz="3450" b="1" i="0" u="none" dirty="0">
                <a:solidFill>
                  <a:srgbClr val="FFFFFF"/>
                </a:solidFill>
                <a:latin typeface="Merriweather"/>
              </a:rPr>
              <a:t>VERİ SETİ ve </a:t>
            </a:r>
            <a:r>
              <a:rPr sz="3450" b="1" i="0" u="none" dirty="0">
                <a:solidFill>
                  <a:srgbClr val="FFFFFF"/>
                </a:solidFill>
                <a:latin typeface="Merriweather"/>
              </a:rPr>
              <a:t>METODOLOJİ</a:t>
            </a:r>
          </a:p>
        </p:txBody>
      </p:sp>
      <p:sp>
        <p:nvSpPr>
          <p:cNvPr id="8" name="TextBox 7"/>
          <p:cNvSpPr txBox="1"/>
          <p:nvPr/>
        </p:nvSpPr>
        <p:spPr>
          <a:xfrm>
            <a:off x="666750" y="6534150"/>
            <a:ext cx="2442210"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477982" cy="126958"/>
          </a:xfrm>
          <a:prstGeom prst="rect">
            <a:avLst/>
          </a:prstGeom>
          <a:noFill/>
        </p:spPr>
        <p:txBody>
          <a:bodyPr wrap="square" lIns="0" tIns="0" rIns="0" bIns="0" anchor="t">
            <a:spAutoFit/>
          </a:bodyPr>
          <a:lstStyle/>
          <a:p>
            <a:pPr algn="l"/>
            <a:r>
              <a:rPr sz="825" b="0" i="0" u="none">
                <a:solidFill>
                  <a:srgbClr val="94A3B8"/>
                </a:solidFill>
                <a:latin typeface="DM Sans"/>
              </a:rPr>
              <a:t>Slayt </a:t>
            </a:r>
            <a:r>
              <a:rPr lang="tr-TR" sz="825" b="0" i="0" u="none">
                <a:solidFill>
                  <a:srgbClr val="94A3B8"/>
                </a:solidFill>
                <a:latin typeface="DM Sans"/>
              </a:rPr>
              <a:t>10</a:t>
            </a:r>
            <a:endParaRPr sz="825" b="0" i="0" u="none">
              <a:solidFill>
                <a:srgbClr val="94A3B8"/>
              </a:solidFill>
              <a:latin typeface="DM Sans"/>
            </a:endParaRPr>
          </a:p>
        </p:txBody>
      </p:sp>
      <p:pic>
        <p:nvPicPr>
          <p:cNvPr id="10" name="İçerik Yer Tutucusu 10">
            <a:extLst>
              <a:ext uri="{FF2B5EF4-FFF2-40B4-BE49-F238E27FC236}">
                <a16:creationId xmlns:a16="http://schemas.microsoft.com/office/drawing/2014/main" id="{79EB660B-0578-8D6A-8A66-03DBCA85940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580231" y="300012"/>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 name="TextBox 4">
            <a:extLst>
              <a:ext uri="{FF2B5EF4-FFF2-40B4-BE49-F238E27FC236}">
                <a16:creationId xmlns:a16="http://schemas.microsoft.com/office/drawing/2014/main" id="{F9E7E4B1-E8DA-FF7A-1318-6D7C5E1E67D4}"/>
              </a:ext>
            </a:extLst>
          </p:cNvPr>
          <p:cNvSpPr txBox="1"/>
          <p:nvPr/>
        </p:nvSpPr>
        <p:spPr>
          <a:xfrm>
            <a:off x="2286000" y="3889027"/>
            <a:ext cx="7620000" cy="571500"/>
          </a:xfrm>
          <a:prstGeom prst="rect">
            <a:avLst/>
          </a:prstGeom>
          <a:noFill/>
        </p:spPr>
        <p:txBody>
          <a:bodyPr wrap="square" lIns="0" tIns="0" rIns="0" bIns="0" anchor="t">
            <a:spAutoFit/>
          </a:bodyPr>
          <a:lstStyle/>
          <a:p>
            <a:pPr algn="ctr">
              <a:lnSpc>
                <a:spcPts val="2250"/>
              </a:lnSpc>
            </a:pPr>
            <a:r>
              <a:rPr sz="1500" b="0" i="0" u="none" dirty="0">
                <a:solidFill>
                  <a:srgbClr val="CBD5E1"/>
                </a:solidFill>
                <a:latin typeface="DM Sans"/>
              </a:rPr>
              <a:t>Veri </a:t>
            </a:r>
            <a:r>
              <a:rPr sz="1500" b="0" i="0" u="none" dirty="0" err="1">
                <a:solidFill>
                  <a:srgbClr val="CBD5E1"/>
                </a:solidFill>
                <a:latin typeface="DM Sans"/>
              </a:rPr>
              <a:t>Toplama</a:t>
            </a:r>
            <a:r>
              <a:rPr sz="1500" b="0" i="0" u="none" dirty="0">
                <a:solidFill>
                  <a:srgbClr val="CBD5E1"/>
                </a:solidFill>
                <a:latin typeface="DM Sans"/>
              </a:rPr>
              <a:t>, </a:t>
            </a:r>
            <a:r>
              <a:rPr sz="1500" b="0" i="0" u="none" dirty="0" err="1">
                <a:solidFill>
                  <a:srgbClr val="CBD5E1"/>
                </a:solidFill>
                <a:latin typeface="DM Sans"/>
              </a:rPr>
              <a:t>Ön</a:t>
            </a:r>
            <a:r>
              <a:rPr sz="1500" b="0" i="0" u="none" dirty="0">
                <a:solidFill>
                  <a:srgbClr val="CBD5E1"/>
                </a:solidFill>
                <a:latin typeface="DM Sans"/>
              </a:rPr>
              <a:t> </a:t>
            </a:r>
            <a:r>
              <a:rPr sz="1500" b="0" i="0" u="none" dirty="0" err="1">
                <a:solidFill>
                  <a:srgbClr val="CBD5E1"/>
                </a:solidFill>
                <a:latin typeface="DM Sans"/>
              </a:rPr>
              <a:t>İşleme</a:t>
            </a:r>
            <a:r>
              <a:rPr sz="1500" b="0" i="0" u="none" dirty="0">
                <a:solidFill>
                  <a:srgbClr val="CBD5E1"/>
                </a:solidFill>
                <a:latin typeface="DM Sans"/>
              </a:rPr>
              <a:t> </a:t>
            </a:r>
            <a:r>
              <a:rPr sz="1500" b="0" i="0" u="none" dirty="0" err="1">
                <a:solidFill>
                  <a:srgbClr val="CBD5E1"/>
                </a:solidFill>
                <a:latin typeface="DM Sans"/>
              </a:rPr>
              <a:t>Adımları</a:t>
            </a:r>
            <a:r>
              <a:rPr sz="1500" b="0" i="0" u="none" dirty="0">
                <a:solidFill>
                  <a:srgbClr val="CBD5E1"/>
                </a:solidFill>
                <a:latin typeface="DM Sans"/>
              </a:rPr>
              <a:t>, Lexical </a:t>
            </a:r>
            <a:r>
              <a:rPr sz="1500" b="0" i="0" u="none" dirty="0" err="1">
                <a:solidFill>
                  <a:srgbClr val="CBD5E1"/>
                </a:solidFill>
                <a:latin typeface="DM Sans"/>
              </a:rPr>
              <a:t>Öznitelik</a:t>
            </a:r>
            <a:r>
              <a:rPr sz="1500" b="0" i="0" u="none" dirty="0">
                <a:solidFill>
                  <a:srgbClr val="CBD5E1"/>
                </a:solidFill>
                <a:latin typeface="DM Sans"/>
              </a:rPr>
              <a:t> </a:t>
            </a:r>
            <a:r>
              <a:rPr sz="1500" b="0" i="0" u="none" dirty="0" err="1">
                <a:solidFill>
                  <a:srgbClr val="CBD5E1"/>
                </a:solidFill>
                <a:latin typeface="DM Sans"/>
              </a:rPr>
              <a:t>Mühendisliği</a:t>
            </a:r>
            <a:r>
              <a:rPr sz="1500" b="0" i="0" u="none" dirty="0">
                <a:solidFill>
                  <a:srgbClr val="CBD5E1"/>
                </a:solidFill>
                <a:latin typeface="DM Sans"/>
              </a:rPr>
              <a:t> </a:t>
            </a:r>
            <a:r>
              <a:rPr sz="1500" b="0" i="0" u="none" dirty="0" err="1">
                <a:solidFill>
                  <a:srgbClr val="CBD5E1"/>
                </a:solidFill>
                <a:latin typeface="DM Sans"/>
              </a:rPr>
              <a:t>ve</a:t>
            </a:r>
            <a:r>
              <a:rPr sz="1500" b="0" i="0" u="none" dirty="0">
                <a:solidFill>
                  <a:srgbClr val="CBD5E1"/>
                </a:solidFill>
                <a:latin typeface="DM Sans"/>
              </a:rPr>
              <a:t> </a:t>
            </a:r>
            <a:r>
              <a:rPr sz="1500" b="0" i="0" u="none" dirty="0" err="1">
                <a:solidFill>
                  <a:srgbClr val="CBD5E1"/>
                </a:solidFill>
                <a:latin typeface="DM Sans"/>
              </a:rPr>
              <a:t>Matematiksel</a:t>
            </a:r>
            <a:r>
              <a:rPr sz="1500" b="0" i="0" u="none" dirty="0">
                <a:solidFill>
                  <a:srgbClr val="CBD5E1"/>
                </a:solidFill>
                <a:latin typeface="DM Sans"/>
              </a:rPr>
              <a:t> </a:t>
            </a:r>
            <a:r>
              <a:rPr sz="1500" b="0" i="0" u="none" dirty="0" err="1">
                <a:solidFill>
                  <a:srgbClr val="CBD5E1"/>
                </a:solidFill>
                <a:latin typeface="DM Sans"/>
              </a:rPr>
              <a:t>Seçim</a:t>
            </a:r>
            <a:r>
              <a:rPr sz="1500" b="0" i="0" u="none" dirty="0">
                <a:solidFill>
                  <a:srgbClr val="CBD5E1"/>
                </a:solidFill>
                <a:latin typeface="DM Sans"/>
              </a:rPr>
              <a:t> </a:t>
            </a:r>
            <a:r>
              <a:rPr sz="1500" b="0" i="0" u="none" dirty="0" err="1">
                <a:solidFill>
                  <a:srgbClr val="CBD5E1"/>
                </a:solidFill>
                <a:latin typeface="DM Sans"/>
              </a:rPr>
              <a:t>Algoritmaları</a:t>
            </a:r>
            <a:endParaRPr sz="1500" b="0" i="0" u="none" dirty="0">
              <a:solidFill>
                <a:srgbClr val="CBD5E1"/>
              </a:solidFill>
              <a:latin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633537"/>
            <a:ext cx="5334000" cy="1314450"/>
          </a:xfrm>
          <a:prstGeom prst="rect">
            <a:avLst/>
          </a:prstGeom>
        </p:spPr>
      </p:pic>
      <p:sp>
        <p:nvSpPr>
          <p:cNvPr id="6" name="TextBox 5"/>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Veri Seti Hazırlığı ve Ön İşleme (Data Preprocessing)</a:t>
            </a: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239500" y="6496050"/>
            <a:ext cx="3810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11</a:t>
            </a:r>
          </a:p>
        </p:txBody>
      </p:sp>
      <p:sp>
        <p:nvSpPr>
          <p:cNvPr id="10" name="TextBox 9"/>
          <p:cNvSpPr txBox="1"/>
          <p:nvPr/>
        </p:nvSpPr>
        <p:spPr>
          <a:xfrm>
            <a:off x="571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Veri Kaynakları ve Dağılımı</a:t>
            </a:r>
          </a:p>
        </p:txBody>
      </p:sp>
      <p:sp>
        <p:nvSpPr>
          <p:cNvPr id="11" name="TextBox 10"/>
          <p:cNvSpPr txBox="1"/>
          <p:nvPr/>
        </p:nvSpPr>
        <p:spPr>
          <a:xfrm>
            <a:off x="6286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Ön İşleme ve Temizleme Adımları</a:t>
            </a:r>
          </a:p>
        </p:txBody>
      </p:sp>
      <p:sp>
        <p:nvSpPr>
          <p:cNvPr id="12" name="TextBox 11"/>
          <p:cNvSpPr txBox="1"/>
          <p:nvPr/>
        </p:nvSpPr>
        <p:spPr>
          <a:xfrm>
            <a:off x="809625" y="1824037"/>
            <a:ext cx="4905375" cy="422744"/>
          </a:xfrm>
          <a:prstGeom prst="rect">
            <a:avLst/>
          </a:prstGeom>
          <a:noFill/>
        </p:spPr>
        <p:txBody>
          <a:bodyPr wrap="square" lIns="0" tIns="0" rIns="0" bIns="0" anchor="t">
            <a:spAutoFit/>
          </a:bodyPr>
          <a:lstStyle/>
          <a:p>
            <a:pPr algn="l">
              <a:lnSpc>
                <a:spcPts val="1687"/>
              </a:lnSpc>
            </a:pPr>
            <a:r>
              <a:rPr lang="tr-TR" sz="1125" b="0" i="0" u="none" dirty="0">
                <a:solidFill>
                  <a:srgbClr val="475569"/>
                </a:solidFill>
                <a:latin typeface="DM Sans"/>
              </a:rPr>
              <a:t>Bu çalışma kapsamında </a:t>
            </a:r>
            <a:r>
              <a:rPr lang="tr-TR" sz="1125" b="0" i="0" u="none" dirty="0" err="1">
                <a:solidFill>
                  <a:srgbClr val="475569"/>
                </a:solidFill>
                <a:latin typeface="DM Sans"/>
              </a:rPr>
              <a:t>Mendeley</a:t>
            </a:r>
            <a:r>
              <a:rPr lang="tr-TR" sz="1125" b="0" i="0" u="none" dirty="0">
                <a:solidFill>
                  <a:srgbClr val="475569"/>
                </a:solidFill>
                <a:latin typeface="DM Sans"/>
              </a:rPr>
              <a:t> </a:t>
            </a:r>
            <a:r>
              <a:rPr lang="tr-TR" sz="1125" b="0" i="0" u="none" dirty="0" err="1">
                <a:solidFill>
                  <a:srgbClr val="475569"/>
                </a:solidFill>
                <a:latin typeface="DM Sans"/>
              </a:rPr>
              <a:t>Data’da</a:t>
            </a:r>
            <a:r>
              <a:rPr lang="tr-TR" sz="1125" b="0" i="0" u="none" dirty="0">
                <a:solidFill>
                  <a:srgbClr val="475569"/>
                </a:solidFill>
                <a:latin typeface="DM Sans"/>
              </a:rPr>
              <a:t> paylaşılmış güncel bir veri seti kullanılmıştır.</a:t>
            </a:r>
            <a:endParaRPr sz="1125" b="0" i="0" u="none" dirty="0">
              <a:solidFill>
                <a:srgbClr val="475569"/>
              </a:solidFill>
              <a:latin typeface="DM Sans"/>
            </a:endParaRPr>
          </a:p>
        </p:txBody>
      </p:sp>
      <p:sp>
        <p:nvSpPr>
          <p:cNvPr id="13" name="TextBox 12"/>
          <p:cNvSpPr txBox="1"/>
          <p:nvPr/>
        </p:nvSpPr>
        <p:spPr>
          <a:xfrm>
            <a:off x="809625" y="2328862"/>
            <a:ext cx="4905375" cy="422744"/>
          </a:xfrm>
          <a:prstGeom prst="rect">
            <a:avLst/>
          </a:prstGeom>
          <a:noFill/>
        </p:spPr>
        <p:txBody>
          <a:bodyPr wrap="square" lIns="0" tIns="0" rIns="0" bIns="0" anchor="t">
            <a:spAutoFit/>
          </a:bodyPr>
          <a:lstStyle/>
          <a:p>
            <a:pPr algn="l">
              <a:lnSpc>
                <a:spcPts val="1687"/>
              </a:lnSpc>
            </a:pPr>
            <a:r>
              <a:rPr lang="tr-TR" sz="1125" b="0" i="0" u="none" dirty="0">
                <a:solidFill>
                  <a:srgbClr val="475569"/>
                </a:solidFill>
                <a:latin typeface="DM Sans"/>
              </a:rPr>
              <a:t>Bu veri setinde meşru ve zararlı URL’ler dengeli dağılmıştır. </a:t>
            </a:r>
            <a:r>
              <a:rPr lang="tr-TR" sz="1125" dirty="0">
                <a:solidFill>
                  <a:srgbClr val="475569"/>
                </a:solidFill>
                <a:latin typeface="DM Sans"/>
              </a:rPr>
              <a:t>336</a:t>
            </a:r>
            <a:r>
              <a:rPr lang="tr-TR" sz="1125" b="0" i="0" u="none" dirty="0">
                <a:solidFill>
                  <a:srgbClr val="475569"/>
                </a:solidFill>
                <a:latin typeface="DM Sans"/>
              </a:rPr>
              <a:t> bin 750 URL bilgisi bulunmaktadır.</a:t>
            </a:r>
            <a:endParaRPr sz="1125" b="0" i="0" u="none" dirty="0">
              <a:solidFill>
                <a:srgbClr val="475569"/>
              </a:solidFill>
              <a:latin typeface="DM Sans"/>
            </a:endParaRPr>
          </a:p>
        </p:txBody>
      </p:sp>
      <p:sp>
        <p:nvSpPr>
          <p:cNvPr id="14" name="TextBox 13"/>
          <p:cNvSpPr txBox="1"/>
          <p:nvPr/>
        </p:nvSpPr>
        <p:spPr>
          <a:xfrm>
            <a:off x="6572250" y="1633537"/>
            <a:ext cx="504825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Yineleyen</a:t>
            </a:r>
            <a:r>
              <a:rPr sz="1200" b="1" i="0" u="none" dirty="0">
                <a:solidFill>
                  <a:srgbClr val="334155"/>
                </a:solidFill>
                <a:latin typeface="DM Sans"/>
              </a:rPr>
              <a:t> </a:t>
            </a:r>
            <a:r>
              <a:rPr sz="1200" b="1" i="0" u="none" dirty="0" err="1">
                <a:solidFill>
                  <a:srgbClr val="334155"/>
                </a:solidFill>
                <a:latin typeface="DM Sans"/>
              </a:rPr>
              <a:t>Kayıtların</a:t>
            </a:r>
            <a:r>
              <a:rPr sz="1200" b="1" i="0" u="none" dirty="0">
                <a:solidFill>
                  <a:srgbClr val="334155"/>
                </a:solidFill>
                <a:latin typeface="DM Sans"/>
              </a:rPr>
              <a:t> </a:t>
            </a:r>
            <a:r>
              <a:rPr sz="1200" b="1" i="0" u="none" dirty="0" err="1">
                <a:solidFill>
                  <a:srgbClr val="334155"/>
                </a:solidFill>
                <a:latin typeface="DM Sans"/>
              </a:rPr>
              <a:t>Temizlenmesi</a:t>
            </a:r>
            <a:r>
              <a:rPr sz="1200" b="1" i="0" u="none" dirty="0">
                <a:solidFill>
                  <a:srgbClr val="334155"/>
                </a:solidFill>
                <a:latin typeface="DM Sans"/>
              </a:rPr>
              <a:t>:</a:t>
            </a:r>
            <a:r>
              <a:rPr sz="1200" b="0" i="0" u="none" dirty="0">
                <a:solidFill>
                  <a:srgbClr val="334155"/>
                </a:solidFill>
                <a:latin typeface="DM Sans"/>
              </a:rPr>
              <a:t> Veri </a:t>
            </a:r>
            <a:r>
              <a:rPr sz="1200" b="0" i="0" u="none" dirty="0" err="1">
                <a:solidFill>
                  <a:srgbClr val="334155"/>
                </a:solidFill>
                <a:latin typeface="DM Sans"/>
              </a:rPr>
              <a:t>kümesinde</a:t>
            </a:r>
            <a:r>
              <a:rPr sz="1200" b="0" i="0" u="none" dirty="0">
                <a:solidFill>
                  <a:srgbClr val="334155"/>
                </a:solidFill>
                <a:latin typeface="DM Sans"/>
              </a:rPr>
              <a:t> </a:t>
            </a:r>
            <a:r>
              <a:rPr sz="1200" b="0" i="0" u="none" dirty="0" err="1">
                <a:solidFill>
                  <a:srgbClr val="334155"/>
                </a:solidFill>
                <a:latin typeface="DM Sans"/>
              </a:rPr>
              <a:t>yer</a:t>
            </a:r>
            <a:r>
              <a:rPr sz="1200" b="0" i="0" u="none" dirty="0">
                <a:solidFill>
                  <a:srgbClr val="334155"/>
                </a:solidFill>
                <a:latin typeface="DM Sans"/>
              </a:rPr>
              <a:t> </a:t>
            </a:r>
            <a:r>
              <a:rPr sz="1200" b="0" i="0" u="none" dirty="0" err="1">
                <a:solidFill>
                  <a:srgbClr val="334155"/>
                </a:solidFill>
                <a:latin typeface="DM Sans"/>
              </a:rPr>
              <a:t>alan</a:t>
            </a:r>
            <a:r>
              <a:rPr sz="1200" b="0" i="0" u="none" dirty="0">
                <a:solidFill>
                  <a:srgbClr val="334155"/>
                </a:solidFill>
                <a:latin typeface="DM Sans"/>
              </a:rPr>
              <a:t> </a:t>
            </a:r>
            <a:r>
              <a:rPr sz="1200" b="0" i="0" u="none" dirty="0" err="1">
                <a:solidFill>
                  <a:srgbClr val="334155"/>
                </a:solidFill>
                <a:latin typeface="DM Sans"/>
              </a:rPr>
              <a:t>mükerrer</a:t>
            </a:r>
            <a:r>
              <a:rPr sz="1200" b="0" i="0" u="none" dirty="0">
                <a:solidFill>
                  <a:srgbClr val="334155"/>
                </a:solidFill>
                <a:latin typeface="DM Sans"/>
              </a:rPr>
              <a:t> </a:t>
            </a:r>
            <a:r>
              <a:rPr sz="1200" b="0" i="0" u="none" dirty="0" err="1">
                <a:solidFill>
                  <a:srgbClr val="334155"/>
                </a:solidFill>
                <a:latin typeface="DM Sans"/>
              </a:rPr>
              <a:t>URL'lerin</a:t>
            </a:r>
            <a:r>
              <a:rPr lang="tr-TR" sz="1200" b="0" i="0" u="none" dirty="0">
                <a:solidFill>
                  <a:srgbClr val="334155"/>
                </a:solidFill>
                <a:latin typeface="DM Sans"/>
              </a:rPr>
              <a:t> kontrol edilmesi</a:t>
            </a:r>
            <a:r>
              <a:rPr sz="1200" b="0" i="0" u="none" dirty="0">
                <a:solidFill>
                  <a:srgbClr val="334155"/>
                </a:solidFill>
                <a:latin typeface="DM Sans"/>
              </a:rPr>
              <a:t>.</a:t>
            </a:r>
          </a:p>
        </p:txBody>
      </p:sp>
      <p:sp>
        <p:nvSpPr>
          <p:cNvPr id="16" name="TextBox 15"/>
          <p:cNvSpPr txBox="1"/>
          <p:nvPr/>
        </p:nvSpPr>
        <p:spPr>
          <a:xfrm>
            <a:off x="6553547" y="2195512"/>
            <a:ext cx="5048250" cy="457200"/>
          </a:xfrm>
          <a:prstGeom prst="rect">
            <a:avLst/>
          </a:prstGeom>
          <a:noFill/>
        </p:spPr>
        <p:txBody>
          <a:bodyPr wrap="square" lIns="0" tIns="0" rIns="0" bIns="0" anchor="t">
            <a:spAutoFit/>
          </a:bodyPr>
          <a:lstStyle/>
          <a:p>
            <a:pPr algn="l">
              <a:lnSpc>
                <a:spcPts val="1800"/>
              </a:lnSpc>
            </a:pPr>
            <a:r>
              <a:rPr sz="1200" b="1" i="0" u="none" dirty="0" err="1">
                <a:solidFill>
                  <a:srgbClr val="334155"/>
                </a:solidFill>
                <a:latin typeface="DM Sans"/>
              </a:rPr>
              <a:t>Ayrıştırma</a:t>
            </a:r>
            <a:r>
              <a:rPr sz="1200" b="1" i="0" u="none" dirty="0">
                <a:solidFill>
                  <a:srgbClr val="334155"/>
                </a:solidFill>
                <a:latin typeface="DM Sans"/>
              </a:rPr>
              <a:t> (Parsing):</a:t>
            </a:r>
            <a:r>
              <a:rPr sz="1200" b="0" i="0" u="none" dirty="0">
                <a:solidFill>
                  <a:srgbClr val="334155"/>
                </a:solidFill>
                <a:latin typeface="DM Sans"/>
              </a:rPr>
              <a:t> URL </a:t>
            </a:r>
            <a:r>
              <a:rPr sz="1200" b="0" i="0" u="none" dirty="0" err="1">
                <a:solidFill>
                  <a:srgbClr val="334155"/>
                </a:solidFill>
                <a:latin typeface="DM Sans"/>
              </a:rPr>
              <a:t>dizesinin</a:t>
            </a:r>
            <a:r>
              <a:rPr sz="1200" b="0" i="0" u="none" dirty="0">
                <a:solidFill>
                  <a:srgbClr val="334155"/>
                </a:solidFill>
                <a:latin typeface="DM Sans"/>
              </a:rPr>
              <a:t> Scheme, Domain, Subdomain, Path </a:t>
            </a:r>
            <a:r>
              <a:rPr sz="1200" b="0" i="0" u="none" dirty="0" err="1">
                <a:solidFill>
                  <a:srgbClr val="334155"/>
                </a:solidFill>
                <a:latin typeface="DM Sans"/>
              </a:rPr>
              <a:t>ve</a:t>
            </a:r>
            <a:r>
              <a:rPr sz="1200" b="0" i="0" u="none" dirty="0">
                <a:solidFill>
                  <a:srgbClr val="334155"/>
                </a:solidFill>
                <a:latin typeface="DM Sans"/>
              </a:rPr>
              <a:t> Query </a:t>
            </a:r>
            <a:r>
              <a:rPr sz="1200" b="0" i="0" u="none" dirty="0" err="1">
                <a:solidFill>
                  <a:srgbClr val="334155"/>
                </a:solidFill>
                <a:latin typeface="DM Sans"/>
              </a:rPr>
              <a:t>bileşenlerine</a:t>
            </a:r>
            <a:r>
              <a:rPr sz="1200" b="0" i="0" u="none" dirty="0">
                <a:solidFill>
                  <a:srgbClr val="334155"/>
                </a:solidFill>
                <a:latin typeface="DM Sans"/>
              </a:rPr>
              <a:t> </a:t>
            </a:r>
            <a:r>
              <a:rPr sz="1200" b="0" i="0" u="none" dirty="0" err="1">
                <a:solidFill>
                  <a:srgbClr val="334155"/>
                </a:solidFill>
                <a:latin typeface="DM Sans"/>
              </a:rPr>
              <a:t>bölünmesi</a:t>
            </a:r>
            <a:r>
              <a:rPr sz="1200" b="0" i="0" u="none" dirty="0">
                <a:solidFill>
                  <a:srgbClr val="334155"/>
                </a:solidFill>
                <a:latin typeface="DM Sans"/>
              </a:rPr>
              <a:t>.</a:t>
            </a:r>
          </a:p>
        </p:txBody>
      </p:sp>
      <p:pic>
        <p:nvPicPr>
          <p:cNvPr id="17" name="Picture 16" descr="image.png"/>
          <p:cNvPicPr>
            <a:picLocks noChangeAspect="1"/>
          </p:cNvPicPr>
          <p:nvPr/>
        </p:nvPicPr>
        <p:blipFill>
          <a:blip r:embed="rId4"/>
          <a:stretch>
            <a:fillRect/>
          </a:stretch>
        </p:blipFill>
        <p:spPr>
          <a:xfrm>
            <a:off x="6286500" y="1657350"/>
            <a:ext cx="190500" cy="180975"/>
          </a:xfrm>
          <a:prstGeom prst="rect">
            <a:avLst/>
          </a:prstGeom>
        </p:spPr>
      </p:pic>
      <p:pic>
        <p:nvPicPr>
          <p:cNvPr id="19" name="Picture 18" descr="image.png"/>
          <p:cNvPicPr>
            <a:picLocks noChangeAspect="1"/>
          </p:cNvPicPr>
          <p:nvPr/>
        </p:nvPicPr>
        <p:blipFill>
          <a:blip r:embed="rId5"/>
          <a:stretch>
            <a:fillRect/>
          </a:stretch>
        </p:blipFill>
        <p:spPr>
          <a:xfrm>
            <a:off x="6272212" y="2238374"/>
            <a:ext cx="219075" cy="180975"/>
          </a:xfrm>
          <a:prstGeom prst="rect">
            <a:avLst/>
          </a:prstGeom>
        </p:spPr>
      </p:pic>
      <p:pic>
        <p:nvPicPr>
          <p:cNvPr id="20" name="Picture 1" descr="image.png">
            <a:extLst>
              <a:ext uri="{FF2B5EF4-FFF2-40B4-BE49-F238E27FC236}">
                <a16:creationId xmlns:a16="http://schemas.microsoft.com/office/drawing/2014/main" id="{77E05A13-86FF-2DB2-3247-F7BA52D4FC23}"/>
              </a:ext>
            </a:extLst>
          </p:cNvPr>
          <p:cNvPicPr>
            <a:picLocks noChangeAspect="1"/>
          </p:cNvPicPr>
          <p:nvPr/>
        </p:nvPicPr>
        <p:blipFill>
          <a:blip r:embed="rId6"/>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DE78E194-1D10-EB13-6AE9-20EBD16C40BE}"/>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24250" cy="2886075"/>
          </a:xfrm>
          <a:prstGeom prst="rect">
            <a:avLst/>
          </a:prstGeom>
        </p:spPr>
      </p:pic>
      <p:pic>
        <p:nvPicPr>
          <p:cNvPr id="5" name="Picture 4" descr="image.png"/>
          <p:cNvPicPr>
            <a:picLocks noChangeAspect="1"/>
          </p:cNvPicPr>
          <p:nvPr/>
        </p:nvPicPr>
        <p:blipFill>
          <a:blip r:embed="rId4"/>
          <a:stretch>
            <a:fillRect/>
          </a:stretch>
        </p:blipFill>
        <p:spPr>
          <a:xfrm>
            <a:off x="4333875" y="1252537"/>
            <a:ext cx="3524250" cy="2886075"/>
          </a:xfrm>
          <a:prstGeom prst="rect">
            <a:avLst/>
          </a:prstGeom>
        </p:spPr>
      </p:pic>
      <p:pic>
        <p:nvPicPr>
          <p:cNvPr id="6" name="Picture 5" descr="image.png"/>
          <p:cNvPicPr>
            <a:picLocks noChangeAspect="1"/>
          </p:cNvPicPr>
          <p:nvPr/>
        </p:nvPicPr>
        <p:blipFill>
          <a:blip r:embed="rId4"/>
          <a:stretch>
            <a:fillRect/>
          </a:stretch>
        </p:blipFill>
        <p:spPr>
          <a:xfrm>
            <a:off x="8096250" y="1252537"/>
            <a:ext cx="3524250" cy="2886075"/>
          </a:xfrm>
          <a:prstGeom prst="rect">
            <a:avLst/>
          </a:prstGeom>
        </p:spPr>
      </p:pic>
      <p:sp>
        <p:nvSpPr>
          <p:cNvPr id="7" name="TextBox 6"/>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dirty="0">
                <a:solidFill>
                  <a:srgbClr val="005088"/>
                </a:solidFill>
                <a:latin typeface="Merriweather"/>
              </a:rPr>
              <a:t>Lexical </a:t>
            </a:r>
            <a:r>
              <a:rPr sz="2550" b="1" i="0" u="none" dirty="0" err="1">
                <a:solidFill>
                  <a:srgbClr val="005088"/>
                </a:solidFill>
                <a:latin typeface="Merriweather"/>
              </a:rPr>
              <a:t>Öznitelik</a:t>
            </a:r>
            <a:r>
              <a:rPr sz="2550" b="1" i="0" u="none" dirty="0">
                <a:solidFill>
                  <a:srgbClr val="005088"/>
                </a:solidFill>
                <a:latin typeface="Merriweather"/>
              </a:rPr>
              <a:t> </a:t>
            </a:r>
            <a:r>
              <a:rPr sz="2550" b="1" i="0" u="none" dirty="0" err="1">
                <a:solidFill>
                  <a:srgbClr val="005088"/>
                </a:solidFill>
                <a:latin typeface="Merriweather"/>
              </a:rPr>
              <a:t>Çıkarımı</a:t>
            </a:r>
            <a:r>
              <a:rPr sz="2550" b="1" i="0" u="none" dirty="0">
                <a:solidFill>
                  <a:srgbClr val="005088"/>
                </a:solidFill>
                <a:latin typeface="Merriweather"/>
              </a:rPr>
              <a:t>: </a:t>
            </a:r>
            <a:r>
              <a:rPr sz="2550" b="1" i="0" u="none" dirty="0" err="1">
                <a:solidFill>
                  <a:srgbClr val="005088"/>
                </a:solidFill>
                <a:latin typeface="Merriweather"/>
              </a:rPr>
              <a:t>Uzunluk</a:t>
            </a:r>
            <a:r>
              <a:rPr sz="2550" b="1" i="0" u="none" dirty="0">
                <a:solidFill>
                  <a:srgbClr val="005088"/>
                </a:solidFill>
                <a:latin typeface="Merriweather"/>
              </a:rPr>
              <a:t> </a:t>
            </a:r>
            <a:r>
              <a:rPr sz="2550" b="1" i="0" u="none" dirty="0" err="1">
                <a:solidFill>
                  <a:srgbClr val="005088"/>
                </a:solidFill>
                <a:latin typeface="Merriweather"/>
              </a:rPr>
              <a:t>ve</a:t>
            </a:r>
            <a:r>
              <a:rPr sz="2550" b="1" i="0" u="none" dirty="0">
                <a:solidFill>
                  <a:srgbClr val="005088"/>
                </a:solidFill>
                <a:latin typeface="Merriweather"/>
              </a:rPr>
              <a:t> </a:t>
            </a:r>
            <a:r>
              <a:rPr sz="2550" b="1" i="0" u="none" dirty="0" err="1">
                <a:solidFill>
                  <a:srgbClr val="005088"/>
                </a:solidFill>
                <a:latin typeface="Merriweather"/>
              </a:rPr>
              <a:t>Sayı</a:t>
            </a:r>
            <a:r>
              <a:rPr sz="2550" b="1" i="0" u="none" dirty="0">
                <a:solidFill>
                  <a:srgbClr val="005088"/>
                </a:solidFill>
                <a:latin typeface="Merriweather"/>
              </a:rPr>
              <a:t> </a:t>
            </a:r>
            <a:r>
              <a:rPr sz="2550" b="1" i="0" u="none" dirty="0" err="1">
                <a:solidFill>
                  <a:srgbClr val="005088"/>
                </a:solidFill>
                <a:latin typeface="Merriweather"/>
              </a:rPr>
              <a:t>Bazlı</a:t>
            </a:r>
            <a:endParaRPr sz="2550" b="1" i="0" u="none" dirty="0">
              <a:solidFill>
                <a:srgbClr val="005088"/>
              </a:solidFill>
              <a:latin typeface="Merriweather"/>
            </a:endParaRPr>
          </a:p>
        </p:txBody>
      </p:sp>
      <p:sp>
        <p:nvSpPr>
          <p:cNvPr id="8" name="Rectangle 7"/>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0" name="TextBox 9"/>
          <p:cNvSpPr txBox="1"/>
          <p:nvPr/>
        </p:nvSpPr>
        <p:spPr>
          <a:xfrm>
            <a:off x="11210925" y="6496050"/>
            <a:ext cx="4095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12</a:t>
            </a:r>
          </a:p>
        </p:txBody>
      </p:sp>
      <p:sp>
        <p:nvSpPr>
          <p:cNvPr id="11" name="TextBox 10"/>
          <p:cNvSpPr txBox="1"/>
          <p:nvPr/>
        </p:nvSpPr>
        <p:spPr>
          <a:xfrm>
            <a:off x="819150" y="2119312"/>
            <a:ext cx="3180397" cy="238125"/>
          </a:xfrm>
          <a:prstGeom prst="rect">
            <a:avLst/>
          </a:prstGeom>
          <a:noFill/>
        </p:spPr>
        <p:txBody>
          <a:bodyPr wrap="square" lIns="0" tIns="0" rIns="0" bIns="0" anchor="t">
            <a:spAutoFit/>
          </a:bodyPr>
          <a:lstStyle/>
          <a:p>
            <a:pPr algn="l"/>
            <a:r>
              <a:rPr sz="1500" b="1" i="0" u="none" dirty="0" err="1">
                <a:solidFill>
                  <a:srgbClr val="0F172A"/>
                </a:solidFill>
                <a:latin typeface="Merriweather"/>
              </a:rPr>
              <a:t>Uzunl</a:t>
            </a:r>
            <a:r>
              <a:rPr lang="tr-TR" sz="1500" b="1" i="0" u="none" dirty="0">
                <a:solidFill>
                  <a:srgbClr val="0F172A"/>
                </a:solidFill>
                <a:latin typeface="Merriweather"/>
              </a:rPr>
              <a:t>u</a:t>
            </a:r>
            <a:r>
              <a:rPr sz="1500" b="1" i="0" u="none" dirty="0">
                <a:solidFill>
                  <a:srgbClr val="0F172A"/>
                </a:solidFill>
                <a:latin typeface="Merriweather"/>
              </a:rPr>
              <a:t>k </a:t>
            </a:r>
            <a:r>
              <a:rPr sz="1500" b="1" i="0" u="none" dirty="0" err="1">
                <a:solidFill>
                  <a:srgbClr val="0F172A"/>
                </a:solidFill>
                <a:latin typeface="Merriweather"/>
              </a:rPr>
              <a:t>Metrikleri</a:t>
            </a:r>
            <a:endParaRPr sz="1500" b="1" i="0" u="none" dirty="0">
              <a:solidFill>
                <a:srgbClr val="0F172A"/>
              </a:solidFill>
              <a:latin typeface="Merriweather"/>
            </a:endParaRPr>
          </a:p>
        </p:txBody>
      </p:sp>
      <p:sp>
        <p:nvSpPr>
          <p:cNvPr id="12" name="TextBox 11"/>
          <p:cNvSpPr txBox="1"/>
          <p:nvPr/>
        </p:nvSpPr>
        <p:spPr>
          <a:xfrm>
            <a:off x="819150" y="2452687"/>
            <a:ext cx="3028950" cy="428625"/>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Oltalama siteleri karmaşık yönlendirmeler içerdiğinden uzun dizilere sahiptir:</a:t>
            </a:r>
          </a:p>
        </p:txBody>
      </p:sp>
      <p:sp>
        <p:nvSpPr>
          <p:cNvPr id="13" name="TextBox 12"/>
          <p:cNvSpPr txBox="1"/>
          <p:nvPr/>
        </p:nvSpPr>
        <p:spPr>
          <a:xfrm>
            <a:off x="4581525"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Özel Karakter Sayımları</a:t>
            </a:r>
          </a:p>
        </p:txBody>
      </p:sp>
      <p:sp>
        <p:nvSpPr>
          <p:cNvPr id="14" name="TextBox 13"/>
          <p:cNvSpPr txBox="1"/>
          <p:nvPr/>
        </p:nvSpPr>
        <p:spPr>
          <a:xfrm>
            <a:off x="4581525" y="2452687"/>
            <a:ext cx="3028950" cy="428625"/>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Manipülasyon ve dizin gizleme amacıyla kullanılan sembollerin frekansı:</a:t>
            </a:r>
          </a:p>
        </p:txBody>
      </p:sp>
      <p:sp>
        <p:nvSpPr>
          <p:cNvPr id="15" name="TextBox 14"/>
          <p:cNvSpPr txBox="1"/>
          <p:nvPr/>
        </p:nvSpPr>
        <p:spPr>
          <a:xfrm>
            <a:off x="834390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Yapısal Belirteçler</a:t>
            </a:r>
          </a:p>
        </p:txBody>
      </p:sp>
      <p:sp>
        <p:nvSpPr>
          <p:cNvPr id="16" name="TextBox 15"/>
          <p:cNvSpPr txBox="1"/>
          <p:nvPr/>
        </p:nvSpPr>
        <p:spPr>
          <a:xfrm>
            <a:off x="8343900" y="2452687"/>
            <a:ext cx="3028950" cy="214312"/>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Alan adı katmanları ve protokol usulsüzlükleri:</a:t>
            </a:r>
          </a:p>
        </p:txBody>
      </p:sp>
      <p:pic>
        <p:nvPicPr>
          <p:cNvPr id="17" name="Picture 16" descr="image.png"/>
          <p:cNvPicPr>
            <a:picLocks noChangeAspect="1"/>
          </p:cNvPicPr>
          <p:nvPr/>
        </p:nvPicPr>
        <p:blipFill>
          <a:blip r:embed="rId5"/>
          <a:stretch>
            <a:fillRect/>
          </a:stretch>
        </p:blipFill>
        <p:spPr>
          <a:xfrm>
            <a:off x="819150" y="1576387"/>
            <a:ext cx="428625" cy="342900"/>
          </a:xfrm>
          <a:prstGeom prst="rect">
            <a:avLst/>
          </a:prstGeom>
        </p:spPr>
      </p:pic>
      <p:sp>
        <p:nvSpPr>
          <p:cNvPr id="18" name="TextBox 17"/>
          <p:cNvSpPr txBox="1"/>
          <p:nvPr/>
        </p:nvSpPr>
        <p:spPr>
          <a:xfrm>
            <a:off x="904875" y="29765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19" name="TextBox 18"/>
          <p:cNvSpPr txBox="1"/>
          <p:nvPr/>
        </p:nvSpPr>
        <p:spPr>
          <a:xfrm>
            <a:off x="962025" y="29765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url_length</a:t>
            </a:r>
            <a:r>
              <a:rPr sz="1200" b="0" i="0" u="none" dirty="0">
                <a:solidFill>
                  <a:srgbClr val="475569"/>
                </a:solidFill>
                <a:latin typeface="DM Sans"/>
              </a:rPr>
              <a:t> (</a:t>
            </a:r>
            <a:r>
              <a:rPr sz="1200" b="0" i="0" u="none" dirty="0" err="1">
                <a:solidFill>
                  <a:srgbClr val="475569"/>
                </a:solidFill>
                <a:latin typeface="DM Sans"/>
              </a:rPr>
              <a:t>Toplam</a:t>
            </a:r>
            <a:r>
              <a:rPr sz="1200" b="0" i="0" u="none" dirty="0">
                <a:solidFill>
                  <a:srgbClr val="475569"/>
                </a:solidFill>
                <a:latin typeface="DM Sans"/>
              </a:rPr>
              <a:t> </a:t>
            </a:r>
            <a:r>
              <a:rPr sz="1200" b="0" i="0" u="none" dirty="0" err="1">
                <a:solidFill>
                  <a:srgbClr val="475569"/>
                </a:solidFill>
                <a:latin typeface="DM Sans"/>
              </a:rPr>
              <a:t>Uzunluk</a:t>
            </a:r>
            <a:r>
              <a:rPr sz="1200" b="0" i="0" u="none" dirty="0">
                <a:solidFill>
                  <a:srgbClr val="475569"/>
                </a:solidFill>
                <a:latin typeface="DM Sans"/>
              </a:rPr>
              <a:t>)</a:t>
            </a:r>
          </a:p>
        </p:txBody>
      </p:sp>
      <p:sp>
        <p:nvSpPr>
          <p:cNvPr id="20" name="TextBox 19"/>
          <p:cNvSpPr txBox="1"/>
          <p:nvPr/>
        </p:nvSpPr>
        <p:spPr>
          <a:xfrm>
            <a:off x="904875" y="32051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1" name="TextBox 20"/>
          <p:cNvSpPr txBox="1"/>
          <p:nvPr/>
        </p:nvSpPr>
        <p:spPr>
          <a:xfrm>
            <a:off x="962025" y="32051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hostname_length</a:t>
            </a:r>
            <a:r>
              <a:rPr sz="1200" b="0" i="0" u="none" dirty="0">
                <a:solidFill>
                  <a:srgbClr val="475569"/>
                </a:solidFill>
                <a:latin typeface="DM Sans"/>
              </a:rPr>
              <a:t> (Alan </a:t>
            </a:r>
            <a:r>
              <a:rPr sz="1200" b="0" i="0" u="none" dirty="0" err="1">
                <a:solidFill>
                  <a:srgbClr val="475569"/>
                </a:solidFill>
                <a:latin typeface="DM Sans"/>
              </a:rPr>
              <a:t>Adı</a:t>
            </a:r>
            <a:r>
              <a:rPr sz="1200" b="0" i="0" u="none" dirty="0">
                <a:solidFill>
                  <a:srgbClr val="475569"/>
                </a:solidFill>
                <a:latin typeface="DM Sans"/>
              </a:rPr>
              <a:t>)</a:t>
            </a:r>
          </a:p>
        </p:txBody>
      </p:sp>
      <p:sp>
        <p:nvSpPr>
          <p:cNvPr id="22" name="TextBox 21"/>
          <p:cNvSpPr txBox="1"/>
          <p:nvPr/>
        </p:nvSpPr>
        <p:spPr>
          <a:xfrm>
            <a:off x="904875" y="34337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3" name="TextBox 22"/>
          <p:cNvSpPr txBox="1"/>
          <p:nvPr/>
        </p:nvSpPr>
        <p:spPr>
          <a:xfrm>
            <a:off x="962025" y="34337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path_length</a:t>
            </a:r>
            <a:r>
              <a:rPr sz="1200" b="0" i="0" u="none" dirty="0">
                <a:solidFill>
                  <a:srgbClr val="475569"/>
                </a:solidFill>
                <a:latin typeface="DM Sans"/>
              </a:rPr>
              <a:t> (</a:t>
            </a:r>
            <a:r>
              <a:rPr sz="1200" b="0" i="0" u="none" dirty="0" err="1">
                <a:solidFill>
                  <a:srgbClr val="475569"/>
                </a:solidFill>
                <a:latin typeface="DM Sans"/>
              </a:rPr>
              <a:t>Yol</a:t>
            </a:r>
            <a:r>
              <a:rPr sz="1200" b="0" i="0" u="none" dirty="0">
                <a:solidFill>
                  <a:srgbClr val="475569"/>
                </a:solidFill>
                <a:latin typeface="DM Sans"/>
              </a:rPr>
              <a:t> </a:t>
            </a:r>
            <a:r>
              <a:rPr sz="1200" b="0" i="0" u="none" dirty="0" err="1">
                <a:solidFill>
                  <a:srgbClr val="475569"/>
                </a:solidFill>
                <a:latin typeface="DM Sans"/>
              </a:rPr>
              <a:t>Uzunluğu</a:t>
            </a:r>
            <a:r>
              <a:rPr sz="1200" b="0" i="0" u="none" dirty="0">
                <a:solidFill>
                  <a:srgbClr val="475569"/>
                </a:solidFill>
                <a:latin typeface="DM Sans"/>
              </a:rPr>
              <a:t>)</a:t>
            </a:r>
          </a:p>
        </p:txBody>
      </p:sp>
      <p:sp>
        <p:nvSpPr>
          <p:cNvPr id="24" name="TextBox 23"/>
          <p:cNvSpPr txBox="1"/>
          <p:nvPr/>
        </p:nvSpPr>
        <p:spPr>
          <a:xfrm>
            <a:off x="904875" y="36623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5" name="TextBox 24"/>
          <p:cNvSpPr txBox="1"/>
          <p:nvPr/>
        </p:nvSpPr>
        <p:spPr>
          <a:xfrm>
            <a:off x="962025" y="36623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query_length</a:t>
            </a:r>
            <a:r>
              <a:rPr sz="1200" b="0" i="0" u="none" dirty="0">
                <a:solidFill>
                  <a:srgbClr val="475569"/>
                </a:solidFill>
                <a:latin typeface="DM Sans"/>
              </a:rPr>
              <a:t> (</a:t>
            </a:r>
            <a:r>
              <a:rPr sz="1200" b="0" i="0" u="none" dirty="0" err="1">
                <a:solidFill>
                  <a:srgbClr val="475569"/>
                </a:solidFill>
                <a:latin typeface="DM Sans"/>
              </a:rPr>
              <a:t>Sorgu</a:t>
            </a:r>
            <a:r>
              <a:rPr sz="1200" b="0" i="0" u="none" dirty="0">
                <a:solidFill>
                  <a:srgbClr val="475569"/>
                </a:solidFill>
                <a:latin typeface="DM Sans"/>
              </a:rPr>
              <a:t> </a:t>
            </a:r>
            <a:r>
              <a:rPr sz="1200" b="0" i="0" u="none" dirty="0" err="1">
                <a:solidFill>
                  <a:srgbClr val="475569"/>
                </a:solidFill>
                <a:latin typeface="DM Sans"/>
              </a:rPr>
              <a:t>Parametresi</a:t>
            </a:r>
            <a:r>
              <a:rPr sz="1200" b="0" i="0" u="none" dirty="0">
                <a:solidFill>
                  <a:srgbClr val="475569"/>
                </a:solidFill>
                <a:latin typeface="DM Sans"/>
              </a:rPr>
              <a:t>)</a:t>
            </a:r>
          </a:p>
        </p:txBody>
      </p:sp>
      <p:pic>
        <p:nvPicPr>
          <p:cNvPr id="26" name="Picture 25" descr="image.png"/>
          <p:cNvPicPr>
            <a:picLocks noChangeAspect="1"/>
          </p:cNvPicPr>
          <p:nvPr/>
        </p:nvPicPr>
        <p:blipFill>
          <a:blip r:embed="rId6"/>
          <a:stretch>
            <a:fillRect/>
          </a:stretch>
        </p:blipFill>
        <p:spPr>
          <a:xfrm>
            <a:off x="4581525" y="1576387"/>
            <a:ext cx="295275" cy="342900"/>
          </a:xfrm>
          <a:prstGeom prst="rect">
            <a:avLst/>
          </a:prstGeom>
        </p:spPr>
      </p:pic>
      <p:sp>
        <p:nvSpPr>
          <p:cNvPr id="27" name="TextBox 26"/>
          <p:cNvSpPr txBox="1"/>
          <p:nvPr/>
        </p:nvSpPr>
        <p:spPr>
          <a:xfrm>
            <a:off x="4667250" y="2976562"/>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28" name="TextBox 27"/>
          <p:cNvSpPr txBox="1"/>
          <p:nvPr/>
        </p:nvSpPr>
        <p:spPr>
          <a:xfrm>
            <a:off x="4724400" y="2976562"/>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Nokta</a:t>
            </a:r>
            <a:r>
              <a:rPr sz="1200" b="0" i="0" u="none" dirty="0">
                <a:solidFill>
                  <a:srgbClr val="475569"/>
                </a:solidFill>
                <a:latin typeface="DM Sans"/>
              </a:rPr>
              <a:t> (.), Tire (-), Alt </a:t>
            </a:r>
            <a:r>
              <a:rPr sz="1200" b="0" i="0" u="none" dirty="0" err="1">
                <a:solidFill>
                  <a:srgbClr val="475569"/>
                </a:solidFill>
                <a:latin typeface="DM Sans"/>
              </a:rPr>
              <a:t>Çizgi</a:t>
            </a:r>
            <a:r>
              <a:rPr sz="1200" b="0" i="0" u="none" dirty="0">
                <a:solidFill>
                  <a:srgbClr val="475569"/>
                </a:solidFill>
                <a:latin typeface="DM Sans"/>
              </a:rPr>
              <a:t> </a:t>
            </a:r>
            <a:r>
              <a:rPr lang="tr-TR" sz="1200" dirty="0">
                <a:solidFill>
                  <a:srgbClr val="475569"/>
                </a:solidFill>
                <a:latin typeface="DM Sans"/>
              </a:rPr>
              <a:t>(</a:t>
            </a:r>
            <a:r>
              <a:rPr sz="1200" b="0" i="0" u="none" dirty="0">
                <a:solidFill>
                  <a:srgbClr val="475569"/>
                </a:solidFill>
                <a:latin typeface="DM Sans"/>
              </a:rPr>
              <a:t>_)</a:t>
            </a:r>
          </a:p>
        </p:txBody>
      </p:sp>
      <p:sp>
        <p:nvSpPr>
          <p:cNvPr id="29" name="TextBox 28"/>
          <p:cNvSpPr txBox="1"/>
          <p:nvPr/>
        </p:nvSpPr>
        <p:spPr>
          <a:xfrm>
            <a:off x="4667250" y="3205162"/>
            <a:ext cx="57150" cy="228600"/>
          </a:xfrm>
          <a:prstGeom prst="rect">
            <a:avLst/>
          </a:prstGeom>
          <a:noFill/>
        </p:spPr>
        <p:txBody>
          <a:bodyPr wrap="square" lIns="0" tIns="0" rIns="0" bIns="0" anchor="t">
            <a:spAutoFit/>
          </a:bodyPr>
          <a:lstStyle/>
          <a:p>
            <a:pPr algn="l"/>
            <a:r>
              <a:rPr sz="1200" b="0" i="0" u="none" dirty="0">
                <a:solidFill>
                  <a:srgbClr val="475569"/>
                </a:solidFill>
                <a:latin typeface="DM Sans"/>
              </a:rPr>
              <a:t>•</a:t>
            </a:r>
          </a:p>
        </p:txBody>
      </p:sp>
      <p:sp>
        <p:nvSpPr>
          <p:cNvPr id="30" name="TextBox 29"/>
          <p:cNvSpPr txBox="1"/>
          <p:nvPr/>
        </p:nvSpPr>
        <p:spPr>
          <a:xfrm>
            <a:off x="4724400" y="3205162"/>
            <a:ext cx="2886075" cy="447943"/>
          </a:xfrm>
          <a:prstGeom prst="rect">
            <a:avLst/>
          </a:prstGeom>
          <a:noFill/>
        </p:spPr>
        <p:txBody>
          <a:bodyPr wrap="square" lIns="57150" tIns="0" rIns="0" bIns="0" anchor="t">
            <a:spAutoFit/>
          </a:bodyPr>
          <a:lstStyle/>
          <a:p>
            <a:pPr algn="l">
              <a:lnSpc>
                <a:spcPts val="1800"/>
              </a:lnSpc>
            </a:pPr>
            <a:r>
              <a:rPr sz="1200" b="0" i="0" u="none" dirty="0">
                <a:solidFill>
                  <a:srgbClr val="475569"/>
                </a:solidFill>
                <a:latin typeface="DM Sans"/>
              </a:rPr>
              <a:t>Soru </a:t>
            </a:r>
            <a:r>
              <a:rPr sz="1200" b="0" i="0" u="none" dirty="0" err="1">
                <a:solidFill>
                  <a:srgbClr val="475569"/>
                </a:solidFill>
                <a:latin typeface="DM Sans"/>
              </a:rPr>
              <a:t>İşareti</a:t>
            </a:r>
            <a:r>
              <a:rPr sz="1200" b="0" i="0" u="none" dirty="0">
                <a:solidFill>
                  <a:srgbClr val="475569"/>
                </a:solidFill>
                <a:latin typeface="DM Sans"/>
              </a:rPr>
              <a:t> (?), </a:t>
            </a:r>
            <a:r>
              <a:rPr lang="tr-TR" sz="1200" b="0" i="0" u="none" dirty="0">
                <a:solidFill>
                  <a:srgbClr val="475569"/>
                </a:solidFill>
                <a:latin typeface="DM Sans"/>
              </a:rPr>
              <a:t>Eğik Çizgi (/)</a:t>
            </a:r>
          </a:p>
          <a:p>
            <a:pPr algn="l">
              <a:lnSpc>
                <a:spcPts val="1800"/>
              </a:lnSpc>
            </a:pPr>
            <a:endParaRPr sz="1200" b="0" i="0" u="none" dirty="0">
              <a:solidFill>
                <a:srgbClr val="475569"/>
              </a:solidFill>
              <a:latin typeface="DM Sans"/>
            </a:endParaRPr>
          </a:p>
        </p:txBody>
      </p:sp>
      <p:pic>
        <p:nvPicPr>
          <p:cNvPr id="35" name="Picture 34" descr="image.png"/>
          <p:cNvPicPr>
            <a:picLocks noChangeAspect="1"/>
          </p:cNvPicPr>
          <p:nvPr/>
        </p:nvPicPr>
        <p:blipFill>
          <a:blip r:embed="rId7"/>
          <a:stretch>
            <a:fillRect/>
          </a:stretch>
        </p:blipFill>
        <p:spPr>
          <a:xfrm>
            <a:off x="8343900" y="1576387"/>
            <a:ext cx="428625" cy="342900"/>
          </a:xfrm>
          <a:prstGeom prst="rect">
            <a:avLst/>
          </a:prstGeom>
        </p:spPr>
      </p:pic>
      <p:sp>
        <p:nvSpPr>
          <p:cNvPr id="36" name="TextBox 35"/>
          <p:cNvSpPr txBox="1"/>
          <p:nvPr/>
        </p:nvSpPr>
        <p:spPr>
          <a:xfrm>
            <a:off x="8429625" y="2762250"/>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37" name="TextBox 36"/>
          <p:cNvSpPr txBox="1"/>
          <p:nvPr/>
        </p:nvSpPr>
        <p:spPr>
          <a:xfrm>
            <a:off x="8486775" y="2762250"/>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count_subdomains</a:t>
            </a:r>
            <a:r>
              <a:rPr lang="tr-TR" sz="1200" dirty="0">
                <a:solidFill>
                  <a:srgbClr val="475569"/>
                </a:solidFill>
                <a:latin typeface="DM Sans"/>
              </a:rPr>
              <a:t> </a:t>
            </a:r>
            <a:r>
              <a:rPr sz="1200" b="0" i="0" u="none" dirty="0">
                <a:solidFill>
                  <a:srgbClr val="475569"/>
                </a:solidFill>
                <a:latin typeface="DM Sans"/>
              </a:rPr>
              <a:t>(Alt Alan </a:t>
            </a:r>
            <a:r>
              <a:rPr sz="1200" b="0" i="0" u="none" dirty="0" err="1">
                <a:solidFill>
                  <a:srgbClr val="475569"/>
                </a:solidFill>
                <a:latin typeface="DM Sans"/>
              </a:rPr>
              <a:t>Sayısı</a:t>
            </a:r>
            <a:r>
              <a:rPr sz="1200" b="0" i="0" u="none" dirty="0">
                <a:solidFill>
                  <a:srgbClr val="475569"/>
                </a:solidFill>
                <a:latin typeface="DM Sans"/>
              </a:rPr>
              <a:t>)</a:t>
            </a:r>
          </a:p>
        </p:txBody>
      </p:sp>
      <p:sp>
        <p:nvSpPr>
          <p:cNvPr id="38" name="TextBox 37"/>
          <p:cNvSpPr txBox="1"/>
          <p:nvPr/>
        </p:nvSpPr>
        <p:spPr>
          <a:xfrm>
            <a:off x="8429625" y="2990850"/>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39" name="TextBox 38"/>
          <p:cNvSpPr txBox="1"/>
          <p:nvPr/>
        </p:nvSpPr>
        <p:spPr>
          <a:xfrm>
            <a:off x="8486775" y="2990850"/>
            <a:ext cx="2886075" cy="217111"/>
          </a:xfrm>
          <a:prstGeom prst="rect">
            <a:avLst/>
          </a:prstGeom>
          <a:noFill/>
        </p:spPr>
        <p:txBody>
          <a:bodyPr wrap="square" lIns="57150" tIns="0" rIns="0" bIns="0" anchor="t">
            <a:spAutoFit/>
          </a:bodyPr>
          <a:lstStyle/>
          <a:p>
            <a:pPr algn="l">
              <a:lnSpc>
                <a:spcPts val="1800"/>
              </a:lnSpc>
            </a:pPr>
            <a:r>
              <a:rPr sz="1200" b="0" i="0" u="none" dirty="0" err="1">
                <a:solidFill>
                  <a:srgbClr val="475569"/>
                </a:solidFill>
                <a:latin typeface="DM Sans"/>
              </a:rPr>
              <a:t>has_ip_address</a:t>
            </a:r>
            <a:r>
              <a:rPr sz="1200" b="0" i="0" u="none" dirty="0">
                <a:solidFill>
                  <a:srgbClr val="475569"/>
                </a:solidFill>
                <a:latin typeface="DM Sans"/>
              </a:rPr>
              <a:t> (IP </a:t>
            </a:r>
            <a:r>
              <a:rPr sz="1200" b="0" i="0" u="none" dirty="0" err="1">
                <a:solidFill>
                  <a:srgbClr val="475569"/>
                </a:solidFill>
                <a:latin typeface="DM Sans"/>
              </a:rPr>
              <a:t>Kullanımı</a:t>
            </a:r>
            <a:r>
              <a:rPr sz="1200" b="0" i="0" u="none" dirty="0">
                <a:solidFill>
                  <a:srgbClr val="475569"/>
                </a:solidFill>
                <a:latin typeface="DM Sans"/>
              </a:rPr>
              <a:t>)</a:t>
            </a:r>
          </a:p>
        </p:txBody>
      </p:sp>
      <p:sp>
        <p:nvSpPr>
          <p:cNvPr id="40" name="TextBox 39"/>
          <p:cNvSpPr txBox="1"/>
          <p:nvPr/>
        </p:nvSpPr>
        <p:spPr>
          <a:xfrm>
            <a:off x="8429625" y="3219450"/>
            <a:ext cx="57150" cy="228600"/>
          </a:xfrm>
          <a:prstGeom prst="rect">
            <a:avLst/>
          </a:prstGeom>
          <a:noFill/>
        </p:spPr>
        <p:txBody>
          <a:bodyPr wrap="square" lIns="0" tIns="0" rIns="0" bIns="0" anchor="t">
            <a:spAutoFit/>
          </a:bodyPr>
          <a:lstStyle/>
          <a:p>
            <a:pPr algn="l"/>
            <a:r>
              <a:rPr sz="1200" b="0" i="0" u="none">
                <a:solidFill>
                  <a:srgbClr val="475569"/>
                </a:solidFill>
                <a:latin typeface="DM Sans"/>
              </a:rPr>
              <a:t>•</a:t>
            </a:r>
          </a:p>
        </p:txBody>
      </p:sp>
      <p:sp>
        <p:nvSpPr>
          <p:cNvPr id="41" name="TextBox 40"/>
          <p:cNvSpPr txBox="1"/>
          <p:nvPr/>
        </p:nvSpPr>
        <p:spPr>
          <a:xfrm>
            <a:off x="8486775" y="3219450"/>
            <a:ext cx="2886075" cy="217111"/>
          </a:xfrm>
          <a:prstGeom prst="rect">
            <a:avLst/>
          </a:prstGeom>
          <a:noFill/>
        </p:spPr>
        <p:txBody>
          <a:bodyPr wrap="square" lIns="57150" tIns="0" rIns="0" bIns="0" anchor="t">
            <a:spAutoFit/>
          </a:bodyPr>
          <a:lstStyle/>
          <a:p>
            <a:pPr algn="l">
              <a:lnSpc>
                <a:spcPts val="1800"/>
              </a:lnSpc>
            </a:pPr>
            <a:r>
              <a:rPr lang="tr-TR" sz="1200" b="0" i="0" u="none" dirty="0" err="1">
                <a:solidFill>
                  <a:srgbClr val="475569"/>
                </a:solidFill>
                <a:latin typeface="DM Sans"/>
              </a:rPr>
              <a:t>Port_number</a:t>
            </a:r>
            <a:r>
              <a:rPr lang="tr-TR" sz="1200" b="0" i="0" u="none" dirty="0">
                <a:solidFill>
                  <a:srgbClr val="475569"/>
                </a:solidFill>
                <a:latin typeface="DM Sans"/>
              </a:rPr>
              <a:t> </a:t>
            </a:r>
            <a:r>
              <a:rPr sz="1200" b="0" i="0" u="none" dirty="0">
                <a:solidFill>
                  <a:srgbClr val="475569"/>
                </a:solidFill>
                <a:latin typeface="DM Sans"/>
              </a:rPr>
              <a:t>(Por</a:t>
            </a:r>
            <a:r>
              <a:rPr lang="tr-TR" sz="1200" b="0" i="0" u="none" dirty="0">
                <a:solidFill>
                  <a:srgbClr val="475569"/>
                </a:solidFill>
                <a:latin typeface="DM Sans"/>
              </a:rPr>
              <a:t>t Numarası</a:t>
            </a:r>
            <a:r>
              <a:rPr sz="1200" b="0" i="0" u="none" dirty="0">
                <a:solidFill>
                  <a:srgbClr val="475569"/>
                </a:solidFill>
                <a:latin typeface="DM Sans"/>
              </a:rPr>
              <a:t>)</a:t>
            </a:r>
          </a:p>
        </p:txBody>
      </p:sp>
      <p:pic>
        <p:nvPicPr>
          <p:cNvPr id="44" name="Picture 1" descr="image.png">
            <a:extLst>
              <a:ext uri="{FF2B5EF4-FFF2-40B4-BE49-F238E27FC236}">
                <a16:creationId xmlns:a16="http://schemas.microsoft.com/office/drawing/2014/main" id="{9C1265D8-B851-C5DA-EA07-F7BD25716F5B}"/>
              </a:ext>
            </a:extLst>
          </p:cNvPr>
          <p:cNvPicPr>
            <a:picLocks noChangeAspect="1"/>
          </p:cNvPicPr>
          <p:nvPr/>
        </p:nvPicPr>
        <p:blipFill>
          <a:blip r:embed="rId8"/>
          <a:stretch>
            <a:fillRect/>
          </a:stretch>
        </p:blipFill>
        <p:spPr>
          <a:xfrm>
            <a:off x="666750" y="952500"/>
            <a:ext cx="10858500" cy="171450"/>
          </a:xfrm>
          <a:prstGeom prst="rect">
            <a:avLst/>
          </a:prstGeom>
        </p:spPr>
      </p:pic>
      <p:pic>
        <p:nvPicPr>
          <p:cNvPr id="45" name="İçerik Yer Tutucusu 10">
            <a:extLst>
              <a:ext uri="{FF2B5EF4-FFF2-40B4-BE49-F238E27FC236}">
                <a16:creationId xmlns:a16="http://schemas.microsoft.com/office/drawing/2014/main" id="{0D892010-9A6C-640C-66C6-8ED23020C21A}"/>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3"/>
          <a:stretch>
            <a:fillRect/>
          </a:stretch>
        </p:blipFill>
        <p:spPr>
          <a:xfrm>
            <a:off x="709613" y="1471465"/>
            <a:ext cx="5238750" cy="1767482"/>
          </a:xfrm>
          <a:prstGeom prst="rect">
            <a:avLst/>
          </a:prstGeom>
        </p:spPr>
      </p:pic>
      <p:pic>
        <p:nvPicPr>
          <p:cNvPr id="4" name="Picture 3" descr="image.png"/>
          <p:cNvPicPr>
            <a:picLocks noChangeAspect="1"/>
          </p:cNvPicPr>
          <p:nvPr/>
        </p:nvPicPr>
        <p:blipFill>
          <a:blip r:embed="rId4"/>
          <a:stretch>
            <a:fillRect/>
          </a:stretch>
        </p:blipFill>
        <p:spPr>
          <a:xfrm>
            <a:off x="666750" y="3347738"/>
            <a:ext cx="5238750" cy="1767482"/>
          </a:xfrm>
          <a:prstGeom prst="rect">
            <a:avLst/>
          </a:prstGeom>
        </p:spPr>
      </p:pic>
      <p:pic>
        <p:nvPicPr>
          <p:cNvPr id="5" name="Picture 4" descr="image.png"/>
          <p:cNvPicPr>
            <a:picLocks noChangeAspect="1"/>
          </p:cNvPicPr>
          <p:nvPr/>
        </p:nvPicPr>
        <p:blipFill>
          <a:blip r:embed="rId5"/>
          <a:stretch>
            <a:fillRect/>
          </a:stretch>
        </p:blipFill>
        <p:spPr>
          <a:xfrm>
            <a:off x="609457" y="5301796"/>
            <a:ext cx="5238750" cy="1318460"/>
          </a:xfrm>
          <a:prstGeom prst="rect">
            <a:avLst/>
          </a:prstGeom>
        </p:spPr>
      </p:pic>
      <p:pic>
        <p:nvPicPr>
          <p:cNvPr id="6" name="Picture 5" descr="image.png"/>
          <p:cNvPicPr>
            <a:picLocks noChangeAspect="1"/>
          </p:cNvPicPr>
          <p:nvPr/>
        </p:nvPicPr>
        <p:blipFill>
          <a:blip r:embed="rId6"/>
          <a:stretch>
            <a:fillRect/>
          </a:stretch>
        </p:blipFill>
        <p:spPr>
          <a:xfrm>
            <a:off x="6286500" y="1471465"/>
            <a:ext cx="5238750" cy="1767482"/>
          </a:xfrm>
          <a:prstGeom prst="rect">
            <a:avLst/>
          </a:prstGeom>
        </p:spPr>
      </p:pic>
      <p:pic>
        <p:nvPicPr>
          <p:cNvPr id="7" name="Picture 6" descr="image.png"/>
          <p:cNvPicPr>
            <a:picLocks noChangeAspect="1"/>
          </p:cNvPicPr>
          <p:nvPr/>
        </p:nvPicPr>
        <p:blipFill>
          <a:blip r:embed="rId7"/>
          <a:stretch>
            <a:fillRect/>
          </a:stretch>
        </p:blipFill>
        <p:spPr>
          <a:xfrm>
            <a:off x="6286500" y="3349752"/>
            <a:ext cx="5238750" cy="1767482"/>
          </a:xfrm>
          <a:prstGeom prst="rect">
            <a:avLst/>
          </a:prstGeom>
        </p:spPr>
      </p:pic>
      <p:sp>
        <p:nvSpPr>
          <p:cNvPr id="9" name="TextBox 8"/>
          <p:cNvSpPr txBox="1"/>
          <p:nvPr/>
        </p:nvSpPr>
        <p:spPr>
          <a:xfrm>
            <a:off x="1471136" y="1641668"/>
            <a:ext cx="4290536" cy="253916"/>
          </a:xfrm>
          <a:prstGeom prst="rect">
            <a:avLst/>
          </a:prstGeom>
          <a:noFill/>
        </p:spPr>
        <p:txBody>
          <a:bodyPr wrap="square" lIns="0" tIns="0" rIns="0" bIns="0" anchor="ctr">
            <a:spAutoFit/>
          </a:bodyPr>
          <a:lstStyle/>
          <a:p>
            <a:pPr algn="l"/>
            <a:r>
              <a:rPr sz="1650" b="1" dirty="0">
                <a:latin typeface="Merriweather"/>
              </a:rPr>
              <a:t>Shannon Entropy</a:t>
            </a:r>
          </a:p>
        </p:txBody>
      </p:sp>
      <p:sp>
        <p:nvSpPr>
          <p:cNvPr id="10" name="TextBox 9"/>
          <p:cNvSpPr txBox="1"/>
          <p:nvPr/>
        </p:nvSpPr>
        <p:spPr>
          <a:xfrm>
            <a:off x="819150" y="2073625"/>
            <a:ext cx="4648200" cy="776882"/>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Metindeki</a:t>
            </a:r>
            <a:r>
              <a:rPr sz="1275" b="0" i="0" u="none" dirty="0">
                <a:solidFill>
                  <a:srgbClr val="334155"/>
                </a:solidFill>
                <a:latin typeface="Inter"/>
              </a:rPr>
              <a:t> </a:t>
            </a:r>
            <a:r>
              <a:rPr sz="1275" b="0" i="0" u="none" dirty="0" err="1">
                <a:solidFill>
                  <a:srgbClr val="334155"/>
                </a:solidFill>
                <a:latin typeface="Inter"/>
              </a:rPr>
              <a:t>sembollerin</a:t>
            </a:r>
            <a:r>
              <a:rPr sz="1275" b="0" i="0" u="none" dirty="0">
                <a:solidFill>
                  <a:srgbClr val="334155"/>
                </a:solidFill>
                <a:latin typeface="Inter"/>
              </a:rPr>
              <a:t> </a:t>
            </a:r>
            <a:r>
              <a:rPr sz="1275" b="0" i="0" u="none" dirty="0" err="1">
                <a:solidFill>
                  <a:srgbClr val="334155"/>
                </a:solidFill>
                <a:latin typeface="Inter"/>
              </a:rPr>
              <a:t>rastgeleliğini</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a:t>
            </a:r>
            <a:r>
              <a:rPr sz="1275" b="0" i="0" u="none" dirty="0" err="1">
                <a:solidFill>
                  <a:srgbClr val="334155"/>
                </a:solidFill>
                <a:latin typeface="Inter"/>
              </a:rPr>
              <a:t>bilgi</a:t>
            </a:r>
            <a:r>
              <a:rPr sz="1275" b="0" i="0" u="none" dirty="0">
                <a:solidFill>
                  <a:srgbClr val="334155"/>
                </a:solidFill>
                <a:latin typeface="Inter"/>
              </a:rPr>
              <a:t> </a:t>
            </a:r>
            <a:r>
              <a:rPr sz="1275" b="0" i="0" u="none" dirty="0" err="1">
                <a:solidFill>
                  <a:srgbClr val="334155"/>
                </a:solidFill>
                <a:latin typeface="Inter"/>
              </a:rPr>
              <a:t>belirsizliğini</a:t>
            </a:r>
            <a:r>
              <a:rPr sz="1275" b="0" i="0" u="none" dirty="0">
                <a:solidFill>
                  <a:srgbClr val="334155"/>
                </a:solidFill>
                <a:latin typeface="Inter"/>
              </a:rPr>
              <a:t> </a:t>
            </a:r>
            <a:r>
              <a:rPr sz="1275" b="0" i="0" u="none" dirty="0" err="1">
                <a:solidFill>
                  <a:srgbClr val="334155"/>
                </a:solidFill>
                <a:latin typeface="Inter"/>
              </a:rPr>
              <a:t>istatistiksel</a:t>
            </a:r>
            <a:r>
              <a:rPr sz="1275" b="0" i="0" u="none" dirty="0">
                <a:solidFill>
                  <a:srgbClr val="334155"/>
                </a:solidFill>
                <a:latin typeface="Inter"/>
              </a:rPr>
              <a:t> </a:t>
            </a:r>
            <a:r>
              <a:rPr sz="1275" b="0" i="0" u="none" dirty="0" err="1">
                <a:solidFill>
                  <a:srgbClr val="334155"/>
                </a:solidFill>
                <a:latin typeface="Inter"/>
              </a:rPr>
              <a:t>olasılık</a:t>
            </a:r>
            <a:r>
              <a:rPr sz="1275" b="0" i="0" u="none" dirty="0">
                <a:solidFill>
                  <a:srgbClr val="334155"/>
                </a:solidFill>
                <a:latin typeface="Inter"/>
              </a:rPr>
              <a:t> </a:t>
            </a:r>
            <a:r>
              <a:rPr sz="1275" b="0" i="0" u="none" dirty="0" err="1">
                <a:solidFill>
                  <a:srgbClr val="334155"/>
                </a:solidFill>
                <a:latin typeface="Inter"/>
              </a:rPr>
              <a:t>dağılımı</a:t>
            </a:r>
            <a:r>
              <a:rPr sz="1275" b="0" i="0" u="none" dirty="0">
                <a:solidFill>
                  <a:srgbClr val="334155"/>
                </a:solidFill>
                <a:latin typeface="Inter"/>
              </a:rPr>
              <a:t> </a:t>
            </a:r>
            <a:r>
              <a:rPr sz="1275" b="0" i="0" u="none" dirty="0" err="1">
                <a:solidFill>
                  <a:srgbClr val="334155"/>
                </a:solidFill>
                <a:latin typeface="Inter"/>
              </a:rPr>
              <a:t>üzerinden</a:t>
            </a:r>
            <a:r>
              <a:rPr sz="1275" b="0" i="0" u="none" dirty="0">
                <a:solidFill>
                  <a:srgbClr val="334155"/>
                </a:solidFill>
                <a:latin typeface="Inter"/>
              </a:rPr>
              <a:t> </a:t>
            </a:r>
            <a:r>
              <a:rPr sz="1275" b="0" i="0" u="none" dirty="0" err="1">
                <a:solidFill>
                  <a:srgbClr val="334155"/>
                </a:solidFill>
                <a:latin typeface="Inter"/>
              </a:rPr>
              <a:t>ölçer</a:t>
            </a:r>
            <a:r>
              <a:rPr sz="1275" b="0" i="0" u="none" dirty="0">
                <a:solidFill>
                  <a:srgbClr val="334155"/>
                </a:solidFill>
                <a:latin typeface="Inter"/>
              </a:rPr>
              <a:t>. </a:t>
            </a:r>
            <a:r>
              <a:rPr sz="1275" b="0" i="0" u="none" dirty="0" err="1">
                <a:solidFill>
                  <a:srgbClr val="334155"/>
                </a:solidFill>
                <a:latin typeface="Inter"/>
              </a:rPr>
              <a:t>Yüksek</a:t>
            </a:r>
            <a:r>
              <a:rPr sz="1275" b="0" i="0" u="none" dirty="0">
                <a:solidFill>
                  <a:srgbClr val="334155"/>
                </a:solidFill>
                <a:latin typeface="Inter"/>
              </a:rPr>
              <a:t> </a:t>
            </a:r>
            <a:r>
              <a:rPr sz="1275" b="0" i="0" u="none" dirty="0" err="1">
                <a:solidFill>
                  <a:srgbClr val="334155"/>
                </a:solidFill>
                <a:latin typeface="Inter"/>
              </a:rPr>
              <a:t>entropi</a:t>
            </a:r>
            <a:r>
              <a:rPr sz="1275" b="0" i="0" u="none" dirty="0">
                <a:solidFill>
                  <a:srgbClr val="334155"/>
                </a:solidFill>
                <a:latin typeface="Inter"/>
              </a:rPr>
              <a:t>, </a:t>
            </a:r>
            <a:r>
              <a:rPr sz="1275" b="0" i="0" u="none" dirty="0" err="1">
                <a:solidFill>
                  <a:srgbClr val="334155"/>
                </a:solidFill>
                <a:latin typeface="Inter"/>
              </a:rPr>
              <a:t>yüksek</a:t>
            </a:r>
            <a:r>
              <a:rPr sz="1275" b="0" i="0" u="none" dirty="0">
                <a:solidFill>
                  <a:srgbClr val="334155"/>
                </a:solidFill>
                <a:latin typeface="Inter"/>
              </a:rPr>
              <a:t> </a:t>
            </a:r>
            <a:r>
              <a:rPr sz="1275" b="0" i="0" u="none" dirty="0" err="1">
                <a:solidFill>
                  <a:srgbClr val="334155"/>
                </a:solidFill>
                <a:latin typeface="Inter"/>
              </a:rPr>
              <a:t>düzensizliği</a:t>
            </a:r>
            <a:r>
              <a:rPr sz="1275" b="0" i="0" u="none" dirty="0">
                <a:solidFill>
                  <a:srgbClr val="334155"/>
                </a:solidFill>
                <a:latin typeface="Inter"/>
              </a:rPr>
              <a:t> </a:t>
            </a:r>
            <a:r>
              <a:rPr sz="1275" b="0" i="0" u="none" dirty="0" err="1">
                <a:solidFill>
                  <a:srgbClr val="334155"/>
                </a:solidFill>
                <a:latin typeface="Inter"/>
              </a:rPr>
              <a:t>ifade</a:t>
            </a:r>
            <a:r>
              <a:rPr sz="1275" b="0" i="0" u="none" dirty="0">
                <a:solidFill>
                  <a:srgbClr val="334155"/>
                </a:solidFill>
                <a:latin typeface="Inter"/>
              </a:rPr>
              <a:t> </a:t>
            </a:r>
            <a:r>
              <a:rPr sz="1275" b="0" i="0" u="none" dirty="0" err="1">
                <a:solidFill>
                  <a:srgbClr val="334155"/>
                </a:solidFill>
                <a:latin typeface="Inter"/>
              </a:rPr>
              <a:t>eder</a:t>
            </a:r>
            <a:r>
              <a:rPr sz="1275" b="0" i="0" u="none" dirty="0">
                <a:solidFill>
                  <a:srgbClr val="334155"/>
                </a:solidFill>
                <a:latin typeface="Inter"/>
              </a:rPr>
              <a:t>.</a:t>
            </a:r>
          </a:p>
        </p:txBody>
      </p:sp>
      <p:sp>
        <p:nvSpPr>
          <p:cNvPr id="11" name="TextBox 10"/>
          <p:cNvSpPr txBox="1"/>
          <p:nvPr/>
        </p:nvSpPr>
        <p:spPr>
          <a:xfrm>
            <a:off x="1381125" y="3588240"/>
            <a:ext cx="4380547" cy="253916"/>
          </a:xfrm>
          <a:prstGeom prst="rect">
            <a:avLst/>
          </a:prstGeom>
          <a:noFill/>
        </p:spPr>
        <p:txBody>
          <a:bodyPr wrap="square" lIns="0" tIns="0" rIns="0" bIns="0" anchor="ctr">
            <a:spAutoFit/>
          </a:bodyPr>
          <a:lstStyle/>
          <a:p>
            <a:r>
              <a:rPr sz="1650" b="1" dirty="0">
                <a:latin typeface="Merriweather"/>
              </a:rPr>
              <a:t>Kolmogorov Complexity</a:t>
            </a:r>
          </a:p>
        </p:txBody>
      </p:sp>
      <p:sp>
        <p:nvSpPr>
          <p:cNvPr id="12" name="TextBox 11"/>
          <p:cNvSpPr txBox="1"/>
          <p:nvPr/>
        </p:nvSpPr>
        <p:spPr>
          <a:xfrm>
            <a:off x="904732" y="4062347"/>
            <a:ext cx="4648200" cy="776882"/>
          </a:xfrm>
          <a:prstGeom prst="rect">
            <a:avLst/>
          </a:prstGeom>
          <a:noFill/>
        </p:spPr>
        <p:txBody>
          <a:bodyPr wrap="square" lIns="0" tIns="0" rIns="0" bIns="0" anchor="t">
            <a:spAutoFit/>
          </a:bodyPr>
          <a:lstStyle/>
          <a:p>
            <a:pPr algn="l">
              <a:lnSpc>
                <a:spcPts val="2039"/>
              </a:lnSpc>
            </a:pPr>
            <a:r>
              <a:rPr sz="1275" b="0" i="0" u="none" dirty="0">
                <a:solidFill>
                  <a:srgbClr val="334155"/>
                </a:solidFill>
                <a:latin typeface="Inter"/>
              </a:rPr>
              <a:t>Bir </a:t>
            </a:r>
            <a:r>
              <a:rPr sz="1275" b="0" i="0" u="none" dirty="0" err="1">
                <a:solidFill>
                  <a:srgbClr val="334155"/>
                </a:solidFill>
                <a:latin typeface="Inter"/>
              </a:rPr>
              <a:t>metni</a:t>
            </a:r>
            <a:r>
              <a:rPr sz="1275" b="0" i="0" u="none" dirty="0">
                <a:solidFill>
                  <a:srgbClr val="334155"/>
                </a:solidFill>
                <a:latin typeface="Inter"/>
              </a:rPr>
              <a:t> </a:t>
            </a:r>
            <a:r>
              <a:rPr sz="1275" b="0" i="0" u="none" dirty="0" err="1">
                <a:solidFill>
                  <a:srgbClr val="334155"/>
                </a:solidFill>
                <a:latin typeface="Inter"/>
              </a:rPr>
              <a:t>üretebilecek</a:t>
            </a:r>
            <a:r>
              <a:rPr sz="1275" b="0" i="0" u="none" dirty="0">
                <a:solidFill>
                  <a:srgbClr val="334155"/>
                </a:solidFill>
                <a:latin typeface="Inter"/>
              </a:rPr>
              <a:t> </a:t>
            </a:r>
            <a:r>
              <a:rPr sz="1275" b="0" i="0" u="none" dirty="0" err="1">
                <a:solidFill>
                  <a:srgbClr val="334155"/>
                </a:solidFill>
                <a:latin typeface="Inter"/>
              </a:rPr>
              <a:t>en</a:t>
            </a:r>
            <a:r>
              <a:rPr sz="1275" b="0" i="0" u="none" dirty="0">
                <a:solidFill>
                  <a:srgbClr val="334155"/>
                </a:solidFill>
                <a:latin typeface="Inter"/>
              </a:rPr>
              <a:t> </a:t>
            </a:r>
            <a:r>
              <a:rPr sz="1275" b="0" i="0" u="none" dirty="0" err="1">
                <a:solidFill>
                  <a:srgbClr val="334155"/>
                </a:solidFill>
                <a:latin typeface="Inter"/>
              </a:rPr>
              <a:t>kısa</a:t>
            </a:r>
            <a:r>
              <a:rPr sz="1275" b="0" i="0" u="none" dirty="0">
                <a:solidFill>
                  <a:srgbClr val="334155"/>
                </a:solidFill>
                <a:latin typeface="Inter"/>
              </a:rPr>
              <a:t> </a:t>
            </a:r>
            <a:r>
              <a:rPr sz="1275" b="0" i="0" u="none" dirty="0" err="1">
                <a:solidFill>
                  <a:srgbClr val="334155"/>
                </a:solidFill>
                <a:latin typeface="Inter"/>
              </a:rPr>
              <a:t>bilgisayar</a:t>
            </a:r>
            <a:r>
              <a:rPr sz="1275" b="0" i="0" u="none" dirty="0">
                <a:solidFill>
                  <a:srgbClr val="334155"/>
                </a:solidFill>
                <a:latin typeface="Inter"/>
              </a:rPr>
              <a:t> </a:t>
            </a:r>
            <a:r>
              <a:rPr sz="1275" b="0" i="0" u="none" dirty="0" err="1">
                <a:solidFill>
                  <a:srgbClr val="334155"/>
                </a:solidFill>
                <a:latin typeface="Inter"/>
              </a:rPr>
              <a:t>algoritmasının</a:t>
            </a:r>
            <a:r>
              <a:rPr sz="1275" b="0" i="0" u="none" dirty="0">
                <a:solidFill>
                  <a:srgbClr val="334155"/>
                </a:solidFill>
                <a:latin typeface="Inter"/>
              </a:rPr>
              <a:t> </a:t>
            </a:r>
            <a:r>
              <a:rPr sz="1275" b="0" i="0" u="none" dirty="0" err="1">
                <a:solidFill>
                  <a:srgbClr val="334155"/>
                </a:solidFill>
                <a:latin typeface="Inter"/>
              </a:rPr>
              <a:t>uzunluğudur</a:t>
            </a:r>
            <a:r>
              <a:rPr sz="1275" b="0" i="0" u="none" dirty="0">
                <a:solidFill>
                  <a:srgbClr val="334155"/>
                </a:solidFill>
                <a:latin typeface="Inter"/>
              </a:rPr>
              <a:t>. </a:t>
            </a:r>
            <a:r>
              <a:rPr sz="1275" b="0" i="0" u="none" dirty="0" err="1">
                <a:solidFill>
                  <a:srgbClr val="334155"/>
                </a:solidFill>
                <a:latin typeface="Inter"/>
              </a:rPr>
              <a:t>Metnin</a:t>
            </a:r>
            <a:r>
              <a:rPr sz="1275" b="0" i="0" u="none" dirty="0">
                <a:solidFill>
                  <a:srgbClr val="334155"/>
                </a:solidFill>
                <a:latin typeface="Inter"/>
              </a:rPr>
              <a:t> </a:t>
            </a:r>
            <a:r>
              <a:rPr sz="1275" b="0" i="0" u="none" dirty="0" err="1">
                <a:solidFill>
                  <a:srgbClr val="334155"/>
                </a:solidFill>
                <a:latin typeface="Inter"/>
              </a:rPr>
              <a:t>verimli</a:t>
            </a:r>
            <a:r>
              <a:rPr sz="1275" b="0" i="0" u="none" dirty="0">
                <a:solidFill>
                  <a:srgbClr val="334155"/>
                </a:solidFill>
                <a:latin typeface="Inter"/>
              </a:rPr>
              <a:t> </a:t>
            </a:r>
            <a:r>
              <a:rPr sz="1275" b="0" i="0" u="none" dirty="0" err="1">
                <a:solidFill>
                  <a:srgbClr val="334155"/>
                </a:solidFill>
                <a:latin typeface="Inter"/>
              </a:rPr>
              <a:t>bir</a:t>
            </a:r>
            <a:r>
              <a:rPr sz="1275" b="0" i="0" u="none" dirty="0">
                <a:solidFill>
                  <a:srgbClr val="334155"/>
                </a:solidFill>
                <a:latin typeface="Inter"/>
              </a:rPr>
              <a:t> </a:t>
            </a:r>
            <a:r>
              <a:rPr sz="1275" b="0" i="0" u="none" dirty="0" err="1">
                <a:solidFill>
                  <a:srgbClr val="334155"/>
                </a:solidFill>
                <a:latin typeface="Inter"/>
              </a:rPr>
              <a:t>şekilde</a:t>
            </a:r>
            <a:r>
              <a:rPr sz="1275" b="0" i="0" u="none" dirty="0">
                <a:solidFill>
                  <a:srgbClr val="334155"/>
                </a:solidFill>
                <a:latin typeface="Inter"/>
              </a:rPr>
              <a:t> </a:t>
            </a:r>
            <a:r>
              <a:rPr sz="1275" b="0" i="0" u="none" dirty="0" err="1">
                <a:solidFill>
                  <a:srgbClr val="334155"/>
                </a:solidFill>
                <a:latin typeface="Inter"/>
              </a:rPr>
              <a:t>sıkıştırılabilirliği</a:t>
            </a:r>
            <a:r>
              <a:rPr sz="1275" b="0" i="0" u="none" dirty="0">
                <a:solidFill>
                  <a:srgbClr val="334155"/>
                </a:solidFill>
                <a:latin typeface="Inter"/>
              </a:rPr>
              <a:t> </a:t>
            </a:r>
            <a:r>
              <a:rPr sz="1275" b="0" i="0" u="none" dirty="0" err="1">
                <a:solidFill>
                  <a:srgbClr val="334155"/>
                </a:solidFill>
                <a:latin typeface="Inter"/>
              </a:rPr>
              <a:t>ile</a:t>
            </a:r>
            <a:r>
              <a:rPr sz="1275" b="0" i="0" u="none" dirty="0">
                <a:solidFill>
                  <a:srgbClr val="334155"/>
                </a:solidFill>
                <a:latin typeface="Inter"/>
              </a:rPr>
              <a:t> </a:t>
            </a:r>
            <a:r>
              <a:rPr sz="1275" b="0" i="0" u="none" dirty="0" err="1">
                <a:solidFill>
                  <a:srgbClr val="334155"/>
                </a:solidFill>
                <a:latin typeface="Inter"/>
              </a:rPr>
              <a:t>doğrudan</a:t>
            </a:r>
            <a:r>
              <a:rPr sz="1275" b="0" i="0" u="none" dirty="0">
                <a:solidFill>
                  <a:srgbClr val="334155"/>
                </a:solidFill>
                <a:latin typeface="Inter"/>
              </a:rPr>
              <a:t> </a:t>
            </a:r>
            <a:r>
              <a:rPr sz="1275" b="0" i="0" u="none" dirty="0" err="1">
                <a:solidFill>
                  <a:srgbClr val="334155"/>
                </a:solidFill>
                <a:latin typeface="Inter"/>
              </a:rPr>
              <a:t>ilişkilidir</a:t>
            </a:r>
            <a:r>
              <a:rPr sz="1275" b="0" i="0" u="none" dirty="0">
                <a:solidFill>
                  <a:srgbClr val="334155"/>
                </a:solidFill>
                <a:latin typeface="Inter"/>
              </a:rPr>
              <a:t>.</a:t>
            </a:r>
          </a:p>
        </p:txBody>
      </p:sp>
      <p:sp>
        <p:nvSpPr>
          <p:cNvPr id="13" name="TextBox 12"/>
          <p:cNvSpPr txBox="1"/>
          <p:nvPr/>
        </p:nvSpPr>
        <p:spPr>
          <a:xfrm>
            <a:off x="1381125" y="5476274"/>
            <a:ext cx="4320540" cy="253916"/>
          </a:xfrm>
          <a:prstGeom prst="rect">
            <a:avLst/>
          </a:prstGeom>
          <a:noFill/>
        </p:spPr>
        <p:txBody>
          <a:bodyPr wrap="square" lIns="0" tIns="0" rIns="0" bIns="0" anchor="ctr">
            <a:spAutoFit/>
          </a:bodyPr>
          <a:lstStyle/>
          <a:p>
            <a:r>
              <a:rPr sz="1650" b="1" dirty="0">
                <a:latin typeface="Merriweather"/>
              </a:rPr>
              <a:t>Fractal Dimension</a:t>
            </a:r>
          </a:p>
        </p:txBody>
      </p:sp>
      <p:sp>
        <p:nvSpPr>
          <p:cNvPr id="14" name="TextBox 13"/>
          <p:cNvSpPr txBox="1"/>
          <p:nvPr/>
        </p:nvSpPr>
        <p:spPr>
          <a:xfrm>
            <a:off x="952500" y="5910290"/>
            <a:ext cx="4648200" cy="491994"/>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Metnin</a:t>
            </a:r>
            <a:r>
              <a:rPr sz="1275" b="0" i="0" u="none" dirty="0">
                <a:solidFill>
                  <a:srgbClr val="334155"/>
                </a:solidFill>
                <a:latin typeface="Inter"/>
              </a:rPr>
              <a:t> </a:t>
            </a:r>
            <a:r>
              <a:rPr sz="1275" b="0" i="0" u="none" dirty="0" err="1">
                <a:solidFill>
                  <a:srgbClr val="334155"/>
                </a:solidFill>
                <a:latin typeface="Inter"/>
              </a:rPr>
              <a:t>farklı</a:t>
            </a:r>
            <a:r>
              <a:rPr sz="1275" b="0" i="0" u="none" dirty="0">
                <a:solidFill>
                  <a:srgbClr val="334155"/>
                </a:solidFill>
                <a:latin typeface="Inter"/>
              </a:rPr>
              <a:t> </a:t>
            </a:r>
            <a:r>
              <a:rPr sz="1275" b="0" i="0" u="none" dirty="0" err="1">
                <a:solidFill>
                  <a:srgbClr val="334155"/>
                </a:solidFill>
                <a:latin typeface="Inter"/>
              </a:rPr>
              <a:t>ölçeklerde</a:t>
            </a:r>
            <a:r>
              <a:rPr sz="1275" b="0" i="0" u="none" dirty="0">
                <a:solidFill>
                  <a:srgbClr val="334155"/>
                </a:solidFill>
                <a:latin typeface="Inter"/>
              </a:rPr>
              <a:t> </a:t>
            </a:r>
            <a:r>
              <a:rPr sz="1275" b="0" i="0" u="none" dirty="0" err="1">
                <a:solidFill>
                  <a:srgbClr val="334155"/>
                </a:solidFill>
                <a:latin typeface="Inter"/>
              </a:rPr>
              <a:t>gösterdiği</a:t>
            </a:r>
            <a:r>
              <a:rPr sz="1275" b="0" i="0" u="none" dirty="0">
                <a:solidFill>
                  <a:srgbClr val="334155"/>
                </a:solidFill>
                <a:latin typeface="Inter"/>
              </a:rPr>
              <a:t> </a:t>
            </a:r>
            <a:r>
              <a:rPr sz="1275" b="0" i="0" u="none" dirty="0" err="1">
                <a:solidFill>
                  <a:srgbClr val="334155"/>
                </a:solidFill>
                <a:latin typeface="Inter"/>
              </a:rPr>
              <a:t>öz-benzerlik</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a:t>
            </a:r>
            <a:r>
              <a:rPr sz="1275" b="0" i="0" u="none" dirty="0" err="1">
                <a:solidFill>
                  <a:srgbClr val="334155"/>
                </a:solidFill>
                <a:latin typeface="Inter"/>
              </a:rPr>
              <a:t>geometrik</a:t>
            </a:r>
            <a:r>
              <a:rPr sz="1275" b="0" i="0" u="none" dirty="0">
                <a:solidFill>
                  <a:srgbClr val="334155"/>
                </a:solidFill>
                <a:latin typeface="Inter"/>
              </a:rPr>
              <a:t> </a:t>
            </a:r>
            <a:r>
              <a:rPr sz="1275" b="0" i="0" u="none" dirty="0" err="1">
                <a:solidFill>
                  <a:srgbClr val="334155"/>
                </a:solidFill>
                <a:latin typeface="Inter"/>
              </a:rPr>
              <a:t>karmaşıklık</a:t>
            </a:r>
            <a:r>
              <a:rPr sz="1275" b="0" i="0" u="none" dirty="0">
                <a:solidFill>
                  <a:srgbClr val="334155"/>
                </a:solidFill>
                <a:latin typeface="Inter"/>
              </a:rPr>
              <a:t> </a:t>
            </a:r>
            <a:r>
              <a:rPr sz="1275" b="0" i="0" u="none" dirty="0" err="1">
                <a:solidFill>
                  <a:srgbClr val="334155"/>
                </a:solidFill>
                <a:latin typeface="Inter"/>
              </a:rPr>
              <a:t>derecesidir</a:t>
            </a:r>
            <a:r>
              <a:rPr sz="1275" b="0" i="0" u="none" dirty="0">
                <a:solidFill>
                  <a:srgbClr val="334155"/>
                </a:solidFill>
                <a:latin typeface="Inter"/>
              </a:rPr>
              <a:t>. </a:t>
            </a:r>
            <a:r>
              <a:rPr sz="1275" b="0" i="0" u="none" dirty="0" err="1">
                <a:solidFill>
                  <a:srgbClr val="334155"/>
                </a:solidFill>
                <a:latin typeface="Inter"/>
              </a:rPr>
              <a:t>Yazar</a:t>
            </a:r>
            <a:r>
              <a:rPr sz="1275" b="0" i="0" u="none" dirty="0">
                <a:solidFill>
                  <a:srgbClr val="334155"/>
                </a:solidFill>
                <a:latin typeface="Inter"/>
              </a:rPr>
              <a:t> </a:t>
            </a:r>
            <a:r>
              <a:rPr sz="1275" b="0" i="0" u="none" dirty="0" err="1">
                <a:solidFill>
                  <a:srgbClr val="334155"/>
                </a:solidFill>
                <a:latin typeface="Inter"/>
              </a:rPr>
              <a:t>üslubunu</a:t>
            </a:r>
            <a:r>
              <a:rPr sz="1275" b="0" i="0" u="none" dirty="0">
                <a:solidFill>
                  <a:srgbClr val="334155"/>
                </a:solidFill>
                <a:latin typeface="Inter"/>
              </a:rPr>
              <a:t> </a:t>
            </a:r>
            <a:r>
              <a:rPr sz="1275" b="0" i="0" u="none" dirty="0" err="1">
                <a:solidFill>
                  <a:srgbClr val="334155"/>
                </a:solidFill>
                <a:latin typeface="Inter"/>
              </a:rPr>
              <a:t>belirlemede</a:t>
            </a:r>
            <a:r>
              <a:rPr sz="1275" b="0" i="0" u="none" dirty="0">
                <a:solidFill>
                  <a:srgbClr val="334155"/>
                </a:solidFill>
                <a:latin typeface="Inter"/>
              </a:rPr>
              <a:t> </a:t>
            </a:r>
            <a:r>
              <a:rPr sz="1275" b="0" i="0" u="none" dirty="0" err="1">
                <a:solidFill>
                  <a:srgbClr val="334155"/>
                </a:solidFill>
                <a:latin typeface="Inter"/>
              </a:rPr>
              <a:t>etkilidir</a:t>
            </a:r>
            <a:r>
              <a:rPr sz="1275" b="0" i="0" u="none" dirty="0">
                <a:solidFill>
                  <a:srgbClr val="334155"/>
                </a:solidFill>
                <a:latin typeface="Inter"/>
              </a:rPr>
              <a:t>.</a:t>
            </a:r>
          </a:p>
        </p:txBody>
      </p:sp>
      <p:sp>
        <p:nvSpPr>
          <p:cNvPr id="15" name="TextBox 14"/>
          <p:cNvSpPr txBox="1"/>
          <p:nvPr/>
        </p:nvSpPr>
        <p:spPr>
          <a:xfrm>
            <a:off x="7125652" y="1679752"/>
            <a:ext cx="4320540" cy="253916"/>
          </a:xfrm>
          <a:prstGeom prst="rect">
            <a:avLst/>
          </a:prstGeom>
          <a:noFill/>
        </p:spPr>
        <p:txBody>
          <a:bodyPr wrap="square" lIns="0" tIns="0" rIns="0" bIns="0" anchor="ctr">
            <a:spAutoFit/>
          </a:bodyPr>
          <a:lstStyle/>
          <a:p>
            <a:r>
              <a:rPr sz="1650" b="1" dirty="0">
                <a:latin typeface="Merriweather"/>
              </a:rPr>
              <a:t>Character Repetition</a:t>
            </a:r>
          </a:p>
        </p:txBody>
      </p:sp>
      <p:sp>
        <p:nvSpPr>
          <p:cNvPr id="16" name="TextBox 15"/>
          <p:cNvSpPr txBox="1"/>
          <p:nvPr/>
        </p:nvSpPr>
        <p:spPr>
          <a:xfrm>
            <a:off x="6581775" y="2021458"/>
            <a:ext cx="4648200" cy="776882"/>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Metin</a:t>
            </a:r>
            <a:r>
              <a:rPr sz="1275" b="0" i="0" u="none" dirty="0">
                <a:solidFill>
                  <a:srgbClr val="334155"/>
                </a:solidFill>
                <a:latin typeface="Inter"/>
              </a:rPr>
              <a:t> </a:t>
            </a:r>
            <a:r>
              <a:rPr sz="1275" b="0" i="0" u="none" dirty="0" err="1">
                <a:solidFill>
                  <a:srgbClr val="334155"/>
                </a:solidFill>
                <a:latin typeface="Inter"/>
              </a:rPr>
              <a:t>içerisindeki</a:t>
            </a:r>
            <a:r>
              <a:rPr sz="1275" b="0" i="0" u="none" dirty="0">
                <a:solidFill>
                  <a:srgbClr val="334155"/>
                </a:solidFill>
                <a:latin typeface="Inter"/>
              </a:rPr>
              <a:t> </a:t>
            </a:r>
            <a:r>
              <a:rPr sz="1275" b="0" i="0" u="none" dirty="0" err="1">
                <a:solidFill>
                  <a:srgbClr val="334155"/>
                </a:solidFill>
                <a:latin typeface="Inter"/>
              </a:rPr>
              <a:t>ardışık</a:t>
            </a:r>
            <a:r>
              <a:rPr sz="1275" b="0" i="0" u="none" dirty="0">
                <a:solidFill>
                  <a:srgbClr val="334155"/>
                </a:solidFill>
                <a:latin typeface="Inter"/>
              </a:rPr>
              <a:t> </a:t>
            </a:r>
            <a:r>
              <a:rPr sz="1275" b="0" i="0" u="none" dirty="0" err="1">
                <a:solidFill>
                  <a:srgbClr val="334155"/>
                </a:solidFill>
                <a:latin typeface="Inter"/>
              </a:rPr>
              <a:t>veya</a:t>
            </a:r>
            <a:r>
              <a:rPr sz="1275" b="0" i="0" u="none" dirty="0">
                <a:solidFill>
                  <a:srgbClr val="334155"/>
                </a:solidFill>
                <a:latin typeface="Inter"/>
              </a:rPr>
              <a:t> </a:t>
            </a:r>
            <a:r>
              <a:rPr sz="1275" b="0" i="0" u="none" dirty="0" err="1">
                <a:solidFill>
                  <a:srgbClr val="334155"/>
                </a:solidFill>
                <a:latin typeface="Inter"/>
              </a:rPr>
              <a:t>dönemsel</a:t>
            </a:r>
            <a:r>
              <a:rPr sz="1275" b="0" i="0" u="none" dirty="0">
                <a:solidFill>
                  <a:srgbClr val="334155"/>
                </a:solidFill>
                <a:latin typeface="Inter"/>
              </a:rPr>
              <a:t> n-gram </a:t>
            </a:r>
            <a:r>
              <a:rPr sz="1275" b="0" i="0" u="none" dirty="0" err="1">
                <a:solidFill>
                  <a:srgbClr val="334155"/>
                </a:solidFill>
                <a:latin typeface="Inter"/>
              </a:rPr>
              <a:t>tekrarlarının</a:t>
            </a:r>
            <a:r>
              <a:rPr sz="1275" b="0" i="0" u="none" dirty="0">
                <a:solidFill>
                  <a:srgbClr val="334155"/>
                </a:solidFill>
                <a:latin typeface="Inter"/>
              </a:rPr>
              <a:t> </a:t>
            </a:r>
            <a:r>
              <a:rPr sz="1275" b="0" i="0" u="none" dirty="0" err="1">
                <a:solidFill>
                  <a:srgbClr val="334155"/>
                </a:solidFill>
                <a:latin typeface="Inter"/>
              </a:rPr>
              <a:t>yoğunluk</a:t>
            </a:r>
            <a:r>
              <a:rPr sz="1275" b="0" i="0" u="none" dirty="0">
                <a:solidFill>
                  <a:srgbClr val="334155"/>
                </a:solidFill>
                <a:latin typeface="Inter"/>
              </a:rPr>
              <a:t> </a:t>
            </a:r>
            <a:r>
              <a:rPr sz="1275" b="0" i="0" u="none" dirty="0" err="1">
                <a:solidFill>
                  <a:srgbClr val="334155"/>
                </a:solidFill>
                <a:latin typeface="Inter"/>
              </a:rPr>
              <a:t>indeksidir</a:t>
            </a:r>
            <a:r>
              <a:rPr sz="1275" b="0" i="0" u="none" dirty="0">
                <a:solidFill>
                  <a:srgbClr val="334155"/>
                </a:solidFill>
                <a:latin typeface="Inter"/>
              </a:rPr>
              <a:t>. Spam </a:t>
            </a:r>
            <a:r>
              <a:rPr sz="1275" b="0" i="0" u="none" dirty="0" err="1">
                <a:solidFill>
                  <a:srgbClr val="334155"/>
                </a:solidFill>
                <a:latin typeface="Inter"/>
              </a:rPr>
              <a:t>metinler</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bot </a:t>
            </a:r>
            <a:r>
              <a:rPr sz="1275" b="0" i="0" u="none" dirty="0" err="1">
                <a:solidFill>
                  <a:srgbClr val="334155"/>
                </a:solidFill>
                <a:latin typeface="Inter"/>
              </a:rPr>
              <a:t>içeriklerinin</a:t>
            </a:r>
            <a:r>
              <a:rPr sz="1275" b="0" i="0" u="none" dirty="0">
                <a:solidFill>
                  <a:srgbClr val="334155"/>
                </a:solidFill>
                <a:latin typeface="Inter"/>
              </a:rPr>
              <a:t> </a:t>
            </a:r>
            <a:r>
              <a:rPr sz="1275" b="0" i="0" u="none" dirty="0" err="1">
                <a:solidFill>
                  <a:srgbClr val="334155"/>
                </a:solidFill>
                <a:latin typeface="Inter"/>
              </a:rPr>
              <a:t>tespitinde</a:t>
            </a:r>
            <a:r>
              <a:rPr sz="1275" b="0" i="0" u="none" dirty="0">
                <a:solidFill>
                  <a:srgbClr val="334155"/>
                </a:solidFill>
                <a:latin typeface="Inter"/>
              </a:rPr>
              <a:t> </a:t>
            </a:r>
            <a:r>
              <a:rPr sz="1275" b="0" i="0" u="none" dirty="0" err="1">
                <a:solidFill>
                  <a:srgbClr val="334155"/>
                </a:solidFill>
                <a:latin typeface="Inter"/>
              </a:rPr>
              <a:t>kritik</a:t>
            </a:r>
            <a:r>
              <a:rPr sz="1275" b="0" i="0" u="none" dirty="0">
                <a:solidFill>
                  <a:srgbClr val="334155"/>
                </a:solidFill>
                <a:latin typeface="Inter"/>
              </a:rPr>
              <a:t> </a:t>
            </a:r>
            <a:r>
              <a:rPr sz="1275" b="0" i="0" u="none" dirty="0" err="1">
                <a:solidFill>
                  <a:srgbClr val="334155"/>
                </a:solidFill>
                <a:latin typeface="Inter"/>
              </a:rPr>
              <a:t>rol</a:t>
            </a:r>
            <a:r>
              <a:rPr sz="1275" b="0" i="0" u="none" dirty="0">
                <a:solidFill>
                  <a:srgbClr val="334155"/>
                </a:solidFill>
                <a:latin typeface="Inter"/>
              </a:rPr>
              <a:t> </a:t>
            </a:r>
            <a:r>
              <a:rPr sz="1275" b="0" i="0" u="none" dirty="0" err="1">
                <a:solidFill>
                  <a:srgbClr val="334155"/>
                </a:solidFill>
                <a:latin typeface="Inter"/>
              </a:rPr>
              <a:t>oynar</a:t>
            </a:r>
            <a:r>
              <a:rPr sz="1275" b="0" i="0" u="none" dirty="0">
                <a:solidFill>
                  <a:srgbClr val="334155"/>
                </a:solidFill>
                <a:latin typeface="Inter"/>
              </a:rPr>
              <a:t>.</a:t>
            </a:r>
          </a:p>
        </p:txBody>
      </p:sp>
      <p:sp>
        <p:nvSpPr>
          <p:cNvPr id="17" name="TextBox 16"/>
          <p:cNvSpPr txBox="1"/>
          <p:nvPr/>
        </p:nvSpPr>
        <p:spPr>
          <a:xfrm>
            <a:off x="7073503" y="3564818"/>
            <a:ext cx="4350543" cy="253916"/>
          </a:xfrm>
          <a:prstGeom prst="rect">
            <a:avLst/>
          </a:prstGeom>
          <a:noFill/>
        </p:spPr>
        <p:txBody>
          <a:bodyPr wrap="square" lIns="0" tIns="0" rIns="0" bIns="0" anchor="ctr">
            <a:spAutoFit/>
          </a:bodyPr>
          <a:lstStyle/>
          <a:p>
            <a:r>
              <a:rPr sz="1650" b="1" dirty="0">
                <a:latin typeface="Merriweather"/>
              </a:rPr>
              <a:t>Average Word</a:t>
            </a:r>
          </a:p>
        </p:txBody>
      </p:sp>
      <p:sp>
        <p:nvSpPr>
          <p:cNvPr id="18" name="TextBox 17"/>
          <p:cNvSpPr txBox="1"/>
          <p:nvPr/>
        </p:nvSpPr>
        <p:spPr>
          <a:xfrm>
            <a:off x="6591300" y="4062347"/>
            <a:ext cx="4648200" cy="776882"/>
          </a:xfrm>
          <a:prstGeom prst="rect">
            <a:avLst/>
          </a:prstGeom>
          <a:noFill/>
        </p:spPr>
        <p:txBody>
          <a:bodyPr wrap="square" lIns="0" tIns="0" rIns="0" bIns="0" anchor="t">
            <a:spAutoFit/>
          </a:bodyPr>
          <a:lstStyle/>
          <a:p>
            <a:pPr algn="l">
              <a:lnSpc>
                <a:spcPts val="2039"/>
              </a:lnSpc>
            </a:pPr>
            <a:r>
              <a:rPr sz="1275" b="0" i="0" u="none" dirty="0" err="1">
                <a:solidFill>
                  <a:srgbClr val="334155"/>
                </a:solidFill>
                <a:latin typeface="Inter"/>
              </a:rPr>
              <a:t>Toplam</a:t>
            </a:r>
            <a:r>
              <a:rPr sz="1275" b="0" i="0" u="none" dirty="0">
                <a:solidFill>
                  <a:srgbClr val="334155"/>
                </a:solidFill>
                <a:latin typeface="Inter"/>
              </a:rPr>
              <a:t> </a:t>
            </a:r>
            <a:r>
              <a:rPr sz="1275" b="0" i="0" u="none" dirty="0" err="1">
                <a:solidFill>
                  <a:srgbClr val="334155"/>
                </a:solidFill>
                <a:latin typeface="Inter"/>
              </a:rPr>
              <a:t>karakter</a:t>
            </a:r>
            <a:r>
              <a:rPr sz="1275" b="0" i="0" u="none" dirty="0">
                <a:solidFill>
                  <a:srgbClr val="334155"/>
                </a:solidFill>
                <a:latin typeface="Inter"/>
              </a:rPr>
              <a:t> </a:t>
            </a:r>
            <a:r>
              <a:rPr sz="1275" b="0" i="0" u="none" dirty="0" err="1">
                <a:solidFill>
                  <a:srgbClr val="334155"/>
                </a:solidFill>
                <a:latin typeface="Inter"/>
              </a:rPr>
              <a:t>sayısının</a:t>
            </a:r>
            <a:r>
              <a:rPr sz="1275" b="0" i="0" u="none" dirty="0">
                <a:solidFill>
                  <a:srgbClr val="334155"/>
                </a:solidFill>
                <a:latin typeface="Inter"/>
              </a:rPr>
              <a:t> </a:t>
            </a:r>
            <a:r>
              <a:rPr sz="1275" b="0" i="0" u="none" dirty="0" err="1">
                <a:solidFill>
                  <a:srgbClr val="334155"/>
                </a:solidFill>
                <a:latin typeface="Inter"/>
              </a:rPr>
              <a:t>kelime</a:t>
            </a:r>
            <a:r>
              <a:rPr sz="1275" b="0" i="0" u="none" dirty="0">
                <a:solidFill>
                  <a:srgbClr val="334155"/>
                </a:solidFill>
                <a:latin typeface="Inter"/>
              </a:rPr>
              <a:t> </a:t>
            </a:r>
            <a:r>
              <a:rPr sz="1275" b="0" i="0" u="none" dirty="0" err="1">
                <a:solidFill>
                  <a:srgbClr val="334155"/>
                </a:solidFill>
                <a:latin typeface="Inter"/>
              </a:rPr>
              <a:t>sayısına</a:t>
            </a:r>
            <a:r>
              <a:rPr sz="1275" b="0" i="0" u="none" dirty="0">
                <a:solidFill>
                  <a:srgbClr val="334155"/>
                </a:solidFill>
                <a:latin typeface="Inter"/>
              </a:rPr>
              <a:t> </a:t>
            </a:r>
            <a:r>
              <a:rPr sz="1275" b="0" i="0" u="none" dirty="0" err="1">
                <a:solidFill>
                  <a:srgbClr val="334155"/>
                </a:solidFill>
                <a:latin typeface="Inter"/>
              </a:rPr>
              <a:t>oranıdır</a:t>
            </a:r>
            <a:r>
              <a:rPr sz="1275" b="0" i="0" u="none" dirty="0">
                <a:solidFill>
                  <a:srgbClr val="334155"/>
                </a:solidFill>
                <a:latin typeface="Inter"/>
              </a:rPr>
              <a:t>. </a:t>
            </a:r>
            <a:r>
              <a:rPr sz="1275" b="0" i="0" u="none" dirty="0" err="1">
                <a:solidFill>
                  <a:srgbClr val="334155"/>
                </a:solidFill>
                <a:latin typeface="Inter"/>
              </a:rPr>
              <a:t>Akademik</a:t>
            </a:r>
            <a:r>
              <a:rPr sz="1275" b="0" i="0" u="none" dirty="0">
                <a:solidFill>
                  <a:srgbClr val="334155"/>
                </a:solidFill>
                <a:latin typeface="Inter"/>
              </a:rPr>
              <a:t>, </a:t>
            </a:r>
            <a:r>
              <a:rPr sz="1275" b="0" i="0" u="none" dirty="0" err="1">
                <a:solidFill>
                  <a:srgbClr val="334155"/>
                </a:solidFill>
                <a:latin typeface="Inter"/>
              </a:rPr>
              <a:t>teknik</a:t>
            </a:r>
            <a:r>
              <a:rPr sz="1275" b="0" i="0" u="none" dirty="0">
                <a:solidFill>
                  <a:srgbClr val="334155"/>
                </a:solidFill>
                <a:latin typeface="Inter"/>
              </a:rPr>
              <a:t> </a:t>
            </a:r>
            <a:r>
              <a:rPr sz="1275" b="0" i="0" u="none" dirty="0" err="1">
                <a:solidFill>
                  <a:srgbClr val="334155"/>
                </a:solidFill>
                <a:latin typeface="Inter"/>
              </a:rPr>
              <a:t>ve</a:t>
            </a:r>
            <a:r>
              <a:rPr sz="1275" b="0" i="0" u="none" dirty="0">
                <a:solidFill>
                  <a:srgbClr val="334155"/>
                </a:solidFill>
                <a:latin typeface="Inter"/>
              </a:rPr>
              <a:t> </a:t>
            </a:r>
            <a:r>
              <a:rPr sz="1275" b="0" i="0" u="none" dirty="0" err="1">
                <a:solidFill>
                  <a:srgbClr val="334155"/>
                </a:solidFill>
                <a:latin typeface="Inter"/>
              </a:rPr>
              <a:t>zorlayıcı</a:t>
            </a:r>
            <a:r>
              <a:rPr sz="1275" b="0" i="0" u="none" dirty="0">
                <a:solidFill>
                  <a:srgbClr val="334155"/>
                </a:solidFill>
                <a:latin typeface="Inter"/>
              </a:rPr>
              <a:t> </a:t>
            </a:r>
            <a:r>
              <a:rPr sz="1275" b="0" i="0" u="none" dirty="0" err="1">
                <a:solidFill>
                  <a:srgbClr val="334155"/>
                </a:solidFill>
                <a:latin typeface="Inter"/>
              </a:rPr>
              <a:t>metinlerde</a:t>
            </a:r>
            <a:r>
              <a:rPr sz="1275" b="0" i="0" u="none" dirty="0">
                <a:solidFill>
                  <a:srgbClr val="334155"/>
                </a:solidFill>
                <a:latin typeface="Inter"/>
              </a:rPr>
              <a:t> </a:t>
            </a:r>
            <a:r>
              <a:rPr sz="1275" b="0" i="0" u="none" dirty="0" err="1">
                <a:solidFill>
                  <a:srgbClr val="334155"/>
                </a:solidFill>
                <a:latin typeface="Inter"/>
              </a:rPr>
              <a:t>bu</a:t>
            </a:r>
            <a:r>
              <a:rPr sz="1275" b="0" i="0" u="none" dirty="0">
                <a:solidFill>
                  <a:srgbClr val="334155"/>
                </a:solidFill>
                <a:latin typeface="Inter"/>
              </a:rPr>
              <a:t> </a:t>
            </a:r>
            <a:r>
              <a:rPr sz="1275" b="0" i="0" u="none" dirty="0" err="1">
                <a:solidFill>
                  <a:srgbClr val="334155"/>
                </a:solidFill>
                <a:latin typeface="Inter"/>
              </a:rPr>
              <a:t>değer</a:t>
            </a:r>
            <a:r>
              <a:rPr sz="1275" b="0" i="0" u="none" dirty="0">
                <a:solidFill>
                  <a:srgbClr val="334155"/>
                </a:solidFill>
                <a:latin typeface="Inter"/>
              </a:rPr>
              <a:t> </a:t>
            </a:r>
            <a:r>
              <a:rPr sz="1275" b="0" i="0" u="none" dirty="0" err="1">
                <a:solidFill>
                  <a:srgbClr val="334155"/>
                </a:solidFill>
                <a:latin typeface="Inter"/>
              </a:rPr>
              <a:t>artar</a:t>
            </a:r>
            <a:r>
              <a:rPr sz="1275" b="0" i="0" u="none" dirty="0">
                <a:solidFill>
                  <a:srgbClr val="334155"/>
                </a:solidFill>
                <a:latin typeface="Inter"/>
              </a:rPr>
              <a:t>; </a:t>
            </a:r>
            <a:r>
              <a:rPr sz="1275" b="0" i="0" u="none" dirty="0" err="1">
                <a:solidFill>
                  <a:srgbClr val="334155"/>
                </a:solidFill>
                <a:latin typeface="Inter"/>
              </a:rPr>
              <a:t>doğrudan</a:t>
            </a:r>
            <a:r>
              <a:rPr sz="1275" b="0" i="0" u="none" dirty="0">
                <a:solidFill>
                  <a:srgbClr val="334155"/>
                </a:solidFill>
                <a:latin typeface="Inter"/>
              </a:rPr>
              <a:t> </a:t>
            </a:r>
            <a:r>
              <a:rPr sz="1275" b="0" i="0" u="none" dirty="0" err="1">
                <a:solidFill>
                  <a:srgbClr val="334155"/>
                </a:solidFill>
                <a:latin typeface="Inter"/>
              </a:rPr>
              <a:t>okunabilirlik</a:t>
            </a:r>
            <a:r>
              <a:rPr sz="1275" b="0" i="0" u="none" dirty="0">
                <a:solidFill>
                  <a:srgbClr val="334155"/>
                </a:solidFill>
                <a:latin typeface="Inter"/>
              </a:rPr>
              <a:t> </a:t>
            </a:r>
            <a:r>
              <a:rPr sz="1275" b="0" i="0" u="none" dirty="0" err="1">
                <a:solidFill>
                  <a:srgbClr val="334155"/>
                </a:solidFill>
                <a:latin typeface="Inter"/>
              </a:rPr>
              <a:t>göstergesidir</a:t>
            </a:r>
            <a:r>
              <a:rPr sz="1275" b="0" i="0" u="none" dirty="0">
                <a:solidFill>
                  <a:srgbClr val="334155"/>
                </a:solidFill>
                <a:latin typeface="Inter"/>
              </a:rPr>
              <a:t>.</a:t>
            </a:r>
          </a:p>
        </p:txBody>
      </p:sp>
      <p:pic>
        <p:nvPicPr>
          <p:cNvPr id="21" name="Picture 20" descr="image.png"/>
          <p:cNvPicPr>
            <a:picLocks noChangeAspect="1"/>
          </p:cNvPicPr>
          <p:nvPr/>
        </p:nvPicPr>
        <p:blipFill>
          <a:blip r:embed="rId8"/>
          <a:stretch>
            <a:fillRect/>
          </a:stretch>
        </p:blipFill>
        <p:spPr>
          <a:xfrm>
            <a:off x="971788" y="1580256"/>
            <a:ext cx="447675" cy="419100"/>
          </a:xfrm>
          <a:prstGeom prst="rect">
            <a:avLst/>
          </a:prstGeom>
        </p:spPr>
      </p:pic>
      <p:pic>
        <p:nvPicPr>
          <p:cNvPr id="22" name="Picture 21" descr="image.png"/>
          <p:cNvPicPr>
            <a:picLocks noChangeAspect="1"/>
          </p:cNvPicPr>
          <p:nvPr/>
        </p:nvPicPr>
        <p:blipFill>
          <a:blip r:embed="rId9"/>
          <a:stretch>
            <a:fillRect/>
          </a:stretch>
        </p:blipFill>
        <p:spPr>
          <a:xfrm>
            <a:off x="955358" y="3565698"/>
            <a:ext cx="361950" cy="419100"/>
          </a:xfrm>
          <a:prstGeom prst="rect">
            <a:avLst/>
          </a:prstGeom>
        </p:spPr>
      </p:pic>
      <p:pic>
        <p:nvPicPr>
          <p:cNvPr id="23" name="Picture 22" descr="image.png"/>
          <p:cNvPicPr>
            <a:picLocks noChangeAspect="1"/>
          </p:cNvPicPr>
          <p:nvPr/>
        </p:nvPicPr>
        <p:blipFill>
          <a:blip r:embed="rId10"/>
          <a:stretch>
            <a:fillRect/>
          </a:stretch>
        </p:blipFill>
        <p:spPr>
          <a:xfrm>
            <a:off x="926783" y="5357960"/>
            <a:ext cx="419100" cy="419100"/>
          </a:xfrm>
          <a:prstGeom prst="rect">
            <a:avLst/>
          </a:prstGeom>
        </p:spPr>
      </p:pic>
      <p:pic>
        <p:nvPicPr>
          <p:cNvPr id="24" name="Picture 23" descr="image.png"/>
          <p:cNvPicPr>
            <a:picLocks noChangeAspect="1"/>
          </p:cNvPicPr>
          <p:nvPr/>
        </p:nvPicPr>
        <p:blipFill>
          <a:blip r:embed="rId11"/>
          <a:stretch>
            <a:fillRect/>
          </a:stretch>
        </p:blipFill>
        <p:spPr>
          <a:xfrm>
            <a:off x="6581775" y="1595998"/>
            <a:ext cx="419100" cy="419100"/>
          </a:xfrm>
          <a:prstGeom prst="rect">
            <a:avLst/>
          </a:prstGeom>
        </p:spPr>
      </p:pic>
      <p:pic>
        <p:nvPicPr>
          <p:cNvPr id="25" name="Picture 24" descr="image.png"/>
          <p:cNvPicPr>
            <a:picLocks noChangeAspect="1"/>
          </p:cNvPicPr>
          <p:nvPr/>
        </p:nvPicPr>
        <p:blipFill>
          <a:blip r:embed="rId12"/>
          <a:stretch>
            <a:fillRect/>
          </a:stretch>
        </p:blipFill>
        <p:spPr>
          <a:xfrm>
            <a:off x="6586537" y="3482226"/>
            <a:ext cx="390525" cy="419100"/>
          </a:xfrm>
          <a:prstGeom prst="rect">
            <a:avLst/>
          </a:prstGeom>
        </p:spPr>
      </p:pic>
      <p:sp>
        <p:nvSpPr>
          <p:cNvPr id="27" name="TextBox 26"/>
          <p:cNvSpPr txBox="1"/>
          <p:nvPr/>
        </p:nvSpPr>
        <p:spPr>
          <a:xfrm>
            <a:off x="666750" y="461554"/>
            <a:ext cx="11401425" cy="450701"/>
          </a:xfrm>
          <a:prstGeom prst="rect">
            <a:avLst/>
          </a:prstGeom>
          <a:noFill/>
        </p:spPr>
        <p:txBody>
          <a:bodyPr wrap="square" lIns="0" tIns="0" rIns="0" bIns="0" anchor="t">
            <a:spAutoFit/>
          </a:bodyPr>
          <a:lstStyle/>
          <a:p>
            <a:pPr algn="l">
              <a:lnSpc>
                <a:spcPts val="3779"/>
              </a:lnSpc>
            </a:pPr>
            <a:r>
              <a:rPr sz="2550" b="1" dirty="0" err="1">
                <a:solidFill>
                  <a:srgbClr val="005088"/>
                </a:solidFill>
                <a:latin typeface="Merriweather"/>
              </a:rPr>
              <a:t>Metin</a:t>
            </a:r>
            <a:r>
              <a:rPr sz="2550" b="1" dirty="0">
                <a:solidFill>
                  <a:srgbClr val="005088"/>
                </a:solidFill>
                <a:latin typeface="Merriweather"/>
              </a:rPr>
              <a:t> </a:t>
            </a:r>
            <a:r>
              <a:rPr sz="2550" b="1" dirty="0" err="1">
                <a:solidFill>
                  <a:srgbClr val="005088"/>
                </a:solidFill>
                <a:latin typeface="Merriweather"/>
              </a:rPr>
              <a:t>Karmaşıklığı</a:t>
            </a:r>
            <a:r>
              <a:rPr sz="2550" b="1" dirty="0">
                <a:solidFill>
                  <a:srgbClr val="005088"/>
                </a:solidFill>
                <a:latin typeface="Merriweather"/>
              </a:rPr>
              <a:t> </a:t>
            </a:r>
            <a:r>
              <a:rPr sz="2550" b="1" dirty="0" err="1">
                <a:solidFill>
                  <a:srgbClr val="005088"/>
                </a:solidFill>
                <a:latin typeface="Merriweather"/>
              </a:rPr>
              <a:t>Öznitelikleri</a:t>
            </a:r>
            <a:endParaRPr sz="2550" b="1" dirty="0">
              <a:solidFill>
                <a:srgbClr val="005088"/>
              </a:solidFill>
              <a:latin typeface="Merriweather"/>
            </a:endParaRPr>
          </a:p>
        </p:txBody>
      </p:sp>
      <p:pic>
        <p:nvPicPr>
          <p:cNvPr id="31" name="Picture 1" descr="image.png">
            <a:extLst>
              <a:ext uri="{FF2B5EF4-FFF2-40B4-BE49-F238E27FC236}">
                <a16:creationId xmlns:a16="http://schemas.microsoft.com/office/drawing/2014/main" id="{DD650860-3E93-B12B-297E-9B71E80AF1A2}"/>
              </a:ext>
            </a:extLst>
          </p:cNvPr>
          <p:cNvPicPr>
            <a:picLocks noChangeAspect="1"/>
          </p:cNvPicPr>
          <p:nvPr/>
        </p:nvPicPr>
        <p:blipFill>
          <a:blip r:embed="rId13"/>
          <a:stretch>
            <a:fillRect/>
          </a:stretch>
        </p:blipFill>
        <p:spPr>
          <a:xfrm>
            <a:off x="666750" y="952500"/>
            <a:ext cx="10858500" cy="171450"/>
          </a:xfrm>
          <a:prstGeom prst="rect">
            <a:avLst/>
          </a:prstGeom>
        </p:spPr>
      </p:pic>
      <p:pic>
        <p:nvPicPr>
          <p:cNvPr id="32" name="İçerik Yer Tutucusu 10">
            <a:extLst>
              <a:ext uri="{FF2B5EF4-FFF2-40B4-BE49-F238E27FC236}">
                <a16:creationId xmlns:a16="http://schemas.microsoft.com/office/drawing/2014/main" id="{78FB6D0A-0B3E-79AE-2D6A-F711D39EB4C9}"/>
              </a:ext>
            </a:extLst>
          </p:cNvPr>
          <p:cNvPicPr>
            <a:picLocks noChangeAspect="1"/>
          </p:cNvPicPr>
          <p:nvPr/>
        </p:nvPicPr>
        <p:blipFill>
          <a:blip r:embed="rId14">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5" name="Picture 4" descr="image.png"/>
          <p:cNvPicPr>
            <a:picLocks noChangeAspect="1"/>
          </p:cNvPicPr>
          <p:nvPr/>
        </p:nvPicPr>
        <p:blipFill>
          <a:blip r:embed="rId3"/>
          <a:stretch>
            <a:fillRect/>
          </a:stretch>
        </p:blipFill>
        <p:spPr>
          <a:xfrm>
            <a:off x="571500" y="1252537"/>
            <a:ext cx="5334000" cy="1666875"/>
          </a:xfrm>
          <a:prstGeom prst="rect">
            <a:avLst/>
          </a:prstGeom>
        </p:spPr>
      </p:pic>
      <p:pic>
        <p:nvPicPr>
          <p:cNvPr id="6" name="Picture 5" descr="image.png"/>
          <p:cNvPicPr>
            <a:picLocks noChangeAspect="1"/>
          </p:cNvPicPr>
          <p:nvPr/>
        </p:nvPicPr>
        <p:blipFill>
          <a:blip r:embed="rId4"/>
          <a:stretch>
            <a:fillRect/>
          </a:stretch>
        </p:blipFill>
        <p:spPr>
          <a:xfrm>
            <a:off x="6286500" y="1252537"/>
            <a:ext cx="5334000" cy="1666875"/>
          </a:xfrm>
          <a:prstGeom prst="rect">
            <a:avLst/>
          </a:prstGeom>
        </p:spPr>
      </p:pic>
      <p:pic>
        <p:nvPicPr>
          <p:cNvPr id="7" name="Picture 6" descr="image.png"/>
          <p:cNvPicPr>
            <a:picLocks noChangeAspect="1"/>
          </p:cNvPicPr>
          <p:nvPr/>
        </p:nvPicPr>
        <p:blipFill>
          <a:blip r:embed="rId5"/>
          <a:stretch>
            <a:fillRect/>
          </a:stretch>
        </p:blipFill>
        <p:spPr>
          <a:xfrm>
            <a:off x="857250" y="2347912"/>
            <a:ext cx="4810125" cy="333375"/>
          </a:xfrm>
          <a:prstGeom prst="rect">
            <a:avLst/>
          </a:prstGeom>
        </p:spPr>
      </p:pic>
      <p:pic>
        <p:nvPicPr>
          <p:cNvPr id="8" name="Picture 7" descr="image.png"/>
          <p:cNvPicPr>
            <a:picLocks noChangeAspect="1"/>
          </p:cNvPicPr>
          <p:nvPr/>
        </p:nvPicPr>
        <p:blipFill>
          <a:blip r:embed="rId6"/>
          <a:stretch>
            <a:fillRect/>
          </a:stretch>
        </p:blipFill>
        <p:spPr>
          <a:xfrm>
            <a:off x="6572250" y="2347912"/>
            <a:ext cx="4810125" cy="333375"/>
          </a:xfrm>
          <a:prstGeom prst="rect">
            <a:avLst/>
          </a:prstGeom>
        </p:spPr>
      </p:pic>
      <p:sp>
        <p:nvSpPr>
          <p:cNvPr id="9" name="TextBox 8"/>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İki Aşamalı Öznitelik Seçimi (Feature Selection)</a:t>
            </a:r>
          </a:p>
        </p:txBody>
      </p:sp>
      <p:sp>
        <p:nvSpPr>
          <p:cNvPr id="10" name="Rectangle 9"/>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2" name="TextBox 11"/>
          <p:cNvSpPr txBox="1"/>
          <p:nvPr/>
        </p:nvSpPr>
        <p:spPr>
          <a:xfrm>
            <a:off x="11210925" y="6496050"/>
            <a:ext cx="4095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14</a:t>
            </a:r>
          </a:p>
        </p:txBody>
      </p:sp>
      <p:sp>
        <p:nvSpPr>
          <p:cNvPr id="14" name="TextBox 13"/>
          <p:cNvSpPr txBox="1"/>
          <p:nvPr/>
        </p:nvSpPr>
        <p:spPr>
          <a:xfrm>
            <a:off x="857250" y="1490662"/>
            <a:ext cx="5050631" cy="238125"/>
          </a:xfrm>
          <a:prstGeom prst="rect">
            <a:avLst/>
          </a:prstGeom>
          <a:noFill/>
        </p:spPr>
        <p:txBody>
          <a:bodyPr wrap="square" lIns="0" tIns="0" rIns="0" bIns="0" anchor="t">
            <a:spAutoFit/>
          </a:bodyPr>
          <a:lstStyle/>
          <a:p>
            <a:pPr algn="l"/>
            <a:r>
              <a:rPr sz="1500" b="1" i="0" u="none">
                <a:solidFill>
                  <a:srgbClr val="005088"/>
                </a:solidFill>
                <a:latin typeface="Merriweather"/>
              </a:rPr>
              <a:t>1. Karşılıklı Bilgi (Mutual Information)</a:t>
            </a:r>
          </a:p>
        </p:txBody>
      </p:sp>
      <p:sp>
        <p:nvSpPr>
          <p:cNvPr id="15" name="TextBox 14"/>
          <p:cNvSpPr txBox="1"/>
          <p:nvPr/>
        </p:nvSpPr>
        <p:spPr>
          <a:xfrm>
            <a:off x="857250" y="1824037"/>
            <a:ext cx="4810125" cy="428625"/>
          </a:xfrm>
          <a:prstGeom prst="rect">
            <a:avLst/>
          </a:prstGeom>
          <a:noFill/>
        </p:spPr>
        <p:txBody>
          <a:bodyPr wrap="square" lIns="0" tIns="0" rIns="0" bIns="0" anchor="t">
            <a:spAutoFit/>
          </a:bodyPr>
          <a:lstStyle/>
          <a:p>
            <a:pPr algn="l">
              <a:lnSpc>
                <a:spcPts val="1687"/>
              </a:lnSpc>
            </a:pPr>
            <a:r>
              <a:rPr sz="1125" b="0" i="0" u="none">
                <a:solidFill>
                  <a:srgbClr val="475569"/>
                </a:solidFill>
                <a:latin typeface="DM Sans"/>
              </a:rPr>
              <a:t>Özniteliklerin hedef sınıf değişkeni (Zararlı / Meşru) üzerindeki bağımlılık derecesini ölçer. Lineer olmayan ilişkileri yakalar.</a:t>
            </a:r>
          </a:p>
        </p:txBody>
      </p:sp>
      <p:sp>
        <p:nvSpPr>
          <p:cNvPr id="16" name="TextBox 15"/>
          <p:cNvSpPr txBox="1"/>
          <p:nvPr/>
        </p:nvSpPr>
        <p:spPr>
          <a:xfrm>
            <a:off x="6572250" y="1490662"/>
            <a:ext cx="5050631" cy="238125"/>
          </a:xfrm>
          <a:prstGeom prst="rect">
            <a:avLst/>
          </a:prstGeom>
          <a:noFill/>
        </p:spPr>
        <p:txBody>
          <a:bodyPr wrap="square" lIns="0" tIns="0" rIns="0" bIns="0" anchor="t">
            <a:spAutoFit/>
          </a:bodyPr>
          <a:lstStyle/>
          <a:p>
            <a:pPr algn="l"/>
            <a:r>
              <a:rPr sz="1500" b="1" i="0" u="none">
                <a:solidFill>
                  <a:srgbClr val="065F46"/>
                </a:solidFill>
                <a:latin typeface="Merriweather"/>
              </a:rPr>
              <a:t>2. Pearson Korelasyon Analizi</a:t>
            </a:r>
          </a:p>
        </p:txBody>
      </p:sp>
      <p:sp>
        <p:nvSpPr>
          <p:cNvPr id="17" name="TextBox 16"/>
          <p:cNvSpPr txBox="1"/>
          <p:nvPr/>
        </p:nvSpPr>
        <p:spPr>
          <a:xfrm>
            <a:off x="6572250" y="1824037"/>
            <a:ext cx="4810125" cy="428625"/>
          </a:xfrm>
          <a:prstGeom prst="rect">
            <a:avLst/>
          </a:prstGeom>
          <a:noFill/>
        </p:spPr>
        <p:txBody>
          <a:bodyPr wrap="square" lIns="0" tIns="0" rIns="0" bIns="0" anchor="t">
            <a:spAutoFit/>
          </a:bodyPr>
          <a:lstStyle/>
          <a:p>
            <a:pPr algn="l">
              <a:lnSpc>
                <a:spcPts val="1687"/>
              </a:lnSpc>
            </a:pPr>
            <a:r>
              <a:rPr sz="1125" b="0" i="0" u="none">
                <a:solidFill>
                  <a:srgbClr val="475569"/>
                </a:solidFill>
                <a:latin typeface="DM Sans"/>
              </a:rPr>
              <a:t>Yüksek derecede birbiriyle ilişkili (çoklu doğrusallık gösteren, r &gt; 0.85) öznitelik çiftleri elenerek modelin boyutsallığı düşürülmüştür.</a:t>
            </a:r>
          </a:p>
        </p:txBody>
      </p:sp>
      <p:pic>
        <p:nvPicPr>
          <p:cNvPr id="18" name="Picture 1" descr="image.png">
            <a:extLst>
              <a:ext uri="{FF2B5EF4-FFF2-40B4-BE49-F238E27FC236}">
                <a16:creationId xmlns:a16="http://schemas.microsoft.com/office/drawing/2014/main" id="{EB674CD2-0A2D-DBAF-A6B6-6A5723A7709B}"/>
              </a:ext>
            </a:extLst>
          </p:cNvPr>
          <p:cNvPicPr>
            <a:picLocks noChangeAspect="1"/>
          </p:cNvPicPr>
          <p:nvPr/>
        </p:nvPicPr>
        <p:blipFill>
          <a:blip r:embed="rId7"/>
          <a:stretch>
            <a:fillRect/>
          </a:stretch>
        </p:blipFill>
        <p:spPr>
          <a:xfrm>
            <a:off x="666750" y="952500"/>
            <a:ext cx="10858500" cy="171450"/>
          </a:xfrm>
          <a:prstGeom prst="rect">
            <a:avLst/>
          </a:prstGeom>
        </p:spPr>
      </p:pic>
      <p:pic>
        <p:nvPicPr>
          <p:cNvPr id="19" name="İçerik Yer Tutucusu 10">
            <a:extLst>
              <a:ext uri="{FF2B5EF4-FFF2-40B4-BE49-F238E27FC236}">
                <a16:creationId xmlns:a16="http://schemas.microsoft.com/office/drawing/2014/main" id="{1207C079-E5F0-B37F-559C-1EE79886DE18}"/>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980408"/>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a:solidFill>
                  <a:srgbClr val="FFFFFF"/>
                </a:solidFill>
                <a:latin typeface="DM Sans"/>
              </a:rPr>
              <a:t>SAKARYA ÜNİVERSİTESİ</a:t>
            </a:r>
          </a:p>
        </p:txBody>
      </p:sp>
      <p:sp>
        <p:nvSpPr>
          <p:cNvPr id="5" name="TextBox 4"/>
          <p:cNvSpPr txBox="1"/>
          <p:nvPr/>
        </p:nvSpPr>
        <p:spPr>
          <a:xfrm>
            <a:off x="2095500" y="2309961"/>
            <a:ext cx="8001000" cy="238125"/>
          </a:xfrm>
          <a:prstGeom prst="rect">
            <a:avLst/>
          </a:prstGeom>
          <a:noFill/>
        </p:spPr>
        <p:txBody>
          <a:bodyPr wrap="square" lIns="0" tIns="0" rIns="0" bIns="0" anchor="t">
            <a:spAutoFit/>
          </a:bodyPr>
          <a:lstStyle/>
          <a:p>
            <a:pPr algn="ctr"/>
            <a:r>
              <a:rPr sz="1500" b="1" i="0" u="none">
                <a:solidFill>
                  <a:srgbClr val="C5A059"/>
                </a:solidFill>
                <a:latin typeface="Merriweather"/>
              </a:rPr>
              <a:t>BÖLÜM 04</a:t>
            </a: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400" y="6534150"/>
            <a:ext cx="457200" cy="126958"/>
          </a:xfrm>
          <a:prstGeom prst="rect">
            <a:avLst/>
          </a:prstGeom>
          <a:noFill/>
        </p:spPr>
        <p:txBody>
          <a:bodyPr wrap="square" lIns="0" tIns="0" rIns="0" bIns="0" anchor="t">
            <a:spAutoFit/>
          </a:bodyPr>
          <a:lstStyle/>
          <a:p>
            <a:pPr algn="l"/>
            <a:r>
              <a:rPr sz="825" b="0" i="0" u="none">
                <a:solidFill>
                  <a:srgbClr val="94A3B8"/>
                </a:solidFill>
                <a:latin typeface="DM Sans"/>
              </a:rPr>
              <a:t>Slayt </a:t>
            </a:r>
            <a:r>
              <a:rPr lang="tr-TR" sz="825" b="0" i="0" u="none">
                <a:solidFill>
                  <a:srgbClr val="94A3B8"/>
                </a:solidFill>
                <a:latin typeface="DM Sans"/>
              </a:rPr>
              <a:t>15</a:t>
            </a:r>
          </a:p>
        </p:txBody>
      </p:sp>
      <p:pic>
        <p:nvPicPr>
          <p:cNvPr id="10" name="İçerik Yer Tutucusu 10">
            <a:extLst>
              <a:ext uri="{FF2B5EF4-FFF2-40B4-BE49-F238E27FC236}">
                <a16:creationId xmlns:a16="http://schemas.microsoft.com/office/drawing/2014/main" id="{B37786D2-57C1-72F5-BBAE-597F6ED3EF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93713" y="286767"/>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3">
            <a:extLst>
              <a:ext uri="{FF2B5EF4-FFF2-40B4-BE49-F238E27FC236}">
                <a16:creationId xmlns:a16="http://schemas.microsoft.com/office/drawing/2014/main" id="{56DF2EE7-ACCD-5D48-5151-2C940968B18B}"/>
              </a:ext>
            </a:extLst>
          </p:cNvPr>
          <p:cNvSpPr txBox="1"/>
          <p:nvPr/>
        </p:nvSpPr>
        <p:spPr>
          <a:xfrm>
            <a:off x="295275" y="2638425"/>
            <a:ext cx="11601450" cy="1143000"/>
          </a:xfrm>
          <a:prstGeom prst="rect">
            <a:avLst/>
          </a:prstGeom>
          <a:noFill/>
        </p:spPr>
        <p:txBody>
          <a:bodyPr wrap="square" lIns="0" tIns="0" rIns="0" bIns="0" anchor="t">
            <a:spAutoFit/>
          </a:bodyPr>
          <a:lstStyle/>
          <a:p>
            <a:pPr algn="ctr"/>
            <a:r>
              <a:rPr sz="3600" b="1" i="0" u="none" dirty="0">
                <a:solidFill>
                  <a:srgbClr val="FFFFFF"/>
                </a:solidFill>
                <a:latin typeface="Merriweather"/>
              </a:rPr>
              <a:t>MAKİNE ÖĞRENMESİ ALGORİTMALARI VE MODELLEME</a:t>
            </a:r>
          </a:p>
        </p:txBody>
      </p:sp>
      <p:sp>
        <p:nvSpPr>
          <p:cNvPr id="12" name="TextBox 4">
            <a:extLst>
              <a:ext uri="{FF2B5EF4-FFF2-40B4-BE49-F238E27FC236}">
                <a16:creationId xmlns:a16="http://schemas.microsoft.com/office/drawing/2014/main" id="{DF65916F-B89C-9397-84BC-DE2FB69D63D8}"/>
              </a:ext>
            </a:extLst>
          </p:cNvPr>
          <p:cNvSpPr txBox="1"/>
          <p:nvPr/>
        </p:nvSpPr>
        <p:spPr>
          <a:xfrm>
            <a:off x="2286000" y="4187214"/>
            <a:ext cx="7620000" cy="571500"/>
          </a:xfrm>
          <a:prstGeom prst="rect">
            <a:avLst/>
          </a:prstGeom>
          <a:noFill/>
        </p:spPr>
        <p:txBody>
          <a:bodyPr wrap="square" lIns="0" tIns="0" rIns="0" bIns="0" anchor="t">
            <a:spAutoFit/>
          </a:bodyPr>
          <a:lstStyle/>
          <a:p>
            <a:pPr algn="ctr">
              <a:lnSpc>
                <a:spcPts val="2250"/>
              </a:lnSpc>
            </a:pPr>
            <a:r>
              <a:rPr sz="1500" b="0" i="0" u="none" dirty="0" err="1">
                <a:solidFill>
                  <a:srgbClr val="CBD5E1"/>
                </a:solidFill>
                <a:latin typeface="DM Sans"/>
              </a:rPr>
              <a:t>Sınıflandırma</a:t>
            </a:r>
            <a:r>
              <a:rPr sz="1500" b="0" i="0" u="none" dirty="0">
                <a:solidFill>
                  <a:srgbClr val="CBD5E1"/>
                </a:solidFill>
                <a:latin typeface="DM Sans"/>
              </a:rPr>
              <a:t> </a:t>
            </a:r>
            <a:r>
              <a:rPr sz="1500" b="0" i="0" u="none" dirty="0" err="1">
                <a:solidFill>
                  <a:srgbClr val="CBD5E1"/>
                </a:solidFill>
                <a:latin typeface="DM Sans"/>
              </a:rPr>
              <a:t>Algoritmalarının</a:t>
            </a:r>
            <a:r>
              <a:rPr sz="1500" b="0" i="0" u="none" dirty="0">
                <a:solidFill>
                  <a:srgbClr val="CBD5E1"/>
                </a:solidFill>
                <a:latin typeface="DM Sans"/>
              </a:rPr>
              <a:t> </a:t>
            </a:r>
            <a:r>
              <a:rPr sz="1500" b="0" i="0" u="none" dirty="0" err="1">
                <a:solidFill>
                  <a:srgbClr val="CBD5E1"/>
                </a:solidFill>
                <a:latin typeface="DM Sans"/>
              </a:rPr>
              <a:t>Kuramsal</a:t>
            </a:r>
            <a:r>
              <a:rPr sz="1500" b="0" i="0" u="none" dirty="0">
                <a:solidFill>
                  <a:srgbClr val="CBD5E1"/>
                </a:solidFill>
                <a:latin typeface="DM Sans"/>
              </a:rPr>
              <a:t> </a:t>
            </a:r>
            <a:r>
              <a:rPr sz="1500" b="0" i="0" u="none" dirty="0" err="1">
                <a:solidFill>
                  <a:srgbClr val="CBD5E1"/>
                </a:solidFill>
                <a:latin typeface="DM Sans"/>
              </a:rPr>
              <a:t>Altyapısı</a:t>
            </a:r>
            <a:r>
              <a:rPr sz="1500" b="0" i="0" u="none" dirty="0">
                <a:solidFill>
                  <a:srgbClr val="CBD5E1"/>
                </a:solidFill>
                <a:latin typeface="DM Sans"/>
              </a:rPr>
              <a:t>, </a:t>
            </a:r>
            <a:r>
              <a:rPr sz="1500" b="0" i="0" u="none" dirty="0" err="1">
                <a:solidFill>
                  <a:srgbClr val="CBD5E1"/>
                </a:solidFill>
                <a:latin typeface="DM Sans"/>
              </a:rPr>
              <a:t>Hiperparametre</a:t>
            </a:r>
            <a:r>
              <a:rPr sz="1500" b="0" i="0" u="none" dirty="0">
                <a:solidFill>
                  <a:srgbClr val="CBD5E1"/>
                </a:solidFill>
                <a:latin typeface="DM Sans"/>
              </a:rPr>
              <a:t> </a:t>
            </a:r>
            <a:r>
              <a:rPr sz="1500" b="0" i="0" u="none" dirty="0" err="1">
                <a:solidFill>
                  <a:srgbClr val="CBD5E1"/>
                </a:solidFill>
                <a:latin typeface="DM Sans"/>
              </a:rPr>
              <a:t>Optimizasyonu</a:t>
            </a:r>
            <a:r>
              <a:rPr sz="1500" b="0" i="0" u="none" dirty="0">
                <a:solidFill>
                  <a:srgbClr val="CBD5E1"/>
                </a:solidFill>
                <a:latin typeface="DM Sans"/>
              </a:rPr>
              <a:t> </a:t>
            </a:r>
            <a:r>
              <a:rPr sz="1500" b="0" i="0" u="none" dirty="0" err="1">
                <a:solidFill>
                  <a:srgbClr val="CBD5E1"/>
                </a:solidFill>
                <a:latin typeface="DM Sans"/>
              </a:rPr>
              <a:t>ve</a:t>
            </a:r>
            <a:r>
              <a:rPr sz="1500" b="0" i="0" u="none" dirty="0">
                <a:solidFill>
                  <a:srgbClr val="CBD5E1"/>
                </a:solidFill>
                <a:latin typeface="DM Sans"/>
              </a:rPr>
              <a:t> Model </a:t>
            </a:r>
            <a:r>
              <a:rPr sz="1500" b="0" i="0" u="none" dirty="0" err="1">
                <a:solidFill>
                  <a:srgbClr val="CBD5E1"/>
                </a:solidFill>
                <a:latin typeface="DM Sans"/>
              </a:rPr>
              <a:t>Mimarileri</a:t>
            </a:r>
            <a:endParaRPr sz="1500" b="0" i="0" u="none" dirty="0">
              <a:solidFill>
                <a:srgbClr val="CBD5E1"/>
              </a:solidFill>
              <a:latin typeface="DM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2655093" cy="1728787"/>
          </a:xfrm>
          <a:prstGeom prst="rect">
            <a:avLst/>
          </a:prstGeom>
        </p:spPr>
      </p:pic>
      <p:pic>
        <p:nvPicPr>
          <p:cNvPr id="5" name="Picture 4" descr="image.png"/>
          <p:cNvPicPr>
            <a:picLocks noChangeAspect="1"/>
          </p:cNvPicPr>
          <p:nvPr/>
        </p:nvPicPr>
        <p:blipFill>
          <a:blip r:embed="rId4"/>
          <a:stretch>
            <a:fillRect/>
          </a:stretch>
        </p:blipFill>
        <p:spPr>
          <a:xfrm>
            <a:off x="3369468" y="1252537"/>
            <a:ext cx="2655093" cy="1728787"/>
          </a:xfrm>
          <a:prstGeom prst="rect">
            <a:avLst/>
          </a:prstGeom>
        </p:spPr>
      </p:pic>
      <p:pic>
        <p:nvPicPr>
          <p:cNvPr id="6" name="Picture 5" descr="image.png"/>
          <p:cNvPicPr>
            <a:picLocks noChangeAspect="1"/>
          </p:cNvPicPr>
          <p:nvPr/>
        </p:nvPicPr>
        <p:blipFill>
          <a:blip r:embed="rId5"/>
          <a:stretch>
            <a:fillRect/>
          </a:stretch>
        </p:blipFill>
        <p:spPr>
          <a:xfrm>
            <a:off x="6167437" y="1252537"/>
            <a:ext cx="2655093" cy="1728787"/>
          </a:xfrm>
          <a:prstGeom prst="rect">
            <a:avLst/>
          </a:prstGeom>
        </p:spPr>
      </p:pic>
      <p:pic>
        <p:nvPicPr>
          <p:cNvPr id="7" name="Picture 6" descr="image.png"/>
          <p:cNvPicPr>
            <a:picLocks noChangeAspect="1"/>
          </p:cNvPicPr>
          <p:nvPr/>
        </p:nvPicPr>
        <p:blipFill>
          <a:blip r:embed="rId6"/>
          <a:stretch>
            <a:fillRect/>
          </a:stretch>
        </p:blipFill>
        <p:spPr>
          <a:xfrm>
            <a:off x="8965406" y="1252537"/>
            <a:ext cx="2655093" cy="1728787"/>
          </a:xfrm>
          <a:prstGeom prst="rect">
            <a:avLst/>
          </a:prstGeom>
        </p:spPr>
      </p:pic>
      <p:sp>
        <p:nvSpPr>
          <p:cNvPr id="8" name="TextBox 7"/>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Karşılaştırmalı Diğer Yöntemler ve Modellere Bakış</a:t>
            </a:r>
          </a:p>
        </p:txBody>
      </p:sp>
      <p:sp>
        <p:nvSpPr>
          <p:cNvPr id="9" name="Rectangle 8"/>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1" name="TextBox 10"/>
          <p:cNvSpPr txBox="1"/>
          <p:nvPr/>
        </p:nvSpPr>
        <p:spPr>
          <a:xfrm>
            <a:off x="11210925" y="6496050"/>
            <a:ext cx="4095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a:t>
            </a:r>
            <a:r>
              <a:rPr lang="tr-TR" sz="900" b="0" i="0" u="none">
                <a:solidFill>
                  <a:srgbClr val="94A3B8"/>
                </a:solidFill>
                <a:latin typeface="DM Sans"/>
              </a:rPr>
              <a:t>6</a:t>
            </a:r>
            <a:endParaRPr sz="900" b="0" i="0" u="none">
              <a:solidFill>
                <a:srgbClr val="94A3B8"/>
              </a:solidFill>
              <a:latin typeface="DM Sans"/>
            </a:endParaRPr>
          </a:p>
        </p:txBody>
      </p:sp>
      <p:sp>
        <p:nvSpPr>
          <p:cNvPr id="12" name="TextBox 11"/>
          <p:cNvSpPr txBox="1"/>
          <p:nvPr/>
        </p:nvSpPr>
        <p:spPr>
          <a:xfrm>
            <a:off x="752475" y="1957387"/>
            <a:ext cx="2407800" cy="190500"/>
          </a:xfrm>
          <a:prstGeom prst="rect">
            <a:avLst/>
          </a:prstGeom>
          <a:noFill/>
        </p:spPr>
        <p:txBody>
          <a:bodyPr wrap="square" lIns="0" tIns="0" rIns="0" bIns="0" anchor="t">
            <a:spAutoFit/>
          </a:bodyPr>
          <a:lstStyle/>
          <a:p>
            <a:pPr algn="l"/>
            <a:r>
              <a:rPr sz="1200" b="1" i="0" u="none" dirty="0" err="1">
                <a:solidFill>
                  <a:srgbClr val="0F172A"/>
                </a:solidFill>
                <a:latin typeface="Merriweather"/>
              </a:rPr>
              <a:t>Lojistik</a:t>
            </a:r>
            <a:r>
              <a:rPr sz="1200" b="1" i="0" u="none" dirty="0">
                <a:solidFill>
                  <a:srgbClr val="0F172A"/>
                </a:solidFill>
                <a:latin typeface="Merriweather"/>
              </a:rPr>
              <a:t> </a:t>
            </a:r>
            <a:r>
              <a:rPr sz="1200" b="1" i="0" u="none" dirty="0" err="1">
                <a:solidFill>
                  <a:srgbClr val="0F172A"/>
                </a:solidFill>
                <a:latin typeface="Merriweather"/>
              </a:rPr>
              <a:t>Regresyon</a:t>
            </a:r>
            <a:endParaRPr sz="1200" b="1" i="0" u="none" dirty="0">
              <a:solidFill>
                <a:srgbClr val="0F172A"/>
              </a:solidFill>
              <a:latin typeface="Merriweather"/>
            </a:endParaRPr>
          </a:p>
        </p:txBody>
      </p:sp>
      <p:sp>
        <p:nvSpPr>
          <p:cNvPr id="13" name="TextBox 12"/>
          <p:cNvSpPr txBox="1"/>
          <p:nvPr/>
        </p:nvSpPr>
        <p:spPr>
          <a:xfrm>
            <a:off x="752475" y="2243137"/>
            <a:ext cx="2293143" cy="557212"/>
          </a:xfrm>
          <a:prstGeom prst="rect">
            <a:avLst/>
          </a:prstGeom>
          <a:noFill/>
        </p:spPr>
        <p:txBody>
          <a:bodyPr wrap="square" lIns="0" tIns="0" rIns="0" bIns="0" anchor="t">
            <a:spAutoFit/>
          </a:bodyPr>
          <a:lstStyle/>
          <a:p>
            <a:pPr algn="l">
              <a:lnSpc>
                <a:spcPts val="1462"/>
              </a:lnSpc>
            </a:pPr>
            <a:r>
              <a:rPr sz="975" b="0" i="0" u="none" dirty="0" err="1">
                <a:solidFill>
                  <a:srgbClr val="64748B"/>
                </a:solidFill>
                <a:latin typeface="DM Sans"/>
              </a:rPr>
              <a:t>Lineer</a:t>
            </a:r>
            <a:r>
              <a:rPr sz="975" b="0" i="0" u="none" dirty="0">
                <a:solidFill>
                  <a:srgbClr val="64748B"/>
                </a:solidFill>
                <a:latin typeface="DM Sans"/>
              </a:rPr>
              <a:t> </a:t>
            </a:r>
            <a:r>
              <a:rPr sz="975" b="0" i="0" u="none" dirty="0" err="1">
                <a:solidFill>
                  <a:srgbClr val="64748B"/>
                </a:solidFill>
                <a:latin typeface="DM Sans"/>
              </a:rPr>
              <a:t>doğrultuda</a:t>
            </a:r>
            <a:r>
              <a:rPr sz="975" b="0" i="0" u="none" dirty="0">
                <a:solidFill>
                  <a:srgbClr val="64748B"/>
                </a:solidFill>
                <a:latin typeface="DM Sans"/>
              </a:rPr>
              <a:t> Sigmoid </a:t>
            </a:r>
            <a:r>
              <a:rPr sz="975" b="0" i="0" u="none" dirty="0" err="1">
                <a:solidFill>
                  <a:srgbClr val="64748B"/>
                </a:solidFill>
                <a:latin typeface="DM Sans"/>
              </a:rPr>
              <a:t>fonksiyonuyla</a:t>
            </a:r>
            <a:r>
              <a:rPr sz="975" b="0" i="0" u="none" dirty="0">
                <a:solidFill>
                  <a:srgbClr val="64748B"/>
                </a:solidFill>
                <a:latin typeface="DM Sans"/>
              </a:rPr>
              <a:t> </a:t>
            </a:r>
            <a:r>
              <a:rPr sz="975" b="0" i="0" u="none" dirty="0" err="1">
                <a:solidFill>
                  <a:srgbClr val="64748B"/>
                </a:solidFill>
                <a:latin typeface="DM Sans"/>
              </a:rPr>
              <a:t>olasılıksal</a:t>
            </a:r>
            <a:r>
              <a:rPr sz="975" b="0" i="0" u="none" dirty="0">
                <a:solidFill>
                  <a:srgbClr val="64748B"/>
                </a:solidFill>
                <a:latin typeface="DM Sans"/>
              </a:rPr>
              <a:t> </a:t>
            </a:r>
            <a:r>
              <a:rPr sz="975" b="0" i="0" u="none" dirty="0" err="1">
                <a:solidFill>
                  <a:srgbClr val="64748B"/>
                </a:solidFill>
                <a:latin typeface="DM Sans"/>
              </a:rPr>
              <a:t>sınır</a:t>
            </a:r>
            <a:r>
              <a:rPr sz="975" b="0" i="0" u="none" dirty="0">
                <a:solidFill>
                  <a:srgbClr val="64748B"/>
                </a:solidFill>
                <a:latin typeface="DM Sans"/>
              </a:rPr>
              <a:t> </a:t>
            </a:r>
            <a:r>
              <a:rPr sz="975" b="0" i="0" u="none" dirty="0" err="1">
                <a:solidFill>
                  <a:srgbClr val="64748B"/>
                </a:solidFill>
                <a:latin typeface="DM Sans"/>
              </a:rPr>
              <a:t>çizer</a:t>
            </a:r>
            <a:r>
              <a:rPr sz="975" b="0" i="0" u="none" dirty="0">
                <a:solidFill>
                  <a:srgbClr val="64748B"/>
                </a:solidFill>
                <a:latin typeface="DM Sans"/>
              </a:rPr>
              <a:t>. </a:t>
            </a:r>
            <a:r>
              <a:rPr sz="975" b="0" i="0" u="none" dirty="0" err="1">
                <a:solidFill>
                  <a:srgbClr val="64748B"/>
                </a:solidFill>
                <a:latin typeface="DM Sans"/>
              </a:rPr>
              <a:t>Hızlıdır</a:t>
            </a:r>
            <a:r>
              <a:rPr sz="975" b="0" i="0" u="none" dirty="0">
                <a:solidFill>
                  <a:srgbClr val="64748B"/>
                </a:solidFill>
                <a:latin typeface="DM Sans"/>
              </a:rPr>
              <a:t> </a:t>
            </a:r>
            <a:r>
              <a:rPr sz="975" b="0" i="0" u="none" dirty="0" err="1">
                <a:solidFill>
                  <a:srgbClr val="64748B"/>
                </a:solidFill>
                <a:latin typeface="DM Sans"/>
              </a:rPr>
              <a:t>ancak</a:t>
            </a:r>
            <a:r>
              <a:rPr sz="975" b="0" i="0" u="none" dirty="0">
                <a:solidFill>
                  <a:srgbClr val="64748B"/>
                </a:solidFill>
                <a:latin typeface="DM Sans"/>
              </a:rPr>
              <a:t> </a:t>
            </a:r>
            <a:r>
              <a:rPr sz="975" b="0" i="0" u="none" dirty="0" err="1">
                <a:solidFill>
                  <a:srgbClr val="64748B"/>
                </a:solidFill>
                <a:latin typeface="DM Sans"/>
              </a:rPr>
              <a:t>karmaşık</a:t>
            </a:r>
            <a:r>
              <a:rPr sz="975" b="0" i="0" u="none" dirty="0">
                <a:solidFill>
                  <a:srgbClr val="64748B"/>
                </a:solidFill>
                <a:latin typeface="DM Sans"/>
              </a:rPr>
              <a:t> </a:t>
            </a:r>
            <a:r>
              <a:rPr sz="975" b="0" i="0" u="none" dirty="0" err="1">
                <a:solidFill>
                  <a:srgbClr val="64748B"/>
                </a:solidFill>
                <a:latin typeface="DM Sans"/>
              </a:rPr>
              <a:t>ilişkilerde</a:t>
            </a:r>
            <a:r>
              <a:rPr sz="975" b="0" i="0" u="none" dirty="0">
                <a:solidFill>
                  <a:srgbClr val="64748B"/>
                </a:solidFill>
                <a:latin typeface="DM Sans"/>
              </a:rPr>
              <a:t> </a:t>
            </a:r>
            <a:r>
              <a:rPr sz="975" b="0" i="0" u="none" dirty="0" err="1">
                <a:solidFill>
                  <a:srgbClr val="64748B"/>
                </a:solidFill>
                <a:latin typeface="DM Sans"/>
              </a:rPr>
              <a:t>zayıf</a:t>
            </a:r>
            <a:r>
              <a:rPr sz="975" b="0" i="0" u="none" dirty="0">
                <a:solidFill>
                  <a:srgbClr val="64748B"/>
                </a:solidFill>
                <a:latin typeface="DM Sans"/>
              </a:rPr>
              <a:t> </a:t>
            </a:r>
            <a:r>
              <a:rPr sz="975" b="0" i="0" u="none" dirty="0" err="1">
                <a:solidFill>
                  <a:srgbClr val="64748B"/>
                </a:solidFill>
                <a:latin typeface="DM Sans"/>
              </a:rPr>
              <a:t>kalır</a:t>
            </a:r>
            <a:r>
              <a:rPr sz="975" b="0" i="0" u="none" dirty="0">
                <a:solidFill>
                  <a:srgbClr val="64748B"/>
                </a:solidFill>
                <a:latin typeface="DM Sans"/>
              </a:rPr>
              <a:t>.</a:t>
            </a:r>
          </a:p>
        </p:txBody>
      </p:sp>
      <p:sp>
        <p:nvSpPr>
          <p:cNvPr id="14" name="TextBox 13"/>
          <p:cNvSpPr txBox="1"/>
          <p:nvPr/>
        </p:nvSpPr>
        <p:spPr>
          <a:xfrm>
            <a:off x="3550443" y="1957387"/>
            <a:ext cx="2407800" cy="190500"/>
          </a:xfrm>
          <a:prstGeom prst="rect">
            <a:avLst/>
          </a:prstGeom>
          <a:noFill/>
        </p:spPr>
        <p:txBody>
          <a:bodyPr wrap="square" lIns="0" tIns="0" rIns="0" bIns="0" anchor="t">
            <a:spAutoFit/>
          </a:bodyPr>
          <a:lstStyle/>
          <a:p>
            <a:pPr algn="l"/>
            <a:r>
              <a:rPr sz="1200" b="1" i="0" u="none" dirty="0">
                <a:solidFill>
                  <a:srgbClr val="0F172A"/>
                </a:solidFill>
                <a:latin typeface="Merriweather"/>
              </a:rPr>
              <a:t>SVM (</a:t>
            </a:r>
            <a:r>
              <a:rPr sz="1200" b="1" i="0" u="none" dirty="0" err="1">
                <a:solidFill>
                  <a:srgbClr val="0F172A"/>
                </a:solidFill>
                <a:latin typeface="Merriweather"/>
              </a:rPr>
              <a:t>Destek</a:t>
            </a:r>
            <a:r>
              <a:rPr sz="1200" b="1" i="0" u="none" dirty="0">
                <a:solidFill>
                  <a:srgbClr val="0F172A"/>
                </a:solidFill>
                <a:latin typeface="Merriweather"/>
              </a:rPr>
              <a:t> </a:t>
            </a:r>
            <a:r>
              <a:rPr sz="1200" b="1" i="0" u="none" dirty="0" err="1">
                <a:solidFill>
                  <a:srgbClr val="0F172A"/>
                </a:solidFill>
                <a:latin typeface="Merriweather"/>
              </a:rPr>
              <a:t>Vektör</a:t>
            </a:r>
            <a:r>
              <a:rPr sz="1200" b="1" i="0" u="none" dirty="0">
                <a:solidFill>
                  <a:srgbClr val="0F172A"/>
                </a:solidFill>
                <a:latin typeface="Merriweather"/>
              </a:rPr>
              <a:t>)</a:t>
            </a:r>
          </a:p>
        </p:txBody>
      </p:sp>
      <p:sp>
        <p:nvSpPr>
          <p:cNvPr id="15" name="TextBox 14"/>
          <p:cNvSpPr txBox="1"/>
          <p:nvPr/>
        </p:nvSpPr>
        <p:spPr>
          <a:xfrm>
            <a:off x="3550443" y="2243137"/>
            <a:ext cx="2293143" cy="557212"/>
          </a:xfrm>
          <a:prstGeom prst="rect">
            <a:avLst/>
          </a:prstGeom>
          <a:noFill/>
        </p:spPr>
        <p:txBody>
          <a:bodyPr wrap="square" lIns="0" tIns="0" rIns="0" bIns="0" anchor="t">
            <a:spAutoFit/>
          </a:bodyPr>
          <a:lstStyle/>
          <a:p>
            <a:pPr algn="l">
              <a:lnSpc>
                <a:spcPts val="1462"/>
              </a:lnSpc>
            </a:pPr>
            <a:r>
              <a:rPr sz="975" b="0" i="0" u="none" dirty="0">
                <a:solidFill>
                  <a:srgbClr val="64748B"/>
                </a:solidFill>
                <a:latin typeface="DM Sans"/>
              </a:rPr>
              <a:t>RBF </a:t>
            </a:r>
            <a:r>
              <a:rPr sz="975" b="0" i="0" u="none" dirty="0" err="1">
                <a:solidFill>
                  <a:srgbClr val="64748B"/>
                </a:solidFill>
                <a:latin typeface="DM Sans"/>
              </a:rPr>
              <a:t>çekirdeği</a:t>
            </a:r>
            <a:r>
              <a:rPr sz="975" b="0" i="0" u="none" dirty="0">
                <a:solidFill>
                  <a:srgbClr val="64748B"/>
                </a:solidFill>
                <a:latin typeface="DM Sans"/>
              </a:rPr>
              <a:t> </a:t>
            </a:r>
            <a:r>
              <a:rPr sz="975" b="0" i="0" u="none" dirty="0" err="1">
                <a:solidFill>
                  <a:srgbClr val="64748B"/>
                </a:solidFill>
                <a:latin typeface="DM Sans"/>
              </a:rPr>
              <a:t>ile</a:t>
            </a:r>
            <a:r>
              <a:rPr sz="975" b="0" i="0" u="none" dirty="0">
                <a:solidFill>
                  <a:srgbClr val="64748B"/>
                </a:solidFill>
                <a:latin typeface="DM Sans"/>
              </a:rPr>
              <a:t> </a:t>
            </a:r>
            <a:r>
              <a:rPr sz="975" b="0" i="0" u="none" dirty="0" err="1">
                <a:solidFill>
                  <a:srgbClr val="64748B"/>
                </a:solidFill>
                <a:latin typeface="DM Sans"/>
              </a:rPr>
              <a:t>hiper</a:t>
            </a:r>
            <a:r>
              <a:rPr sz="975" b="0" i="0" u="none" dirty="0">
                <a:solidFill>
                  <a:srgbClr val="64748B"/>
                </a:solidFill>
                <a:latin typeface="DM Sans"/>
              </a:rPr>
              <a:t> </a:t>
            </a:r>
            <a:r>
              <a:rPr sz="975" b="0" i="0" u="none" dirty="0" err="1">
                <a:solidFill>
                  <a:srgbClr val="64748B"/>
                </a:solidFill>
                <a:latin typeface="DM Sans"/>
              </a:rPr>
              <a:t>düzlem</a:t>
            </a:r>
            <a:r>
              <a:rPr sz="975" b="0" i="0" u="none" dirty="0">
                <a:solidFill>
                  <a:srgbClr val="64748B"/>
                </a:solidFill>
                <a:latin typeface="DM Sans"/>
              </a:rPr>
              <a:t> </a:t>
            </a:r>
            <a:r>
              <a:rPr sz="975" b="0" i="0" u="none" dirty="0" err="1">
                <a:solidFill>
                  <a:srgbClr val="64748B"/>
                </a:solidFill>
                <a:latin typeface="DM Sans"/>
              </a:rPr>
              <a:t>belirler</a:t>
            </a:r>
            <a:r>
              <a:rPr sz="975" b="0" i="0" u="none" dirty="0">
                <a:solidFill>
                  <a:srgbClr val="64748B"/>
                </a:solidFill>
                <a:latin typeface="DM Sans"/>
              </a:rPr>
              <a:t>. </a:t>
            </a:r>
            <a:r>
              <a:rPr sz="975" b="0" i="0" u="none" dirty="0" err="1">
                <a:solidFill>
                  <a:srgbClr val="64748B"/>
                </a:solidFill>
                <a:latin typeface="DM Sans"/>
              </a:rPr>
              <a:t>Yüksek</a:t>
            </a:r>
            <a:r>
              <a:rPr sz="975" b="0" i="0" u="none" dirty="0">
                <a:solidFill>
                  <a:srgbClr val="64748B"/>
                </a:solidFill>
                <a:latin typeface="DM Sans"/>
              </a:rPr>
              <a:t> </a:t>
            </a:r>
            <a:r>
              <a:rPr sz="975" b="0" i="0" u="none" dirty="0" err="1">
                <a:solidFill>
                  <a:srgbClr val="64748B"/>
                </a:solidFill>
                <a:latin typeface="DM Sans"/>
              </a:rPr>
              <a:t>boyutlarda</a:t>
            </a:r>
            <a:r>
              <a:rPr sz="975" b="0" i="0" u="none" dirty="0">
                <a:solidFill>
                  <a:srgbClr val="64748B"/>
                </a:solidFill>
                <a:latin typeface="DM Sans"/>
              </a:rPr>
              <a:t> </a:t>
            </a:r>
            <a:r>
              <a:rPr sz="975" b="0" i="0" u="none" dirty="0" err="1">
                <a:solidFill>
                  <a:srgbClr val="64748B"/>
                </a:solidFill>
                <a:latin typeface="DM Sans"/>
              </a:rPr>
              <a:t>başarılıdır</a:t>
            </a:r>
            <a:r>
              <a:rPr sz="975" b="0" i="0" u="none" dirty="0">
                <a:solidFill>
                  <a:srgbClr val="64748B"/>
                </a:solidFill>
                <a:latin typeface="DM Sans"/>
              </a:rPr>
              <a:t> </a:t>
            </a:r>
            <a:r>
              <a:rPr sz="975" b="0" i="0" u="none" dirty="0" err="1">
                <a:solidFill>
                  <a:srgbClr val="64748B"/>
                </a:solidFill>
                <a:latin typeface="DM Sans"/>
              </a:rPr>
              <a:t>fakat</a:t>
            </a:r>
            <a:r>
              <a:rPr sz="975" b="0" i="0" u="none" dirty="0">
                <a:solidFill>
                  <a:srgbClr val="64748B"/>
                </a:solidFill>
                <a:latin typeface="DM Sans"/>
              </a:rPr>
              <a:t> </a:t>
            </a:r>
            <a:r>
              <a:rPr sz="975" b="0" i="0" u="none" dirty="0" err="1">
                <a:solidFill>
                  <a:srgbClr val="64748B"/>
                </a:solidFill>
                <a:latin typeface="DM Sans"/>
              </a:rPr>
              <a:t>veri</a:t>
            </a:r>
            <a:r>
              <a:rPr sz="975" b="0" i="0" u="none" dirty="0">
                <a:solidFill>
                  <a:srgbClr val="64748B"/>
                </a:solidFill>
                <a:latin typeface="DM Sans"/>
              </a:rPr>
              <a:t> </a:t>
            </a:r>
            <a:r>
              <a:rPr sz="975" b="0" i="0" u="none" dirty="0" err="1">
                <a:solidFill>
                  <a:srgbClr val="64748B"/>
                </a:solidFill>
                <a:latin typeface="DM Sans"/>
              </a:rPr>
              <a:t>kümesi</a:t>
            </a:r>
            <a:r>
              <a:rPr sz="975" b="0" i="0" u="none" dirty="0">
                <a:solidFill>
                  <a:srgbClr val="64748B"/>
                </a:solidFill>
                <a:latin typeface="DM Sans"/>
              </a:rPr>
              <a:t> </a:t>
            </a:r>
            <a:r>
              <a:rPr sz="975" b="0" i="0" u="none" dirty="0" err="1">
                <a:solidFill>
                  <a:srgbClr val="64748B"/>
                </a:solidFill>
                <a:latin typeface="DM Sans"/>
              </a:rPr>
              <a:t>büyüdükçe</a:t>
            </a:r>
            <a:r>
              <a:rPr sz="975" b="0" i="0" u="none" dirty="0">
                <a:solidFill>
                  <a:srgbClr val="64748B"/>
                </a:solidFill>
                <a:latin typeface="DM Sans"/>
              </a:rPr>
              <a:t> </a:t>
            </a:r>
            <a:r>
              <a:rPr sz="975" b="0" i="0" u="none" dirty="0" err="1">
                <a:solidFill>
                  <a:srgbClr val="64748B"/>
                </a:solidFill>
                <a:latin typeface="DM Sans"/>
              </a:rPr>
              <a:t>yavaşlar</a:t>
            </a:r>
            <a:r>
              <a:rPr sz="975" b="0" i="0" u="none" dirty="0">
                <a:solidFill>
                  <a:srgbClr val="64748B"/>
                </a:solidFill>
                <a:latin typeface="DM Sans"/>
              </a:rPr>
              <a:t>.</a:t>
            </a:r>
          </a:p>
        </p:txBody>
      </p:sp>
      <p:sp>
        <p:nvSpPr>
          <p:cNvPr id="16" name="TextBox 15"/>
          <p:cNvSpPr txBox="1"/>
          <p:nvPr/>
        </p:nvSpPr>
        <p:spPr>
          <a:xfrm>
            <a:off x="6348412" y="1957387"/>
            <a:ext cx="2407800" cy="190500"/>
          </a:xfrm>
          <a:prstGeom prst="rect">
            <a:avLst/>
          </a:prstGeom>
          <a:noFill/>
        </p:spPr>
        <p:txBody>
          <a:bodyPr wrap="square" lIns="0" tIns="0" rIns="0" bIns="0" anchor="t">
            <a:spAutoFit/>
          </a:bodyPr>
          <a:lstStyle/>
          <a:p>
            <a:pPr algn="l"/>
            <a:r>
              <a:rPr sz="1200" b="1" i="0" u="none">
                <a:solidFill>
                  <a:srgbClr val="0F172A"/>
                </a:solidFill>
                <a:latin typeface="Merriweather"/>
              </a:rPr>
              <a:t>k-NN (Komşuluk)</a:t>
            </a:r>
          </a:p>
        </p:txBody>
      </p:sp>
      <p:sp>
        <p:nvSpPr>
          <p:cNvPr id="17" name="TextBox 16"/>
          <p:cNvSpPr txBox="1"/>
          <p:nvPr/>
        </p:nvSpPr>
        <p:spPr>
          <a:xfrm>
            <a:off x="6348412" y="2243137"/>
            <a:ext cx="2293143" cy="557212"/>
          </a:xfrm>
          <a:prstGeom prst="rect">
            <a:avLst/>
          </a:prstGeom>
          <a:noFill/>
        </p:spPr>
        <p:txBody>
          <a:bodyPr wrap="square" lIns="0" tIns="0" rIns="0" bIns="0" anchor="t">
            <a:spAutoFit/>
          </a:bodyPr>
          <a:lstStyle/>
          <a:p>
            <a:pPr algn="l">
              <a:lnSpc>
                <a:spcPts val="1462"/>
              </a:lnSpc>
            </a:pPr>
            <a:r>
              <a:rPr sz="975" b="0" i="0" u="none">
                <a:solidFill>
                  <a:srgbClr val="64748B"/>
                </a:solidFill>
                <a:latin typeface="DM Sans"/>
              </a:rPr>
              <a:t>Öklid mesafesiyle en yakın k komşuyu sorgular. Test aşamasında bellek ve zaman karmaşıklığı yüksektir.</a:t>
            </a:r>
          </a:p>
        </p:txBody>
      </p:sp>
      <p:sp>
        <p:nvSpPr>
          <p:cNvPr id="18" name="TextBox 17"/>
          <p:cNvSpPr txBox="1"/>
          <p:nvPr/>
        </p:nvSpPr>
        <p:spPr>
          <a:xfrm>
            <a:off x="9146381" y="1957387"/>
            <a:ext cx="2407800" cy="190500"/>
          </a:xfrm>
          <a:prstGeom prst="rect">
            <a:avLst/>
          </a:prstGeom>
          <a:noFill/>
        </p:spPr>
        <p:txBody>
          <a:bodyPr wrap="square" lIns="0" tIns="0" rIns="0" bIns="0" anchor="t">
            <a:spAutoFit/>
          </a:bodyPr>
          <a:lstStyle/>
          <a:p>
            <a:pPr algn="l"/>
            <a:r>
              <a:rPr sz="1200" b="1" i="0" u="none">
                <a:solidFill>
                  <a:srgbClr val="0F172A"/>
                </a:solidFill>
                <a:latin typeface="Merriweather"/>
              </a:rPr>
              <a:t>MLP (Yapay Sinir)</a:t>
            </a:r>
          </a:p>
        </p:txBody>
      </p:sp>
      <p:sp>
        <p:nvSpPr>
          <p:cNvPr id="19" name="TextBox 18"/>
          <p:cNvSpPr txBox="1"/>
          <p:nvPr/>
        </p:nvSpPr>
        <p:spPr>
          <a:xfrm>
            <a:off x="9146381" y="2243137"/>
            <a:ext cx="2293143" cy="557212"/>
          </a:xfrm>
          <a:prstGeom prst="rect">
            <a:avLst/>
          </a:prstGeom>
          <a:noFill/>
        </p:spPr>
        <p:txBody>
          <a:bodyPr wrap="square" lIns="0" tIns="0" rIns="0" bIns="0" anchor="t">
            <a:spAutoFit/>
          </a:bodyPr>
          <a:lstStyle/>
          <a:p>
            <a:pPr algn="l">
              <a:lnSpc>
                <a:spcPts val="1462"/>
              </a:lnSpc>
            </a:pPr>
            <a:r>
              <a:rPr sz="975" b="0" i="0" u="none" dirty="0" err="1">
                <a:solidFill>
                  <a:srgbClr val="64748B"/>
                </a:solidFill>
                <a:latin typeface="DM Sans"/>
              </a:rPr>
              <a:t>Çok</a:t>
            </a:r>
            <a:r>
              <a:rPr sz="975" b="0" i="0" u="none" dirty="0">
                <a:solidFill>
                  <a:srgbClr val="64748B"/>
                </a:solidFill>
                <a:latin typeface="DM Sans"/>
              </a:rPr>
              <a:t> </a:t>
            </a:r>
            <a:r>
              <a:rPr sz="975" b="0" i="0" u="none" dirty="0" err="1">
                <a:solidFill>
                  <a:srgbClr val="64748B"/>
                </a:solidFill>
                <a:latin typeface="DM Sans"/>
              </a:rPr>
              <a:t>katmanlı</a:t>
            </a:r>
            <a:r>
              <a:rPr sz="975" b="0" i="0" u="none" dirty="0">
                <a:solidFill>
                  <a:srgbClr val="64748B"/>
                </a:solidFill>
                <a:latin typeface="DM Sans"/>
              </a:rPr>
              <a:t> </a:t>
            </a:r>
            <a:r>
              <a:rPr sz="975" b="0" i="0" u="none" dirty="0" err="1">
                <a:solidFill>
                  <a:srgbClr val="64748B"/>
                </a:solidFill>
                <a:latin typeface="DM Sans"/>
              </a:rPr>
              <a:t>duyarga</a:t>
            </a:r>
            <a:r>
              <a:rPr sz="975" b="0" i="0" u="none" dirty="0">
                <a:solidFill>
                  <a:srgbClr val="64748B"/>
                </a:solidFill>
                <a:latin typeface="DM Sans"/>
              </a:rPr>
              <a:t>. </a:t>
            </a:r>
            <a:r>
              <a:rPr sz="975" b="0" i="0" u="none" dirty="0" err="1">
                <a:solidFill>
                  <a:srgbClr val="64748B"/>
                </a:solidFill>
                <a:latin typeface="DM Sans"/>
              </a:rPr>
              <a:t>İki</a:t>
            </a:r>
            <a:r>
              <a:rPr sz="975" b="0" i="0" u="none" dirty="0">
                <a:solidFill>
                  <a:srgbClr val="64748B"/>
                </a:solidFill>
                <a:latin typeface="DM Sans"/>
              </a:rPr>
              <a:t> </a:t>
            </a:r>
            <a:r>
              <a:rPr sz="975" b="0" i="0" u="none" dirty="0" err="1">
                <a:solidFill>
                  <a:srgbClr val="64748B"/>
                </a:solidFill>
                <a:latin typeface="DM Sans"/>
              </a:rPr>
              <a:t>gizli</a:t>
            </a:r>
            <a:r>
              <a:rPr sz="975" b="0" i="0" u="none" dirty="0">
                <a:solidFill>
                  <a:srgbClr val="64748B"/>
                </a:solidFill>
                <a:latin typeface="DM Sans"/>
              </a:rPr>
              <a:t> </a:t>
            </a:r>
            <a:r>
              <a:rPr sz="975" b="0" i="0" u="none" dirty="0" err="1">
                <a:solidFill>
                  <a:srgbClr val="64748B"/>
                </a:solidFill>
                <a:latin typeface="DM Sans"/>
              </a:rPr>
              <a:t>katman</a:t>
            </a:r>
            <a:r>
              <a:rPr sz="975" b="0" i="0" u="none" dirty="0">
                <a:solidFill>
                  <a:srgbClr val="64748B"/>
                </a:solidFill>
                <a:latin typeface="DM Sans"/>
              </a:rPr>
              <a:t> (64x32) </a:t>
            </a:r>
            <a:r>
              <a:rPr sz="975" b="0" i="0" u="none" dirty="0" err="1">
                <a:solidFill>
                  <a:srgbClr val="64748B"/>
                </a:solidFill>
                <a:latin typeface="DM Sans"/>
              </a:rPr>
              <a:t>ve</a:t>
            </a:r>
            <a:r>
              <a:rPr sz="975" b="0" i="0" u="none" dirty="0">
                <a:solidFill>
                  <a:srgbClr val="64748B"/>
                </a:solidFill>
                <a:latin typeface="DM Sans"/>
              </a:rPr>
              <a:t> Adam </a:t>
            </a:r>
            <a:r>
              <a:rPr sz="975" b="0" i="0" u="none" dirty="0" err="1">
                <a:solidFill>
                  <a:srgbClr val="64748B"/>
                </a:solidFill>
                <a:latin typeface="DM Sans"/>
              </a:rPr>
              <a:t>optimizasyonu</a:t>
            </a:r>
            <a:r>
              <a:rPr sz="975" b="0" i="0" u="none" dirty="0">
                <a:solidFill>
                  <a:srgbClr val="64748B"/>
                </a:solidFill>
                <a:latin typeface="DM Sans"/>
              </a:rPr>
              <a:t> </a:t>
            </a:r>
            <a:r>
              <a:rPr sz="975" b="0" i="0" u="none" dirty="0" err="1">
                <a:solidFill>
                  <a:srgbClr val="64748B"/>
                </a:solidFill>
                <a:latin typeface="DM Sans"/>
              </a:rPr>
              <a:t>ile</a:t>
            </a:r>
            <a:r>
              <a:rPr sz="975" b="0" i="0" u="none" dirty="0">
                <a:solidFill>
                  <a:srgbClr val="64748B"/>
                </a:solidFill>
                <a:latin typeface="DM Sans"/>
              </a:rPr>
              <a:t> </a:t>
            </a:r>
            <a:r>
              <a:rPr sz="975" b="0" i="0" u="none" dirty="0" err="1">
                <a:solidFill>
                  <a:srgbClr val="64748B"/>
                </a:solidFill>
                <a:latin typeface="DM Sans"/>
              </a:rPr>
              <a:t>eğitilmiştir</a:t>
            </a:r>
            <a:r>
              <a:rPr sz="975" b="0" i="0" u="none" dirty="0">
                <a:solidFill>
                  <a:srgbClr val="64748B"/>
                </a:solidFill>
                <a:latin typeface="DM Sans"/>
              </a:rPr>
              <a:t>.</a:t>
            </a:r>
          </a:p>
        </p:txBody>
      </p:sp>
      <p:pic>
        <p:nvPicPr>
          <p:cNvPr id="20" name="Picture 19" descr="image.png"/>
          <p:cNvPicPr>
            <a:picLocks noChangeAspect="1"/>
          </p:cNvPicPr>
          <p:nvPr/>
        </p:nvPicPr>
        <p:blipFill>
          <a:blip r:embed="rId7"/>
          <a:stretch>
            <a:fillRect/>
          </a:stretch>
        </p:blipFill>
        <p:spPr>
          <a:xfrm>
            <a:off x="752475" y="1500187"/>
            <a:ext cx="266700" cy="266700"/>
          </a:xfrm>
          <a:prstGeom prst="rect">
            <a:avLst/>
          </a:prstGeom>
        </p:spPr>
      </p:pic>
      <p:pic>
        <p:nvPicPr>
          <p:cNvPr id="21" name="Picture 20" descr="image.png"/>
          <p:cNvPicPr>
            <a:picLocks noChangeAspect="1"/>
          </p:cNvPicPr>
          <p:nvPr/>
        </p:nvPicPr>
        <p:blipFill>
          <a:blip r:embed="rId8"/>
          <a:stretch>
            <a:fillRect/>
          </a:stretch>
        </p:blipFill>
        <p:spPr>
          <a:xfrm>
            <a:off x="3550443" y="1500187"/>
            <a:ext cx="238125" cy="266700"/>
          </a:xfrm>
          <a:prstGeom prst="rect">
            <a:avLst/>
          </a:prstGeom>
        </p:spPr>
      </p:pic>
      <p:pic>
        <p:nvPicPr>
          <p:cNvPr id="22" name="Picture 21" descr="image.png"/>
          <p:cNvPicPr>
            <a:picLocks noChangeAspect="1"/>
          </p:cNvPicPr>
          <p:nvPr/>
        </p:nvPicPr>
        <p:blipFill>
          <a:blip r:embed="rId9"/>
          <a:stretch>
            <a:fillRect/>
          </a:stretch>
        </p:blipFill>
        <p:spPr>
          <a:xfrm>
            <a:off x="6348412" y="1500187"/>
            <a:ext cx="333375" cy="266700"/>
          </a:xfrm>
          <a:prstGeom prst="rect">
            <a:avLst/>
          </a:prstGeom>
        </p:spPr>
      </p:pic>
      <p:pic>
        <p:nvPicPr>
          <p:cNvPr id="23" name="Picture 22" descr="image.png"/>
          <p:cNvPicPr>
            <a:picLocks noChangeAspect="1"/>
          </p:cNvPicPr>
          <p:nvPr/>
        </p:nvPicPr>
        <p:blipFill>
          <a:blip r:embed="rId10"/>
          <a:stretch>
            <a:fillRect/>
          </a:stretch>
        </p:blipFill>
        <p:spPr>
          <a:xfrm>
            <a:off x="9146381" y="1500187"/>
            <a:ext cx="266700" cy="266700"/>
          </a:xfrm>
          <a:prstGeom prst="rect">
            <a:avLst/>
          </a:prstGeom>
        </p:spPr>
      </p:pic>
      <p:pic>
        <p:nvPicPr>
          <p:cNvPr id="24" name="Picture 1" descr="image.png">
            <a:extLst>
              <a:ext uri="{FF2B5EF4-FFF2-40B4-BE49-F238E27FC236}">
                <a16:creationId xmlns:a16="http://schemas.microsoft.com/office/drawing/2014/main" id="{C17FBD28-52A7-E276-6EF2-CA579B5D0AB3}"/>
              </a:ext>
            </a:extLst>
          </p:cNvPr>
          <p:cNvPicPr>
            <a:picLocks noChangeAspect="1"/>
          </p:cNvPicPr>
          <p:nvPr/>
        </p:nvPicPr>
        <p:blipFill>
          <a:blip r:embed="rId11"/>
          <a:stretch>
            <a:fillRect/>
          </a:stretch>
        </p:blipFill>
        <p:spPr>
          <a:xfrm>
            <a:off x="666750" y="952500"/>
            <a:ext cx="10858500" cy="171450"/>
          </a:xfrm>
          <a:prstGeom prst="rect">
            <a:avLst/>
          </a:prstGeom>
        </p:spPr>
      </p:pic>
      <p:pic>
        <p:nvPicPr>
          <p:cNvPr id="25" name="İçerik Yer Tutucusu 10">
            <a:extLst>
              <a:ext uri="{FF2B5EF4-FFF2-40B4-BE49-F238E27FC236}">
                <a16:creationId xmlns:a16="http://schemas.microsoft.com/office/drawing/2014/main" id="{BA81AAE4-93CA-8269-320E-AC8543D6DEB7}"/>
              </a:ext>
            </a:extLst>
          </p:cNvPr>
          <p:cNvPicPr>
            <a:picLocks noChangeAspect="1"/>
          </p:cNvPicPr>
          <p:nvPr/>
        </p:nvPicPr>
        <p:blipFill>
          <a:blip r:embed="rId12">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 name="Picture 3" descr="image.png">
            <a:extLst>
              <a:ext uri="{FF2B5EF4-FFF2-40B4-BE49-F238E27FC236}">
                <a16:creationId xmlns:a16="http://schemas.microsoft.com/office/drawing/2014/main" id="{ED03A37A-39F5-FEDC-D339-584FC40F85DD}"/>
              </a:ext>
            </a:extLst>
          </p:cNvPr>
          <p:cNvPicPr>
            <a:picLocks noChangeAspect="1"/>
          </p:cNvPicPr>
          <p:nvPr/>
        </p:nvPicPr>
        <p:blipFill>
          <a:blip r:embed="rId3"/>
          <a:stretch>
            <a:fillRect/>
          </a:stretch>
        </p:blipFill>
        <p:spPr>
          <a:xfrm>
            <a:off x="571500" y="3330832"/>
            <a:ext cx="2588776" cy="1728787"/>
          </a:xfrm>
          <a:prstGeom prst="rect">
            <a:avLst/>
          </a:prstGeom>
        </p:spPr>
      </p:pic>
      <p:pic>
        <p:nvPicPr>
          <p:cNvPr id="26" name="Picture 3" descr="image.png">
            <a:extLst>
              <a:ext uri="{FF2B5EF4-FFF2-40B4-BE49-F238E27FC236}">
                <a16:creationId xmlns:a16="http://schemas.microsoft.com/office/drawing/2014/main" id="{09CE42CE-3D9E-EC05-0408-6804368CD9D6}"/>
              </a:ext>
            </a:extLst>
          </p:cNvPr>
          <p:cNvPicPr>
            <a:picLocks noChangeAspect="1"/>
          </p:cNvPicPr>
          <p:nvPr/>
        </p:nvPicPr>
        <p:blipFill>
          <a:blip r:embed="rId3"/>
          <a:stretch>
            <a:fillRect/>
          </a:stretch>
        </p:blipFill>
        <p:spPr>
          <a:xfrm>
            <a:off x="6144077" y="3330831"/>
            <a:ext cx="2655093" cy="1728787"/>
          </a:xfrm>
          <a:prstGeom prst="rect">
            <a:avLst/>
          </a:prstGeom>
        </p:spPr>
      </p:pic>
      <p:sp>
        <p:nvSpPr>
          <p:cNvPr id="28" name="TextBox 11">
            <a:extLst>
              <a:ext uri="{FF2B5EF4-FFF2-40B4-BE49-F238E27FC236}">
                <a16:creationId xmlns:a16="http://schemas.microsoft.com/office/drawing/2014/main" id="{D55B5B90-A057-8C5C-1120-9B0186D11392}"/>
              </a:ext>
            </a:extLst>
          </p:cNvPr>
          <p:cNvSpPr txBox="1"/>
          <p:nvPr/>
        </p:nvSpPr>
        <p:spPr>
          <a:xfrm>
            <a:off x="661988" y="3664614"/>
            <a:ext cx="2407800" cy="190500"/>
          </a:xfrm>
          <a:prstGeom prst="rect">
            <a:avLst/>
          </a:prstGeom>
          <a:noFill/>
        </p:spPr>
        <p:txBody>
          <a:bodyPr wrap="square" lIns="0" tIns="0" rIns="0" bIns="0" anchor="t">
            <a:spAutoFit/>
          </a:bodyPr>
          <a:lstStyle/>
          <a:p>
            <a:r>
              <a:rPr lang="tr-TR" sz="1200" b="1" dirty="0">
                <a:solidFill>
                  <a:srgbClr val="0F172A"/>
                </a:solidFill>
                <a:latin typeface="Merriweather"/>
              </a:rPr>
              <a:t>Karar Ağacı (</a:t>
            </a:r>
            <a:r>
              <a:rPr lang="tr-TR" sz="1200" b="1" dirty="0" err="1">
                <a:solidFill>
                  <a:srgbClr val="0F172A"/>
                </a:solidFill>
                <a:latin typeface="Merriweather"/>
              </a:rPr>
              <a:t>Decision</a:t>
            </a:r>
            <a:r>
              <a:rPr lang="tr-TR" sz="1200" b="1" dirty="0">
                <a:solidFill>
                  <a:srgbClr val="0F172A"/>
                </a:solidFill>
                <a:latin typeface="Merriweather"/>
              </a:rPr>
              <a:t> </a:t>
            </a:r>
            <a:r>
              <a:rPr lang="tr-TR" sz="1200" b="1" dirty="0" err="1">
                <a:solidFill>
                  <a:srgbClr val="0F172A"/>
                </a:solidFill>
                <a:latin typeface="Merriweather"/>
              </a:rPr>
              <a:t>Tree</a:t>
            </a:r>
            <a:r>
              <a:rPr lang="tr-TR" sz="1200" b="1" dirty="0">
                <a:solidFill>
                  <a:srgbClr val="0F172A"/>
                </a:solidFill>
                <a:latin typeface="Merriweather"/>
              </a:rPr>
              <a:t>)</a:t>
            </a:r>
            <a:endParaRPr sz="1200" b="1" dirty="0">
              <a:solidFill>
                <a:srgbClr val="0F172A"/>
              </a:solidFill>
              <a:latin typeface="Merriweather"/>
            </a:endParaRPr>
          </a:p>
        </p:txBody>
      </p:sp>
      <p:sp>
        <p:nvSpPr>
          <p:cNvPr id="29" name="TextBox 11">
            <a:extLst>
              <a:ext uri="{FF2B5EF4-FFF2-40B4-BE49-F238E27FC236}">
                <a16:creationId xmlns:a16="http://schemas.microsoft.com/office/drawing/2014/main" id="{5FCAD350-0ED4-C25B-EE00-ECABC798EEBA}"/>
              </a:ext>
            </a:extLst>
          </p:cNvPr>
          <p:cNvSpPr txBox="1"/>
          <p:nvPr/>
        </p:nvSpPr>
        <p:spPr>
          <a:xfrm>
            <a:off x="6284735" y="3521991"/>
            <a:ext cx="2407800" cy="184666"/>
          </a:xfrm>
          <a:prstGeom prst="rect">
            <a:avLst/>
          </a:prstGeom>
          <a:noFill/>
        </p:spPr>
        <p:txBody>
          <a:bodyPr wrap="square" lIns="0" tIns="0" rIns="0" bIns="0" anchor="t">
            <a:spAutoFit/>
          </a:bodyPr>
          <a:lstStyle/>
          <a:p>
            <a:r>
              <a:rPr lang="tr-TR" sz="1200" b="1" dirty="0" err="1">
                <a:solidFill>
                  <a:srgbClr val="0F172A"/>
                </a:solidFill>
                <a:latin typeface="Merriweather"/>
              </a:rPr>
              <a:t>Random</a:t>
            </a:r>
            <a:r>
              <a:rPr lang="tr-TR" sz="1200" b="1" dirty="0">
                <a:solidFill>
                  <a:srgbClr val="0F172A"/>
                </a:solidFill>
                <a:latin typeface="Merriweather"/>
              </a:rPr>
              <a:t> </a:t>
            </a:r>
            <a:r>
              <a:rPr lang="tr-TR" sz="1200" b="1" dirty="0" err="1">
                <a:solidFill>
                  <a:srgbClr val="0F172A"/>
                </a:solidFill>
                <a:latin typeface="Merriweather"/>
              </a:rPr>
              <a:t>Forest</a:t>
            </a:r>
            <a:endParaRPr sz="1200" b="1" dirty="0">
              <a:solidFill>
                <a:srgbClr val="0F172A"/>
              </a:solidFill>
              <a:latin typeface="Merriweather"/>
            </a:endParaRPr>
          </a:p>
        </p:txBody>
      </p:sp>
      <p:sp>
        <p:nvSpPr>
          <p:cNvPr id="32" name="Metin kutusu 31">
            <a:extLst>
              <a:ext uri="{FF2B5EF4-FFF2-40B4-BE49-F238E27FC236}">
                <a16:creationId xmlns:a16="http://schemas.microsoft.com/office/drawing/2014/main" id="{F04384C2-3EB7-7D3D-66B5-49B3B4A4FF3E}"/>
              </a:ext>
            </a:extLst>
          </p:cNvPr>
          <p:cNvSpPr txBox="1"/>
          <p:nvPr/>
        </p:nvSpPr>
        <p:spPr>
          <a:xfrm>
            <a:off x="571500" y="3819467"/>
            <a:ext cx="2883693" cy="657103"/>
          </a:xfrm>
          <a:prstGeom prst="rect">
            <a:avLst/>
          </a:prstGeom>
          <a:noFill/>
        </p:spPr>
        <p:txBody>
          <a:bodyPr wrap="square">
            <a:spAutoFit/>
          </a:bodyPr>
          <a:lstStyle/>
          <a:p>
            <a:pPr>
              <a:lnSpc>
                <a:spcPts val="1462"/>
              </a:lnSpc>
            </a:pPr>
            <a:r>
              <a:rPr lang="tr-TR" sz="975" dirty="0">
                <a:solidFill>
                  <a:srgbClr val="64748B"/>
                </a:solidFill>
                <a:latin typeface="DM Sans"/>
              </a:rPr>
              <a:t>Veriyi kural tabanlı düğümlere bölerek sınıflandırma yapar. Bölünme kalitesi </a:t>
            </a:r>
          </a:p>
          <a:p>
            <a:pPr>
              <a:lnSpc>
                <a:spcPts val="1462"/>
              </a:lnSpc>
            </a:pPr>
            <a:r>
              <a:rPr lang="tr-TR" sz="975" dirty="0" err="1">
                <a:solidFill>
                  <a:srgbClr val="64748B"/>
                </a:solidFill>
                <a:latin typeface="DM Sans"/>
              </a:rPr>
              <a:t>Gini</a:t>
            </a:r>
            <a:r>
              <a:rPr lang="tr-TR" sz="975" dirty="0">
                <a:solidFill>
                  <a:srgbClr val="64748B"/>
                </a:solidFill>
                <a:latin typeface="DM Sans"/>
              </a:rPr>
              <a:t> İndeksi veya Entropi kriterleri ile ölçülür.</a:t>
            </a:r>
          </a:p>
        </p:txBody>
      </p:sp>
      <p:sp>
        <p:nvSpPr>
          <p:cNvPr id="34" name="Metin kutusu 33">
            <a:extLst>
              <a:ext uri="{FF2B5EF4-FFF2-40B4-BE49-F238E27FC236}">
                <a16:creationId xmlns:a16="http://schemas.microsoft.com/office/drawing/2014/main" id="{E71DCF5B-2272-0798-3EE7-ADE1BEA6F46A}"/>
              </a:ext>
            </a:extLst>
          </p:cNvPr>
          <p:cNvSpPr txBox="1"/>
          <p:nvPr/>
        </p:nvSpPr>
        <p:spPr>
          <a:xfrm>
            <a:off x="6167526" y="3703920"/>
            <a:ext cx="2407800" cy="849463"/>
          </a:xfrm>
          <a:prstGeom prst="rect">
            <a:avLst/>
          </a:prstGeom>
          <a:noFill/>
        </p:spPr>
        <p:txBody>
          <a:bodyPr wrap="square">
            <a:spAutoFit/>
          </a:bodyPr>
          <a:lstStyle/>
          <a:p>
            <a:pPr>
              <a:lnSpc>
                <a:spcPts val="1462"/>
              </a:lnSpc>
            </a:pPr>
            <a:r>
              <a:rPr lang="tr-TR" sz="975" dirty="0">
                <a:solidFill>
                  <a:srgbClr val="64748B"/>
                </a:solidFill>
                <a:latin typeface="DM Sans"/>
              </a:rPr>
              <a:t>Çok sayıda karar ağacının kolektif oylamasıyla (</a:t>
            </a:r>
            <a:r>
              <a:rPr lang="tr-TR" sz="975" dirty="0" err="1">
                <a:solidFill>
                  <a:srgbClr val="64748B"/>
                </a:solidFill>
                <a:latin typeface="DM Sans"/>
              </a:rPr>
              <a:t>Bagging</a:t>
            </a:r>
            <a:r>
              <a:rPr lang="tr-TR" sz="975" dirty="0">
                <a:solidFill>
                  <a:srgbClr val="64748B"/>
                </a:solidFill>
                <a:latin typeface="DM Sans"/>
              </a:rPr>
              <a:t> / </a:t>
            </a:r>
            <a:r>
              <a:rPr lang="tr-TR" sz="975" dirty="0" err="1">
                <a:solidFill>
                  <a:srgbClr val="64748B"/>
                </a:solidFill>
                <a:latin typeface="DM Sans"/>
              </a:rPr>
              <a:t>Bootstrap</a:t>
            </a:r>
            <a:r>
              <a:rPr lang="tr-TR" sz="975" dirty="0">
                <a:solidFill>
                  <a:srgbClr val="64748B"/>
                </a:solidFill>
                <a:latin typeface="DM Sans"/>
              </a:rPr>
              <a:t> </a:t>
            </a:r>
            <a:r>
              <a:rPr lang="tr-TR" sz="975" dirty="0" err="1">
                <a:solidFill>
                  <a:srgbClr val="64748B"/>
                </a:solidFill>
                <a:latin typeface="DM Sans"/>
              </a:rPr>
              <a:t>Aggregating</a:t>
            </a:r>
            <a:r>
              <a:rPr lang="tr-TR" sz="975" dirty="0">
                <a:solidFill>
                  <a:srgbClr val="64748B"/>
                </a:solidFill>
                <a:latin typeface="DM Sans"/>
              </a:rPr>
              <a:t>) çalışan topluluk (</a:t>
            </a:r>
            <a:r>
              <a:rPr lang="tr-TR" sz="975" dirty="0" err="1">
                <a:solidFill>
                  <a:srgbClr val="64748B"/>
                </a:solidFill>
                <a:latin typeface="DM Sans"/>
              </a:rPr>
              <a:t>ensemble</a:t>
            </a:r>
            <a:r>
              <a:rPr lang="tr-TR" sz="975" dirty="0">
                <a:solidFill>
                  <a:srgbClr val="64748B"/>
                </a:solidFill>
                <a:latin typeface="DM Sans"/>
              </a:rPr>
              <a:t>) öğrenme algoritmasıdır.</a:t>
            </a:r>
          </a:p>
        </p:txBody>
      </p:sp>
      <p:pic>
        <p:nvPicPr>
          <p:cNvPr id="35" name="Picture 3" descr="image.png">
            <a:extLst>
              <a:ext uri="{FF2B5EF4-FFF2-40B4-BE49-F238E27FC236}">
                <a16:creationId xmlns:a16="http://schemas.microsoft.com/office/drawing/2014/main" id="{869A62F0-DEB5-4CE8-50A3-9A771A6C44D1}"/>
              </a:ext>
            </a:extLst>
          </p:cNvPr>
          <p:cNvPicPr>
            <a:picLocks noChangeAspect="1"/>
          </p:cNvPicPr>
          <p:nvPr/>
        </p:nvPicPr>
        <p:blipFill>
          <a:blip r:embed="rId3"/>
          <a:stretch>
            <a:fillRect/>
          </a:stretch>
        </p:blipFill>
        <p:spPr>
          <a:xfrm>
            <a:off x="3369466" y="3330832"/>
            <a:ext cx="2726533" cy="1829798"/>
          </a:xfrm>
          <a:prstGeom prst="rect">
            <a:avLst/>
          </a:prstGeom>
        </p:spPr>
      </p:pic>
      <p:sp>
        <p:nvSpPr>
          <p:cNvPr id="37" name="TextBox 11">
            <a:extLst>
              <a:ext uri="{FF2B5EF4-FFF2-40B4-BE49-F238E27FC236}">
                <a16:creationId xmlns:a16="http://schemas.microsoft.com/office/drawing/2014/main" id="{CEEA1BAF-EB9D-483D-00DE-8BD5E5D50F14}"/>
              </a:ext>
            </a:extLst>
          </p:cNvPr>
          <p:cNvSpPr txBox="1"/>
          <p:nvPr/>
        </p:nvSpPr>
        <p:spPr>
          <a:xfrm>
            <a:off x="3455193" y="3491092"/>
            <a:ext cx="2407800" cy="190500"/>
          </a:xfrm>
          <a:prstGeom prst="rect">
            <a:avLst/>
          </a:prstGeom>
          <a:noFill/>
        </p:spPr>
        <p:txBody>
          <a:bodyPr wrap="square" lIns="0" tIns="0" rIns="0" bIns="0" anchor="t">
            <a:spAutoFit/>
          </a:bodyPr>
          <a:lstStyle/>
          <a:p>
            <a:r>
              <a:rPr lang="tr-TR" sz="1200" b="1" dirty="0" err="1">
                <a:solidFill>
                  <a:srgbClr val="0F172A"/>
                </a:solidFill>
                <a:latin typeface="Merriweather"/>
              </a:rPr>
              <a:t>Naive</a:t>
            </a:r>
            <a:r>
              <a:rPr lang="tr-TR" sz="1200" b="1" dirty="0">
                <a:solidFill>
                  <a:srgbClr val="0F172A"/>
                </a:solidFill>
                <a:latin typeface="Merriweather"/>
              </a:rPr>
              <a:t> </a:t>
            </a:r>
            <a:r>
              <a:rPr lang="tr-TR" sz="1200" b="1" dirty="0" err="1">
                <a:solidFill>
                  <a:srgbClr val="0F172A"/>
                </a:solidFill>
                <a:latin typeface="Merriweather"/>
              </a:rPr>
              <a:t>Bayes</a:t>
            </a:r>
            <a:endParaRPr sz="1200" b="1" dirty="0">
              <a:solidFill>
                <a:srgbClr val="0F172A"/>
              </a:solidFill>
              <a:latin typeface="Merriweather"/>
            </a:endParaRPr>
          </a:p>
        </p:txBody>
      </p:sp>
      <p:sp>
        <p:nvSpPr>
          <p:cNvPr id="38" name="Metin kutusu 37">
            <a:extLst>
              <a:ext uri="{FF2B5EF4-FFF2-40B4-BE49-F238E27FC236}">
                <a16:creationId xmlns:a16="http://schemas.microsoft.com/office/drawing/2014/main" id="{542BD1D9-63E0-EE3B-9C33-71E4330CEF38}"/>
              </a:ext>
            </a:extLst>
          </p:cNvPr>
          <p:cNvSpPr txBox="1"/>
          <p:nvPr/>
        </p:nvSpPr>
        <p:spPr>
          <a:xfrm>
            <a:off x="3333750" y="3689593"/>
            <a:ext cx="2883693" cy="1426544"/>
          </a:xfrm>
          <a:prstGeom prst="rect">
            <a:avLst/>
          </a:prstGeom>
          <a:noFill/>
        </p:spPr>
        <p:txBody>
          <a:bodyPr wrap="square">
            <a:spAutoFit/>
          </a:bodyPr>
          <a:lstStyle/>
          <a:p>
            <a:pPr>
              <a:lnSpc>
                <a:spcPts val="1462"/>
              </a:lnSpc>
            </a:pPr>
            <a:r>
              <a:rPr lang="tr-TR" sz="975" dirty="0" err="1">
                <a:solidFill>
                  <a:srgbClr val="64748B"/>
                </a:solidFill>
                <a:latin typeface="DM Sans"/>
              </a:rPr>
              <a:t>Naive</a:t>
            </a:r>
            <a:r>
              <a:rPr lang="tr-TR" sz="975" dirty="0">
                <a:solidFill>
                  <a:srgbClr val="64748B"/>
                </a:solidFill>
                <a:latin typeface="DM Sans"/>
              </a:rPr>
              <a:t> </a:t>
            </a:r>
            <a:r>
              <a:rPr lang="tr-TR" sz="975" dirty="0" err="1">
                <a:solidFill>
                  <a:srgbClr val="64748B"/>
                </a:solidFill>
                <a:latin typeface="DM Sans"/>
              </a:rPr>
              <a:t>Bayes</a:t>
            </a:r>
            <a:r>
              <a:rPr lang="tr-TR" sz="975" dirty="0">
                <a:solidFill>
                  <a:srgbClr val="64748B"/>
                </a:solidFill>
                <a:latin typeface="DM Sans"/>
              </a:rPr>
              <a:t>, özelliklerin birbirinden bağımsız olduğu varsayımına dayanarak </a:t>
            </a:r>
            <a:r>
              <a:rPr lang="tr-TR" sz="975" dirty="0" err="1">
                <a:solidFill>
                  <a:srgbClr val="64748B"/>
                </a:solidFill>
                <a:latin typeface="DM Sans"/>
              </a:rPr>
              <a:t>Bayes</a:t>
            </a:r>
            <a:r>
              <a:rPr lang="tr-TR" sz="975" dirty="0">
                <a:solidFill>
                  <a:srgbClr val="64748B"/>
                </a:solidFill>
                <a:latin typeface="DM Sans"/>
              </a:rPr>
              <a:t> Teoremi ile olasılık hesabı yapan hızlı bir sınıflandırma algoritmasıdır. Yüksek boyutlu ve metin bazlı verilerde çok efektif çalışsa da gerçek hayatta özelliklerin tamamen bağımsız olmaması en büyük sınırlılığıdır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2176462"/>
            <a:ext cx="5334000" cy="1057275"/>
          </a:xfrm>
          <a:prstGeom prst="rect">
            <a:avLst/>
          </a:prstGeom>
        </p:spPr>
      </p:pic>
      <p:sp>
        <p:nvSpPr>
          <p:cNvPr id="5" name="TextBox 4"/>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XGBoost (Extreme Gradient Boosting) Mimarisi</a:t>
            </a:r>
          </a:p>
        </p:txBody>
      </p:sp>
      <p:sp>
        <p:nvSpPr>
          <p:cNvPr id="6" name="Rectangle 5"/>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8" name="TextBox 7"/>
          <p:cNvSpPr txBox="1"/>
          <p:nvPr/>
        </p:nvSpPr>
        <p:spPr>
          <a:xfrm>
            <a:off x="11220450" y="6496050"/>
            <a:ext cx="4000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17</a:t>
            </a:r>
          </a:p>
        </p:txBody>
      </p:sp>
      <p:sp>
        <p:nvSpPr>
          <p:cNvPr id="9" name="TextBox 8"/>
          <p:cNvSpPr txBox="1"/>
          <p:nvPr/>
        </p:nvSpPr>
        <p:spPr>
          <a:xfrm>
            <a:off x="571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Neden XGBoost Tercih Edildi?</a:t>
            </a:r>
          </a:p>
        </p:txBody>
      </p:sp>
      <p:sp>
        <p:nvSpPr>
          <p:cNvPr id="10" name="TextBox 9"/>
          <p:cNvSpPr txBox="1"/>
          <p:nvPr/>
        </p:nvSpPr>
        <p:spPr>
          <a:xfrm>
            <a:off x="571500" y="1604962"/>
            <a:ext cx="10648950" cy="422744"/>
          </a:xfrm>
          <a:prstGeom prst="rect">
            <a:avLst/>
          </a:prstGeom>
          <a:noFill/>
        </p:spPr>
        <p:txBody>
          <a:bodyPr wrap="square" lIns="0" tIns="0" rIns="0" bIns="0" anchor="t">
            <a:spAutoFit/>
          </a:bodyPr>
          <a:lstStyle/>
          <a:p>
            <a:pPr algn="l">
              <a:lnSpc>
                <a:spcPts val="1687"/>
              </a:lnSpc>
            </a:pPr>
            <a:r>
              <a:rPr sz="1125" b="0" i="0" u="none" dirty="0">
                <a:solidFill>
                  <a:srgbClr val="475569"/>
                </a:solidFill>
                <a:latin typeface="DM Sans"/>
              </a:rPr>
              <a:t>Gradient Boosting </a:t>
            </a:r>
            <a:r>
              <a:rPr sz="1125" b="0" i="0" u="none" dirty="0" err="1">
                <a:solidFill>
                  <a:srgbClr val="475569"/>
                </a:solidFill>
                <a:latin typeface="DM Sans"/>
              </a:rPr>
              <a:t>algoritmasının</a:t>
            </a:r>
            <a:r>
              <a:rPr sz="1125" b="0" i="0" u="none" dirty="0">
                <a:solidFill>
                  <a:srgbClr val="475569"/>
                </a:solidFill>
                <a:latin typeface="DM Sans"/>
              </a:rPr>
              <a:t> optimize </a:t>
            </a:r>
            <a:r>
              <a:rPr sz="1125" b="0" i="0" u="none" dirty="0" err="1">
                <a:solidFill>
                  <a:srgbClr val="475569"/>
                </a:solidFill>
                <a:latin typeface="DM Sans"/>
              </a:rPr>
              <a:t>edilmiş</a:t>
            </a:r>
            <a:r>
              <a:rPr sz="1125" b="0" i="0" u="none" dirty="0">
                <a:solidFill>
                  <a:srgbClr val="475569"/>
                </a:solidFill>
                <a:latin typeface="DM Sans"/>
              </a:rPr>
              <a:t>, </a:t>
            </a:r>
            <a:r>
              <a:rPr sz="1125" b="0" i="0" u="none" dirty="0" err="1">
                <a:solidFill>
                  <a:srgbClr val="475569"/>
                </a:solidFill>
                <a:latin typeface="DM Sans"/>
              </a:rPr>
              <a:t>aşırı</a:t>
            </a:r>
            <a:r>
              <a:rPr sz="1125" b="0" i="0" u="none" dirty="0">
                <a:solidFill>
                  <a:srgbClr val="475569"/>
                </a:solidFill>
                <a:latin typeface="DM Sans"/>
              </a:rPr>
              <a:t> </a:t>
            </a:r>
            <a:r>
              <a:rPr sz="1125" b="0" i="0" u="none" dirty="0" err="1">
                <a:solidFill>
                  <a:srgbClr val="475569"/>
                </a:solidFill>
                <a:latin typeface="DM Sans"/>
              </a:rPr>
              <a:t>öğrenmeye</a:t>
            </a:r>
            <a:r>
              <a:rPr sz="1125" b="0" i="0" u="none" dirty="0">
                <a:solidFill>
                  <a:srgbClr val="475569"/>
                </a:solidFill>
                <a:latin typeface="DM Sans"/>
              </a:rPr>
              <a:t> </a:t>
            </a:r>
            <a:r>
              <a:rPr sz="1125" b="0" i="0" u="none" dirty="0" err="1">
                <a:solidFill>
                  <a:srgbClr val="475569"/>
                </a:solidFill>
                <a:latin typeface="DM Sans"/>
              </a:rPr>
              <a:t>dirençli</a:t>
            </a:r>
            <a:r>
              <a:rPr sz="1125" b="0" i="0" u="none" dirty="0">
                <a:solidFill>
                  <a:srgbClr val="475569"/>
                </a:solidFill>
                <a:latin typeface="DM Sans"/>
              </a:rPr>
              <a:t> </a:t>
            </a:r>
            <a:r>
              <a:rPr sz="1125" b="0" i="0" u="none" dirty="0" err="1">
                <a:solidFill>
                  <a:srgbClr val="475569"/>
                </a:solidFill>
                <a:latin typeface="DM Sans"/>
              </a:rPr>
              <a:t>ve</a:t>
            </a:r>
            <a:r>
              <a:rPr sz="1125" b="0" i="0" u="none" dirty="0">
                <a:solidFill>
                  <a:srgbClr val="475569"/>
                </a:solidFill>
                <a:latin typeface="DM Sans"/>
              </a:rPr>
              <a:t> </a:t>
            </a:r>
            <a:r>
              <a:rPr sz="1125" b="0" i="0" u="none" dirty="0" err="1">
                <a:solidFill>
                  <a:srgbClr val="475569"/>
                </a:solidFill>
                <a:latin typeface="DM Sans"/>
              </a:rPr>
              <a:t>önbellek</a:t>
            </a:r>
            <a:r>
              <a:rPr sz="1125" b="0" i="0" u="none" dirty="0">
                <a:solidFill>
                  <a:srgbClr val="475569"/>
                </a:solidFill>
                <a:latin typeface="DM Sans"/>
              </a:rPr>
              <a:t> </a:t>
            </a:r>
            <a:r>
              <a:rPr sz="1125" b="0" i="0" u="none" dirty="0" err="1">
                <a:solidFill>
                  <a:srgbClr val="475569"/>
                </a:solidFill>
                <a:latin typeface="DM Sans"/>
              </a:rPr>
              <a:t>farkındalığına</a:t>
            </a:r>
            <a:r>
              <a:rPr sz="1125" b="0" i="0" u="none" dirty="0">
                <a:solidFill>
                  <a:srgbClr val="475569"/>
                </a:solidFill>
                <a:latin typeface="DM Sans"/>
              </a:rPr>
              <a:t> </a:t>
            </a:r>
            <a:r>
              <a:rPr sz="1125" b="0" i="0" u="none" dirty="0" err="1">
                <a:solidFill>
                  <a:srgbClr val="475569"/>
                </a:solidFill>
                <a:latin typeface="DM Sans"/>
              </a:rPr>
              <a:t>sahip</a:t>
            </a:r>
            <a:r>
              <a:rPr sz="1125" b="0" i="0" u="none" dirty="0">
                <a:solidFill>
                  <a:srgbClr val="475569"/>
                </a:solidFill>
                <a:latin typeface="DM Sans"/>
              </a:rPr>
              <a:t> </a:t>
            </a:r>
            <a:r>
              <a:rPr sz="1125" b="0" i="0" u="none" dirty="0" err="1">
                <a:solidFill>
                  <a:srgbClr val="475569"/>
                </a:solidFill>
                <a:latin typeface="DM Sans"/>
              </a:rPr>
              <a:t>yüksek</a:t>
            </a:r>
            <a:r>
              <a:rPr sz="1125" b="0" i="0" u="none" dirty="0">
                <a:solidFill>
                  <a:srgbClr val="475569"/>
                </a:solidFill>
                <a:latin typeface="DM Sans"/>
              </a:rPr>
              <a:t> </a:t>
            </a:r>
            <a:r>
              <a:rPr sz="1125" b="0" i="0" u="none" dirty="0" err="1">
                <a:solidFill>
                  <a:srgbClr val="475569"/>
                </a:solidFill>
                <a:latin typeface="DM Sans"/>
              </a:rPr>
              <a:t>performanslı</a:t>
            </a:r>
            <a:r>
              <a:rPr sz="1125" b="0" i="0" u="none" dirty="0">
                <a:solidFill>
                  <a:srgbClr val="475569"/>
                </a:solidFill>
                <a:latin typeface="DM Sans"/>
              </a:rPr>
              <a:t> </a:t>
            </a:r>
            <a:r>
              <a:rPr sz="1125" b="0" i="0" u="none" dirty="0" err="1">
                <a:solidFill>
                  <a:srgbClr val="475569"/>
                </a:solidFill>
                <a:latin typeface="DM Sans"/>
              </a:rPr>
              <a:t>kütüphanesidir</a:t>
            </a:r>
            <a:r>
              <a:rPr sz="1125" b="0" i="0" u="none" dirty="0">
                <a:solidFill>
                  <a:srgbClr val="475569"/>
                </a:solidFill>
                <a:latin typeface="DM Sans"/>
              </a:rPr>
              <a:t>.</a:t>
            </a:r>
            <a:r>
              <a:rPr lang="tr-TR" sz="1125" b="0" i="0" u="none" dirty="0">
                <a:solidFill>
                  <a:srgbClr val="475569"/>
                </a:solidFill>
                <a:latin typeface="DM Sans"/>
              </a:rPr>
              <a:t> Diğer algoritmalar göre daha performanslı ve doğruluk oranı yüksek olduğu için tercih edilmiştir.</a:t>
            </a:r>
            <a:endParaRPr sz="1125" b="0" i="0" u="none" dirty="0">
              <a:solidFill>
                <a:srgbClr val="475569"/>
              </a:solidFill>
              <a:latin typeface="DM Sans"/>
            </a:endParaRPr>
          </a:p>
        </p:txBody>
      </p:sp>
      <p:sp>
        <p:nvSpPr>
          <p:cNvPr id="13" name="TextBox 12"/>
          <p:cNvSpPr txBox="1"/>
          <p:nvPr/>
        </p:nvSpPr>
        <p:spPr>
          <a:xfrm>
            <a:off x="809625" y="2366962"/>
            <a:ext cx="5150643" cy="219075"/>
          </a:xfrm>
          <a:prstGeom prst="rect">
            <a:avLst/>
          </a:prstGeom>
          <a:noFill/>
        </p:spPr>
        <p:txBody>
          <a:bodyPr wrap="square" lIns="209550" tIns="0" rIns="0" bIns="0" anchor="t">
            <a:spAutoFit/>
          </a:bodyPr>
          <a:lstStyle/>
          <a:p>
            <a:pPr algn="l"/>
            <a:r>
              <a:rPr sz="1350" b="1" i="0" u="none">
                <a:solidFill>
                  <a:srgbClr val="065F46"/>
                </a:solidFill>
                <a:latin typeface="Merriweather"/>
              </a:rPr>
              <a:t>Sistem Seviyesinde Hız</a:t>
            </a:r>
          </a:p>
        </p:txBody>
      </p:sp>
      <p:sp>
        <p:nvSpPr>
          <p:cNvPr id="14" name="TextBox 13"/>
          <p:cNvSpPr txBox="1"/>
          <p:nvPr/>
        </p:nvSpPr>
        <p:spPr>
          <a:xfrm>
            <a:off x="809625" y="2643187"/>
            <a:ext cx="4905375" cy="400050"/>
          </a:xfrm>
          <a:prstGeom prst="rect">
            <a:avLst/>
          </a:prstGeom>
          <a:noFill/>
        </p:spPr>
        <p:txBody>
          <a:bodyPr wrap="square" lIns="0" tIns="0" rIns="0" bIns="0" anchor="t">
            <a:spAutoFit/>
          </a:bodyPr>
          <a:lstStyle/>
          <a:p>
            <a:pPr algn="l">
              <a:lnSpc>
                <a:spcPts val="1575"/>
              </a:lnSpc>
            </a:pPr>
            <a:r>
              <a:rPr sz="1050" b="0" i="0" u="none">
                <a:solidFill>
                  <a:srgbClr val="475569"/>
                </a:solidFill>
                <a:latin typeface="DM Sans"/>
              </a:rPr>
              <a:t>Paralel ağaç yapısı ve blok mimarisi sayesinde milisaniyeler bazında tahmin üretir.</a:t>
            </a:r>
          </a:p>
        </p:txBody>
      </p:sp>
      <p:pic>
        <p:nvPicPr>
          <p:cNvPr id="18" name="Picture 17" descr="image.png"/>
          <p:cNvPicPr>
            <a:picLocks noChangeAspect="1"/>
          </p:cNvPicPr>
          <p:nvPr/>
        </p:nvPicPr>
        <p:blipFill>
          <a:blip r:embed="rId4"/>
          <a:stretch>
            <a:fillRect/>
          </a:stretch>
        </p:blipFill>
        <p:spPr>
          <a:xfrm>
            <a:off x="809625" y="2395537"/>
            <a:ext cx="152400" cy="171450"/>
          </a:xfrm>
          <a:prstGeom prst="rect">
            <a:avLst/>
          </a:prstGeom>
        </p:spPr>
      </p:pic>
      <p:pic>
        <p:nvPicPr>
          <p:cNvPr id="20" name="Picture 1" descr="image.png">
            <a:extLst>
              <a:ext uri="{FF2B5EF4-FFF2-40B4-BE49-F238E27FC236}">
                <a16:creationId xmlns:a16="http://schemas.microsoft.com/office/drawing/2014/main" id="{62BEBCF4-3903-4C6B-2DCA-D347F9DCD6A5}"/>
              </a:ext>
            </a:extLst>
          </p:cNvPr>
          <p:cNvPicPr>
            <a:picLocks noChangeAspect="1"/>
          </p:cNvPicPr>
          <p:nvPr/>
        </p:nvPicPr>
        <p:blipFill>
          <a:blip r:embed="rId5"/>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87CFE41E-33EF-D167-C0C2-01116F397DFD}"/>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343275"/>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a:solidFill>
                  <a:srgbClr val="FFFFFF"/>
                </a:solidFill>
                <a:latin typeface="DM Sans"/>
              </a:rPr>
              <a:t>SAKARYA ÜNİVERSİTESİ</a:t>
            </a:r>
          </a:p>
        </p:txBody>
      </p:sp>
      <p:sp>
        <p:nvSpPr>
          <p:cNvPr id="5" name="TextBox 4"/>
          <p:cNvSpPr txBox="1"/>
          <p:nvPr/>
        </p:nvSpPr>
        <p:spPr>
          <a:xfrm>
            <a:off x="2095500" y="2309961"/>
            <a:ext cx="8001000" cy="238125"/>
          </a:xfrm>
          <a:prstGeom prst="rect">
            <a:avLst/>
          </a:prstGeom>
          <a:noFill/>
        </p:spPr>
        <p:txBody>
          <a:bodyPr wrap="square" lIns="0" tIns="0" rIns="0" bIns="0" anchor="t">
            <a:spAutoFit/>
          </a:bodyPr>
          <a:lstStyle/>
          <a:p>
            <a:pPr algn="ctr"/>
            <a:r>
              <a:rPr sz="1500" b="1" i="0" u="none" dirty="0">
                <a:solidFill>
                  <a:srgbClr val="C5A059"/>
                </a:solidFill>
                <a:latin typeface="Merriweather"/>
              </a:rPr>
              <a:t>BÖLÜM 0</a:t>
            </a:r>
            <a:r>
              <a:rPr lang="tr-TR" sz="1500" b="1" i="0" u="none" dirty="0">
                <a:solidFill>
                  <a:srgbClr val="C5A059"/>
                </a:solidFill>
                <a:latin typeface="Merriweather"/>
              </a:rPr>
              <a:t>5</a:t>
            </a:r>
            <a:endParaRPr sz="1500" b="1" i="0" u="none" dirty="0">
              <a:solidFill>
                <a:srgbClr val="C5A059"/>
              </a:solidFill>
              <a:latin typeface="Merriweather"/>
            </a:endParaRP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399" y="6534150"/>
            <a:ext cx="467591" cy="126958"/>
          </a:xfrm>
          <a:prstGeom prst="rect">
            <a:avLst/>
          </a:prstGeom>
          <a:noFill/>
        </p:spPr>
        <p:txBody>
          <a:bodyPr wrap="square" lIns="0" tIns="0" rIns="0" bIns="0" anchor="t">
            <a:spAutoFit/>
          </a:bodyPr>
          <a:lstStyle/>
          <a:p>
            <a:pPr algn="l"/>
            <a:r>
              <a:rPr sz="825" b="0" i="0" u="none">
                <a:solidFill>
                  <a:srgbClr val="94A3B8"/>
                </a:solidFill>
                <a:latin typeface="DM Sans"/>
              </a:rPr>
              <a:t>Slayt </a:t>
            </a:r>
            <a:r>
              <a:rPr lang="tr-TR" sz="825" b="0" i="0" u="none">
                <a:solidFill>
                  <a:srgbClr val="94A3B8"/>
                </a:solidFill>
                <a:latin typeface="DM Sans"/>
              </a:rPr>
              <a:t>18</a:t>
            </a:r>
            <a:endParaRPr sz="825" b="0" i="0" u="none">
              <a:solidFill>
                <a:srgbClr val="94A3B8"/>
              </a:solidFill>
              <a:latin typeface="DM Sans"/>
            </a:endParaRPr>
          </a:p>
        </p:txBody>
      </p:sp>
      <p:pic>
        <p:nvPicPr>
          <p:cNvPr id="10" name="İçerik Yer Tutucusu 10">
            <a:extLst>
              <a:ext uri="{FF2B5EF4-FFF2-40B4-BE49-F238E27FC236}">
                <a16:creationId xmlns:a16="http://schemas.microsoft.com/office/drawing/2014/main" id="{B37786D2-57C1-72F5-BBAE-597F6ED3EF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93713" y="286767"/>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3">
            <a:extLst>
              <a:ext uri="{FF2B5EF4-FFF2-40B4-BE49-F238E27FC236}">
                <a16:creationId xmlns:a16="http://schemas.microsoft.com/office/drawing/2014/main" id="{56DF2EE7-ACCD-5D48-5151-2C940968B18B}"/>
              </a:ext>
            </a:extLst>
          </p:cNvPr>
          <p:cNvSpPr txBox="1"/>
          <p:nvPr/>
        </p:nvSpPr>
        <p:spPr>
          <a:xfrm>
            <a:off x="295275" y="2638425"/>
            <a:ext cx="11601450" cy="553998"/>
          </a:xfrm>
          <a:prstGeom prst="rect">
            <a:avLst/>
          </a:prstGeom>
          <a:noFill/>
        </p:spPr>
        <p:txBody>
          <a:bodyPr wrap="square" lIns="0" tIns="0" rIns="0" bIns="0" anchor="t">
            <a:spAutoFit/>
          </a:bodyPr>
          <a:lstStyle/>
          <a:p>
            <a:pPr algn="ctr"/>
            <a:r>
              <a:rPr lang="tr-TR" sz="3600" b="1" i="0" u="none" dirty="0">
                <a:solidFill>
                  <a:srgbClr val="FFFFFF"/>
                </a:solidFill>
                <a:latin typeface="Merriweather"/>
              </a:rPr>
              <a:t>DENEYSEL SONUÇLAR VE DENETİM</a:t>
            </a:r>
          </a:p>
        </p:txBody>
      </p:sp>
      <p:sp>
        <p:nvSpPr>
          <p:cNvPr id="12" name="TextBox 4">
            <a:extLst>
              <a:ext uri="{FF2B5EF4-FFF2-40B4-BE49-F238E27FC236}">
                <a16:creationId xmlns:a16="http://schemas.microsoft.com/office/drawing/2014/main" id="{DF65916F-B89C-9397-84BC-DE2FB69D63D8}"/>
              </a:ext>
            </a:extLst>
          </p:cNvPr>
          <p:cNvSpPr txBox="1"/>
          <p:nvPr/>
        </p:nvSpPr>
        <p:spPr>
          <a:xfrm>
            <a:off x="2286000" y="3701519"/>
            <a:ext cx="7620000" cy="571500"/>
          </a:xfrm>
          <a:prstGeom prst="rect">
            <a:avLst/>
          </a:prstGeom>
          <a:noFill/>
        </p:spPr>
        <p:txBody>
          <a:bodyPr wrap="square" lIns="0" tIns="0" rIns="0" bIns="0" anchor="t">
            <a:spAutoFit/>
          </a:bodyPr>
          <a:lstStyle/>
          <a:p>
            <a:pPr algn="ctr">
              <a:lnSpc>
                <a:spcPts val="2250"/>
              </a:lnSpc>
            </a:pPr>
            <a:r>
              <a:rPr lang="tr-TR" sz="1500" b="0" i="0" u="none" dirty="0">
                <a:solidFill>
                  <a:srgbClr val="CBD5E1"/>
                </a:solidFill>
                <a:latin typeface="DM Sans"/>
              </a:rPr>
              <a:t>Sınıflandırma Performansı, Model Karşılaştırma Tabloları, Öznitelik Önem Düzeyleri ve Metrik Analizleri</a:t>
            </a:r>
          </a:p>
        </p:txBody>
      </p:sp>
    </p:spTree>
    <p:extLst>
      <p:ext uri="{BB962C8B-B14F-4D97-AF65-F5344CB8AC3E}">
        <p14:creationId xmlns:p14="http://schemas.microsoft.com/office/powerpoint/2010/main" val="24641691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a:solidFill>
                  <a:srgbClr val="005088"/>
                </a:solidFill>
                <a:latin typeface="Merriweather"/>
              </a:rPr>
              <a:t>Model </a:t>
            </a:r>
            <a:r>
              <a:rPr sz="2550" b="1" i="0" u="none" dirty="0" err="1">
                <a:solidFill>
                  <a:srgbClr val="005088"/>
                </a:solidFill>
                <a:latin typeface="Merriweather"/>
              </a:rPr>
              <a:t>Performans</a:t>
            </a:r>
            <a:r>
              <a:rPr sz="2550" b="1" i="0" u="none" dirty="0">
                <a:solidFill>
                  <a:srgbClr val="005088"/>
                </a:solidFill>
                <a:latin typeface="Merriweather"/>
              </a:rPr>
              <a:t> </a:t>
            </a:r>
            <a:r>
              <a:rPr sz="2550" b="1" i="0" u="none" dirty="0" err="1">
                <a:solidFill>
                  <a:srgbClr val="005088"/>
                </a:solidFill>
                <a:latin typeface="Merriweather"/>
              </a:rPr>
              <a:t>Tablosu</a:t>
            </a:r>
            <a:r>
              <a:rPr lang="tr-TR" sz="2550" b="1" i="0" u="none" dirty="0">
                <a:solidFill>
                  <a:srgbClr val="005088"/>
                </a:solidFill>
                <a:latin typeface="Merriweather"/>
              </a:rPr>
              <a:t>(Azaltılmış)</a:t>
            </a:r>
            <a:endParaRPr sz="2550" b="1" i="0" u="none" dirty="0">
              <a:solidFill>
                <a:srgbClr val="005088"/>
              </a:solidFill>
              <a:latin typeface="Merriweather"/>
            </a:endParaRP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dirty="0">
                <a:solidFill>
                  <a:srgbClr val="94A3B8"/>
                </a:solidFill>
                <a:latin typeface="DM Sans"/>
              </a:rPr>
              <a:t>SAKARYA ÜNİVERSİTESİ • YÜKSEK LİSANS TEZ SAVUNMASI</a:t>
            </a:r>
          </a:p>
        </p:txBody>
      </p:sp>
      <p:sp>
        <p:nvSpPr>
          <p:cNvPr id="7" name="TextBox 6"/>
          <p:cNvSpPr txBox="1"/>
          <p:nvPr/>
        </p:nvSpPr>
        <p:spPr>
          <a:xfrm>
            <a:off x="11172825" y="6496050"/>
            <a:ext cx="4476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a:t>
            </a:r>
            <a:r>
              <a:rPr lang="tr-TR" sz="900">
                <a:solidFill>
                  <a:srgbClr val="94A3B8"/>
                </a:solidFill>
                <a:latin typeface="DM Sans"/>
              </a:rPr>
              <a:t>19</a:t>
            </a:r>
            <a:endParaRPr sz="900" b="0" i="0" u="none">
              <a:solidFill>
                <a:srgbClr val="94A3B8"/>
              </a:solidFill>
              <a:latin typeface="DM Sans"/>
            </a:endParaRPr>
          </a:p>
        </p:txBody>
      </p:sp>
      <p:graphicFrame>
        <p:nvGraphicFramePr>
          <p:cNvPr id="8" name="Table 7"/>
          <p:cNvGraphicFramePr>
            <a:graphicFrameLocks noGrp="1"/>
          </p:cNvGraphicFramePr>
          <p:nvPr>
            <p:extLst>
              <p:ext uri="{D42A27DB-BD31-4B8C-83A1-F6EECF244321}">
                <p14:modId xmlns:p14="http://schemas.microsoft.com/office/powerpoint/2010/main" val="2254073739"/>
              </p:ext>
            </p:extLst>
          </p:nvPr>
        </p:nvGraphicFramePr>
        <p:xfrm>
          <a:off x="566928" y="1252537"/>
          <a:ext cx="11053569" cy="3590925"/>
        </p:xfrm>
        <a:graphic>
          <a:graphicData uri="http://schemas.openxmlformats.org/drawingml/2006/table">
            <a:tbl>
              <a:tblPr firstRow="1" bandRow="1">
                <a:tableStyleId>{5C22544A-7EE6-4342-B048-85BDC9FD1C3A}</a:tableStyleId>
              </a:tblPr>
              <a:tblGrid>
                <a:gridCol w="2038605">
                  <a:extLst>
                    <a:ext uri="{9D8B030D-6E8A-4147-A177-3AD203B41FA5}">
                      <a16:colId xmlns:a16="http://schemas.microsoft.com/office/drawing/2014/main" val="20000"/>
                    </a:ext>
                  </a:extLst>
                </a:gridCol>
                <a:gridCol w="2134195">
                  <a:extLst>
                    <a:ext uri="{9D8B030D-6E8A-4147-A177-3AD203B41FA5}">
                      <a16:colId xmlns:a16="http://schemas.microsoft.com/office/drawing/2014/main" val="20001"/>
                    </a:ext>
                  </a:extLst>
                </a:gridCol>
                <a:gridCol w="2264576">
                  <a:extLst>
                    <a:ext uri="{9D8B030D-6E8A-4147-A177-3AD203B41FA5}">
                      <a16:colId xmlns:a16="http://schemas.microsoft.com/office/drawing/2014/main" val="20002"/>
                    </a:ext>
                  </a:extLst>
                </a:gridCol>
                <a:gridCol w="1803640">
                  <a:extLst>
                    <a:ext uri="{9D8B030D-6E8A-4147-A177-3AD203B41FA5}">
                      <a16:colId xmlns:a16="http://schemas.microsoft.com/office/drawing/2014/main" val="20003"/>
                    </a:ext>
                  </a:extLst>
                </a:gridCol>
                <a:gridCol w="966936">
                  <a:extLst>
                    <a:ext uri="{9D8B030D-6E8A-4147-A177-3AD203B41FA5}">
                      <a16:colId xmlns:a16="http://schemas.microsoft.com/office/drawing/2014/main" val="20004"/>
                    </a:ext>
                  </a:extLst>
                </a:gridCol>
                <a:gridCol w="1845617">
                  <a:extLst>
                    <a:ext uri="{9D8B030D-6E8A-4147-A177-3AD203B41FA5}">
                      <a16:colId xmlns:a16="http://schemas.microsoft.com/office/drawing/2014/main" val="20005"/>
                    </a:ext>
                  </a:extLst>
                </a:gridCol>
              </a:tblGrid>
              <a:tr h="448865">
                <a:tc>
                  <a:txBody>
                    <a:bodyPr/>
                    <a:lstStyle/>
                    <a:p>
                      <a:pPr algn="l"/>
                      <a:r>
                        <a:rPr sz="1200" b="0" i="0" u="none" dirty="0">
                          <a:solidFill>
                            <a:srgbClr val="FFFFFF"/>
                          </a:solidFill>
                          <a:latin typeface="DM Sans SemiBold"/>
                        </a:rPr>
                        <a:t>Model </a:t>
                      </a:r>
                      <a:r>
                        <a:rPr sz="1200" b="0" i="0" u="none" dirty="0" err="1">
                          <a:solidFill>
                            <a:srgbClr val="FFFFFF"/>
                          </a:solidFill>
                          <a:latin typeface="DM Sans SemiBold"/>
                        </a:rPr>
                        <a:t>Algoritması</a:t>
                      </a:r>
                      <a:endParaRPr sz="1200" b="0" i="0" u="none" dirty="0">
                        <a:solidFill>
                          <a:srgbClr val="FFFFFF"/>
                        </a:solidFill>
                        <a:latin typeface="DM Sans SemiBold"/>
                      </a:endParaRP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Doğruluk (Accuracy)</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Hassasiyet (Precision)</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Duyarlılık (Recall)</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F1-Skor</a:t>
                      </a:r>
                    </a:p>
                  </a:txBody>
                  <a:tcPr marL="63500" marR="63500" marT="25400" marB="25400" anchor="ctr">
                    <a:lnL>
                      <a:noFill/>
                    </a:lnL>
                    <a:lnR>
                      <a:noFill/>
                    </a:lnR>
                    <a:lnT>
                      <a:noFill/>
                    </a:lnT>
                    <a:lnB>
                      <a:noFill/>
                    </a:lnB>
                    <a:solidFill>
                      <a:srgbClr val="005088"/>
                    </a:solidFill>
                  </a:tcPr>
                </a:tc>
                <a:tc>
                  <a:txBody>
                    <a:bodyPr/>
                    <a:lstStyle/>
                    <a:p>
                      <a:pPr algn="l"/>
                      <a:r>
                        <a:rPr sz="1200" b="0" i="0" u="none" dirty="0" err="1">
                          <a:solidFill>
                            <a:srgbClr val="FFFFFF"/>
                          </a:solidFill>
                          <a:latin typeface="DM Sans SemiBold"/>
                        </a:rPr>
                        <a:t>Eğitim</a:t>
                      </a:r>
                      <a:r>
                        <a:rPr sz="1200" b="0" i="0" u="none" dirty="0">
                          <a:solidFill>
                            <a:srgbClr val="FFFFFF"/>
                          </a:solidFill>
                          <a:latin typeface="DM Sans SemiBold"/>
                        </a:rPr>
                        <a:t> </a:t>
                      </a:r>
                      <a:r>
                        <a:rPr sz="1200" b="0" i="0" u="none" dirty="0" err="1">
                          <a:solidFill>
                            <a:srgbClr val="FFFFFF"/>
                          </a:solidFill>
                          <a:latin typeface="DM Sans SemiBold"/>
                        </a:rPr>
                        <a:t>Süresi</a:t>
                      </a:r>
                      <a:r>
                        <a:rPr sz="1200" b="0" i="0" u="none" dirty="0">
                          <a:solidFill>
                            <a:srgbClr val="FFFFFF"/>
                          </a:solidFill>
                          <a:latin typeface="DM Sans SemiBold"/>
                        </a:rPr>
                        <a:t> (</a:t>
                      </a:r>
                      <a:r>
                        <a:rPr sz="1200" b="0" i="0" u="none" dirty="0" err="1">
                          <a:solidFill>
                            <a:srgbClr val="FFFFFF"/>
                          </a:solidFill>
                          <a:latin typeface="DM Sans SemiBold"/>
                        </a:rPr>
                        <a:t>sn</a:t>
                      </a:r>
                      <a:r>
                        <a:rPr sz="1200" b="0" i="0" u="none" dirty="0">
                          <a:solidFill>
                            <a:srgbClr val="FFFFFF"/>
                          </a:solidFill>
                          <a:latin typeface="DM Sans SemiBold"/>
                        </a:rPr>
                        <a:t>)</a:t>
                      </a:r>
                    </a:p>
                  </a:txBody>
                  <a:tcPr marL="63500" marR="63500" marT="25400" marB="25400" anchor="ctr">
                    <a:lnL>
                      <a:noFill/>
                    </a:lnL>
                    <a:lnR>
                      <a:noFill/>
                    </a:lnR>
                    <a:lnT>
                      <a:noFill/>
                    </a:lnT>
                    <a:lnB>
                      <a:noFill/>
                    </a:lnB>
                    <a:solidFill>
                      <a:srgbClr val="005088"/>
                    </a:solidFill>
                  </a:tcPr>
                </a:tc>
                <a:extLst>
                  <a:ext uri="{0D108BD9-81ED-4DB2-BD59-A6C34878D82A}">
                    <a16:rowId xmlns:a16="http://schemas.microsoft.com/office/drawing/2014/main" val="10000"/>
                  </a:ext>
                </a:extLst>
              </a:tr>
              <a:tr h="448865">
                <a:tc>
                  <a:txBody>
                    <a:bodyPr/>
                    <a:lstStyle/>
                    <a:p>
                      <a:pPr algn="l"/>
                      <a:r>
                        <a:rPr sz="1200" b="1" i="0" u="none" dirty="0" err="1">
                          <a:solidFill>
                            <a:srgbClr val="064E3B"/>
                          </a:solidFill>
                          <a:latin typeface="DM Sans"/>
                        </a:rPr>
                        <a:t>XGBoost</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algn="l"/>
                      <a:r>
                        <a:rPr sz="1200" b="1" i="0" u="none" dirty="0">
                          <a:solidFill>
                            <a:srgbClr val="064E3B"/>
                          </a:solidFill>
                          <a:latin typeface="DM Sans"/>
                        </a:rPr>
                        <a:t>%99.</a:t>
                      </a:r>
                      <a:r>
                        <a:rPr lang="tr-TR" sz="1200" b="1" i="0" u="none" dirty="0">
                          <a:solidFill>
                            <a:srgbClr val="064E3B"/>
                          </a:solidFill>
                          <a:latin typeface="DM Sans"/>
                        </a:rPr>
                        <a:t>76</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algn="l"/>
                      <a:r>
                        <a:rPr sz="1200" b="1" i="0" u="none" dirty="0">
                          <a:solidFill>
                            <a:srgbClr val="064E3B"/>
                          </a:solidFill>
                          <a:latin typeface="DM Sans"/>
                        </a:rPr>
                        <a:t>%99.</a:t>
                      </a:r>
                      <a:r>
                        <a:rPr lang="tr-TR" sz="1200" b="1" i="0" u="none" dirty="0">
                          <a:solidFill>
                            <a:srgbClr val="064E3B"/>
                          </a:solidFill>
                          <a:latin typeface="DM Sans"/>
                        </a:rPr>
                        <a:t>95</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%99,58</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%99,77</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0,8595 </a:t>
                      </a:r>
                    </a:p>
                  </a:txBody>
                  <a:tcPr anchor="ctr">
                    <a:lnL>
                      <a:noFill/>
                    </a:lnL>
                    <a:lnR>
                      <a:noFill/>
                    </a:lnR>
                    <a:lnT>
                      <a:noFill/>
                    </a:lnT>
                    <a:lnB>
                      <a:noFill/>
                    </a:lnB>
                    <a:solidFill>
                      <a:srgbClr val="F0FDF4"/>
                    </a:solidFill>
                  </a:tcPr>
                </a:tc>
                <a:extLst>
                  <a:ext uri="{0D108BD9-81ED-4DB2-BD59-A6C34878D82A}">
                    <a16:rowId xmlns:a16="http://schemas.microsoft.com/office/drawing/2014/main" val="10001"/>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Random</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Forest</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%99,72</a:t>
                      </a: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%99,92</a:t>
                      </a: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%99,54</a:t>
                      </a:r>
                    </a:p>
                  </a:txBody>
                  <a:tcPr anchor="ctr">
                    <a:lnL>
                      <a:noFill/>
                    </a:lnL>
                    <a:lnR>
                      <a:noFill/>
                    </a:lnR>
                    <a:lnT>
                      <a:noFill/>
                    </a:lnT>
                    <a:lnB>
                      <a:noFill/>
                    </a:lnB>
                    <a:solidFill>
                      <a:srgbClr val="F8FAFC"/>
                    </a:solidFill>
                  </a:tcPr>
                </a:tc>
                <a:tc>
                  <a:txBody>
                    <a:bodyPr/>
                    <a:lstStyle/>
                    <a:p>
                      <a:r>
                        <a:rPr lang="tr-TR" sz="1200" b="0" i="0" u="none" kern="1200">
                          <a:solidFill>
                            <a:srgbClr val="334155"/>
                          </a:solidFill>
                          <a:latin typeface="DM Sans"/>
                          <a:ea typeface="+mn-ea"/>
                          <a:cs typeface="+mn-cs"/>
                        </a:rPr>
                        <a:t>%99,73</a:t>
                      </a:r>
                    </a:p>
                  </a:txBody>
                  <a:tcPr anchor="ctr">
                    <a:lnL>
                      <a:noFill/>
                    </a:lnL>
                    <a:lnR>
                      <a:noFill/>
                    </a:lnR>
                    <a:lnT>
                      <a:noFill/>
                    </a:lnT>
                    <a:lnB>
                      <a:noFill/>
                    </a:lnB>
                    <a:solidFill>
                      <a:srgbClr val="F8FAFC"/>
                    </a:solidFill>
                  </a:tcPr>
                </a:tc>
                <a:tc>
                  <a:txBody>
                    <a:bodyPr/>
                    <a:lstStyle/>
                    <a:p>
                      <a:r>
                        <a:rPr lang="tr-TR" sz="1200" b="0" i="0" u="none" kern="1200" dirty="0">
                          <a:solidFill>
                            <a:srgbClr val="334155"/>
                          </a:solidFill>
                          <a:latin typeface="DM Sans"/>
                          <a:ea typeface="+mn-ea"/>
                          <a:cs typeface="+mn-cs"/>
                        </a:rPr>
                        <a:t>16,3054 </a:t>
                      </a:r>
                    </a:p>
                  </a:txBody>
                  <a:tcPr anchor="ctr">
                    <a:lnL>
                      <a:noFill/>
                    </a:lnL>
                    <a:lnR>
                      <a:noFill/>
                    </a:lnR>
                    <a:lnT>
                      <a:noFill/>
                    </a:lnT>
                    <a:lnB>
                      <a:noFill/>
                    </a:lnB>
                    <a:solidFill>
                      <a:srgbClr val="F8FAFC"/>
                    </a:solidFill>
                  </a:tcPr>
                </a:tc>
                <a:extLst>
                  <a:ext uri="{0D108BD9-81ED-4DB2-BD59-A6C34878D82A}">
                    <a16:rowId xmlns:a16="http://schemas.microsoft.com/office/drawing/2014/main" val="10002"/>
                  </a:ext>
                </a:extLst>
              </a:tr>
              <a:tr h="448865">
                <a:tc>
                  <a:txBody>
                    <a:bodyPr/>
                    <a:lstStyle/>
                    <a:p>
                      <a:pPr marL="0" algn="l" defTabSz="457200" rtl="0" eaLnBrk="1" latinLnBrk="0" hangingPunct="1"/>
                      <a:r>
                        <a:rPr lang="tr-TR" sz="1200" b="0" i="0" u="none" kern="1200" dirty="0">
                          <a:solidFill>
                            <a:srgbClr val="334155"/>
                          </a:solidFill>
                          <a:latin typeface="DM Sans"/>
                          <a:ea typeface="+mn-ea"/>
                          <a:cs typeface="+mn-cs"/>
                        </a:rPr>
                        <a:t>Lojistik Regresyon</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%99,96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%99,39</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%99,67</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6,2479 </a:t>
                      </a:r>
                    </a:p>
                  </a:txBody>
                  <a:tcPr anchor="ctr">
                    <a:lnL>
                      <a:noFill/>
                    </a:lnL>
                    <a:lnR>
                      <a:noFill/>
                    </a:lnR>
                    <a:lnT>
                      <a:noFill/>
                    </a:lnT>
                    <a:lnB>
                      <a:noFill/>
                    </a:lnB>
                    <a:noFill/>
                  </a:tcPr>
                </a:tc>
                <a:extLst>
                  <a:ext uri="{0D108BD9-81ED-4DB2-BD59-A6C34878D82A}">
                    <a16:rowId xmlns:a16="http://schemas.microsoft.com/office/drawing/2014/main" val="10003"/>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Linear</a:t>
                      </a:r>
                      <a:r>
                        <a:rPr lang="tr-TR" sz="1200" b="0" i="0" u="none" kern="1200" dirty="0">
                          <a:solidFill>
                            <a:srgbClr val="334155"/>
                          </a:solidFill>
                          <a:latin typeface="DM Sans"/>
                          <a:ea typeface="+mn-ea"/>
                          <a:cs typeface="+mn-cs"/>
                        </a:rPr>
                        <a:t> SVM</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%99,66</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%99,98</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%99,37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%99,67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3,4926 </a:t>
                      </a:r>
                    </a:p>
                  </a:txBody>
                  <a:tcPr anchor="ctr">
                    <a:lnL>
                      <a:noFill/>
                    </a:lnL>
                    <a:lnR>
                      <a:noFill/>
                    </a:lnR>
                    <a:lnT>
                      <a:noFill/>
                    </a:lnT>
                    <a:lnB>
                      <a:noFill/>
                    </a:lnB>
                    <a:solidFill>
                      <a:srgbClr val="F8FAFC"/>
                    </a:solidFill>
                  </a:tcPr>
                </a:tc>
                <a:extLst>
                  <a:ext uri="{0D108BD9-81ED-4DB2-BD59-A6C34878D82A}">
                    <a16:rowId xmlns:a16="http://schemas.microsoft.com/office/drawing/2014/main" val="10004"/>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Decision</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Tree</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%99,64</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%99,56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1,4830 </a:t>
                      </a:r>
                    </a:p>
                  </a:txBody>
                  <a:tcPr anchor="ctr">
                    <a:lnL>
                      <a:noFill/>
                    </a:lnL>
                    <a:lnR>
                      <a:noFill/>
                    </a:lnR>
                    <a:lnT>
                      <a:noFill/>
                    </a:lnT>
                    <a:lnB>
                      <a:noFill/>
                    </a:lnB>
                    <a:noFill/>
                  </a:tcPr>
                </a:tc>
                <a:extLst>
                  <a:ext uri="{0D108BD9-81ED-4DB2-BD59-A6C34878D82A}">
                    <a16:rowId xmlns:a16="http://schemas.microsoft.com/office/drawing/2014/main" val="10005"/>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Naive</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Bayes</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%99,51</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%99,63</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%99,53</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0,1600 </a:t>
                      </a:r>
                    </a:p>
                  </a:txBody>
                  <a:tcPr anchor="ctr">
                    <a:lnL>
                      <a:noFill/>
                    </a:lnL>
                    <a:lnR>
                      <a:noFill/>
                    </a:lnR>
                    <a:lnT>
                      <a:noFill/>
                    </a:lnT>
                    <a:lnB>
                      <a:noFill/>
                    </a:lnB>
                    <a:solidFill>
                      <a:srgbClr val="F8FAFC"/>
                    </a:solidFill>
                  </a:tcPr>
                </a:tc>
                <a:extLst>
                  <a:ext uri="{0D108BD9-81ED-4DB2-BD59-A6C34878D82A}">
                    <a16:rowId xmlns:a16="http://schemas.microsoft.com/office/drawing/2014/main" val="10006"/>
                  </a:ext>
                </a:extLst>
              </a:tr>
              <a:tr h="448870">
                <a:tc>
                  <a:txBody>
                    <a:bodyPr/>
                    <a:lstStyle/>
                    <a:p>
                      <a:pPr marL="0" algn="l" defTabSz="457200" rtl="0" eaLnBrk="1" latinLnBrk="0" hangingPunct="1"/>
                      <a:r>
                        <a:rPr lang="tr-TR" sz="1200" b="0" i="0" u="none" kern="1200" dirty="0">
                          <a:solidFill>
                            <a:srgbClr val="334155"/>
                          </a:solidFill>
                          <a:latin typeface="DM Sans"/>
                          <a:ea typeface="+mn-ea"/>
                          <a:cs typeface="+mn-cs"/>
                        </a:rPr>
                        <a:t>KNN</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%99,40</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%99,79</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%99,06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%99,42</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0,0601 </a:t>
                      </a:r>
                    </a:p>
                  </a:txBody>
                  <a:tcPr anchor="ctr">
                    <a:lnL>
                      <a:noFill/>
                    </a:lnL>
                    <a:lnR>
                      <a:noFill/>
                    </a:lnR>
                    <a:lnT>
                      <a:noFill/>
                    </a:lnT>
                    <a:lnB>
                      <a:noFill/>
                    </a:lnB>
                    <a:noFill/>
                  </a:tcPr>
                </a:tc>
                <a:extLst>
                  <a:ext uri="{0D108BD9-81ED-4DB2-BD59-A6C34878D82A}">
                    <a16:rowId xmlns:a16="http://schemas.microsoft.com/office/drawing/2014/main" val="10007"/>
                  </a:ext>
                </a:extLst>
              </a:tr>
            </a:tbl>
          </a:graphicData>
        </a:graphic>
      </p:graphicFrame>
      <p:sp>
        <p:nvSpPr>
          <p:cNvPr id="9" name="Rectangle 8"/>
          <p:cNvSpPr/>
          <p:nvPr/>
        </p:nvSpPr>
        <p:spPr>
          <a:xfrm>
            <a:off x="571500" y="21431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605533" y="21431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39729" y="21431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007274" y="21431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07946" y="21431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774882" y="21431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71500" y="25908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605533" y="25908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739729" y="25908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007274" y="25908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807946" y="25908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774882" y="25908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71500" y="30384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605533" y="30384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39729" y="30384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007274" y="30384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807946" y="30384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74882" y="30384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1500" y="348615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605533" y="348615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39729" y="348615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007274" y="348615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807946" y="348615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774882" y="348615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1500" y="39338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605533" y="39338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739729" y="39338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07274" y="39338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807946" y="39338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9774882" y="39338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71500" y="43815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05533" y="43815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39729" y="43815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007274" y="43815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807946" y="43815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9774882" y="43815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71500" y="48291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605533" y="48291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739729" y="48291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007274" y="48291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807946" y="48291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774882" y="48291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1" descr="image.png">
            <a:extLst>
              <a:ext uri="{FF2B5EF4-FFF2-40B4-BE49-F238E27FC236}">
                <a16:creationId xmlns:a16="http://schemas.microsoft.com/office/drawing/2014/main" id="{CC1ACD1F-41DF-9D71-C093-2BF8C70F0142}"/>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52" name="İçerik Yer Tutucusu 10">
            <a:extLst>
              <a:ext uri="{FF2B5EF4-FFF2-40B4-BE49-F238E27FC236}">
                <a16:creationId xmlns:a16="http://schemas.microsoft.com/office/drawing/2014/main" id="{79D056F0-AEA7-2ED0-6629-9A868221A7B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473114BD-2797-10E2-BB18-BCEE13D02E72}"/>
              </a:ext>
            </a:extLst>
          </p:cNvPr>
          <p:cNvGraphicFramePr>
            <a:graphicFrameLocks noGrp="1"/>
          </p:cNvGraphicFramePr>
          <p:nvPr>
            <p:extLst>
              <p:ext uri="{D42A27DB-BD31-4B8C-83A1-F6EECF244321}">
                <p14:modId xmlns:p14="http://schemas.microsoft.com/office/powerpoint/2010/main" val="3167145008"/>
              </p:ext>
            </p:extLst>
          </p:nvPr>
        </p:nvGraphicFramePr>
        <p:xfrm>
          <a:off x="571500" y="4827980"/>
          <a:ext cx="11053569" cy="448870"/>
        </p:xfrm>
        <a:graphic>
          <a:graphicData uri="http://schemas.openxmlformats.org/drawingml/2006/table">
            <a:tbl>
              <a:tblPr firstRow="1" bandRow="1">
                <a:tableStyleId>{5C22544A-7EE6-4342-B048-85BDC9FD1C3A}</a:tableStyleId>
              </a:tblPr>
              <a:tblGrid>
                <a:gridCol w="2038605">
                  <a:extLst>
                    <a:ext uri="{9D8B030D-6E8A-4147-A177-3AD203B41FA5}">
                      <a16:colId xmlns:a16="http://schemas.microsoft.com/office/drawing/2014/main" val="1278664145"/>
                    </a:ext>
                  </a:extLst>
                </a:gridCol>
                <a:gridCol w="2134195">
                  <a:extLst>
                    <a:ext uri="{9D8B030D-6E8A-4147-A177-3AD203B41FA5}">
                      <a16:colId xmlns:a16="http://schemas.microsoft.com/office/drawing/2014/main" val="247307070"/>
                    </a:ext>
                  </a:extLst>
                </a:gridCol>
                <a:gridCol w="2264576">
                  <a:extLst>
                    <a:ext uri="{9D8B030D-6E8A-4147-A177-3AD203B41FA5}">
                      <a16:colId xmlns:a16="http://schemas.microsoft.com/office/drawing/2014/main" val="288419211"/>
                    </a:ext>
                  </a:extLst>
                </a:gridCol>
                <a:gridCol w="1803640">
                  <a:extLst>
                    <a:ext uri="{9D8B030D-6E8A-4147-A177-3AD203B41FA5}">
                      <a16:colId xmlns:a16="http://schemas.microsoft.com/office/drawing/2014/main" val="2418785676"/>
                    </a:ext>
                  </a:extLst>
                </a:gridCol>
                <a:gridCol w="966936">
                  <a:extLst>
                    <a:ext uri="{9D8B030D-6E8A-4147-A177-3AD203B41FA5}">
                      <a16:colId xmlns:a16="http://schemas.microsoft.com/office/drawing/2014/main" val="4238022796"/>
                    </a:ext>
                  </a:extLst>
                </a:gridCol>
                <a:gridCol w="1845617">
                  <a:extLst>
                    <a:ext uri="{9D8B030D-6E8A-4147-A177-3AD203B41FA5}">
                      <a16:colId xmlns:a16="http://schemas.microsoft.com/office/drawing/2014/main" val="1287164020"/>
                    </a:ext>
                  </a:extLst>
                </a:gridCol>
              </a:tblGrid>
              <a:tr h="448870">
                <a:tc>
                  <a:txBody>
                    <a:bodyPr/>
                    <a:lstStyle/>
                    <a:p>
                      <a:pPr marL="0" algn="l" defTabSz="457200" rtl="0" eaLnBrk="1" latinLnBrk="0" hangingPunct="1"/>
                      <a:r>
                        <a:rPr lang="tr-TR" sz="1200" b="0" i="0" u="none" kern="1200" dirty="0" err="1">
                          <a:solidFill>
                            <a:srgbClr val="334155"/>
                          </a:solidFill>
                          <a:latin typeface="DM Sans"/>
                          <a:ea typeface="+mn-ea"/>
                          <a:cs typeface="+mn-cs"/>
                        </a:rPr>
                        <a:t>Gradient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Boosting</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%99,70</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%99,98</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%99,72</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40,72</a:t>
                      </a:r>
                    </a:p>
                  </a:txBody>
                  <a:tcPr anchor="ctr">
                    <a:lnL>
                      <a:noFill/>
                    </a:lnL>
                    <a:lnR>
                      <a:noFill/>
                    </a:lnR>
                    <a:lnT>
                      <a:noFill/>
                    </a:lnT>
                    <a:lnB>
                      <a:noFill/>
                    </a:lnB>
                    <a:noFill/>
                  </a:tcPr>
                </a:tc>
                <a:extLst>
                  <a:ext uri="{0D108BD9-81ED-4DB2-BD59-A6C34878D82A}">
                    <a16:rowId xmlns:a16="http://schemas.microsoft.com/office/drawing/2014/main" val="702274730"/>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4" name="TextBox 3"/>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a:solidFill>
                  <a:srgbClr val="005088"/>
                </a:solidFill>
                <a:latin typeface="Merriweather"/>
              </a:rPr>
              <a:t>Model </a:t>
            </a:r>
            <a:r>
              <a:rPr sz="2550" b="1" i="0" u="none" dirty="0" err="1">
                <a:solidFill>
                  <a:srgbClr val="005088"/>
                </a:solidFill>
                <a:latin typeface="Merriweather"/>
              </a:rPr>
              <a:t>Performans</a:t>
            </a:r>
            <a:r>
              <a:rPr lang="tr-TR" sz="2550" b="1" dirty="0">
                <a:solidFill>
                  <a:srgbClr val="005088"/>
                </a:solidFill>
                <a:latin typeface="Merriweather"/>
              </a:rPr>
              <a:t> </a:t>
            </a:r>
            <a:r>
              <a:rPr sz="2550" b="1" i="0" u="none" dirty="0" err="1">
                <a:solidFill>
                  <a:srgbClr val="005088"/>
                </a:solidFill>
                <a:latin typeface="Merriweather"/>
              </a:rPr>
              <a:t>Tablosu</a:t>
            </a:r>
            <a:r>
              <a:rPr lang="tr-TR" sz="2550" b="1" i="0" u="none" dirty="0">
                <a:solidFill>
                  <a:srgbClr val="005088"/>
                </a:solidFill>
                <a:latin typeface="Merriweather"/>
              </a:rPr>
              <a:t>(Azaltılmamış)</a:t>
            </a:r>
            <a:endParaRPr sz="2550" b="1" i="0" u="none" dirty="0">
              <a:solidFill>
                <a:srgbClr val="005088"/>
              </a:solidFill>
              <a:latin typeface="Merriweather"/>
            </a:endParaRPr>
          </a:p>
        </p:txBody>
      </p:sp>
      <p:sp>
        <p:nvSpPr>
          <p:cNvPr id="5" name="Rectangle 4"/>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7" name="TextBox 6"/>
          <p:cNvSpPr txBox="1"/>
          <p:nvPr/>
        </p:nvSpPr>
        <p:spPr>
          <a:xfrm>
            <a:off x="11172825" y="6496050"/>
            <a:ext cx="4476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20</a:t>
            </a:r>
          </a:p>
        </p:txBody>
      </p:sp>
      <p:graphicFrame>
        <p:nvGraphicFramePr>
          <p:cNvPr id="8" name="Table 7"/>
          <p:cNvGraphicFramePr>
            <a:graphicFrameLocks noGrp="1"/>
          </p:cNvGraphicFramePr>
          <p:nvPr>
            <p:extLst>
              <p:ext uri="{D42A27DB-BD31-4B8C-83A1-F6EECF244321}">
                <p14:modId xmlns:p14="http://schemas.microsoft.com/office/powerpoint/2010/main" val="2541852209"/>
              </p:ext>
            </p:extLst>
          </p:nvPr>
        </p:nvGraphicFramePr>
        <p:xfrm>
          <a:off x="603504" y="1252537"/>
          <a:ext cx="11016993" cy="3590925"/>
        </p:xfrm>
        <a:graphic>
          <a:graphicData uri="http://schemas.openxmlformats.org/drawingml/2006/table">
            <a:tbl>
              <a:tblPr firstRow="1" bandRow="1">
                <a:tableStyleId>{5C22544A-7EE6-4342-B048-85BDC9FD1C3A}</a:tableStyleId>
              </a:tblPr>
              <a:tblGrid>
                <a:gridCol w="2002029">
                  <a:extLst>
                    <a:ext uri="{9D8B030D-6E8A-4147-A177-3AD203B41FA5}">
                      <a16:colId xmlns:a16="http://schemas.microsoft.com/office/drawing/2014/main" val="20000"/>
                    </a:ext>
                  </a:extLst>
                </a:gridCol>
                <a:gridCol w="2134195">
                  <a:extLst>
                    <a:ext uri="{9D8B030D-6E8A-4147-A177-3AD203B41FA5}">
                      <a16:colId xmlns:a16="http://schemas.microsoft.com/office/drawing/2014/main" val="20001"/>
                    </a:ext>
                  </a:extLst>
                </a:gridCol>
                <a:gridCol w="2264576">
                  <a:extLst>
                    <a:ext uri="{9D8B030D-6E8A-4147-A177-3AD203B41FA5}">
                      <a16:colId xmlns:a16="http://schemas.microsoft.com/office/drawing/2014/main" val="20002"/>
                    </a:ext>
                  </a:extLst>
                </a:gridCol>
                <a:gridCol w="1803640">
                  <a:extLst>
                    <a:ext uri="{9D8B030D-6E8A-4147-A177-3AD203B41FA5}">
                      <a16:colId xmlns:a16="http://schemas.microsoft.com/office/drawing/2014/main" val="20003"/>
                    </a:ext>
                  </a:extLst>
                </a:gridCol>
                <a:gridCol w="966936">
                  <a:extLst>
                    <a:ext uri="{9D8B030D-6E8A-4147-A177-3AD203B41FA5}">
                      <a16:colId xmlns:a16="http://schemas.microsoft.com/office/drawing/2014/main" val="20004"/>
                    </a:ext>
                  </a:extLst>
                </a:gridCol>
                <a:gridCol w="1845617">
                  <a:extLst>
                    <a:ext uri="{9D8B030D-6E8A-4147-A177-3AD203B41FA5}">
                      <a16:colId xmlns:a16="http://schemas.microsoft.com/office/drawing/2014/main" val="20005"/>
                    </a:ext>
                  </a:extLst>
                </a:gridCol>
              </a:tblGrid>
              <a:tr h="448865">
                <a:tc>
                  <a:txBody>
                    <a:bodyPr/>
                    <a:lstStyle/>
                    <a:p>
                      <a:pPr algn="l"/>
                      <a:r>
                        <a:rPr sz="1200" b="0" i="0" u="none" dirty="0">
                          <a:solidFill>
                            <a:srgbClr val="FFFFFF"/>
                          </a:solidFill>
                          <a:latin typeface="DM Sans SemiBold"/>
                        </a:rPr>
                        <a:t>Model </a:t>
                      </a:r>
                      <a:r>
                        <a:rPr sz="1200" b="0" i="0" u="none" dirty="0" err="1">
                          <a:solidFill>
                            <a:srgbClr val="FFFFFF"/>
                          </a:solidFill>
                          <a:latin typeface="DM Sans SemiBold"/>
                        </a:rPr>
                        <a:t>Algoritması</a:t>
                      </a:r>
                      <a:endParaRPr sz="1200" b="0" i="0" u="none" dirty="0">
                        <a:solidFill>
                          <a:srgbClr val="FFFFFF"/>
                        </a:solidFill>
                        <a:latin typeface="DM Sans SemiBold"/>
                      </a:endParaRP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Doğruluk (Accuracy)</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Hassasiyet (Precision)</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Duyarlılık (Recall)</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F1-Skor</a:t>
                      </a:r>
                    </a:p>
                  </a:txBody>
                  <a:tcPr marL="63500" marR="63500" marT="25400" marB="25400" anchor="ctr">
                    <a:lnL>
                      <a:noFill/>
                    </a:lnL>
                    <a:lnR>
                      <a:noFill/>
                    </a:lnR>
                    <a:lnT>
                      <a:noFill/>
                    </a:lnT>
                    <a:lnB>
                      <a:noFill/>
                    </a:lnB>
                    <a:solidFill>
                      <a:srgbClr val="005088"/>
                    </a:solidFill>
                  </a:tcPr>
                </a:tc>
                <a:tc>
                  <a:txBody>
                    <a:bodyPr/>
                    <a:lstStyle/>
                    <a:p>
                      <a:pPr algn="l"/>
                      <a:r>
                        <a:rPr sz="1200" b="0" i="0" u="none" dirty="0" err="1">
                          <a:solidFill>
                            <a:srgbClr val="FFFFFF"/>
                          </a:solidFill>
                          <a:latin typeface="DM Sans SemiBold"/>
                        </a:rPr>
                        <a:t>Eğitim</a:t>
                      </a:r>
                      <a:r>
                        <a:rPr sz="1200" b="0" i="0" u="none" dirty="0">
                          <a:solidFill>
                            <a:srgbClr val="FFFFFF"/>
                          </a:solidFill>
                          <a:latin typeface="DM Sans SemiBold"/>
                        </a:rPr>
                        <a:t> </a:t>
                      </a:r>
                      <a:r>
                        <a:rPr sz="1200" b="0" i="0" u="none" dirty="0" err="1">
                          <a:solidFill>
                            <a:srgbClr val="FFFFFF"/>
                          </a:solidFill>
                          <a:latin typeface="DM Sans SemiBold"/>
                        </a:rPr>
                        <a:t>Süresi</a:t>
                      </a:r>
                      <a:r>
                        <a:rPr sz="1200" b="0" i="0" u="none" dirty="0">
                          <a:solidFill>
                            <a:srgbClr val="FFFFFF"/>
                          </a:solidFill>
                          <a:latin typeface="DM Sans SemiBold"/>
                        </a:rPr>
                        <a:t> (</a:t>
                      </a:r>
                      <a:r>
                        <a:rPr sz="1200" b="0" i="0" u="none" dirty="0" err="1">
                          <a:solidFill>
                            <a:srgbClr val="FFFFFF"/>
                          </a:solidFill>
                          <a:latin typeface="DM Sans SemiBold"/>
                        </a:rPr>
                        <a:t>sn</a:t>
                      </a:r>
                      <a:r>
                        <a:rPr sz="1200" b="0" i="0" u="none" dirty="0">
                          <a:solidFill>
                            <a:srgbClr val="FFFFFF"/>
                          </a:solidFill>
                          <a:latin typeface="DM Sans SemiBold"/>
                        </a:rPr>
                        <a:t>)</a:t>
                      </a:r>
                    </a:p>
                  </a:txBody>
                  <a:tcPr marL="63500" marR="63500" marT="25400" marB="25400" anchor="ctr">
                    <a:lnL>
                      <a:noFill/>
                    </a:lnL>
                    <a:lnR>
                      <a:noFill/>
                    </a:lnR>
                    <a:lnT>
                      <a:noFill/>
                    </a:lnT>
                    <a:lnB>
                      <a:noFill/>
                    </a:lnB>
                    <a:solidFill>
                      <a:srgbClr val="005088"/>
                    </a:solidFill>
                  </a:tcPr>
                </a:tc>
                <a:extLst>
                  <a:ext uri="{0D108BD9-81ED-4DB2-BD59-A6C34878D82A}">
                    <a16:rowId xmlns:a16="http://schemas.microsoft.com/office/drawing/2014/main" val="10000"/>
                  </a:ext>
                </a:extLst>
              </a:tr>
              <a:tr h="448865">
                <a:tc>
                  <a:txBody>
                    <a:bodyPr/>
                    <a:lstStyle/>
                    <a:p>
                      <a:pPr marL="0" algn="l" defTabSz="457200" rtl="0" eaLnBrk="1" latinLnBrk="0" hangingPunct="1"/>
                      <a:r>
                        <a:rPr lang="tr-TR" sz="1200" b="1" i="0" u="none" kern="1200" dirty="0" err="1">
                          <a:solidFill>
                            <a:srgbClr val="064E3B"/>
                          </a:solidFill>
                          <a:latin typeface="DM Sans"/>
                          <a:ea typeface="+mn-ea"/>
                          <a:cs typeface="+mn-cs"/>
                        </a:rPr>
                        <a:t>XGBoost</a:t>
                      </a:r>
                      <a:endParaRPr lang="tr-TR" sz="1200" b="1" i="0" u="none" kern="1200" dirty="0">
                        <a:solidFill>
                          <a:srgbClr val="064E3B"/>
                        </a:solidFill>
                        <a:latin typeface="DM Sans"/>
                        <a:ea typeface="+mn-ea"/>
                        <a:cs typeface="+mn-cs"/>
                      </a:endParaRP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%99,76</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%99,95</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%99,58</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%99,77</a:t>
                      </a:r>
                    </a:p>
                  </a:txBody>
                  <a:tcPr anchor="ctr">
                    <a:lnL>
                      <a:noFill/>
                    </a:lnL>
                    <a:lnR>
                      <a:noFill/>
                    </a:lnR>
                    <a:lnT>
                      <a:noFill/>
                    </a:lnT>
                    <a:lnB>
                      <a:noFill/>
                    </a:lnB>
                    <a:solidFill>
                      <a:srgbClr val="F0FDF4"/>
                    </a:solidFill>
                  </a:tcPr>
                </a:tc>
                <a:tc>
                  <a:txBody>
                    <a:bodyPr/>
                    <a:lstStyle/>
                    <a:p>
                      <a:pPr marL="0" algn="l" defTabSz="457200" rtl="0" eaLnBrk="1" latinLnBrk="0" hangingPunct="1"/>
                      <a:r>
                        <a:rPr lang="tr-TR" sz="1200" b="1" i="0" u="none" kern="1200" dirty="0">
                          <a:solidFill>
                            <a:srgbClr val="064E3B"/>
                          </a:solidFill>
                          <a:latin typeface="DM Sans"/>
                          <a:ea typeface="+mn-ea"/>
                          <a:cs typeface="+mn-cs"/>
                        </a:rPr>
                        <a:t>0,9017 </a:t>
                      </a:r>
                    </a:p>
                  </a:txBody>
                  <a:tcPr anchor="ctr">
                    <a:lnL>
                      <a:noFill/>
                    </a:lnL>
                    <a:lnR>
                      <a:noFill/>
                    </a:lnR>
                    <a:lnT>
                      <a:noFill/>
                    </a:lnT>
                    <a:lnB>
                      <a:noFill/>
                    </a:lnB>
                    <a:solidFill>
                      <a:srgbClr val="F0FDF4"/>
                    </a:solidFill>
                  </a:tcPr>
                </a:tc>
                <a:extLst>
                  <a:ext uri="{0D108BD9-81ED-4DB2-BD59-A6C34878D82A}">
                    <a16:rowId xmlns:a16="http://schemas.microsoft.com/office/drawing/2014/main" val="10001"/>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Random</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Forest</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%99,75</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%99,94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%99,59</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%99,76</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19,2124 </a:t>
                      </a:r>
                    </a:p>
                  </a:txBody>
                  <a:tcPr anchor="ctr">
                    <a:lnL>
                      <a:noFill/>
                    </a:lnL>
                    <a:lnR>
                      <a:noFill/>
                    </a:lnR>
                    <a:lnT>
                      <a:noFill/>
                    </a:lnT>
                    <a:lnB>
                      <a:noFill/>
                    </a:lnB>
                    <a:solidFill>
                      <a:srgbClr val="F8FAFC"/>
                    </a:solidFill>
                  </a:tcPr>
                </a:tc>
                <a:extLst>
                  <a:ext uri="{0D108BD9-81ED-4DB2-BD59-A6C34878D82A}">
                    <a16:rowId xmlns:a16="http://schemas.microsoft.com/office/drawing/2014/main" val="10002"/>
                  </a:ext>
                </a:extLst>
              </a:tr>
              <a:tr h="448865">
                <a:tc>
                  <a:txBody>
                    <a:bodyPr/>
                    <a:lstStyle/>
                    <a:p>
                      <a:pPr marL="0" algn="l" defTabSz="457200" rtl="0" eaLnBrk="1" latinLnBrk="0" hangingPunct="1"/>
                      <a:r>
                        <a:rPr lang="tr-TR" sz="1200" b="0" i="0" u="none" kern="1200" dirty="0">
                          <a:solidFill>
                            <a:srgbClr val="334155"/>
                          </a:solidFill>
                          <a:latin typeface="DM Sans"/>
                          <a:ea typeface="+mn-ea"/>
                          <a:cs typeface="+mn-cs"/>
                        </a:rPr>
                        <a:t>Lojistik Regresyon</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%99,73</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%99,97</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%99,52</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%99,74</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11,6056 </a:t>
                      </a:r>
                    </a:p>
                  </a:txBody>
                  <a:tcPr anchor="ctr">
                    <a:lnL>
                      <a:noFill/>
                    </a:lnL>
                    <a:lnR>
                      <a:noFill/>
                    </a:lnR>
                    <a:lnT>
                      <a:noFill/>
                    </a:lnT>
                    <a:lnB>
                      <a:noFill/>
                    </a:lnB>
                    <a:noFill/>
                  </a:tcPr>
                </a:tc>
                <a:extLst>
                  <a:ext uri="{0D108BD9-81ED-4DB2-BD59-A6C34878D82A}">
                    <a16:rowId xmlns:a16="http://schemas.microsoft.com/office/drawing/2014/main" val="10003"/>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Gradient</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Boosting</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%99,71</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%99,98</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%99,47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a:solidFill>
                            <a:srgbClr val="334155"/>
                          </a:solidFill>
                          <a:latin typeface="DM Sans"/>
                          <a:ea typeface="+mn-ea"/>
                          <a:cs typeface="+mn-cs"/>
                        </a:rPr>
                        <a:t>%99,72</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53,6041 </a:t>
                      </a:r>
                    </a:p>
                  </a:txBody>
                  <a:tcPr anchor="ctr">
                    <a:lnL>
                      <a:noFill/>
                    </a:lnL>
                    <a:lnR>
                      <a:noFill/>
                    </a:lnR>
                    <a:lnT>
                      <a:noFill/>
                    </a:lnT>
                    <a:lnB>
                      <a:noFill/>
                    </a:lnB>
                    <a:solidFill>
                      <a:srgbClr val="F8FAFC"/>
                    </a:solidFill>
                  </a:tcPr>
                </a:tc>
                <a:extLst>
                  <a:ext uri="{0D108BD9-81ED-4DB2-BD59-A6C34878D82A}">
                    <a16:rowId xmlns:a16="http://schemas.microsoft.com/office/drawing/2014/main" val="10004"/>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Decision</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Tree</a:t>
                      </a:r>
                      <a:endParaRPr lang="tr-TR" sz="1200" b="0" i="0" u="none" kern="1200" dirty="0">
                        <a:solidFill>
                          <a:srgbClr val="334155"/>
                        </a:solidFill>
                        <a:latin typeface="DM Sans"/>
                        <a:ea typeface="+mn-ea"/>
                        <a:cs typeface="+mn-cs"/>
                      </a:endParaRP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%99,66</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%99,77</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%99,58</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%99,68</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1,9579 </a:t>
                      </a:r>
                    </a:p>
                  </a:txBody>
                  <a:tcPr anchor="ctr">
                    <a:lnL>
                      <a:noFill/>
                    </a:lnL>
                    <a:lnR>
                      <a:noFill/>
                    </a:lnR>
                    <a:lnT>
                      <a:noFill/>
                    </a:lnT>
                    <a:lnB>
                      <a:noFill/>
                    </a:lnB>
                    <a:noFill/>
                  </a:tcPr>
                </a:tc>
                <a:extLst>
                  <a:ext uri="{0D108BD9-81ED-4DB2-BD59-A6C34878D82A}">
                    <a16:rowId xmlns:a16="http://schemas.microsoft.com/office/drawing/2014/main" val="10005"/>
                  </a:ext>
                </a:extLst>
              </a:tr>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Linear</a:t>
                      </a:r>
                      <a:r>
                        <a:rPr lang="tr-TR" sz="1200" b="0" i="0" u="none" kern="1200" dirty="0">
                          <a:solidFill>
                            <a:srgbClr val="334155"/>
                          </a:solidFill>
                          <a:latin typeface="DM Sans"/>
                          <a:ea typeface="+mn-ea"/>
                          <a:cs typeface="+mn-cs"/>
                        </a:rPr>
                        <a:t> SVM</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%99,65</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%99,98</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%99,34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%99,66</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2,9675 </a:t>
                      </a:r>
                    </a:p>
                  </a:txBody>
                  <a:tcPr anchor="ctr">
                    <a:lnL>
                      <a:noFill/>
                    </a:lnL>
                    <a:lnR>
                      <a:noFill/>
                    </a:lnR>
                    <a:lnT>
                      <a:noFill/>
                    </a:lnT>
                    <a:lnB>
                      <a:noFill/>
                    </a:lnB>
                    <a:solidFill>
                      <a:srgbClr val="F8FAFC"/>
                    </a:solidFill>
                  </a:tcPr>
                </a:tc>
                <a:extLst>
                  <a:ext uri="{0D108BD9-81ED-4DB2-BD59-A6C34878D82A}">
                    <a16:rowId xmlns:a16="http://schemas.microsoft.com/office/drawing/2014/main" val="10006"/>
                  </a:ext>
                </a:extLst>
              </a:tr>
              <a:tr h="448870">
                <a:tc>
                  <a:txBody>
                    <a:bodyPr/>
                    <a:lstStyle/>
                    <a:p>
                      <a:pPr marL="0" algn="l" defTabSz="457200" rtl="0" eaLnBrk="1" latinLnBrk="0" hangingPunct="1"/>
                      <a:r>
                        <a:rPr lang="tr-TR" sz="1200" b="0" i="0" u="none" kern="1200" dirty="0">
                          <a:solidFill>
                            <a:srgbClr val="334155"/>
                          </a:solidFill>
                          <a:latin typeface="DM Sans"/>
                          <a:ea typeface="+mn-ea"/>
                          <a:cs typeface="+mn-cs"/>
                        </a:rPr>
                        <a:t>KNN</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%99,34</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%99,73</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%98,99</a:t>
                      </a:r>
                    </a:p>
                  </a:txBody>
                  <a:tcPr anchor="ctr">
                    <a:lnL>
                      <a:noFill/>
                    </a:lnL>
                    <a:lnR>
                      <a:noFill/>
                    </a:lnR>
                    <a:lnT>
                      <a:noFill/>
                    </a:lnT>
                    <a:lnB>
                      <a:noFill/>
                    </a:lnB>
                    <a:noFill/>
                  </a:tcPr>
                </a:tc>
                <a:tc>
                  <a:txBody>
                    <a:bodyPr/>
                    <a:lstStyle/>
                    <a:p>
                      <a:pPr marL="0" algn="l" defTabSz="457200" rtl="0" eaLnBrk="1" latinLnBrk="0" hangingPunct="1"/>
                      <a:r>
                        <a:rPr lang="tr-TR" sz="1200" b="0" i="0" u="none" kern="1200">
                          <a:solidFill>
                            <a:srgbClr val="334155"/>
                          </a:solidFill>
                          <a:latin typeface="DM Sans"/>
                          <a:ea typeface="+mn-ea"/>
                          <a:cs typeface="+mn-cs"/>
                        </a:rPr>
                        <a:t>%99,36</a:t>
                      </a:r>
                    </a:p>
                  </a:txBody>
                  <a:tcPr anchor="ctr">
                    <a:lnL>
                      <a:noFill/>
                    </a:lnL>
                    <a:lnR>
                      <a:noFill/>
                    </a:lnR>
                    <a:lnT>
                      <a:noFill/>
                    </a:lnT>
                    <a:lnB>
                      <a:noFill/>
                    </a:lnB>
                    <a:noFill/>
                  </a:tcPr>
                </a:tc>
                <a:tc>
                  <a:txBody>
                    <a:bodyPr/>
                    <a:lstStyle/>
                    <a:p>
                      <a:pPr marL="0" algn="l" defTabSz="457200" rtl="0" eaLnBrk="1" latinLnBrk="0" hangingPunct="1"/>
                      <a:r>
                        <a:rPr lang="tr-TR" sz="1200" b="0" i="0" u="none" kern="1200" dirty="0">
                          <a:solidFill>
                            <a:srgbClr val="334155"/>
                          </a:solidFill>
                          <a:latin typeface="DM Sans"/>
                          <a:ea typeface="+mn-ea"/>
                          <a:cs typeface="+mn-cs"/>
                        </a:rPr>
                        <a:t>0,1135 </a:t>
                      </a:r>
                    </a:p>
                  </a:txBody>
                  <a:tcPr anchor="ctr">
                    <a:lnL>
                      <a:noFill/>
                    </a:lnL>
                    <a:lnR>
                      <a:noFill/>
                    </a:lnR>
                    <a:lnT>
                      <a:noFill/>
                    </a:lnT>
                    <a:lnB>
                      <a:noFill/>
                    </a:lnB>
                    <a:noFill/>
                  </a:tcPr>
                </a:tc>
                <a:extLst>
                  <a:ext uri="{0D108BD9-81ED-4DB2-BD59-A6C34878D82A}">
                    <a16:rowId xmlns:a16="http://schemas.microsoft.com/office/drawing/2014/main" val="10007"/>
                  </a:ext>
                </a:extLst>
              </a:tr>
            </a:tbl>
          </a:graphicData>
        </a:graphic>
      </p:graphicFrame>
      <p:sp>
        <p:nvSpPr>
          <p:cNvPr id="9" name="Rectangle 8"/>
          <p:cNvSpPr/>
          <p:nvPr/>
        </p:nvSpPr>
        <p:spPr>
          <a:xfrm>
            <a:off x="571500" y="21431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2605533" y="21431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739729" y="21431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007274" y="21431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807946" y="21431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774882" y="21431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71500" y="25908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2605533" y="25908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4739729" y="25908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007274" y="25908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807946" y="25908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9774882" y="25908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71500" y="30384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605533" y="30384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4739729" y="30384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007274" y="30384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807946" y="30384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9774882" y="30384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71500" y="348615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2605533" y="348615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4739729" y="348615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7007274" y="348615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8807946" y="348615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9774882" y="348615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571500" y="393382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605533" y="393382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739729" y="393382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7007274" y="393382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807946" y="393382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9774882" y="393382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571500" y="4381500"/>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2605533" y="4381500"/>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40"/>
          <p:cNvSpPr/>
          <p:nvPr/>
        </p:nvSpPr>
        <p:spPr>
          <a:xfrm>
            <a:off x="4739729" y="4381500"/>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7007274" y="4381500"/>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8807946" y="4381500"/>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ectangle 43"/>
          <p:cNvSpPr/>
          <p:nvPr/>
        </p:nvSpPr>
        <p:spPr>
          <a:xfrm>
            <a:off x="9774882" y="4381500"/>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571500" y="4829175"/>
            <a:ext cx="203403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2605533" y="4829175"/>
            <a:ext cx="213419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4739729" y="4829175"/>
            <a:ext cx="2267545"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7007274" y="4829175"/>
            <a:ext cx="1800671"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Rectangle 48"/>
          <p:cNvSpPr/>
          <p:nvPr/>
        </p:nvSpPr>
        <p:spPr>
          <a:xfrm>
            <a:off x="8807946" y="4829175"/>
            <a:ext cx="966936"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ectangle 49"/>
          <p:cNvSpPr/>
          <p:nvPr/>
        </p:nvSpPr>
        <p:spPr>
          <a:xfrm>
            <a:off x="9774882" y="4829175"/>
            <a:ext cx="1845617"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1" name="Picture 1" descr="image.png">
            <a:extLst>
              <a:ext uri="{FF2B5EF4-FFF2-40B4-BE49-F238E27FC236}">
                <a16:creationId xmlns:a16="http://schemas.microsoft.com/office/drawing/2014/main" id="{CC1ACD1F-41DF-9D71-C093-2BF8C70F0142}"/>
              </a:ext>
            </a:extLst>
          </p:cNvPr>
          <p:cNvPicPr>
            <a:picLocks noChangeAspect="1"/>
          </p:cNvPicPr>
          <p:nvPr/>
        </p:nvPicPr>
        <p:blipFill>
          <a:blip r:embed="rId3"/>
          <a:stretch>
            <a:fillRect/>
          </a:stretch>
        </p:blipFill>
        <p:spPr>
          <a:xfrm>
            <a:off x="666750" y="952500"/>
            <a:ext cx="10858500" cy="171450"/>
          </a:xfrm>
          <a:prstGeom prst="rect">
            <a:avLst/>
          </a:prstGeom>
        </p:spPr>
      </p:pic>
      <p:pic>
        <p:nvPicPr>
          <p:cNvPr id="52" name="İçerik Yer Tutucusu 10">
            <a:extLst>
              <a:ext uri="{FF2B5EF4-FFF2-40B4-BE49-F238E27FC236}">
                <a16:creationId xmlns:a16="http://schemas.microsoft.com/office/drawing/2014/main" id="{79D056F0-AEA7-2ED0-6629-9A868221A7BE}"/>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aphicFrame>
        <p:nvGraphicFramePr>
          <p:cNvPr id="2" name="Tablo 1">
            <a:extLst>
              <a:ext uri="{FF2B5EF4-FFF2-40B4-BE49-F238E27FC236}">
                <a16:creationId xmlns:a16="http://schemas.microsoft.com/office/drawing/2014/main" id="{0A39AB9D-BCF1-D313-DDD1-13D95927F34E}"/>
              </a:ext>
            </a:extLst>
          </p:cNvPr>
          <p:cNvGraphicFramePr>
            <a:graphicFrameLocks noGrp="1"/>
          </p:cNvGraphicFramePr>
          <p:nvPr>
            <p:extLst>
              <p:ext uri="{D42A27DB-BD31-4B8C-83A1-F6EECF244321}">
                <p14:modId xmlns:p14="http://schemas.microsoft.com/office/powerpoint/2010/main" val="411033504"/>
              </p:ext>
            </p:extLst>
          </p:nvPr>
        </p:nvGraphicFramePr>
        <p:xfrm>
          <a:off x="603503" y="4857154"/>
          <a:ext cx="11016993" cy="448865"/>
        </p:xfrm>
        <a:graphic>
          <a:graphicData uri="http://schemas.openxmlformats.org/drawingml/2006/table">
            <a:tbl>
              <a:tblPr firstRow="1" bandRow="1">
                <a:tableStyleId>{5C22544A-7EE6-4342-B048-85BDC9FD1C3A}</a:tableStyleId>
              </a:tblPr>
              <a:tblGrid>
                <a:gridCol w="2002029">
                  <a:extLst>
                    <a:ext uri="{9D8B030D-6E8A-4147-A177-3AD203B41FA5}">
                      <a16:colId xmlns:a16="http://schemas.microsoft.com/office/drawing/2014/main" val="3647233985"/>
                    </a:ext>
                  </a:extLst>
                </a:gridCol>
                <a:gridCol w="2134195">
                  <a:extLst>
                    <a:ext uri="{9D8B030D-6E8A-4147-A177-3AD203B41FA5}">
                      <a16:colId xmlns:a16="http://schemas.microsoft.com/office/drawing/2014/main" val="165177947"/>
                    </a:ext>
                  </a:extLst>
                </a:gridCol>
                <a:gridCol w="2264576">
                  <a:extLst>
                    <a:ext uri="{9D8B030D-6E8A-4147-A177-3AD203B41FA5}">
                      <a16:colId xmlns:a16="http://schemas.microsoft.com/office/drawing/2014/main" val="2091676434"/>
                    </a:ext>
                  </a:extLst>
                </a:gridCol>
                <a:gridCol w="1803640">
                  <a:extLst>
                    <a:ext uri="{9D8B030D-6E8A-4147-A177-3AD203B41FA5}">
                      <a16:colId xmlns:a16="http://schemas.microsoft.com/office/drawing/2014/main" val="1492216504"/>
                    </a:ext>
                  </a:extLst>
                </a:gridCol>
                <a:gridCol w="966936">
                  <a:extLst>
                    <a:ext uri="{9D8B030D-6E8A-4147-A177-3AD203B41FA5}">
                      <a16:colId xmlns:a16="http://schemas.microsoft.com/office/drawing/2014/main" val="296925089"/>
                    </a:ext>
                  </a:extLst>
                </a:gridCol>
                <a:gridCol w="1845617">
                  <a:extLst>
                    <a:ext uri="{9D8B030D-6E8A-4147-A177-3AD203B41FA5}">
                      <a16:colId xmlns:a16="http://schemas.microsoft.com/office/drawing/2014/main" val="1342823703"/>
                    </a:ext>
                  </a:extLst>
                </a:gridCol>
              </a:tblGrid>
              <a:tr h="448865">
                <a:tc>
                  <a:txBody>
                    <a:bodyPr/>
                    <a:lstStyle/>
                    <a:p>
                      <a:pPr marL="0" algn="l" defTabSz="457200" rtl="0" eaLnBrk="1" latinLnBrk="0" hangingPunct="1"/>
                      <a:r>
                        <a:rPr lang="tr-TR" sz="1200" b="0" i="0" u="none" kern="1200" dirty="0" err="1">
                          <a:solidFill>
                            <a:srgbClr val="334155"/>
                          </a:solidFill>
                          <a:latin typeface="DM Sans"/>
                          <a:ea typeface="+mn-ea"/>
                          <a:cs typeface="+mn-cs"/>
                        </a:rPr>
                        <a:t>Naive</a:t>
                      </a:r>
                      <a:r>
                        <a:rPr lang="tr-TR" sz="1200" b="0" i="0" u="none" kern="1200" dirty="0">
                          <a:solidFill>
                            <a:srgbClr val="334155"/>
                          </a:solidFill>
                          <a:latin typeface="DM Sans"/>
                          <a:ea typeface="+mn-ea"/>
                          <a:cs typeface="+mn-cs"/>
                        </a:rPr>
                        <a:t> </a:t>
                      </a:r>
                      <a:r>
                        <a:rPr lang="tr-TR" sz="1200" b="0" i="0" u="none" kern="1200" dirty="0" err="1">
                          <a:solidFill>
                            <a:srgbClr val="334155"/>
                          </a:solidFill>
                          <a:latin typeface="DM Sans"/>
                          <a:ea typeface="+mn-ea"/>
                          <a:cs typeface="+mn-cs"/>
                        </a:rPr>
                        <a:t>Bayes</a:t>
                      </a:r>
                      <a:endParaRPr lang="tr-TR" sz="1200" b="0" i="0" u="none" kern="1200" dirty="0">
                        <a:solidFill>
                          <a:srgbClr val="334155"/>
                        </a:solidFill>
                        <a:latin typeface="DM Sans"/>
                        <a:ea typeface="+mn-ea"/>
                        <a:cs typeface="+mn-cs"/>
                      </a:endParaRP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%92,34</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%99,37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%8587</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%92,13</a:t>
                      </a:r>
                    </a:p>
                  </a:txBody>
                  <a:tcPr anchor="ctr">
                    <a:lnL>
                      <a:noFill/>
                    </a:lnL>
                    <a:lnR>
                      <a:noFill/>
                    </a:lnR>
                    <a:lnT>
                      <a:noFill/>
                    </a:lnT>
                    <a:lnB>
                      <a:noFill/>
                    </a:lnB>
                    <a:solidFill>
                      <a:srgbClr val="F8FAFC"/>
                    </a:solidFill>
                  </a:tcPr>
                </a:tc>
                <a:tc>
                  <a:txBody>
                    <a:bodyPr/>
                    <a:lstStyle/>
                    <a:p>
                      <a:pPr marL="0" algn="l" defTabSz="457200" rtl="0" eaLnBrk="1" latinLnBrk="0" hangingPunct="1"/>
                      <a:r>
                        <a:rPr lang="tr-TR" sz="1200" b="0" i="0" u="none" kern="1200" dirty="0">
                          <a:solidFill>
                            <a:srgbClr val="334155"/>
                          </a:solidFill>
                          <a:latin typeface="DM Sans"/>
                          <a:ea typeface="+mn-ea"/>
                          <a:cs typeface="+mn-cs"/>
                        </a:rPr>
                        <a:t>0,2524 </a:t>
                      </a:r>
                    </a:p>
                  </a:txBody>
                  <a:tcPr anchor="ctr">
                    <a:lnL>
                      <a:noFill/>
                    </a:lnL>
                    <a:lnR>
                      <a:noFill/>
                    </a:lnR>
                    <a:lnT>
                      <a:noFill/>
                    </a:lnT>
                    <a:lnB>
                      <a:noFill/>
                    </a:lnB>
                    <a:solidFill>
                      <a:srgbClr val="F8FAFC"/>
                    </a:solidFill>
                  </a:tcPr>
                </a:tc>
                <a:extLst>
                  <a:ext uri="{0D108BD9-81ED-4DB2-BD59-A6C34878D82A}">
                    <a16:rowId xmlns:a16="http://schemas.microsoft.com/office/drawing/2014/main" val="2491239597"/>
                  </a:ext>
                </a:extLst>
              </a:tr>
            </a:tbl>
          </a:graphicData>
        </a:graphic>
      </p:graphicFrame>
    </p:spTree>
    <p:extLst>
      <p:ext uri="{BB962C8B-B14F-4D97-AF65-F5344CB8AC3E}">
        <p14:creationId xmlns:p14="http://schemas.microsoft.com/office/powerpoint/2010/main" val="2359268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6286500" y="1252537"/>
            <a:ext cx="5334000" cy="2371725"/>
          </a:xfrm>
          <a:prstGeom prst="rect">
            <a:avLst/>
          </a:prstGeom>
        </p:spPr>
      </p:pic>
      <p:sp>
        <p:nvSpPr>
          <p:cNvPr id="5" name="TextBox 4"/>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Öznitelik Önem Düzeyleri (Feature Importance) Analizi</a:t>
            </a:r>
          </a:p>
        </p:txBody>
      </p:sp>
      <p:sp>
        <p:nvSpPr>
          <p:cNvPr id="6" name="Rectangle 5"/>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8" name="TextBox 7"/>
          <p:cNvSpPr txBox="1"/>
          <p:nvPr/>
        </p:nvSpPr>
        <p:spPr>
          <a:xfrm>
            <a:off x="11182350" y="6496050"/>
            <a:ext cx="4381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a:t>
            </a:r>
            <a:r>
              <a:rPr lang="tr-TR" sz="900" b="0" i="0" u="none">
                <a:solidFill>
                  <a:srgbClr val="94A3B8"/>
                </a:solidFill>
                <a:latin typeface="DM Sans"/>
              </a:rPr>
              <a:t>1</a:t>
            </a:r>
            <a:endParaRPr sz="900" b="0" i="0" u="none">
              <a:solidFill>
                <a:srgbClr val="94A3B8"/>
              </a:solidFill>
              <a:latin typeface="DM Sans"/>
            </a:endParaRPr>
          </a:p>
        </p:txBody>
      </p:sp>
      <p:sp>
        <p:nvSpPr>
          <p:cNvPr id="9" name="TextBox 8"/>
          <p:cNvSpPr txBox="1"/>
          <p:nvPr/>
        </p:nvSpPr>
        <p:spPr>
          <a:xfrm>
            <a:off x="571500" y="1252537"/>
            <a:ext cx="5600700" cy="219075"/>
          </a:xfrm>
          <a:prstGeom prst="rect">
            <a:avLst/>
          </a:prstGeom>
          <a:noFill/>
        </p:spPr>
        <p:txBody>
          <a:bodyPr wrap="square" lIns="0" tIns="0" rIns="0" bIns="0" anchor="t">
            <a:spAutoFit/>
          </a:bodyPr>
          <a:lstStyle/>
          <a:p>
            <a:pPr algn="l"/>
            <a:r>
              <a:rPr sz="1350" b="1" i="0" u="none" dirty="0">
                <a:solidFill>
                  <a:srgbClr val="005088"/>
                </a:solidFill>
                <a:latin typeface="Merriweather"/>
              </a:rPr>
              <a:t>En </a:t>
            </a:r>
            <a:r>
              <a:rPr sz="1350" b="1" i="0" u="none" dirty="0" err="1">
                <a:solidFill>
                  <a:srgbClr val="005088"/>
                </a:solidFill>
                <a:latin typeface="Merriweather"/>
              </a:rPr>
              <a:t>Etkili</a:t>
            </a:r>
            <a:r>
              <a:rPr sz="1350" b="1" i="0" u="none" dirty="0">
                <a:solidFill>
                  <a:srgbClr val="005088"/>
                </a:solidFill>
                <a:latin typeface="Merriweather"/>
              </a:rPr>
              <a:t> Top 5 Lexical </a:t>
            </a:r>
            <a:r>
              <a:rPr sz="1350" b="1" i="0" u="none" dirty="0" err="1">
                <a:solidFill>
                  <a:srgbClr val="005088"/>
                </a:solidFill>
                <a:latin typeface="Merriweather"/>
              </a:rPr>
              <a:t>Öznitelik</a:t>
            </a:r>
            <a:endParaRPr sz="1350" b="1" i="0" u="none" dirty="0">
              <a:solidFill>
                <a:srgbClr val="005088"/>
              </a:solidFill>
              <a:latin typeface="Merriweather"/>
            </a:endParaRPr>
          </a:p>
        </p:txBody>
      </p:sp>
      <p:sp>
        <p:nvSpPr>
          <p:cNvPr id="10" name="TextBox 9"/>
          <p:cNvSpPr txBox="1"/>
          <p:nvPr/>
        </p:nvSpPr>
        <p:spPr>
          <a:xfrm>
            <a:off x="6572250" y="1309687"/>
            <a:ext cx="5050631" cy="219075"/>
          </a:xfrm>
          <a:prstGeom prst="rect">
            <a:avLst/>
          </a:prstGeom>
          <a:noFill/>
        </p:spPr>
        <p:txBody>
          <a:bodyPr wrap="square" lIns="0" tIns="0" rIns="0" bIns="0" anchor="t">
            <a:spAutoFit/>
          </a:bodyPr>
          <a:lstStyle/>
          <a:p>
            <a:pPr algn="l"/>
            <a:r>
              <a:rPr sz="1350" b="1" i="0" u="none" dirty="0" err="1">
                <a:solidFill>
                  <a:srgbClr val="005088"/>
                </a:solidFill>
                <a:latin typeface="Merriweather"/>
              </a:rPr>
              <a:t>Bulguların</a:t>
            </a:r>
            <a:r>
              <a:rPr sz="1350" b="1" i="0" u="none" dirty="0">
                <a:solidFill>
                  <a:srgbClr val="005088"/>
                </a:solidFill>
                <a:latin typeface="Merriweather"/>
              </a:rPr>
              <a:t> </a:t>
            </a:r>
            <a:r>
              <a:rPr sz="1350" b="1" i="0" u="none" dirty="0" err="1">
                <a:solidFill>
                  <a:srgbClr val="005088"/>
                </a:solidFill>
                <a:latin typeface="Merriweather"/>
              </a:rPr>
              <a:t>Değerlendirilmesi</a:t>
            </a:r>
            <a:endParaRPr sz="1350" b="1" i="0" u="none" dirty="0">
              <a:solidFill>
                <a:srgbClr val="005088"/>
              </a:solidFill>
              <a:latin typeface="Merriweather"/>
            </a:endParaRPr>
          </a:p>
        </p:txBody>
      </p:sp>
      <p:sp>
        <p:nvSpPr>
          <p:cNvPr id="11" name="TextBox 10"/>
          <p:cNvSpPr txBox="1"/>
          <p:nvPr/>
        </p:nvSpPr>
        <p:spPr>
          <a:xfrm>
            <a:off x="6572250" y="1600605"/>
            <a:ext cx="4810125" cy="906851"/>
          </a:xfrm>
          <a:prstGeom prst="rect">
            <a:avLst/>
          </a:prstGeom>
          <a:noFill/>
        </p:spPr>
        <p:txBody>
          <a:bodyPr wrap="square" lIns="0" tIns="0" rIns="0" bIns="0" anchor="t">
            <a:spAutoFit/>
          </a:bodyPr>
          <a:lstStyle/>
          <a:p>
            <a:pPr algn="l">
              <a:lnSpc>
                <a:spcPts val="1800"/>
              </a:lnSpc>
            </a:pPr>
            <a:r>
              <a:rPr lang="tr-TR" sz="1125" dirty="0">
                <a:solidFill>
                  <a:srgbClr val="334155"/>
                </a:solidFill>
                <a:latin typeface="DM Sans"/>
              </a:rPr>
              <a:t>MI skorlarına göre alan adının URL içindeki oranı ve www kullanım sıklığının en yüksek ayrıştırıcı güce sahip olması saldırganların, tespit mekanizmalarını atlatmak için meşru adresleri taklit eden ancak yapısal olarak manipüle edilmiş URL mimarileri oluşturduğunu doğrulamaktadır.</a:t>
            </a:r>
            <a:endParaRPr sz="1125" dirty="0">
              <a:solidFill>
                <a:srgbClr val="334155"/>
              </a:solidFill>
              <a:latin typeface="DM Sans"/>
            </a:endParaRPr>
          </a:p>
        </p:txBody>
      </p:sp>
      <p:sp>
        <p:nvSpPr>
          <p:cNvPr id="12" name="TextBox 11"/>
          <p:cNvSpPr txBox="1"/>
          <p:nvPr/>
        </p:nvSpPr>
        <p:spPr>
          <a:xfrm>
            <a:off x="857250" y="158591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Domain_URL_Ratio</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a:t>
            </a:r>
            <a:r>
              <a:rPr lang="tr-TR" sz="1200" b="1" dirty="0"/>
              <a:t> </a:t>
            </a:r>
            <a:r>
              <a:rPr lang="tr-TR" sz="1200" dirty="0">
                <a:solidFill>
                  <a:srgbClr val="334155"/>
                </a:solidFill>
                <a:latin typeface="DM Sans"/>
              </a:rPr>
              <a:t>5570</a:t>
            </a:r>
            <a:r>
              <a:rPr lang="tr-TR" sz="1200" dirty="0"/>
              <a:t> </a:t>
            </a:r>
            <a:r>
              <a:rPr lang="tr-TR" sz="1200" dirty="0">
                <a:solidFill>
                  <a:srgbClr val="334155"/>
                </a:solidFill>
                <a:latin typeface="DM Sans"/>
              </a:rPr>
              <a:t> (Alan adının URL içindeki oranı)</a:t>
            </a:r>
            <a:endParaRPr sz="1200" dirty="0">
              <a:solidFill>
                <a:srgbClr val="334155"/>
              </a:solidFill>
              <a:latin typeface="DM Sans"/>
            </a:endParaRPr>
          </a:p>
        </p:txBody>
      </p:sp>
      <p:sp>
        <p:nvSpPr>
          <p:cNvPr id="13" name="TextBox 12"/>
          <p:cNvSpPr txBox="1"/>
          <p:nvPr/>
        </p:nvSpPr>
        <p:spPr>
          <a:xfrm>
            <a:off x="857250" y="194786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Count_www</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0.5094 (URL içindeki "www" sayısı)</a:t>
            </a:r>
            <a:endParaRPr sz="1200" dirty="0">
              <a:solidFill>
                <a:srgbClr val="334155"/>
              </a:solidFill>
              <a:latin typeface="DM Sans"/>
            </a:endParaRPr>
          </a:p>
        </p:txBody>
      </p:sp>
      <p:sp>
        <p:nvSpPr>
          <p:cNvPr id="14" name="TextBox 13"/>
          <p:cNvSpPr txBox="1"/>
          <p:nvPr/>
        </p:nvSpPr>
        <p:spPr>
          <a:xfrm>
            <a:off x="857250" y="230981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Count</a:t>
            </a:r>
            <a:r>
              <a:rPr lang="tr-TR" sz="1200" b="1" dirty="0">
                <a:solidFill>
                  <a:srgbClr val="334155"/>
                </a:solidFill>
                <a:latin typeface="DM Sans"/>
              </a:rPr>
              <a:t>_/</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0.4554 (Eğik çizgi sembolü sayısı)</a:t>
            </a:r>
            <a:endParaRPr sz="1200" dirty="0">
              <a:solidFill>
                <a:srgbClr val="334155"/>
              </a:solidFill>
              <a:latin typeface="DM Sans"/>
            </a:endParaRPr>
          </a:p>
        </p:txBody>
      </p:sp>
      <p:sp>
        <p:nvSpPr>
          <p:cNvPr id="15" name="TextBox 14"/>
          <p:cNvSpPr txBox="1"/>
          <p:nvPr/>
        </p:nvSpPr>
        <p:spPr>
          <a:xfrm>
            <a:off x="857250" y="2671762"/>
            <a:ext cx="5048250" cy="216341"/>
          </a:xfrm>
          <a:prstGeom prst="rect">
            <a:avLst/>
          </a:prstGeom>
          <a:noFill/>
        </p:spPr>
        <p:txBody>
          <a:bodyPr wrap="square" lIns="0" tIns="0" rIns="0" bIns="0" anchor="t">
            <a:spAutoFit/>
          </a:bodyPr>
          <a:lstStyle/>
          <a:p>
            <a:pPr algn="l">
              <a:lnSpc>
                <a:spcPts val="1800"/>
              </a:lnSpc>
            </a:pPr>
            <a:r>
              <a:rPr lang="tr-TR" sz="1200" b="1" dirty="0" err="1">
                <a:solidFill>
                  <a:srgbClr val="334155"/>
                </a:solidFill>
                <a:latin typeface="DM Sans"/>
              </a:rPr>
              <a:t>Path_Length</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0.4359 (Yol bileşeni uzunluğu)</a:t>
            </a:r>
            <a:endParaRPr sz="1200" dirty="0">
              <a:solidFill>
                <a:srgbClr val="334155"/>
              </a:solidFill>
              <a:latin typeface="DM Sans"/>
            </a:endParaRPr>
          </a:p>
        </p:txBody>
      </p:sp>
      <p:sp>
        <p:nvSpPr>
          <p:cNvPr id="16" name="TextBox 15"/>
          <p:cNvSpPr txBox="1"/>
          <p:nvPr/>
        </p:nvSpPr>
        <p:spPr>
          <a:xfrm>
            <a:off x="857250" y="3033712"/>
            <a:ext cx="5048250" cy="216341"/>
          </a:xfrm>
          <a:prstGeom prst="rect">
            <a:avLst/>
          </a:prstGeom>
          <a:noFill/>
        </p:spPr>
        <p:txBody>
          <a:bodyPr wrap="square" lIns="0" tIns="0" rIns="0" bIns="0" anchor="t">
            <a:spAutoFit/>
          </a:bodyPr>
          <a:lstStyle/>
          <a:p>
            <a:pPr algn="l">
              <a:lnSpc>
                <a:spcPts val="1800"/>
              </a:lnSpc>
            </a:pPr>
            <a:r>
              <a:rPr lang="tr-TR" sz="1200" b="1" dirty="0">
                <a:solidFill>
                  <a:srgbClr val="334155"/>
                </a:solidFill>
                <a:latin typeface="DM Sans"/>
              </a:rPr>
              <a:t>URL/</a:t>
            </a:r>
            <a:r>
              <a:rPr lang="tr-TR" sz="1200" b="1" dirty="0" err="1">
                <a:solidFill>
                  <a:srgbClr val="334155"/>
                </a:solidFill>
                <a:latin typeface="DM Sans"/>
              </a:rPr>
              <a:t>Path</a:t>
            </a:r>
            <a:r>
              <a:rPr sz="1200" b="1" i="0" u="none" dirty="0">
                <a:solidFill>
                  <a:srgbClr val="334155"/>
                </a:solidFill>
                <a:latin typeface="DM Sans"/>
              </a:rPr>
              <a:t>:</a:t>
            </a:r>
            <a:r>
              <a:rPr sz="1200" b="0" i="0" u="none" dirty="0">
                <a:solidFill>
                  <a:srgbClr val="334155"/>
                </a:solidFill>
                <a:latin typeface="DM Sans"/>
              </a:rPr>
              <a:t> </a:t>
            </a:r>
            <a:r>
              <a:rPr lang="tr-TR" sz="1200" dirty="0">
                <a:solidFill>
                  <a:srgbClr val="334155"/>
                </a:solidFill>
                <a:latin typeface="DM Sans"/>
              </a:rPr>
              <a:t>0.3069 (URL/Yol oranı)</a:t>
            </a:r>
            <a:endParaRPr sz="1200" dirty="0">
              <a:solidFill>
                <a:srgbClr val="334155"/>
              </a:solidFill>
              <a:latin typeface="DM Sans"/>
            </a:endParaRPr>
          </a:p>
        </p:txBody>
      </p:sp>
      <p:pic>
        <p:nvPicPr>
          <p:cNvPr id="17" name="Picture 16" descr="image.png"/>
          <p:cNvPicPr>
            <a:picLocks noChangeAspect="1"/>
          </p:cNvPicPr>
          <p:nvPr/>
        </p:nvPicPr>
        <p:blipFill>
          <a:blip r:embed="rId4"/>
          <a:stretch>
            <a:fillRect/>
          </a:stretch>
        </p:blipFill>
        <p:spPr>
          <a:xfrm>
            <a:off x="571500" y="1619249"/>
            <a:ext cx="85725" cy="180975"/>
          </a:xfrm>
          <a:prstGeom prst="rect">
            <a:avLst/>
          </a:prstGeom>
        </p:spPr>
      </p:pic>
      <p:pic>
        <p:nvPicPr>
          <p:cNvPr id="18" name="Picture 17" descr="image.png"/>
          <p:cNvPicPr>
            <a:picLocks noChangeAspect="1"/>
          </p:cNvPicPr>
          <p:nvPr/>
        </p:nvPicPr>
        <p:blipFill>
          <a:blip r:embed="rId5"/>
          <a:stretch>
            <a:fillRect/>
          </a:stretch>
        </p:blipFill>
        <p:spPr>
          <a:xfrm>
            <a:off x="571500" y="1971675"/>
            <a:ext cx="114300" cy="180975"/>
          </a:xfrm>
          <a:prstGeom prst="rect">
            <a:avLst/>
          </a:prstGeom>
        </p:spPr>
      </p:pic>
      <p:pic>
        <p:nvPicPr>
          <p:cNvPr id="19" name="Picture 18" descr="image.png"/>
          <p:cNvPicPr>
            <a:picLocks noChangeAspect="1"/>
          </p:cNvPicPr>
          <p:nvPr/>
        </p:nvPicPr>
        <p:blipFill>
          <a:blip r:embed="rId6"/>
          <a:stretch>
            <a:fillRect/>
          </a:stretch>
        </p:blipFill>
        <p:spPr>
          <a:xfrm>
            <a:off x="571500" y="2333625"/>
            <a:ext cx="114300" cy="180975"/>
          </a:xfrm>
          <a:prstGeom prst="rect">
            <a:avLst/>
          </a:prstGeom>
        </p:spPr>
      </p:pic>
      <p:pic>
        <p:nvPicPr>
          <p:cNvPr id="20" name="Picture 19" descr="image.png"/>
          <p:cNvPicPr>
            <a:picLocks noChangeAspect="1"/>
          </p:cNvPicPr>
          <p:nvPr/>
        </p:nvPicPr>
        <p:blipFill>
          <a:blip r:embed="rId7"/>
          <a:stretch>
            <a:fillRect/>
          </a:stretch>
        </p:blipFill>
        <p:spPr>
          <a:xfrm>
            <a:off x="571500" y="2695575"/>
            <a:ext cx="133350" cy="180975"/>
          </a:xfrm>
          <a:prstGeom prst="rect">
            <a:avLst/>
          </a:prstGeom>
        </p:spPr>
      </p:pic>
      <p:pic>
        <p:nvPicPr>
          <p:cNvPr id="21" name="Picture 20" descr="image.png"/>
          <p:cNvPicPr>
            <a:picLocks noChangeAspect="1"/>
          </p:cNvPicPr>
          <p:nvPr/>
        </p:nvPicPr>
        <p:blipFill>
          <a:blip r:embed="rId8"/>
          <a:stretch>
            <a:fillRect/>
          </a:stretch>
        </p:blipFill>
        <p:spPr>
          <a:xfrm>
            <a:off x="571500" y="3057525"/>
            <a:ext cx="114300" cy="180975"/>
          </a:xfrm>
          <a:prstGeom prst="rect">
            <a:avLst/>
          </a:prstGeom>
        </p:spPr>
      </p:pic>
      <p:pic>
        <p:nvPicPr>
          <p:cNvPr id="22" name="Picture 1" descr="image.png">
            <a:extLst>
              <a:ext uri="{FF2B5EF4-FFF2-40B4-BE49-F238E27FC236}">
                <a16:creationId xmlns:a16="http://schemas.microsoft.com/office/drawing/2014/main" id="{C652AE03-FD31-0226-8314-F01F4BBB9A70}"/>
              </a:ext>
            </a:extLst>
          </p:cNvPr>
          <p:cNvPicPr>
            <a:picLocks noChangeAspect="1"/>
          </p:cNvPicPr>
          <p:nvPr/>
        </p:nvPicPr>
        <p:blipFill>
          <a:blip r:embed="rId9"/>
          <a:stretch>
            <a:fillRect/>
          </a:stretch>
        </p:blipFill>
        <p:spPr>
          <a:xfrm>
            <a:off x="666750" y="952500"/>
            <a:ext cx="10858500" cy="171450"/>
          </a:xfrm>
          <a:prstGeom prst="rect">
            <a:avLst/>
          </a:prstGeom>
        </p:spPr>
      </p:pic>
      <p:pic>
        <p:nvPicPr>
          <p:cNvPr id="23" name="İçerik Yer Tutucusu 10">
            <a:extLst>
              <a:ext uri="{FF2B5EF4-FFF2-40B4-BE49-F238E27FC236}">
                <a16:creationId xmlns:a16="http://schemas.microsoft.com/office/drawing/2014/main" id="{D55B1F92-D285-75BA-6CB9-FC48979A10EC}"/>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343275"/>
            <a:ext cx="2857500" cy="171450"/>
          </a:xfrm>
          <a:prstGeom prst="rect">
            <a:avLst/>
          </a:prstGeom>
        </p:spPr>
      </p:pic>
      <p:sp>
        <p:nvSpPr>
          <p:cNvPr id="4" name="TextBox 3"/>
          <p:cNvSpPr txBox="1"/>
          <p:nvPr/>
        </p:nvSpPr>
        <p:spPr>
          <a:xfrm>
            <a:off x="666750" y="476250"/>
            <a:ext cx="1838325" cy="133350"/>
          </a:xfrm>
          <a:prstGeom prst="rect">
            <a:avLst/>
          </a:prstGeom>
          <a:noFill/>
        </p:spPr>
        <p:txBody>
          <a:bodyPr wrap="square" lIns="0" tIns="0" rIns="0" bIns="0" anchor="ctr">
            <a:spAutoFit/>
          </a:bodyPr>
          <a:lstStyle/>
          <a:p>
            <a:pPr algn="l"/>
            <a:r>
              <a:rPr sz="1200" b="1" i="0" u="none">
                <a:solidFill>
                  <a:srgbClr val="FFFFFF"/>
                </a:solidFill>
                <a:latin typeface="DM Sans"/>
              </a:rPr>
              <a:t>SAKARYA ÜNİVERSİTESİ</a:t>
            </a:r>
          </a:p>
        </p:txBody>
      </p:sp>
      <p:sp>
        <p:nvSpPr>
          <p:cNvPr id="5" name="TextBox 4"/>
          <p:cNvSpPr txBox="1"/>
          <p:nvPr/>
        </p:nvSpPr>
        <p:spPr>
          <a:xfrm>
            <a:off x="2095500" y="2309961"/>
            <a:ext cx="8001000" cy="238125"/>
          </a:xfrm>
          <a:prstGeom prst="rect">
            <a:avLst/>
          </a:prstGeom>
          <a:noFill/>
        </p:spPr>
        <p:txBody>
          <a:bodyPr wrap="square" lIns="0" tIns="0" rIns="0" bIns="0" anchor="t">
            <a:spAutoFit/>
          </a:bodyPr>
          <a:lstStyle/>
          <a:p>
            <a:pPr algn="ctr"/>
            <a:r>
              <a:rPr sz="1500" b="1" i="0" u="none" dirty="0">
                <a:solidFill>
                  <a:srgbClr val="C5A059"/>
                </a:solidFill>
                <a:latin typeface="Merriweather"/>
              </a:rPr>
              <a:t>BÖLÜM 0</a:t>
            </a:r>
            <a:r>
              <a:rPr lang="tr-TR" sz="1500" b="1" dirty="0">
                <a:solidFill>
                  <a:srgbClr val="C5A059"/>
                </a:solidFill>
                <a:latin typeface="Merriweather"/>
              </a:rPr>
              <a:t>6</a:t>
            </a:r>
            <a:endParaRPr sz="1500" b="1" i="0" u="none" dirty="0">
              <a:solidFill>
                <a:srgbClr val="C5A059"/>
              </a:solidFill>
              <a:latin typeface="Merriweather"/>
            </a:endParaRPr>
          </a:p>
        </p:txBody>
      </p:sp>
      <p:sp>
        <p:nvSpPr>
          <p:cNvPr id="8" name="TextBox 7"/>
          <p:cNvSpPr txBox="1"/>
          <p:nvPr/>
        </p:nvSpPr>
        <p:spPr>
          <a:xfrm>
            <a:off x="666750" y="6534150"/>
            <a:ext cx="2460498" cy="126958"/>
          </a:xfrm>
          <a:prstGeom prst="rect">
            <a:avLst/>
          </a:prstGeom>
          <a:noFill/>
        </p:spPr>
        <p:txBody>
          <a:bodyPr wrap="square" lIns="0" tIns="0" rIns="0" bIns="0" anchor="t">
            <a:spAutoFit/>
          </a:bodyPr>
          <a:lstStyle/>
          <a:p>
            <a:pPr algn="l"/>
            <a:r>
              <a:rPr sz="825" b="0" i="0" u="none" dirty="0">
                <a:solidFill>
                  <a:srgbClr val="94A3B8"/>
                </a:solidFill>
                <a:latin typeface="DM Sans"/>
              </a:rPr>
              <a:t>Mustafa </a:t>
            </a:r>
            <a:r>
              <a:rPr sz="825" b="0" i="0" u="none" dirty="0" err="1">
                <a:solidFill>
                  <a:srgbClr val="94A3B8"/>
                </a:solidFill>
                <a:latin typeface="DM Sans"/>
              </a:rPr>
              <a:t>Melih</a:t>
            </a:r>
            <a:r>
              <a:rPr sz="825" b="0" i="0" u="none" dirty="0">
                <a:solidFill>
                  <a:srgbClr val="94A3B8"/>
                </a:solidFill>
                <a:latin typeface="DM Sans"/>
              </a:rPr>
              <a:t> TÜFEKCİOĞLU • </a:t>
            </a:r>
            <a:r>
              <a:rPr sz="825" b="0" i="0" u="none" dirty="0" err="1">
                <a:solidFill>
                  <a:srgbClr val="94A3B8"/>
                </a:solidFill>
                <a:latin typeface="DM Sans"/>
              </a:rPr>
              <a:t>Yüksek</a:t>
            </a:r>
            <a:r>
              <a:rPr sz="825" b="0" i="0" u="none" dirty="0">
                <a:solidFill>
                  <a:srgbClr val="94A3B8"/>
                </a:solidFill>
                <a:latin typeface="DM Sans"/>
              </a:rPr>
              <a:t> </a:t>
            </a:r>
            <a:r>
              <a:rPr sz="825" b="0" i="0" u="none" dirty="0" err="1">
                <a:solidFill>
                  <a:srgbClr val="94A3B8"/>
                </a:solidFill>
                <a:latin typeface="DM Sans"/>
              </a:rPr>
              <a:t>Lisans</a:t>
            </a:r>
            <a:r>
              <a:rPr sz="825" b="0" i="0" u="none" dirty="0">
                <a:solidFill>
                  <a:srgbClr val="94A3B8"/>
                </a:solidFill>
                <a:latin typeface="DM Sans"/>
              </a:rPr>
              <a:t> </a:t>
            </a:r>
            <a:r>
              <a:rPr sz="825" b="0" i="0" u="none" dirty="0" err="1">
                <a:solidFill>
                  <a:srgbClr val="94A3B8"/>
                </a:solidFill>
                <a:latin typeface="DM Sans"/>
              </a:rPr>
              <a:t>Tezi</a:t>
            </a:r>
            <a:endParaRPr sz="825" b="0" i="0" u="none" dirty="0">
              <a:solidFill>
                <a:srgbClr val="94A3B8"/>
              </a:solidFill>
              <a:latin typeface="DM Sans"/>
            </a:endParaRPr>
          </a:p>
        </p:txBody>
      </p:sp>
      <p:sp>
        <p:nvSpPr>
          <p:cNvPr id="9" name="TextBox 8"/>
          <p:cNvSpPr txBox="1"/>
          <p:nvPr/>
        </p:nvSpPr>
        <p:spPr>
          <a:xfrm>
            <a:off x="11201399" y="6534150"/>
            <a:ext cx="488373" cy="126958"/>
          </a:xfrm>
          <a:prstGeom prst="rect">
            <a:avLst/>
          </a:prstGeom>
          <a:noFill/>
        </p:spPr>
        <p:txBody>
          <a:bodyPr wrap="square" lIns="0" tIns="0" rIns="0" bIns="0" anchor="t">
            <a:spAutoFit/>
          </a:bodyPr>
          <a:lstStyle/>
          <a:p>
            <a:pPr algn="l"/>
            <a:r>
              <a:rPr sz="825" b="0" i="0" u="none">
                <a:solidFill>
                  <a:srgbClr val="94A3B8"/>
                </a:solidFill>
                <a:latin typeface="DM Sans"/>
              </a:rPr>
              <a:t>Slayt </a:t>
            </a:r>
            <a:r>
              <a:rPr lang="tr-TR" sz="825" b="0" i="0" u="none">
                <a:solidFill>
                  <a:srgbClr val="94A3B8"/>
                </a:solidFill>
                <a:latin typeface="DM Sans"/>
              </a:rPr>
              <a:t>22</a:t>
            </a:r>
            <a:endParaRPr sz="825" b="0" i="0" u="none">
              <a:solidFill>
                <a:srgbClr val="94A3B8"/>
              </a:solidFill>
              <a:latin typeface="DM Sans"/>
            </a:endParaRPr>
          </a:p>
        </p:txBody>
      </p:sp>
      <p:pic>
        <p:nvPicPr>
          <p:cNvPr id="10" name="İçerik Yer Tutucusu 10">
            <a:extLst>
              <a:ext uri="{FF2B5EF4-FFF2-40B4-BE49-F238E27FC236}">
                <a16:creationId xmlns:a16="http://schemas.microsoft.com/office/drawing/2014/main" id="{B37786D2-57C1-72F5-BBAE-597F6ED3EF8F}"/>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493713" y="286767"/>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TextBox 3">
            <a:extLst>
              <a:ext uri="{FF2B5EF4-FFF2-40B4-BE49-F238E27FC236}">
                <a16:creationId xmlns:a16="http://schemas.microsoft.com/office/drawing/2014/main" id="{56DF2EE7-ACCD-5D48-5151-2C940968B18B}"/>
              </a:ext>
            </a:extLst>
          </p:cNvPr>
          <p:cNvSpPr txBox="1"/>
          <p:nvPr/>
        </p:nvSpPr>
        <p:spPr>
          <a:xfrm>
            <a:off x="295275" y="2638425"/>
            <a:ext cx="11601450" cy="553998"/>
          </a:xfrm>
          <a:prstGeom prst="rect">
            <a:avLst/>
          </a:prstGeom>
          <a:noFill/>
        </p:spPr>
        <p:txBody>
          <a:bodyPr wrap="square" lIns="0" tIns="0" rIns="0" bIns="0" anchor="t">
            <a:spAutoFit/>
          </a:bodyPr>
          <a:lstStyle/>
          <a:p>
            <a:pPr algn="ctr"/>
            <a:r>
              <a:rPr lang="tr-TR" sz="3600" b="1" i="0" u="none" dirty="0">
                <a:solidFill>
                  <a:srgbClr val="FFFFFF"/>
                </a:solidFill>
                <a:latin typeface="Merriweather"/>
              </a:rPr>
              <a:t>TARAYICI EKLENTİSİ VE SAHA TESTLERİ</a:t>
            </a:r>
          </a:p>
        </p:txBody>
      </p:sp>
      <p:sp>
        <p:nvSpPr>
          <p:cNvPr id="6" name="TextBox 4">
            <a:extLst>
              <a:ext uri="{FF2B5EF4-FFF2-40B4-BE49-F238E27FC236}">
                <a16:creationId xmlns:a16="http://schemas.microsoft.com/office/drawing/2014/main" id="{BBC247D3-9279-E49F-6ED4-20CCE75260CB}"/>
              </a:ext>
            </a:extLst>
          </p:cNvPr>
          <p:cNvSpPr txBox="1"/>
          <p:nvPr/>
        </p:nvSpPr>
        <p:spPr>
          <a:xfrm>
            <a:off x="2286000" y="3686175"/>
            <a:ext cx="7620000" cy="571500"/>
          </a:xfrm>
          <a:prstGeom prst="rect">
            <a:avLst/>
          </a:prstGeom>
          <a:noFill/>
        </p:spPr>
        <p:txBody>
          <a:bodyPr wrap="square" lIns="0" tIns="0" rIns="0" bIns="0" anchor="t">
            <a:spAutoFit/>
          </a:bodyPr>
          <a:lstStyle/>
          <a:p>
            <a:pPr algn="ctr">
              <a:lnSpc>
                <a:spcPts val="2250"/>
              </a:lnSpc>
            </a:pPr>
            <a:r>
              <a:rPr sz="1500" b="0" i="0" u="none" dirty="0">
                <a:solidFill>
                  <a:srgbClr val="CBD5E1"/>
                </a:solidFill>
                <a:latin typeface="DM Sans"/>
              </a:rPr>
              <a:t>Chrome Manifest V3 </a:t>
            </a:r>
            <a:r>
              <a:rPr sz="1500" b="0" i="0" u="none" dirty="0" err="1">
                <a:solidFill>
                  <a:srgbClr val="CBD5E1"/>
                </a:solidFill>
                <a:latin typeface="DM Sans"/>
              </a:rPr>
              <a:t>Mimarisi</a:t>
            </a:r>
            <a:r>
              <a:rPr sz="1500" b="0" i="0" u="none" dirty="0">
                <a:solidFill>
                  <a:srgbClr val="CBD5E1"/>
                </a:solidFill>
                <a:latin typeface="DM Sans"/>
              </a:rPr>
              <a:t>, </a:t>
            </a:r>
            <a:r>
              <a:rPr sz="1500" b="0" i="0" u="none" dirty="0" err="1">
                <a:solidFill>
                  <a:srgbClr val="CBD5E1"/>
                </a:solidFill>
                <a:latin typeface="DM Sans"/>
              </a:rPr>
              <a:t>İstemci-Sunucu</a:t>
            </a:r>
            <a:r>
              <a:rPr sz="1500" b="0" i="0" u="none" dirty="0">
                <a:solidFill>
                  <a:srgbClr val="CBD5E1"/>
                </a:solidFill>
                <a:latin typeface="DM Sans"/>
              </a:rPr>
              <a:t> </a:t>
            </a:r>
            <a:r>
              <a:rPr sz="1500" b="0" i="0" u="none" dirty="0" err="1">
                <a:solidFill>
                  <a:srgbClr val="CBD5E1"/>
                </a:solidFill>
                <a:latin typeface="DM Sans"/>
              </a:rPr>
              <a:t>Etkileşimi</a:t>
            </a:r>
            <a:r>
              <a:rPr sz="1500" b="0" i="0" u="none" dirty="0">
                <a:solidFill>
                  <a:srgbClr val="CBD5E1"/>
                </a:solidFill>
                <a:latin typeface="DM Sans"/>
              </a:rPr>
              <a:t>, </a:t>
            </a:r>
            <a:r>
              <a:rPr sz="1500" b="0" i="0" u="none" dirty="0" err="1">
                <a:solidFill>
                  <a:srgbClr val="CBD5E1"/>
                </a:solidFill>
                <a:latin typeface="DM Sans"/>
              </a:rPr>
              <a:t>Gerçek</a:t>
            </a:r>
            <a:r>
              <a:rPr sz="1500" b="0" i="0" u="none" dirty="0">
                <a:solidFill>
                  <a:srgbClr val="CBD5E1"/>
                </a:solidFill>
                <a:latin typeface="DM Sans"/>
              </a:rPr>
              <a:t> </a:t>
            </a:r>
            <a:r>
              <a:rPr sz="1500" b="0" i="0" u="none" dirty="0" err="1">
                <a:solidFill>
                  <a:srgbClr val="CBD5E1"/>
                </a:solidFill>
                <a:latin typeface="DM Sans"/>
              </a:rPr>
              <a:t>Zamanlı</a:t>
            </a:r>
            <a:r>
              <a:rPr sz="1500" b="0" i="0" u="none" dirty="0">
                <a:solidFill>
                  <a:srgbClr val="CBD5E1"/>
                </a:solidFill>
                <a:latin typeface="DM Sans"/>
              </a:rPr>
              <a:t> Saha </a:t>
            </a:r>
            <a:r>
              <a:rPr sz="1500" b="0" i="0" u="none" dirty="0" err="1">
                <a:solidFill>
                  <a:srgbClr val="CBD5E1"/>
                </a:solidFill>
                <a:latin typeface="DM Sans"/>
              </a:rPr>
              <a:t>Testleri</a:t>
            </a:r>
            <a:r>
              <a:rPr sz="1500" b="0" i="0" u="none" dirty="0">
                <a:solidFill>
                  <a:srgbClr val="CBD5E1"/>
                </a:solidFill>
                <a:latin typeface="DM Sans"/>
              </a:rPr>
              <a:t> </a:t>
            </a:r>
            <a:r>
              <a:rPr sz="1500" b="0" i="0" u="none" dirty="0" err="1">
                <a:solidFill>
                  <a:srgbClr val="CBD5E1"/>
                </a:solidFill>
                <a:latin typeface="DM Sans"/>
              </a:rPr>
              <a:t>ve</a:t>
            </a:r>
            <a:r>
              <a:rPr sz="1500" b="0" i="0" u="none" dirty="0">
                <a:solidFill>
                  <a:srgbClr val="CBD5E1"/>
                </a:solidFill>
                <a:latin typeface="DM Sans"/>
              </a:rPr>
              <a:t> </a:t>
            </a:r>
            <a:r>
              <a:rPr sz="1500" b="0" i="0" u="none" dirty="0" err="1">
                <a:solidFill>
                  <a:srgbClr val="CBD5E1"/>
                </a:solidFill>
                <a:latin typeface="DM Sans"/>
              </a:rPr>
              <a:t>Performans</a:t>
            </a:r>
            <a:r>
              <a:rPr sz="1500" b="0" i="0" u="none" dirty="0">
                <a:solidFill>
                  <a:srgbClr val="CBD5E1"/>
                </a:solidFill>
                <a:latin typeface="DM Sans"/>
              </a:rPr>
              <a:t> </a:t>
            </a:r>
            <a:r>
              <a:rPr sz="1500" b="0" i="0" u="none" dirty="0" err="1">
                <a:solidFill>
                  <a:srgbClr val="CBD5E1"/>
                </a:solidFill>
                <a:latin typeface="DM Sans"/>
              </a:rPr>
              <a:t>Bulguları</a:t>
            </a:r>
            <a:endParaRPr sz="1500" b="0" i="0" u="none" dirty="0">
              <a:solidFill>
                <a:srgbClr val="CBD5E1"/>
              </a:solidFill>
              <a:latin typeface="DM Sans"/>
            </a:endParaRPr>
          </a:p>
        </p:txBody>
      </p:sp>
    </p:spTree>
    <p:extLst>
      <p:ext uri="{BB962C8B-B14F-4D97-AF65-F5344CB8AC3E}">
        <p14:creationId xmlns:p14="http://schemas.microsoft.com/office/powerpoint/2010/main" val="8609919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sp>
        <p:nvSpPr>
          <p:cNvPr id="5" name="TextBox 4"/>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Tarayıcı</a:t>
            </a:r>
            <a:r>
              <a:rPr sz="2550" b="1" i="0" u="none" dirty="0">
                <a:solidFill>
                  <a:srgbClr val="005088"/>
                </a:solidFill>
                <a:latin typeface="Merriweather"/>
              </a:rPr>
              <a:t> </a:t>
            </a:r>
            <a:r>
              <a:rPr sz="2550" b="1" i="0" u="none" dirty="0" err="1">
                <a:solidFill>
                  <a:srgbClr val="005088"/>
                </a:solidFill>
                <a:latin typeface="Merriweather"/>
              </a:rPr>
              <a:t>Eklentisi</a:t>
            </a:r>
            <a:r>
              <a:rPr sz="2550" b="1" i="0" u="none" dirty="0">
                <a:solidFill>
                  <a:srgbClr val="005088"/>
                </a:solidFill>
                <a:latin typeface="Merriweather"/>
              </a:rPr>
              <a:t> </a:t>
            </a:r>
            <a:r>
              <a:rPr sz="2550" b="1" i="0" u="none" dirty="0" err="1">
                <a:solidFill>
                  <a:srgbClr val="005088"/>
                </a:solidFill>
                <a:latin typeface="Merriweather"/>
              </a:rPr>
              <a:t>Mimarisi</a:t>
            </a:r>
            <a:endParaRPr sz="2550" b="1" i="0" u="none" dirty="0">
              <a:solidFill>
                <a:srgbClr val="005088"/>
              </a:solidFill>
              <a:latin typeface="Merriweather"/>
            </a:endParaRPr>
          </a:p>
        </p:txBody>
      </p:sp>
      <p:sp>
        <p:nvSpPr>
          <p:cNvPr id="6" name="Rectangle 5"/>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8" name="TextBox 7"/>
          <p:cNvSpPr txBox="1"/>
          <p:nvPr/>
        </p:nvSpPr>
        <p:spPr>
          <a:xfrm>
            <a:off x="11182350" y="6496050"/>
            <a:ext cx="4381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a:t>
            </a:r>
            <a:r>
              <a:rPr lang="tr-TR" sz="900" b="0" i="0" u="none">
                <a:solidFill>
                  <a:srgbClr val="94A3B8"/>
                </a:solidFill>
                <a:latin typeface="DM Sans"/>
              </a:rPr>
              <a:t>3</a:t>
            </a:r>
            <a:endParaRPr sz="900" b="0" i="0" u="none">
              <a:solidFill>
                <a:srgbClr val="94A3B8"/>
              </a:solidFill>
              <a:latin typeface="DM Sans"/>
            </a:endParaRPr>
          </a:p>
        </p:txBody>
      </p:sp>
      <p:sp>
        <p:nvSpPr>
          <p:cNvPr id="9" name="TextBox 8"/>
          <p:cNvSpPr txBox="1"/>
          <p:nvPr/>
        </p:nvSpPr>
        <p:spPr>
          <a:xfrm>
            <a:off x="571500" y="1252537"/>
            <a:ext cx="5600700" cy="238125"/>
          </a:xfrm>
          <a:prstGeom prst="rect">
            <a:avLst/>
          </a:prstGeom>
          <a:noFill/>
        </p:spPr>
        <p:txBody>
          <a:bodyPr wrap="square" lIns="0" tIns="0" rIns="0" bIns="0" anchor="t">
            <a:spAutoFit/>
          </a:bodyPr>
          <a:lstStyle/>
          <a:p>
            <a:pPr algn="l"/>
            <a:r>
              <a:rPr sz="1500" b="1" i="0" u="none">
                <a:solidFill>
                  <a:srgbClr val="005088"/>
                </a:solidFill>
                <a:latin typeface="Merriweather"/>
              </a:rPr>
              <a:t>Yazılım Bileşenleri Mimarisi</a:t>
            </a:r>
          </a:p>
        </p:txBody>
      </p:sp>
      <p:sp>
        <p:nvSpPr>
          <p:cNvPr id="10" name="TextBox 9"/>
          <p:cNvSpPr txBox="1"/>
          <p:nvPr/>
        </p:nvSpPr>
        <p:spPr>
          <a:xfrm>
            <a:off x="857250" y="1604962"/>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Content Script:</a:t>
            </a:r>
            <a:r>
              <a:rPr sz="1200" b="0" i="0" u="none">
                <a:solidFill>
                  <a:srgbClr val="334155"/>
                </a:solidFill>
                <a:latin typeface="DM Sans"/>
              </a:rPr>
              <a:t> Ziyaret edilen sekmelerdeki URL değişikliklerini anlık yakalar.</a:t>
            </a:r>
          </a:p>
        </p:txBody>
      </p:sp>
      <p:sp>
        <p:nvSpPr>
          <p:cNvPr id="11" name="TextBox 10"/>
          <p:cNvSpPr txBox="1"/>
          <p:nvPr/>
        </p:nvSpPr>
        <p:spPr>
          <a:xfrm>
            <a:off x="857250" y="2195512"/>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Background Service Worker:</a:t>
            </a:r>
            <a:r>
              <a:rPr sz="1200" b="0" i="0" u="none">
                <a:solidFill>
                  <a:srgbClr val="334155"/>
                </a:solidFill>
                <a:latin typeface="DM Sans"/>
              </a:rPr>
              <a:t> URL'yi asenkron olarak Flask/FastAPI REST API sunucusuna iletir.</a:t>
            </a:r>
          </a:p>
        </p:txBody>
      </p:sp>
      <p:sp>
        <p:nvSpPr>
          <p:cNvPr id="12" name="TextBox 11"/>
          <p:cNvSpPr txBox="1"/>
          <p:nvPr/>
        </p:nvSpPr>
        <p:spPr>
          <a:xfrm>
            <a:off x="857250" y="2786062"/>
            <a:ext cx="5048250" cy="457200"/>
          </a:xfrm>
          <a:prstGeom prst="rect">
            <a:avLst/>
          </a:prstGeom>
          <a:noFill/>
        </p:spPr>
        <p:txBody>
          <a:bodyPr wrap="square" lIns="0" tIns="0" rIns="0" bIns="0" anchor="t">
            <a:spAutoFit/>
          </a:bodyPr>
          <a:lstStyle/>
          <a:p>
            <a:pPr algn="l">
              <a:lnSpc>
                <a:spcPts val="1800"/>
              </a:lnSpc>
            </a:pPr>
            <a:r>
              <a:rPr sz="1200" b="1" i="0" u="none">
                <a:solidFill>
                  <a:srgbClr val="334155"/>
                </a:solidFill>
                <a:latin typeface="DM Sans"/>
              </a:rPr>
              <a:t>Backend API (Python):</a:t>
            </a:r>
            <a:r>
              <a:rPr sz="1200" b="0" i="0" u="none">
                <a:solidFill>
                  <a:srgbClr val="334155"/>
                </a:solidFill>
                <a:latin typeface="DM Sans"/>
              </a:rPr>
              <a:t> Anlık 33 öznitelik çıkarımı yapar ve eğitilmiş XGBoost modelini çağırır.</a:t>
            </a:r>
          </a:p>
        </p:txBody>
      </p:sp>
      <p:sp>
        <p:nvSpPr>
          <p:cNvPr id="13" name="TextBox 12"/>
          <p:cNvSpPr txBox="1"/>
          <p:nvPr/>
        </p:nvSpPr>
        <p:spPr>
          <a:xfrm>
            <a:off x="857250" y="3376612"/>
            <a:ext cx="5048250" cy="447943"/>
          </a:xfrm>
          <a:prstGeom prst="rect">
            <a:avLst/>
          </a:prstGeom>
          <a:noFill/>
        </p:spPr>
        <p:txBody>
          <a:bodyPr wrap="square" lIns="0" tIns="0" rIns="0" bIns="0" anchor="t">
            <a:spAutoFit/>
          </a:bodyPr>
          <a:lstStyle/>
          <a:p>
            <a:pPr algn="l">
              <a:lnSpc>
                <a:spcPts val="1800"/>
              </a:lnSpc>
            </a:pPr>
            <a:r>
              <a:rPr sz="1200" b="1" i="0" u="none" dirty="0">
                <a:solidFill>
                  <a:srgbClr val="334155"/>
                </a:solidFill>
                <a:latin typeface="DM Sans"/>
              </a:rPr>
              <a:t>User Interface / Popup:</a:t>
            </a:r>
            <a:r>
              <a:rPr sz="1200" b="0" i="0" u="none" dirty="0">
                <a:solidFill>
                  <a:srgbClr val="334155"/>
                </a:solidFill>
                <a:latin typeface="DM Sans"/>
              </a:rPr>
              <a:t> </a:t>
            </a:r>
            <a:r>
              <a:rPr sz="1200" b="0" i="0" u="none" dirty="0" err="1">
                <a:solidFill>
                  <a:srgbClr val="334155"/>
                </a:solidFill>
                <a:latin typeface="DM Sans"/>
              </a:rPr>
              <a:t>Tehlikeli</a:t>
            </a:r>
            <a:r>
              <a:rPr sz="1200" b="0" i="0" u="none" dirty="0">
                <a:solidFill>
                  <a:srgbClr val="334155"/>
                </a:solidFill>
                <a:latin typeface="DM Sans"/>
              </a:rPr>
              <a:t> URL </a:t>
            </a:r>
            <a:r>
              <a:rPr sz="1200" b="0" i="0" u="none" dirty="0" err="1">
                <a:solidFill>
                  <a:srgbClr val="334155"/>
                </a:solidFill>
                <a:latin typeface="DM Sans"/>
              </a:rPr>
              <a:t>tespit</a:t>
            </a:r>
            <a:r>
              <a:rPr sz="1200" b="0" i="0" u="none" dirty="0">
                <a:solidFill>
                  <a:srgbClr val="334155"/>
                </a:solidFill>
                <a:latin typeface="DM Sans"/>
              </a:rPr>
              <a:t> </a:t>
            </a:r>
            <a:r>
              <a:rPr sz="1200" b="0" i="0" u="none" dirty="0" err="1">
                <a:solidFill>
                  <a:srgbClr val="334155"/>
                </a:solidFill>
                <a:latin typeface="DM Sans"/>
              </a:rPr>
              <a:t>edildiğinde</a:t>
            </a:r>
            <a:r>
              <a:rPr lang="tr-TR" sz="1200" b="0" i="0" u="none" dirty="0">
                <a:solidFill>
                  <a:srgbClr val="334155"/>
                </a:solidFill>
                <a:latin typeface="DM Sans"/>
              </a:rPr>
              <a:t> kullanıcıyı kısıtlamaz. Ancak ekranın üst kısmında bir uyarı </a:t>
            </a:r>
            <a:r>
              <a:rPr lang="tr-TR" sz="1200" b="0" i="0" u="none" dirty="0" err="1">
                <a:solidFill>
                  <a:srgbClr val="334155"/>
                </a:solidFill>
                <a:latin typeface="DM Sans"/>
              </a:rPr>
              <a:t>banneri</a:t>
            </a:r>
            <a:r>
              <a:rPr lang="tr-TR" sz="1200" b="0" i="0" u="none" dirty="0">
                <a:solidFill>
                  <a:srgbClr val="334155"/>
                </a:solidFill>
                <a:latin typeface="DM Sans"/>
              </a:rPr>
              <a:t> oluşturur.</a:t>
            </a:r>
            <a:endParaRPr sz="1200" b="0" i="0" u="none" dirty="0">
              <a:solidFill>
                <a:srgbClr val="334155"/>
              </a:solidFill>
              <a:latin typeface="DM Sans"/>
            </a:endParaRPr>
          </a:p>
        </p:txBody>
      </p:sp>
      <p:pic>
        <p:nvPicPr>
          <p:cNvPr id="15" name="Picture 14" descr="image.png"/>
          <p:cNvPicPr>
            <a:picLocks noChangeAspect="1"/>
          </p:cNvPicPr>
          <p:nvPr/>
        </p:nvPicPr>
        <p:blipFill>
          <a:blip r:embed="rId3"/>
          <a:stretch>
            <a:fillRect/>
          </a:stretch>
        </p:blipFill>
        <p:spPr>
          <a:xfrm>
            <a:off x="571500" y="1628775"/>
            <a:ext cx="171450" cy="180975"/>
          </a:xfrm>
          <a:prstGeom prst="rect">
            <a:avLst/>
          </a:prstGeom>
        </p:spPr>
      </p:pic>
      <p:pic>
        <p:nvPicPr>
          <p:cNvPr id="16" name="Picture 15" descr="image.png"/>
          <p:cNvPicPr>
            <a:picLocks noChangeAspect="1"/>
          </p:cNvPicPr>
          <p:nvPr/>
        </p:nvPicPr>
        <p:blipFill>
          <a:blip r:embed="rId4"/>
          <a:stretch>
            <a:fillRect/>
          </a:stretch>
        </p:blipFill>
        <p:spPr>
          <a:xfrm>
            <a:off x="571500" y="2219325"/>
            <a:ext cx="219075" cy="180975"/>
          </a:xfrm>
          <a:prstGeom prst="rect">
            <a:avLst/>
          </a:prstGeom>
        </p:spPr>
      </p:pic>
      <p:pic>
        <p:nvPicPr>
          <p:cNvPr id="17" name="Picture 16" descr="image.png"/>
          <p:cNvPicPr>
            <a:picLocks noChangeAspect="1"/>
          </p:cNvPicPr>
          <p:nvPr/>
        </p:nvPicPr>
        <p:blipFill>
          <a:blip r:embed="rId5"/>
          <a:stretch>
            <a:fillRect/>
          </a:stretch>
        </p:blipFill>
        <p:spPr>
          <a:xfrm>
            <a:off x="571500" y="2809875"/>
            <a:ext cx="171450" cy="180975"/>
          </a:xfrm>
          <a:prstGeom prst="rect">
            <a:avLst/>
          </a:prstGeom>
        </p:spPr>
      </p:pic>
      <p:pic>
        <p:nvPicPr>
          <p:cNvPr id="18" name="Picture 17" descr="image.png"/>
          <p:cNvPicPr>
            <a:picLocks noChangeAspect="1"/>
          </p:cNvPicPr>
          <p:nvPr/>
        </p:nvPicPr>
        <p:blipFill>
          <a:blip r:embed="rId6"/>
          <a:stretch>
            <a:fillRect/>
          </a:stretch>
        </p:blipFill>
        <p:spPr>
          <a:xfrm>
            <a:off x="571500" y="3400425"/>
            <a:ext cx="152400" cy="180975"/>
          </a:xfrm>
          <a:prstGeom prst="rect">
            <a:avLst/>
          </a:prstGeom>
        </p:spPr>
      </p:pic>
      <p:pic>
        <p:nvPicPr>
          <p:cNvPr id="19" name="Picture 1" descr="image.png">
            <a:extLst>
              <a:ext uri="{FF2B5EF4-FFF2-40B4-BE49-F238E27FC236}">
                <a16:creationId xmlns:a16="http://schemas.microsoft.com/office/drawing/2014/main" id="{9581FF7A-97BD-325E-F32B-578BEE257896}"/>
              </a:ext>
            </a:extLst>
          </p:cNvPr>
          <p:cNvPicPr>
            <a:picLocks noChangeAspect="1"/>
          </p:cNvPicPr>
          <p:nvPr/>
        </p:nvPicPr>
        <p:blipFill>
          <a:blip r:embed="rId7"/>
          <a:stretch>
            <a:fillRect/>
          </a:stretch>
        </p:blipFill>
        <p:spPr>
          <a:xfrm>
            <a:off x="666750" y="952500"/>
            <a:ext cx="10858500" cy="171450"/>
          </a:xfrm>
          <a:prstGeom prst="rect">
            <a:avLst/>
          </a:prstGeom>
        </p:spPr>
      </p:pic>
      <p:pic>
        <p:nvPicPr>
          <p:cNvPr id="20" name="İçerik Yer Tutucusu 10">
            <a:extLst>
              <a:ext uri="{FF2B5EF4-FFF2-40B4-BE49-F238E27FC236}">
                <a16:creationId xmlns:a16="http://schemas.microsoft.com/office/drawing/2014/main" id="{62A5D755-AAAD-F77D-91C2-7A29D861E7FA}"/>
              </a:ext>
            </a:extLst>
          </p:cNvPr>
          <p:cNvPicPr>
            <a:picLocks noChangeAspect="1"/>
          </p:cNvPicPr>
          <p:nvPr/>
        </p:nvPicPr>
        <p:blipFill>
          <a:blip r:embed="rId8">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6771382" y="1252537"/>
            <a:ext cx="4849117" cy="1219200"/>
          </a:xfrm>
          <a:prstGeom prst="rect">
            <a:avLst/>
          </a:prstGeom>
        </p:spPr>
      </p:pic>
      <p:pic>
        <p:nvPicPr>
          <p:cNvPr id="5" name="Picture 4" descr="image.png"/>
          <p:cNvPicPr>
            <a:picLocks noChangeAspect="1"/>
          </p:cNvPicPr>
          <p:nvPr/>
        </p:nvPicPr>
        <p:blipFill>
          <a:blip r:embed="rId4"/>
          <a:stretch>
            <a:fillRect/>
          </a:stretch>
        </p:blipFill>
        <p:spPr>
          <a:xfrm>
            <a:off x="6771382" y="2614612"/>
            <a:ext cx="4849117" cy="1181100"/>
          </a:xfrm>
          <a:prstGeom prst="rect">
            <a:avLst/>
          </a:prstGeom>
        </p:spPr>
      </p:pic>
      <p:sp>
        <p:nvSpPr>
          <p:cNvPr id="6" name="TextBox 5"/>
          <p:cNvSpPr txBox="1"/>
          <p:nvPr/>
        </p:nvSpPr>
        <p:spPr>
          <a:xfrm>
            <a:off x="571500" y="476250"/>
            <a:ext cx="11601450" cy="392993"/>
          </a:xfrm>
          <a:prstGeom prst="rect">
            <a:avLst/>
          </a:prstGeom>
          <a:noFill/>
        </p:spPr>
        <p:txBody>
          <a:bodyPr wrap="square" lIns="0" tIns="0" rIns="0" bIns="0" anchor="t">
            <a:spAutoFit/>
          </a:bodyPr>
          <a:lstStyle/>
          <a:p>
            <a:pPr algn="l">
              <a:lnSpc>
                <a:spcPts val="3187"/>
              </a:lnSpc>
            </a:pPr>
            <a:r>
              <a:rPr sz="2550" b="1" i="0" u="none" dirty="0" err="1">
                <a:solidFill>
                  <a:srgbClr val="005088"/>
                </a:solidFill>
                <a:latin typeface="Merriweather"/>
              </a:rPr>
              <a:t>Canlı</a:t>
            </a:r>
            <a:r>
              <a:rPr sz="2550" b="1" i="0" u="none" dirty="0">
                <a:solidFill>
                  <a:srgbClr val="005088"/>
                </a:solidFill>
                <a:latin typeface="Merriweather"/>
              </a:rPr>
              <a:t> Saha </a:t>
            </a:r>
            <a:r>
              <a:rPr sz="2550" b="1" i="0" u="none" dirty="0" err="1">
                <a:solidFill>
                  <a:srgbClr val="005088"/>
                </a:solidFill>
                <a:latin typeface="Merriweather"/>
              </a:rPr>
              <a:t>Testi</a:t>
            </a:r>
            <a:r>
              <a:rPr sz="2550" b="1" i="0" u="none" dirty="0">
                <a:solidFill>
                  <a:srgbClr val="005088"/>
                </a:solidFill>
                <a:latin typeface="Merriweather"/>
              </a:rPr>
              <a:t> </a:t>
            </a:r>
            <a:r>
              <a:rPr sz="2550" b="1" i="0" u="none" dirty="0" err="1">
                <a:solidFill>
                  <a:srgbClr val="005088"/>
                </a:solidFill>
                <a:latin typeface="Merriweather"/>
              </a:rPr>
              <a:t>Sonuçları</a:t>
            </a:r>
            <a:endParaRPr sz="2550" b="1" i="0" u="none" dirty="0">
              <a:solidFill>
                <a:srgbClr val="005088"/>
              </a:solidFill>
              <a:latin typeface="Merriweather"/>
            </a:endParaRPr>
          </a:p>
        </p:txBody>
      </p:sp>
      <p:sp>
        <p:nvSpPr>
          <p:cNvPr id="7" name="Rectangle 6"/>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9" name="TextBox 8"/>
          <p:cNvSpPr txBox="1"/>
          <p:nvPr/>
        </p:nvSpPr>
        <p:spPr>
          <a:xfrm>
            <a:off x="11182350" y="6496050"/>
            <a:ext cx="43815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a:t>
            </a:r>
            <a:r>
              <a:rPr lang="tr-TR" sz="900" b="0" i="0" u="none">
                <a:solidFill>
                  <a:srgbClr val="94A3B8"/>
                </a:solidFill>
                <a:latin typeface="DM Sans"/>
              </a:rPr>
              <a:t>4</a:t>
            </a:r>
            <a:endParaRPr sz="900" b="0" i="0" u="none">
              <a:solidFill>
                <a:srgbClr val="94A3B8"/>
              </a:solidFill>
              <a:latin typeface="DM Sans"/>
            </a:endParaRPr>
          </a:p>
        </p:txBody>
      </p:sp>
      <p:graphicFrame>
        <p:nvGraphicFramePr>
          <p:cNvPr id="10" name="Table 9"/>
          <p:cNvGraphicFramePr>
            <a:graphicFrameLocks noGrp="1"/>
          </p:cNvGraphicFramePr>
          <p:nvPr>
            <p:extLst>
              <p:ext uri="{D42A27DB-BD31-4B8C-83A1-F6EECF244321}">
                <p14:modId xmlns:p14="http://schemas.microsoft.com/office/powerpoint/2010/main" val="1410670945"/>
              </p:ext>
            </p:extLst>
          </p:nvPr>
        </p:nvGraphicFramePr>
        <p:xfrm>
          <a:off x="571500" y="1252537"/>
          <a:ext cx="5818881" cy="2245180"/>
        </p:xfrm>
        <a:graphic>
          <a:graphicData uri="http://schemas.openxmlformats.org/drawingml/2006/table">
            <a:tbl>
              <a:tblPr firstRow="1" bandRow="1">
                <a:tableStyleId>{5C22544A-7EE6-4342-B048-85BDC9FD1C3A}</a:tableStyleId>
              </a:tblPr>
              <a:tblGrid>
                <a:gridCol w="2857053">
                  <a:extLst>
                    <a:ext uri="{9D8B030D-6E8A-4147-A177-3AD203B41FA5}">
                      <a16:colId xmlns:a16="http://schemas.microsoft.com/office/drawing/2014/main" val="20000"/>
                    </a:ext>
                  </a:extLst>
                </a:gridCol>
                <a:gridCol w="2961828">
                  <a:extLst>
                    <a:ext uri="{9D8B030D-6E8A-4147-A177-3AD203B41FA5}">
                      <a16:colId xmlns:a16="http://schemas.microsoft.com/office/drawing/2014/main" val="20001"/>
                    </a:ext>
                  </a:extLst>
                </a:gridCol>
              </a:tblGrid>
              <a:tr h="449035">
                <a:tc>
                  <a:txBody>
                    <a:bodyPr/>
                    <a:lstStyle/>
                    <a:p>
                      <a:pPr algn="l"/>
                      <a:r>
                        <a:rPr sz="1200" b="0" i="0" u="none">
                          <a:solidFill>
                            <a:srgbClr val="FFFFFF"/>
                          </a:solidFill>
                          <a:latin typeface="DM Sans SemiBold"/>
                        </a:rPr>
                        <a:t>Test Parametresi</a:t>
                      </a:r>
                    </a:p>
                  </a:txBody>
                  <a:tcPr marL="63500" marR="63500" marT="25400" marB="25400" anchor="ctr">
                    <a:lnL>
                      <a:noFill/>
                    </a:lnL>
                    <a:lnR>
                      <a:noFill/>
                    </a:lnR>
                    <a:lnT>
                      <a:noFill/>
                    </a:lnT>
                    <a:lnB>
                      <a:noFill/>
                    </a:lnB>
                    <a:solidFill>
                      <a:srgbClr val="005088"/>
                    </a:solidFill>
                  </a:tcPr>
                </a:tc>
                <a:tc>
                  <a:txBody>
                    <a:bodyPr/>
                    <a:lstStyle/>
                    <a:p>
                      <a:pPr algn="l"/>
                      <a:r>
                        <a:rPr sz="1200" b="0" i="0" u="none">
                          <a:solidFill>
                            <a:srgbClr val="FFFFFF"/>
                          </a:solidFill>
                          <a:latin typeface="DM Sans SemiBold"/>
                        </a:rPr>
                        <a:t>Elde Edilen Değer</a:t>
                      </a:r>
                    </a:p>
                  </a:txBody>
                  <a:tcPr marL="63500" marR="63500" marT="25400" marB="25400" anchor="ctr">
                    <a:lnL>
                      <a:noFill/>
                    </a:lnL>
                    <a:lnR>
                      <a:noFill/>
                    </a:lnR>
                    <a:lnT>
                      <a:noFill/>
                    </a:lnT>
                    <a:lnB>
                      <a:noFill/>
                    </a:lnB>
                    <a:solidFill>
                      <a:srgbClr val="005088"/>
                    </a:solidFill>
                  </a:tcPr>
                </a:tc>
                <a:extLst>
                  <a:ext uri="{0D108BD9-81ED-4DB2-BD59-A6C34878D82A}">
                    <a16:rowId xmlns:a16="http://schemas.microsoft.com/office/drawing/2014/main" val="10000"/>
                  </a:ext>
                </a:extLst>
              </a:tr>
              <a:tr h="449035">
                <a:tc>
                  <a:txBody>
                    <a:bodyPr/>
                    <a:lstStyle/>
                    <a:p>
                      <a:pPr algn="l"/>
                      <a:r>
                        <a:rPr sz="1200" b="0" i="0" u="none">
                          <a:solidFill>
                            <a:srgbClr val="334155"/>
                          </a:solidFill>
                          <a:latin typeface="DM Sans"/>
                        </a:rPr>
                        <a:t>Test Edilen Canlı URL Sayısı</a:t>
                      </a:r>
                    </a:p>
                  </a:txBody>
                  <a:tcPr marL="63500" marR="63500" marT="25400" marB="25400" anchor="ctr">
                    <a:lnL>
                      <a:noFill/>
                    </a:lnL>
                    <a:lnR>
                      <a:noFill/>
                    </a:lnR>
                    <a:lnT>
                      <a:noFill/>
                    </a:lnT>
                    <a:lnB>
                      <a:noFill/>
                    </a:lnB>
                    <a:noFill/>
                  </a:tcPr>
                </a:tc>
                <a:tc>
                  <a:txBody>
                    <a:bodyPr/>
                    <a:lstStyle/>
                    <a:p>
                      <a:pPr algn="l"/>
                      <a:r>
                        <a:rPr sz="1200" b="1" i="0" u="none" dirty="0">
                          <a:solidFill>
                            <a:srgbClr val="334155"/>
                          </a:solidFill>
                          <a:latin typeface="DM Sans"/>
                        </a:rPr>
                        <a:t>177 </a:t>
                      </a:r>
                      <a:r>
                        <a:rPr sz="1200" b="1" i="0" u="none" dirty="0" err="1">
                          <a:solidFill>
                            <a:srgbClr val="334155"/>
                          </a:solidFill>
                          <a:latin typeface="DM Sans"/>
                        </a:rPr>
                        <a:t>Adet</a:t>
                      </a:r>
                      <a:endParaRPr sz="1200" b="0" i="0" u="none" dirty="0">
                        <a:solidFill>
                          <a:srgbClr val="334155"/>
                        </a:solidFill>
                        <a:latin typeface="DM Sans"/>
                      </a:endParaRPr>
                    </a:p>
                  </a:txBody>
                  <a:tcPr marL="63500" marR="63500" marT="25400" marB="25400" anchor="ctr">
                    <a:lnL>
                      <a:noFill/>
                    </a:lnL>
                    <a:lnR>
                      <a:noFill/>
                    </a:lnR>
                    <a:lnT>
                      <a:noFill/>
                    </a:lnT>
                    <a:lnB>
                      <a:noFill/>
                    </a:lnB>
                    <a:noFill/>
                  </a:tcPr>
                </a:tc>
                <a:extLst>
                  <a:ext uri="{0D108BD9-81ED-4DB2-BD59-A6C34878D82A}">
                    <a16:rowId xmlns:a16="http://schemas.microsoft.com/office/drawing/2014/main" val="10001"/>
                  </a:ext>
                </a:extLst>
              </a:tr>
              <a:tr h="449035">
                <a:tc>
                  <a:txBody>
                    <a:bodyPr/>
                    <a:lstStyle/>
                    <a:p>
                      <a:pPr algn="l"/>
                      <a:r>
                        <a:rPr sz="1200" b="0" i="0" u="none">
                          <a:solidFill>
                            <a:srgbClr val="334155"/>
                          </a:solidFill>
                          <a:latin typeface="DM Sans"/>
                        </a:rPr>
                        <a:t>Doğru Sınıflandırılan URL</a:t>
                      </a:r>
                    </a:p>
                  </a:txBody>
                  <a:tcPr marL="63500" marR="63500" marT="25400" marB="25400" anchor="ctr">
                    <a:lnL>
                      <a:noFill/>
                    </a:lnL>
                    <a:lnR>
                      <a:noFill/>
                    </a:lnR>
                    <a:lnT>
                      <a:noFill/>
                    </a:lnT>
                    <a:lnB>
                      <a:noFill/>
                    </a:lnB>
                    <a:solidFill>
                      <a:srgbClr val="F8FAFC"/>
                    </a:solidFill>
                  </a:tcPr>
                </a:tc>
                <a:tc>
                  <a:txBody>
                    <a:bodyPr/>
                    <a:lstStyle/>
                    <a:p>
                      <a:pPr algn="l"/>
                      <a:r>
                        <a:rPr sz="1200" b="1" i="0" u="none">
                          <a:solidFill>
                            <a:srgbClr val="334155"/>
                          </a:solidFill>
                          <a:latin typeface="DM Sans"/>
                        </a:rPr>
                        <a:t>176 Adet</a:t>
                      </a:r>
                      <a:r>
                        <a:rPr sz="1200" b="0" i="0" u="none">
                          <a:solidFill>
                            <a:srgbClr val="334155"/>
                          </a:solidFill>
                          <a:latin typeface="DM Sans"/>
                        </a:rPr>
                        <a:t> (%99.44 Sınıflandırma)</a:t>
                      </a:r>
                    </a:p>
                  </a:txBody>
                  <a:tcPr marL="63500" marR="63500" marT="25400" marB="25400" anchor="ctr">
                    <a:lnL>
                      <a:noFill/>
                    </a:lnL>
                    <a:lnR>
                      <a:noFill/>
                    </a:lnR>
                    <a:lnT>
                      <a:noFill/>
                    </a:lnT>
                    <a:lnB>
                      <a:noFill/>
                    </a:lnB>
                    <a:solidFill>
                      <a:srgbClr val="F8FAFC"/>
                    </a:solidFill>
                  </a:tcPr>
                </a:tc>
                <a:extLst>
                  <a:ext uri="{0D108BD9-81ED-4DB2-BD59-A6C34878D82A}">
                    <a16:rowId xmlns:a16="http://schemas.microsoft.com/office/drawing/2014/main" val="10002"/>
                  </a:ext>
                </a:extLst>
              </a:tr>
              <a:tr h="449035">
                <a:tc>
                  <a:txBody>
                    <a:bodyPr/>
                    <a:lstStyle/>
                    <a:p>
                      <a:pPr algn="l"/>
                      <a:r>
                        <a:rPr sz="1200" b="1" i="0" u="none">
                          <a:solidFill>
                            <a:srgbClr val="064E3B"/>
                          </a:solidFill>
                          <a:latin typeface="DM Sans"/>
                        </a:rPr>
                        <a:t>Yanlış Pozitif (False Positive)</a:t>
                      </a:r>
                    </a:p>
                  </a:txBody>
                  <a:tcPr marL="63500" marR="63500" marT="25400" marB="25400" anchor="ctr">
                    <a:lnL>
                      <a:noFill/>
                    </a:lnL>
                    <a:lnR>
                      <a:noFill/>
                    </a:lnR>
                    <a:lnT>
                      <a:noFill/>
                    </a:lnT>
                    <a:lnB>
                      <a:noFill/>
                    </a:lnB>
                    <a:solidFill>
                      <a:srgbClr val="F0FDF4"/>
                    </a:solidFill>
                  </a:tcPr>
                </a:tc>
                <a:tc>
                  <a:txBody>
                    <a:bodyPr/>
                    <a:lstStyle/>
                    <a:p>
                      <a:pPr algn="l"/>
                      <a:r>
                        <a:rPr sz="1200" b="1" i="0" u="none">
                          <a:solidFill>
                            <a:srgbClr val="064E3B"/>
                          </a:solidFill>
                          <a:latin typeface="DM Sans"/>
                        </a:rPr>
                        <a:t>0 Adet (%0.00 FPR)</a:t>
                      </a:r>
                    </a:p>
                  </a:txBody>
                  <a:tcPr marL="63500" marR="63500" marT="25400" marB="25400" anchor="ctr">
                    <a:lnL>
                      <a:noFill/>
                    </a:lnL>
                    <a:lnR>
                      <a:noFill/>
                    </a:lnR>
                    <a:lnT>
                      <a:noFill/>
                    </a:lnT>
                    <a:lnB>
                      <a:noFill/>
                    </a:lnB>
                    <a:solidFill>
                      <a:srgbClr val="F0FDF4"/>
                    </a:solidFill>
                  </a:tcPr>
                </a:tc>
                <a:extLst>
                  <a:ext uri="{0D108BD9-81ED-4DB2-BD59-A6C34878D82A}">
                    <a16:rowId xmlns:a16="http://schemas.microsoft.com/office/drawing/2014/main" val="10003"/>
                  </a:ext>
                </a:extLst>
              </a:tr>
              <a:tr h="449040">
                <a:tc>
                  <a:txBody>
                    <a:bodyPr/>
                    <a:lstStyle/>
                    <a:p>
                      <a:pPr algn="l"/>
                      <a:r>
                        <a:rPr sz="1200" b="1" i="0" u="none" dirty="0" err="1">
                          <a:solidFill>
                            <a:srgbClr val="064E3B"/>
                          </a:solidFill>
                          <a:latin typeface="DM Sans"/>
                        </a:rPr>
                        <a:t>Toplam</a:t>
                      </a:r>
                      <a:r>
                        <a:rPr sz="1200" b="1" i="0" u="none" dirty="0">
                          <a:solidFill>
                            <a:srgbClr val="064E3B"/>
                          </a:solidFill>
                          <a:latin typeface="DM Sans"/>
                        </a:rPr>
                        <a:t> </a:t>
                      </a:r>
                      <a:r>
                        <a:rPr sz="1200" b="1" i="0" u="none" dirty="0" err="1">
                          <a:solidFill>
                            <a:srgbClr val="064E3B"/>
                          </a:solidFill>
                          <a:latin typeface="DM Sans"/>
                        </a:rPr>
                        <a:t>İstemci</a:t>
                      </a:r>
                      <a:r>
                        <a:rPr sz="1200" b="1" i="0" u="none" dirty="0">
                          <a:solidFill>
                            <a:srgbClr val="064E3B"/>
                          </a:solidFill>
                          <a:latin typeface="DM Sans"/>
                        </a:rPr>
                        <a:t> </a:t>
                      </a:r>
                      <a:r>
                        <a:rPr sz="1200" b="1" i="0" u="none" dirty="0" err="1">
                          <a:solidFill>
                            <a:srgbClr val="064E3B"/>
                          </a:solidFill>
                          <a:latin typeface="DM Sans"/>
                        </a:rPr>
                        <a:t>Yanıt</a:t>
                      </a:r>
                      <a:r>
                        <a:rPr sz="1200" b="1" i="0" u="none" dirty="0">
                          <a:solidFill>
                            <a:srgbClr val="064E3B"/>
                          </a:solidFill>
                          <a:latin typeface="DM Sans"/>
                        </a:rPr>
                        <a:t> </a:t>
                      </a:r>
                      <a:r>
                        <a:rPr sz="1200" b="1" i="0" u="none" dirty="0" err="1">
                          <a:solidFill>
                            <a:srgbClr val="064E3B"/>
                          </a:solidFill>
                          <a:latin typeface="DM Sans"/>
                        </a:rPr>
                        <a:t>Süresi</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tc>
                  <a:txBody>
                    <a:bodyPr/>
                    <a:lstStyle/>
                    <a:p>
                      <a:pPr algn="l"/>
                      <a:r>
                        <a:rPr sz="1200" b="1" i="0" u="none" dirty="0">
                          <a:solidFill>
                            <a:srgbClr val="064E3B"/>
                          </a:solidFill>
                          <a:latin typeface="DM Sans"/>
                        </a:rPr>
                        <a:t>16.5 </a:t>
                      </a:r>
                      <a:r>
                        <a:rPr sz="1200" b="1" i="0" u="none" dirty="0" err="1">
                          <a:solidFill>
                            <a:srgbClr val="064E3B"/>
                          </a:solidFill>
                          <a:latin typeface="DM Sans"/>
                        </a:rPr>
                        <a:t>ms</a:t>
                      </a:r>
                      <a:endParaRPr sz="1200" b="1" i="0" u="none" dirty="0">
                        <a:solidFill>
                          <a:srgbClr val="064E3B"/>
                        </a:solidFill>
                        <a:latin typeface="DM Sans"/>
                      </a:endParaRPr>
                    </a:p>
                  </a:txBody>
                  <a:tcPr marL="63500" marR="63500" marT="25400" marB="25400" anchor="ctr">
                    <a:lnL>
                      <a:noFill/>
                    </a:lnL>
                    <a:lnR>
                      <a:noFill/>
                    </a:lnR>
                    <a:lnT>
                      <a:noFill/>
                    </a:lnT>
                    <a:lnB>
                      <a:noFill/>
                    </a:lnB>
                    <a:solidFill>
                      <a:srgbClr val="F0FDF4"/>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7028557" y="1509712"/>
            <a:ext cx="4334767" cy="438150"/>
          </a:xfrm>
          <a:prstGeom prst="rect">
            <a:avLst/>
          </a:prstGeom>
          <a:noFill/>
        </p:spPr>
        <p:txBody>
          <a:bodyPr wrap="square" lIns="0" tIns="0" rIns="0" bIns="0" anchor="t">
            <a:spAutoFit/>
          </a:bodyPr>
          <a:lstStyle/>
          <a:p>
            <a:pPr algn="ctr">
              <a:lnSpc>
                <a:spcPts val="3450"/>
              </a:lnSpc>
            </a:pPr>
            <a:r>
              <a:rPr sz="3450" b="1" i="0" u="none" dirty="0">
                <a:solidFill>
                  <a:srgbClr val="065F46"/>
                </a:solidFill>
                <a:latin typeface="Merriweather"/>
              </a:rPr>
              <a:t>16.5 </a:t>
            </a:r>
            <a:r>
              <a:rPr sz="3450" b="1" i="0" u="none" dirty="0" err="1">
                <a:solidFill>
                  <a:srgbClr val="065F46"/>
                </a:solidFill>
                <a:latin typeface="Merriweather"/>
              </a:rPr>
              <a:t>ms</a:t>
            </a:r>
            <a:endParaRPr sz="3450" b="1" i="0" u="none" dirty="0">
              <a:solidFill>
                <a:srgbClr val="065F46"/>
              </a:solidFill>
              <a:latin typeface="Merriweather"/>
            </a:endParaRPr>
          </a:p>
        </p:txBody>
      </p:sp>
      <p:sp>
        <p:nvSpPr>
          <p:cNvPr id="12" name="TextBox 11"/>
          <p:cNvSpPr txBox="1"/>
          <p:nvPr/>
        </p:nvSpPr>
        <p:spPr>
          <a:xfrm>
            <a:off x="7028557" y="2024062"/>
            <a:ext cx="4334767" cy="173124"/>
          </a:xfrm>
          <a:prstGeom prst="rect">
            <a:avLst/>
          </a:prstGeom>
          <a:noFill/>
        </p:spPr>
        <p:txBody>
          <a:bodyPr wrap="square" lIns="0" tIns="0" rIns="0" bIns="0" anchor="t">
            <a:spAutoFit/>
          </a:bodyPr>
          <a:lstStyle/>
          <a:p>
            <a:pPr algn="ctr"/>
            <a:r>
              <a:rPr sz="1125" b="1" i="0" u="none" dirty="0" err="1">
                <a:solidFill>
                  <a:srgbClr val="047857"/>
                </a:solidFill>
                <a:latin typeface="DM Sans"/>
              </a:rPr>
              <a:t>Ortalama</a:t>
            </a:r>
            <a:r>
              <a:rPr lang="tr-TR" sz="1125" b="1" dirty="0">
                <a:solidFill>
                  <a:srgbClr val="047857"/>
                </a:solidFill>
                <a:latin typeface="DM Sans"/>
              </a:rPr>
              <a:t> </a:t>
            </a:r>
            <a:r>
              <a:rPr sz="1125" b="1" i="0" u="none" dirty="0" err="1">
                <a:solidFill>
                  <a:srgbClr val="047857"/>
                </a:solidFill>
                <a:latin typeface="DM Sans"/>
              </a:rPr>
              <a:t>Tespit</a:t>
            </a:r>
            <a:r>
              <a:rPr sz="1125" b="1" i="0" u="none" dirty="0">
                <a:solidFill>
                  <a:srgbClr val="047857"/>
                </a:solidFill>
                <a:latin typeface="DM Sans"/>
              </a:rPr>
              <a:t> </a:t>
            </a:r>
            <a:r>
              <a:rPr sz="1125" b="1" i="0" u="none" dirty="0" err="1">
                <a:solidFill>
                  <a:srgbClr val="047857"/>
                </a:solidFill>
                <a:latin typeface="DM Sans"/>
              </a:rPr>
              <a:t>Süresi</a:t>
            </a:r>
            <a:endParaRPr sz="1125" b="1" i="0" u="none" dirty="0">
              <a:solidFill>
                <a:srgbClr val="047857"/>
              </a:solidFill>
              <a:latin typeface="DM Sans"/>
            </a:endParaRPr>
          </a:p>
        </p:txBody>
      </p:sp>
      <p:sp>
        <p:nvSpPr>
          <p:cNvPr id="13" name="TextBox 12"/>
          <p:cNvSpPr txBox="1"/>
          <p:nvPr/>
        </p:nvSpPr>
        <p:spPr>
          <a:xfrm>
            <a:off x="7009507" y="2852737"/>
            <a:ext cx="4372867" cy="438150"/>
          </a:xfrm>
          <a:prstGeom prst="rect">
            <a:avLst/>
          </a:prstGeom>
          <a:noFill/>
        </p:spPr>
        <p:txBody>
          <a:bodyPr wrap="square" lIns="0" tIns="0" rIns="0" bIns="0" anchor="t">
            <a:spAutoFit/>
          </a:bodyPr>
          <a:lstStyle/>
          <a:p>
            <a:pPr algn="ctr">
              <a:lnSpc>
                <a:spcPts val="3450"/>
              </a:lnSpc>
            </a:pPr>
            <a:r>
              <a:rPr sz="3450" b="1" i="0" u="none" dirty="0">
                <a:solidFill>
                  <a:srgbClr val="11CAA0"/>
                </a:solidFill>
                <a:latin typeface="Merriweather"/>
              </a:rPr>
              <a:t>%0.00</a:t>
            </a:r>
          </a:p>
        </p:txBody>
      </p:sp>
      <p:sp>
        <p:nvSpPr>
          <p:cNvPr id="14" name="TextBox 13"/>
          <p:cNvSpPr txBox="1"/>
          <p:nvPr/>
        </p:nvSpPr>
        <p:spPr>
          <a:xfrm>
            <a:off x="7009507" y="3367087"/>
            <a:ext cx="4372867" cy="173124"/>
          </a:xfrm>
          <a:prstGeom prst="rect">
            <a:avLst/>
          </a:prstGeom>
          <a:noFill/>
        </p:spPr>
        <p:txBody>
          <a:bodyPr wrap="square" lIns="0" tIns="0" rIns="0" bIns="0" anchor="t">
            <a:spAutoFit/>
          </a:bodyPr>
          <a:lstStyle/>
          <a:p>
            <a:pPr algn="ctr"/>
            <a:r>
              <a:rPr sz="1125" b="0" i="0" u="none" dirty="0">
                <a:solidFill>
                  <a:srgbClr val="F3F0DF"/>
                </a:solidFill>
                <a:latin typeface="DM Sans Medium"/>
              </a:rPr>
              <a:t>Saha </a:t>
            </a:r>
            <a:r>
              <a:rPr sz="1125" b="0" i="0" u="none" dirty="0" err="1">
                <a:solidFill>
                  <a:srgbClr val="F3F0DF"/>
                </a:solidFill>
                <a:latin typeface="DM Sans Medium"/>
              </a:rPr>
              <a:t>Testi</a:t>
            </a:r>
            <a:r>
              <a:rPr sz="1125" b="0" i="0" u="none" dirty="0">
                <a:solidFill>
                  <a:srgbClr val="F3F0DF"/>
                </a:solidFill>
                <a:latin typeface="DM Sans Medium"/>
              </a:rPr>
              <a:t> </a:t>
            </a:r>
            <a:r>
              <a:rPr sz="1125" b="0" i="0" u="none" dirty="0" err="1">
                <a:solidFill>
                  <a:srgbClr val="F3F0DF"/>
                </a:solidFill>
                <a:latin typeface="DM Sans Medium"/>
              </a:rPr>
              <a:t>Yanlış</a:t>
            </a:r>
            <a:r>
              <a:rPr sz="1125" b="0" i="0" u="none" dirty="0">
                <a:solidFill>
                  <a:srgbClr val="F3F0DF"/>
                </a:solidFill>
                <a:latin typeface="DM Sans Medium"/>
              </a:rPr>
              <a:t> </a:t>
            </a:r>
            <a:r>
              <a:rPr sz="1125" b="0" i="0" u="none" dirty="0" err="1">
                <a:solidFill>
                  <a:srgbClr val="F3F0DF"/>
                </a:solidFill>
                <a:latin typeface="DM Sans Medium"/>
              </a:rPr>
              <a:t>Pozitif</a:t>
            </a:r>
            <a:r>
              <a:rPr sz="1125" b="0" i="0" u="none" dirty="0">
                <a:solidFill>
                  <a:srgbClr val="F3F0DF"/>
                </a:solidFill>
                <a:latin typeface="DM Sans Medium"/>
              </a:rPr>
              <a:t> </a:t>
            </a:r>
            <a:r>
              <a:rPr sz="1125" b="0" i="0" u="none" dirty="0" err="1">
                <a:solidFill>
                  <a:srgbClr val="F3F0DF"/>
                </a:solidFill>
                <a:latin typeface="DM Sans Medium"/>
              </a:rPr>
              <a:t>Oranı</a:t>
            </a:r>
            <a:r>
              <a:rPr sz="1125" b="0" i="0" u="none" dirty="0">
                <a:solidFill>
                  <a:srgbClr val="F3F0DF"/>
                </a:solidFill>
                <a:latin typeface="DM Sans Medium"/>
              </a:rPr>
              <a:t> (False Positive)</a:t>
            </a:r>
          </a:p>
        </p:txBody>
      </p:sp>
      <p:sp>
        <p:nvSpPr>
          <p:cNvPr id="15" name="Rectangle 14"/>
          <p:cNvSpPr/>
          <p:nvPr/>
        </p:nvSpPr>
        <p:spPr>
          <a:xfrm>
            <a:off x="571500" y="2143125"/>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428553" y="2143125"/>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71500" y="2590800"/>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3428553" y="2590800"/>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71500" y="3038475"/>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3428553" y="3038475"/>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71500" y="3486150"/>
            <a:ext cx="2857053"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3428553" y="3486150"/>
            <a:ext cx="2961828" cy="9525"/>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7" name="Picture 1" descr="image.png">
            <a:extLst>
              <a:ext uri="{FF2B5EF4-FFF2-40B4-BE49-F238E27FC236}">
                <a16:creationId xmlns:a16="http://schemas.microsoft.com/office/drawing/2014/main" id="{62AFA291-0E28-8BB2-64EF-77E54595D163}"/>
              </a:ext>
            </a:extLst>
          </p:cNvPr>
          <p:cNvPicPr>
            <a:picLocks noChangeAspect="1"/>
          </p:cNvPicPr>
          <p:nvPr/>
        </p:nvPicPr>
        <p:blipFill>
          <a:blip r:embed="rId5"/>
          <a:stretch>
            <a:fillRect/>
          </a:stretch>
        </p:blipFill>
        <p:spPr>
          <a:xfrm>
            <a:off x="666750" y="952500"/>
            <a:ext cx="10858500" cy="171450"/>
          </a:xfrm>
          <a:prstGeom prst="rect">
            <a:avLst/>
          </a:prstGeom>
        </p:spPr>
      </p:pic>
      <p:pic>
        <p:nvPicPr>
          <p:cNvPr id="28" name="İçerik Yer Tutucusu 10">
            <a:extLst>
              <a:ext uri="{FF2B5EF4-FFF2-40B4-BE49-F238E27FC236}">
                <a16:creationId xmlns:a16="http://schemas.microsoft.com/office/drawing/2014/main" id="{1BDBDF28-F7DC-700F-EF45-024B4A09925C}"/>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image.png"/>
          <p:cNvPicPr>
            <a:picLocks noChangeAspect="1"/>
          </p:cNvPicPr>
          <p:nvPr/>
        </p:nvPicPr>
        <p:blipFill>
          <a:blip r:embed="rId2"/>
          <a:stretch>
            <a:fillRect/>
          </a:stretch>
        </p:blipFill>
        <p:spPr>
          <a:xfrm>
            <a:off x="571500" y="6391275"/>
            <a:ext cx="11049000" cy="276225"/>
          </a:xfrm>
          <a:prstGeom prst="rect">
            <a:avLst/>
          </a:prstGeom>
        </p:spPr>
      </p:pic>
      <p:pic>
        <p:nvPicPr>
          <p:cNvPr id="4" name="Picture 3" descr="image.png"/>
          <p:cNvPicPr>
            <a:picLocks noChangeAspect="1"/>
          </p:cNvPicPr>
          <p:nvPr/>
        </p:nvPicPr>
        <p:blipFill>
          <a:blip r:embed="rId3"/>
          <a:stretch>
            <a:fillRect/>
          </a:stretch>
        </p:blipFill>
        <p:spPr>
          <a:xfrm>
            <a:off x="571500" y="1252537"/>
            <a:ext cx="3524250" cy="2305050"/>
          </a:xfrm>
          <a:prstGeom prst="rect">
            <a:avLst/>
          </a:prstGeom>
        </p:spPr>
      </p:pic>
      <p:pic>
        <p:nvPicPr>
          <p:cNvPr id="5" name="Picture 4" descr="image.png"/>
          <p:cNvPicPr>
            <a:picLocks noChangeAspect="1"/>
          </p:cNvPicPr>
          <p:nvPr/>
        </p:nvPicPr>
        <p:blipFill>
          <a:blip r:embed="rId4"/>
          <a:stretch>
            <a:fillRect/>
          </a:stretch>
        </p:blipFill>
        <p:spPr>
          <a:xfrm>
            <a:off x="4333875" y="1252537"/>
            <a:ext cx="3524250" cy="2305050"/>
          </a:xfrm>
          <a:prstGeom prst="rect">
            <a:avLst/>
          </a:prstGeom>
        </p:spPr>
      </p:pic>
      <p:pic>
        <p:nvPicPr>
          <p:cNvPr id="6" name="Picture 5" descr="image.png"/>
          <p:cNvPicPr>
            <a:picLocks noChangeAspect="1"/>
          </p:cNvPicPr>
          <p:nvPr/>
        </p:nvPicPr>
        <p:blipFill>
          <a:blip r:embed="rId4"/>
          <a:stretch>
            <a:fillRect/>
          </a:stretch>
        </p:blipFill>
        <p:spPr>
          <a:xfrm>
            <a:off x="8096250" y="1252537"/>
            <a:ext cx="3524250" cy="2305050"/>
          </a:xfrm>
          <a:prstGeom prst="rect">
            <a:avLst/>
          </a:prstGeom>
        </p:spPr>
      </p:pic>
      <p:sp>
        <p:nvSpPr>
          <p:cNvPr id="7" name="TextBox 6"/>
          <p:cNvSpPr txBox="1"/>
          <p:nvPr/>
        </p:nvSpPr>
        <p:spPr>
          <a:xfrm>
            <a:off x="571500" y="476250"/>
            <a:ext cx="11601450" cy="423862"/>
          </a:xfrm>
          <a:prstGeom prst="rect">
            <a:avLst/>
          </a:prstGeom>
          <a:noFill/>
        </p:spPr>
        <p:txBody>
          <a:bodyPr wrap="square" lIns="0" tIns="0" rIns="0" bIns="0" anchor="t">
            <a:spAutoFit/>
          </a:bodyPr>
          <a:lstStyle/>
          <a:p>
            <a:pPr algn="l">
              <a:lnSpc>
                <a:spcPts val="3187"/>
              </a:lnSpc>
            </a:pPr>
            <a:r>
              <a:rPr sz="2550" b="1" i="0" u="none">
                <a:solidFill>
                  <a:srgbClr val="005088"/>
                </a:solidFill>
                <a:latin typeface="Merriweather"/>
              </a:rPr>
              <a:t>Sonuçlar, Tartışma ve Genel Değerlendirme</a:t>
            </a:r>
          </a:p>
        </p:txBody>
      </p:sp>
      <p:sp>
        <p:nvSpPr>
          <p:cNvPr id="8" name="Rectangle 7"/>
          <p:cNvSpPr/>
          <p:nvPr/>
        </p:nvSpPr>
        <p:spPr>
          <a:xfrm>
            <a:off x="571500" y="995362"/>
            <a:ext cx="11049000" cy="1905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1500" y="6496050"/>
            <a:ext cx="3009900"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SAKARYA ÜNİVERSİTESİ • YÜKSEK LİSANS TEZ SAVUNMASI</a:t>
            </a:r>
          </a:p>
        </p:txBody>
      </p:sp>
      <p:sp>
        <p:nvSpPr>
          <p:cNvPr id="10" name="TextBox 9"/>
          <p:cNvSpPr txBox="1"/>
          <p:nvPr/>
        </p:nvSpPr>
        <p:spPr>
          <a:xfrm>
            <a:off x="11172825" y="6496050"/>
            <a:ext cx="447675" cy="171450"/>
          </a:xfrm>
          <a:prstGeom prst="rect">
            <a:avLst/>
          </a:prstGeom>
          <a:noFill/>
        </p:spPr>
        <p:txBody>
          <a:bodyPr wrap="square" lIns="0" tIns="0" rIns="0" bIns="0" anchor="t">
            <a:spAutoFit/>
          </a:bodyPr>
          <a:lstStyle/>
          <a:p>
            <a:pPr algn="l">
              <a:lnSpc>
                <a:spcPts val="1350"/>
              </a:lnSpc>
            </a:pPr>
            <a:r>
              <a:rPr sz="900" b="0" i="0" u="none">
                <a:solidFill>
                  <a:srgbClr val="94A3B8"/>
                </a:solidFill>
                <a:latin typeface="DM Sans"/>
              </a:rPr>
              <a:t>Slayt 2</a:t>
            </a:r>
            <a:r>
              <a:rPr lang="tr-TR" sz="900" b="0" i="0" u="none">
                <a:solidFill>
                  <a:srgbClr val="94A3B8"/>
                </a:solidFill>
                <a:latin typeface="DM Sans"/>
              </a:rPr>
              <a:t>5</a:t>
            </a:r>
            <a:endParaRPr sz="900" b="0" i="0" u="none">
              <a:solidFill>
                <a:srgbClr val="94A3B8"/>
              </a:solidFill>
              <a:latin typeface="DM Sans"/>
            </a:endParaRPr>
          </a:p>
        </p:txBody>
      </p:sp>
      <p:sp>
        <p:nvSpPr>
          <p:cNvPr id="11" name="TextBox 10"/>
          <p:cNvSpPr txBox="1"/>
          <p:nvPr/>
        </p:nvSpPr>
        <p:spPr>
          <a:xfrm>
            <a:off x="81915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Yüksek Doğruluk Başarımı</a:t>
            </a:r>
          </a:p>
        </p:txBody>
      </p:sp>
      <p:sp>
        <p:nvSpPr>
          <p:cNvPr id="12" name="TextBox 11"/>
          <p:cNvSpPr txBox="1"/>
          <p:nvPr/>
        </p:nvSpPr>
        <p:spPr>
          <a:xfrm>
            <a:off x="819150" y="2452687"/>
            <a:ext cx="3028950" cy="858761"/>
          </a:xfrm>
          <a:prstGeom prst="rect">
            <a:avLst/>
          </a:prstGeom>
          <a:noFill/>
        </p:spPr>
        <p:txBody>
          <a:bodyPr wrap="square" lIns="0" tIns="0" rIns="0" bIns="0" anchor="t">
            <a:spAutoFit/>
          </a:bodyPr>
          <a:lstStyle/>
          <a:p>
            <a:pPr algn="l">
              <a:lnSpc>
                <a:spcPts val="1687"/>
              </a:lnSpc>
            </a:pPr>
            <a:r>
              <a:rPr sz="1125" b="0" i="0" u="none" dirty="0" err="1">
                <a:solidFill>
                  <a:srgbClr val="64748B"/>
                </a:solidFill>
                <a:latin typeface="DM Sans"/>
              </a:rPr>
              <a:t>Geliştirilen</a:t>
            </a:r>
            <a:r>
              <a:rPr sz="1125" b="0" i="0" u="none" dirty="0">
                <a:solidFill>
                  <a:srgbClr val="64748B"/>
                </a:solidFill>
                <a:latin typeface="DM Sans"/>
              </a:rPr>
              <a:t> </a:t>
            </a:r>
            <a:r>
              <a:rPr sz="1125" b="0" i="0" u="none" dirty="0" err="1">
                <a:solidFill>
                  <a:srgbClr val="64748B"/>
                </a:solidFill>
                <a:latin typeface="DM Sans"/>
              </a:rPr>
              <a:t>XGBoost</a:t>
            </a:r>
            <a:r>
              <a:rPr sz="1125" b="0" i="0" u="none" dirty="0">
                <a:solidFill>
                  <a:srgbClr val="64748B"/>
                </a:solidFill>
                <a:latin typeface="DM Sans"/>
              </a:rPr>
              <a:t> </a:t>
            </a:r>
            <a:r>
              <a:rPr sz="1125" b="0" i="0" u="none" dirty="0" err="1">
                <a:solidFill>
                  <a:srgbClr val="64748B"/>
                </a:solidFill>
                <a:latin typeface="DM Sans"/>
              </a:rPr>
              <a:t>modeli</a:t>
            </a:r>
            <a:r>
              <a:rPr sz="1125" b="0" i="0" u="none" dirty="0">
                <a:solidFill>
                  <a:srgbClr val="64748B"/>
                </a:solidFill>
                <a:latin typeface="DM Sans"/>
              </a:rPr>
              <a:t>, </a:t>
            </a:r>
            <a:r>
              <a:rPr lang="tr-TR" sz="1125" b="0" i="0" u="none" dirty="0">
                <a:solidFill>
                  <a:srgbClr val="64748B"/>
                </a:solidFill>
                <a:latin typeface="DM Sans"/>
              </a:rPr>
              <a:t>336,</a:t>
            </a:r>
            <a:r>
              <a:rPr lang="tr-TR" sz="1125" dirty="0">
                <a:solidFill>
                  <a:srgbClr val="64748B"/>
                </a:solidFill>
                <a:latin typeface="DM Sans"/>
              </a:rPr>
              <a:t>750</a:t>
            </a:r>
            <a:r>
              <a:rPr sz="1125" b="0" i="0" u="none" dirty="0">
                <a:solidFill>
                  <a:srgbClr val="64748B"/>
                </a:solidFill>
                <a:latin typeface="DM Sans"/>
              </a:rPr>
              <a:t> URL </a:t>
            </a:r>
            <a:r>
              <a:rPr sz="1125" b="0" i="0" u="none" dirty="0" err="1">
                <a:solidFill>
                  <a:srgbClr val="64748B"/>
                </a:solidFill>
                <a:latin typeface="DM Sans"/>
              </a:rPr>
              <a:t>üzerinde</a:t>
            </a:r>
            <a:r>
              <a:rPr sz="1125" b="0" i="0" u="none" dirty="0">
                <a:solidFill>
                  <a:srgbClr val="64748B"/>
                </a:solidFill>
                <a:latin typeface="DM Sans"/>
              </a:rPr>
              <a:t> %99.</a:t>
            </a:r>
            <a:r>
              <a:rPr lang="tr-TR" sz="1125" b="0" i="0" u="none" dirty="0">
                <a:solidFill>
                  <a:srgbClr val="64748B"/>
                </a:solidFill>
                <a:latin typeface="DM Sans"/>
              </a:rPr>
              <a:t>76</a:t>
            </a:r>
            <a:r>
              <a:rPr sz="1125" b="0" i="0" u="none" dirty="0">
                <a:solidFill>
                  <a:srgbClr val="64748B"/>
                </a:solidFill>
                <a:latin typeface="DM Sans"/>
              </a:rPr>
              <a:t> </a:t>
            </a:r>
            <a:r>
              <a:rPr sz="1125" b="0" i="0" u="none" dirty="0" err="1">
                <a:solidFill>
                  <a:srgbClr val="64748B"/>
                </a:solidFill>
                <a:latin typeface="DM Sans"/>
              </a:rPr>
              <a:t>doğruluk</a:t>
            </a:r>
            <a:r>
              <a:rPr lang="tr-TR" sz="1125" dirty="0">
                <a:solidFill>
                  <a:srgbClr val="64748B"/>
                </a:solidFill>
                <a:latin typeface="DM Sans"/>
              </a:rPr>
              <a:t> </a:t>
            </a:r>
            <a:r>
              <a:rPr sz="1125" b="0" i="0" u="none" dirty="0" err="1">
                <a:solidFill>
                  <a:srgbClr val="64748B"/>
                </a:solidFill>
                <a:latin typeface="DM Sans"/>
              </a:rPr>
              <a:t>ile</a:t>
            </a:r>
            <a:r>
              <a:rPr sz="1125" b="0" i="0" u="none" dirty="0">
                <a:solidFill>
                  <a:srgbClr val="64748B"/>
                </a:solidFill>
                <a:latin typeface="DM Sans"/>
              </a:rPr>
              <a:t> </a:t>
            </a:r>
            <a:r>
              <a:rPr sz="1125" b="0" i="0" u="none" dirty="0" err="1">
                <a:solidFill>
                  <a:srgbClr val="64748B"/>
                </a:solidFill>
                <a:latin typeface="DM Sans"/>
              </a:rPr>
              <a:t>literatürdeki</a:t>
            </a:r>
            <a:r>
              <a:rPr sz="1125" b="0" i="0" u="none" dirty="0">
                <a:solidFill>
                  <a:srgbClr val="64748B"/>
                </a:solidFill>
                <a:latin typeface="DM Sans"/>
              </a:rPr>
              <a:t> </a:t>
            </a:r>
            <a:r>
              <a:rPr sz="1125" b="0" i="0" u="none" dirty="0" err="1">
                <a:solidFill>
                  <a:srgbClr val="64748B"/>
                </a:solidFill>
                <a:latin typeface="DM Sans"/>
              </a:rPr>
              <a:t>en</a:t>
            </a:r>
            <a:r>
              <a:rPr sz="1125" b="0" i="0" u="none" dirty="0">
                <a:solidFill>
                  <a:srgbClr val="64748B"/>
                </a:solidFill>
                <a:latin typeface="DM Sans"/>
              </a:rPr>
              <a:t> </a:t>
            </a:r>
            <a:r>
              <a:rPr sz="1125" b="0" i="0" u="none" dirty="0" err="1">
                <a:solidFill>
                  <a:srgbClr val="64748B"/>
                </a:solidFill>
                <a:latin typeface="DM Sans"/>
              </a:rPr>
              <a:t>başarılı</a:t>
            </a:r>
            <a:r>
              <a:rPr sz="1125" b="0" i="0" u="none" dirty="0">
                <a:solidFill>
                  <a:srgbClr val="64748B"/>
                </a:solidFill>
                <a:latin typeface="DM Sans"/>
              </a:rPr>
              <a:t> </a:t>
            </a:r>
            <a:r>
              <a:rPr sz="1125" b="0" i="0" u="none" dirty="0" err="1">
                <a:solidFill>
                  <a:srgbClr val="64748B"/>
                </a:solidFill>
                <a:latin typeface="DM Sans"/>
              </a:rPr>
              <a:t>hafif</a:t>
            </a:r>
            <a:r>
              <a:rPr sz="1125" b="0" i="0" u="none" dirty="0">
                <a:solidFill>
                  <a:srgbClr val="64748B"/>
                </a:solidFill>
                <a:latin typeface="DM Sans"/>
              </a:rPr>
              <a:t> </a:t>
            </a:r>
            <a:r>
              <a:rPr sz="1125" b="0" i="0" u="none" dirty="0" err="1">
                <a:solidFill>
                  <a:srgbClr val="64748B"/>
                </a:solidFill>
                <a:latin typeface="DM Sans"/>
              </a:rPr>
              <a:t>tespit</a:t>
            </a:r>
            <a:r>
              <a:rPr sz="1125" b="0" i="0" u="none" dirty="0">
                <a:solidFill>
                  <a:srgbClr val="64748B"/>
                </a:solidFill>
                <a:latin typeface="DM Sans"/>
              </a:rPr>
              <a:t> </a:t>
            </a:r>
            <a:r>
              <a:rPr sz="1125" b="0" i="0" u="none" dirty="0" err="1">
                <a:solidFill>
                  <a:srgbClr val="64748B"/>
                </a:solidFill>
                <a:latin typeface="DM Sans"/>
              </a:rPr>
              <a:t>modellerinden</a:t>
            </a:r>
            <a:r>
              <a:rPr sz="1125" b="0" i="0" u="none" dirty="0">
                <a:solidFill>
                  <a:srgbClr val="64748B"/>
                </a:solidFill>
                <a:latin typeface="DM Sans"/>
              </a:rPr>
              <a:t> </a:t>
            </a:r>
            <a:r>
              <a:rPr sz="1125" b="0" i="0" u="none" dirty="0" err="1">
                <a:solidFill>
                  <a:srgbClr val="64748B"/>
                </a:solidFill>
                <a:latin typeface="DM Sans"/>
              </a:rPr>
              <a:t>biri</a:t>
            </a:r>
            <a:r>
              <a:rPr sz="1125" b="0" i="0" u="none" dirty="0">
                <a:solidFill>
                  <a:srgbClr val="64748B"/>
                </a:solidFill>
                <a:latin typeface="DM Sans"/>
              </a:rPr>
              <a:t> </a:t>
            </a:r>
            <a:r>
              <a:rPr sz="1125" b="0" i="0" u="none" dirty="0" err="1">
                <a:solidFill>
                  <a:srgbClr val="64748B"/>
                </a:solidFill>
                <a:latin typeface="DM Sans"/>
              </a:rPr>
              <a:t>olmuştur</a:t>
            </a:r>
            <a:r>
              <a:rPr sz="1125" b="0" i="0" u="none" dirty="0">
                <a:solidFill>
                  <a:srgbClr val="64748B"/>
                </a:solidFill>
                <a:latin typeface="DM Sans"/>
              </a:rPr>
              <a:t>.</a:t>
            </a:r>
          </a:p>
        </p:txBody>
      </p:sp>
      <p:sp>
        <p:nvSpPr>
          <p:cNvPr id="13" name="TextBox 12"/>
          <p:cNvSpPr txBox="1"/>
          <p:nvPr/>
        </p:nvSpPr>
        <p:spPr>
          <a:xfrm>
            <a:off x="4581525"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Düşük Gecikme (Low Latency)</a:t>
            </a:r>
          </a:p>
        </p:txBody>
      </p:sp>
      <p:sp>
        <p:nvSpPr>
          <p:cNvPr id="14" name="TextBox 13"/>
          <p:cNvSpPr txBox="1"/>
          <p:nvPr/>
        </p:nvSpPr>
        <p:spPr>
          <a:xfrm>
            <a:off x="4581525" y="2452687"/>
            <a:ext cx="3028950" cy="642937"/>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16.5 ms ortalama yanıt süresi sayesinde kullanıcı tarama deneyimini yavaşlatmayan gerçek zamanlı koruma sağlanmıştır.</a:t>
            </a:r>
          </a:p>
        </p:txBody>
      </p:sp>
      <p:sp>
        <p:nvSpPr>
          <p:cNvPr id="15" name="TextBox 14"/>
          <p:cNvSpPr txBox="1"/>
          <p:nvPr/>
        </p:nvSpPr>
        <p:spPr>
          <a:xfrm>
            <a:off x="8343900" y="2119312"/>
            <a:ext cx="3180397" cy="238125"/>
          </a:xfrm>
          <a:prstGeom prst="rect">
            <a:avLst/>
          </a:prstGeom>
          <a:noFill/>
        </p:spPr>
        <p:txBody>
          <a:bodyPr wrap="square" lIns="0" tIns="0" rIns="0" bIns="0" anchor="t">
            <a:spAutoFit/>
          </a:bodyPr>
          <a:lstStyle/>
          <a:p>
            <a:pPr algn="l"/>
            <a:r>
              <a:rPr sz="1500" b="1" i="0" u="none">
                <a:solidFill>
                  <a:srgbClr val="0F172A"/>
                </a:solidFill>
                <a:latin typeface="Merriweather"/>
              </a:rPr>
              <a:t>Proaktif Sıfırıncı Gün Koruması</a:t>
            </a:r>
          </a:p>
        </p:txBody>
      </p:sp>
      <p:sp>
        <p:nvSpPr>
          <p:cNvPr id="16" name="TextBox 15"/>
          <p:cNvSpPr txBox="1"/>
          <p:nvPr/>
        </p:nvSpPr>
        <p:spPr>
          <a:xfrm>
            <a:off x="8343900" y="2452687"/>
            <a:ext cx="3028950" cy="857250"/>
          </a:xfrm>
          <a:prstGeom prst="rect">
            <a:avLst/>
          </a:prstGeom>
          <a:noFill/>
        </p:spPr>
        <p:txBody>
          <a:bodyPr wrap="square" lIns="0" tIns="0" rIns="0" bIns="0" anchor="t">
            <a:spAutoFit/>
          </a:bodyPr>
          <a:lstStyle/>
          <a:p>
            <a:pPr algn="l">
              <a:lnSpc>
                <a:spcPts val="1687"/>
              </a:lnSpc>
            </a:pPr>
            <a:r>
              <a:rPr sz="1125" b="0" i="0" u="none">
                <a:solidFill>
                  <a:srgbClr val="64748B"/>
                </a:solidFill>
                <a:latin typeface="DM Sans"/>
              </a:rPr>
              <a:t>Sunucu içeriğine ihtiyaç duymaksızın yalnızca URL dizesi (lexical) analizi ile henüz kara listelere girmemiş zararlı bağlantılar engellenmektedir.</a:t>
            </a:r>
          </a:p>
        </p:txBody>
      </p:sp>
      <p:pic>
        <p:nvPicPr>
          <p:cNvPr id="17" name="Picture 16" descr="image.png"/>
          <p:cNvPicPr>
            <a:picLocks noChangeAspect="1"/>
          </p:cNvPicPr>
          <p:nvPr/>
        </p:nvPicPr>
        <p:blipFill>
          <a:blip r:embed="rId5"/>
          <a:stretch>
            <a:fillRect/>
          </a:stretch>
        </p:blipFill>
        <p:spPr>
          <a:xfrm>
            <a:off x="819150" y="1576387"/>
            <a:ext cx="257175" cy="342900"/>
          </a:xfrm>
          <a:prstGeom prst="rect">
            <a:avLst/>
          </a:prstGeom>
        </p:spPr>
      </p:pic>
      <p:pic>
        <p:nvPicPr>
          <p:cNvPr id="18" name="Picture 17" descr="image.png"/>
          <p:cNvPicPr>
            <a:picLocks noChangeAspect="1"/>
          </p:cNvPicPr>
          <p:nvPr/>
        </p:nvPicPr>
        <p:blipFill>
          <a:blip r:embed="rId6"/>
          <a:stretch>
            <a:fillRect/>
          </a:stretch>
        </p:blipFill>
        <p:spPr>
          <a:xfrm>
            <a:off x="4581525" y="1576387"/>
            <a:ext cx="342900" cy="342900"/>
          </a:xfrm>
          <a:prstGeom prst="rect">
            <a:avLst/>
          </a:prstGeom>
        </p:spPr>
      </p:pic>
      <p:pic>
        <p:nvPicPr>
          <p:cNvPr id="19" name="Picture 18" descr="image.png"/>
          <p:cNvPicPr>
            <a:picLocks noChangeAspect="1"/>
          </p:cNvPicPr>
          <p:nvPr/>
        </p:nvPicPr>
        <p:blipFill>
          <a:blip r:embed="rId7"/>
          <a:stretch>
            <a:fillRect/>
          </a:stretch>
        </p:blipFill>
        <p:spPr>
          <a:xfrm>
            <a:off x="8343900" y="1576387"/>
            <a:ext cx="428625" cy="342900"/>
          </a:xfrm>
          <a:prstGeom prst="rect">
            <a:avLst/>
          </a:prstGeom>
        </p:spPr>
      </p:pic>
      <p:pic>
        <p:nvPicPr>
          <p:cNvPr id="20" name="Picture 1" descr="image.png">
            <a:extLst>
              <a:ext uri="{FF2B5EF4-FFF2-40B4-BE49-F238E27FC236}">
                <a16:creationId xmlns:a16="http://schemas.microsoft.com/office/drawing/2014/main" id="{27254A7F-60F8-F69F-5D69-77282FACA674}"/>
              </a:ext>
            </a:extLst>
          </p:cNvPr>
          <p:cNvPicPr>
            <a:picLocks noChangeAspect="1"/>
          </p:cNvPicPr>
          <p:nvPr/>
        </p:nvPicPr>
        <p:blipFill>
          <a:blip r:embed="rId8"/>
          <a:stretch>
            <a:fillRect/>
          </a:stretch>
        </p:blipFill>
        <p:spPr>
          <a:xfrm>
            <a:off x="666750" y="952500"/>
            <a:ext cx="10858500" cy="171450"/>
          </a:xfrm>
          <a:prstGeom prst="rect">
            <a:avLst/>
          </a:prstGeom>
        </p:spPr>
      </p:pic>
      <p:pic>
        <p:nvPicPr>
          <p:cNvPr id="21" name="İçerik Yer Tutucusu 10">
            <a:extLst>
              <a:ext uri="{FF2B5EF4-FFF2-40B4-BE49-F238E27FC236}">
                <a16:creationId xmlns:a16="http://schemas.microsoft.com/office/drawing/2014/main" id="{4B40221F-FE6A-E0A2-2946-BA616C25BDE2}"/>
              </a:ext>
            </a:extLst>
          </p:cNvPr>
          <p:cNvPicPr>
            <a:picLocks noChangeAspect="1"/>
          </p:cNvPicPr>
          <p:nvPr/>
        </p:nvPicPr>
        <p:blipFill>
          <a:blip r:embed="rId9">
            <a:extLst>
              <a:ext uri="{28A0092B-C50C-407E-A947-70E740481C1C}">
                <a14:useLocalDpi xmlns:a14="http://schemas.microsoft.com/office/drawing/2010/main" val="0"/>
              </a:ext>
            </a:extLst>
          </a:blip>
          <a:srcRect/>
          <a:stretch>
            <a:fillRect/>
          </a:stretch>
        </p:blipFill>
        <p:spPr bwMode="auto">
          <a:xfrm>
            <a:off x="9590435" y="466725"/>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2C5C"/>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666750" y="6429375"/>
            <a:ext cx="10858500" cy="238125"/>
          </a:xfrm>
          <a:prstGeom prst="rect">
            <a:avLst/>
          </a:prstGeom>
        </p:spPr>
      </p:pic>
      <p:pic>
        <p:nvPicPr>
          <p:cNvPr id="3" name="Picture 2" descr="image.png"/>
          <p:cNvPicPr>
            <a:picLocks noChangeAspect="1"/>
          </p:cNvPicPr>
          <p:nvPr/>
        </p:nvPicPr>
        <p:blipFill>
          <a:blip r:embed="rId3"/>
          <a:stretch>
            <a:fillRect/>
          </a:stretch>
        </p:blipFill>
        <p:spPr>
          <a:xfrm>
            <a:off x="4667250" y="3514725"/>
            <a:ext cx="2857500" cy="171450"/>
          </a:xfrm>
          <a:prstGeom prst="rect">
            <a:avLst/>
          </a:prstGeom>
        </p:spPr>
      </p:pic>
      <p:pic>
        <p:nvPicPr>
          <p:cNvPr id="4" name="Picture 3" descr="image.png"/>
          <p:cNvPicPr>
            <a:picLocks noChangeAspect="1"/>
          </p:cNvPicPr>
          <p:nvPr/>
        </p:nvPicPr>
        <p:blipFill>
          <a:blip r:embed="rId4"/>
          <a:stretch>
            <a:fillRect/>
          </a:stretch>
        </p:blipFill>
        <p:spPr>
          <a:xfrm>
            <a:off x="1809750" y="3971925"/>
            <a:ext cx="8572500" cy="1295400"/>
          </a:xfrm>
          <a:prstGeom prst="rect">
            <a:avLst/>
          </a:prstGeom>
        </p:spPr>
      </p:pic>
      <p:sp>
        <p:nvSpPr>
          <p:cNvPr id="5" name="TextBox 4"/>
          <p:cNvSpPr txBox="1"/>
          <p:nvPr/>
        </p:nvSpPr>
        <p:spPr>
          <a:xfrm>
            <a:off x="10639425" y="628650"/>
            <a:ext cx="885825" cy="15240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900" b="0" i="0" u="none" strike="noStrike" kern="1200" cap="none" spc="0" normalizeH="0" baseline="0" noProof="0">
                <a:ln>
                  <a:noFill/>
                </a:ln>
                <a:solidFill>
                  <a:srgbClr val="CBD5E1"/>
                </a:solidFill>
                <a:effectLst/>
                <a:uLnTx/>
                <a:uFillTx/>
                <a:latin typeface="DM Sans Medium"/>
                <a:ea typeface="+mn-ea"/>
                <a:cs typeface="+mn-cs"/>
              </a:rPr>
              <a:t>TEMMUZ 2026</a:t>
            </a:r>
          </a:p>
        </p:txBody>
      </p:sp>
      <p:sp>
        <p:nvSpPr>
          <p:cNvPr id="6" name="TextBox 5"/>
          <p:cNvSpPr txBox="1"/>
          <p:nvPr/>
        </p:nvSpPr>
        <p:spPr>
          <a:xfrm>
            <a:off x="1595437" y="2047875"/>
            <a:ext cx="9001125" cy="76200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4800" b="1" i="0" u="none" strike="noStrike" kern="1200" cap="none" spc="0" normalizeH="0" baseline="0" noProof="0">
                <a:ln>
                  <a:noFill/>
                </a:ln>
                <a:solidFill>
                  <a:srgbClr val="FFFFFF"/>
                </a:solidFill>
                <a:effectLst/>
                <a:uLnTx/>
                <a:uFillTx/>
                <a:latin typeface="Merriweather"/>
                <a:ea typeface="+mn-ea"/>
                <a:cs typeface="+mn-cs"/>
              </a:rPr>
              <a:t>Teşekkür Ederim</a:t>
            </a:r>
          </a:p>
        </p:txBody>
      </p:sp>
      <p:sp>
        <p:nvSpPr>
          <p:cNvPr id="8" name="TextBox 7"/>
          <p:cNvSpPr txBox="1"/>
          <p:nvPr/>
        </p:nvSpPr>
        <p:spPr>
          <a:xfrm>
            <a:off x="666750" y="6534150"/>
            <a:ext cx="1123950" cy="12695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25" b="0" i="0" u="none" strike="noStrike" kern="1200" cap="none" spc="0" normalizeH="0" baseline="0" noProof="0" dirty="0">
                <a:ln>
                  <a:noFill/>
                </a:ln>
                <a:solidFill>
                  <a:srgbClr val="94A3B8"/>
                </a:solidFill>
                <a:effectLst/>
                <a:uLnTx/>
                <a:uFillTx/>
                <a:latin typeface="DM Sans"/>
                <a:ea typeface="+mn-ea"/>
                <a:cs typeface="+mn-cs"/>
              </a:rPr>
              <a:t>Soru &amp; </a:t>
            </a:r>
            <a:r>
              <a:rPr kumimoji="0" sz="825" b="0" i="0" u="none" strike="noStrike" kern="1200" cap="none" spc="0" normalizeH="0" baseline="0" noProof="0" dirty="0" err="1">
                <a:ln>
                  <a:noFill/>
                </a:ln>
                <a:solidFill>
                  <a:srgbClr val="94A3B8"/>
                </a:solidFill>
                <a:effectLst/>
                <a:uLnTx/>
                <a:uFillTx/>
                <a:latin typeface="DM Sans"/>
                <a:ea typeface="+mn-ea"/>
                <a:cs typeface="+mn-cs"/>
              </a:rPr>
              <a:t>Cevap</a:t>
            </a:r>
            <a:endParaRPr kumimoji="0" sz="825" b="0" i="0" u="none" strike="noStrike" kern="1200" cap="none" spc="0" normalizeH="0" baseline="0" noProof="0" dirty="0">
              <a:ln>
                <a:noFill/>
              </a:ln>
              <a:solidFill>
                <a:srgbClr val="94A3B8"/>
              </a:solidFill>
              <a:effectLst/>
              <a:uLnTx/>
              <a:uFillTx/>
              <a:latin typeface="DM Sans"/>
              <a:ea typeface="+mn-ea"/>
              <a:cs typeface="+mn-cs"/>
            </a:endParaRPr>
          </a:p>
        </p:txBody>
      </p:sp>
      <p:sp>
        <p:nvSpPr>
          <p:cNvPr id="9" name="TextBox 8"/>
          <p:cNvSpPr txBox="1"/>
          <p:nvPr/>
        </p:nvSpPr>
        <p:spPr>
          <a:xfrm>
            <a:off x="10572750" y="6534150"/>
            <a:ext cx="1021842" cy="12695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825" b="0" i="0" u="none" strike="noStrike" kern="1200" cap="none" spc="0" normalizeH="0" baseline="0" noProof="0" dirty="0">
                <a:ln>
                  <a:noFill/>
                </a:ln>
                <a:solidFill>
                  <a:srgbClr val="FFFFFF"/>
                </a:solidFill>
                <a:effectLst/>
                <a:uLnTx/>
                <a:uFillTx/>
                <a:latin typeface="DM Sans Medium"/>
                <a:ea typeface="+mn-ea"/>
                <a:cs typeface="+mn-cs"/>
              </a:rPr>
              <a:t>www.sakarya.edu.tr</a:t>
            </a:r>
          </a:p>
        </p:txBody>
      </p:sp>
      <p:pic>
        <p:nvPicPr>
          <p:cNvPr id="10" name="Picture 9" descr="image.png"/>
          <p:cNvPicPr>
            <a:picLocks noChangeAspect="1"/>
          </p:cNvPicPr>
          <p:nvPr/>
        </p:nvPicPr>
        <p:blipFill>
          <a:blip r:embed="rId5"/>
          <a:stretch>
            <a:fillRect/>
          </a:stretch>
        </p:blipFill>
        <p:spPr>
          <a:xfrm>
            <a:off x="666750" y="476250"/>
            <a:ext cx="457200" cy="457200"/>
          </a:xfrm>
          <a:prstGeom prst="rect">
            <a:avLst/>
          </a:prstGeom>
        </p:spPr>
      </p:pic>
      <p:sp>
        <p:nvSpPr>
          <p:cNvPr id="11" name="TextBox 10"/>
          <p:cNvSpPr txBox="1"/>
          <p:nvPr/>
        </p:nvSpPr>
        <p:spPr>
          <a:xfrm>
            <a:off x="1266825" y="542925"/>
            <a:ext cx="2324100" cy="323850"/>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sz="1200" b="1" i="0" u="none" strike="noStrike" kern="1200" cap="none" spc="0" normalizeH="0" baseline="0" noProof="0">
                <a:ln>
                  <a:noFill/>
                </a:ln>
                <a:solidFill>
                  <a:srgbClr val="FFFFFF"/>
                </a:solidFill>
                <a:effectLst/>
                <a:uLnTx/>
                <a:uFillTx/>
                <a:latin typeface="DM Sans"/>
                <a:ea typeface="+mn-ea"/>
                <a:cs typeface="+mn-cs"/>
              </a:rPr>
              <a:t>SAKARYA ÜNİVERSİTESİ</a:t>
            </a:r>
            <a:r>
              <a:rPr kumimoji="0" sz="1200" b="0" i="0" u="none" strike="noStrike" kern="1200" cap="none" spc="0" normalizeH="0" baseline="0" noProof="0">
                <a:ln>
                  <a:noFill/>
                </a:ln>
                <a:solidFill>
                  <a:srgbClr val="FFFFFF"/>
                </a:solidFill>
                <a:effectLst/>
                <a:uLnTx/>
                <a:uFillTx/>
                <a:latin typeface="DM Sans"/>
                <a:ea typeface="+mn-ea"/>
                <a:cs typeface="+mn-cs"/>
              </a:rPr>
              <a:t> FEN BİLİMLERİ ENSTİTÜSÜ</a:t>
            </a:r>
          </a:p>
        </p:txBody>
      </p:sp>
      <p:sp>
        <p:nvSpPr>
          <p:cNvPr id="12" name="TextBox 11"/>
          <p:cNvSpPr txBox="1"/>
          <p:nvPr/>
        </p:nvSpPr>
        <p:spPr>
          <a:xfrm>
            <a:off x="2200275" y="4219575"/>
            <a:ext cx="7791450" cy="19050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125" b="0" i="0" u="none" strike="noStrike" kern="1200" cap="none" spc="0" normalizeH="0" baseline="0" noProof="0">
                <a:ln>
                  <a:noFill/>
                </a:ln>
                <a:solidFill>
                  <a:srgbClr val="94A3B8"/>
                </a:solidFill>
                <a:effectLst/>
                <a:uLnTx/>
                <a:uFillTx/>
                <a:latin typeface="DM Sans"/>
                <a:ea typeface="+mn-ea"/>
                <a:cs typeface="+mn-cs"/>
              </a:rPr>
              <a:t>YÜKSEK LISANS ADAYI</a:t>
            </a:r>
          </a:p>
        </p:txBody>
      </p:sp>
      <p:sp>
        <p:nvSpPr>
          <p:cNvPr id="13" name="TextBox 12"/>
          <p:cNvSpPr txBox="1"/>
          <p:nvPr/>
        </p:nvSpPr>
        <p:spPr>
          <a:xfrm>
            <a:off x="2200275" y="4457700"/>
            <a:ext cx="7791450" cy="247650"/>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500" b="1" i="0" u="none" strike="noStrike" kern="1200" cap="none" spc="0" normalizeH="0" baseline="0" noProof="0">
                <a:ln>
                  <a:noFill/>
                </a:ln>
                <a:solidFill>
                  <a:srgbClr val="FFFFFF"/>
                </a:solidFill>
                <a:effectLst/>
                <a:uLnTx/>
                <a:uFillTx/>
                <a:latin typeface="DM Sans"/>
                <a:ea typeface="+mn-ea"/>
                <a:cs typeface="+mn-cs"/>
              </a:rPr>
              <a:t>Mustafa Melih TÜFEKCİOĞLU</a:t>
            </a:r>
          </a:p>
        </p:txBody>
      </p:sp>
      <p:sp>
        <p:nvSpPr>
          <p:cNvPr id="14" name="TextBox 13"/>
          <p:cNvSpPr txBox="1"/>
          <p:nvPr/>
        </p:nvSpPr>
        <p:spPr>
          <a:xfrm>
            <a:off x="2200275" y="4848225"/>
            <a:ext cx="7791450" cy="161583"/>
          </a:xfrm>
          <a:prstGeom prst="rect">
            <a:avLst/>
          </a:prstGeom>
          <a:noFill/>
        </p:spPr>
        <p:txBody>
          <a:bodyPr wrap="square" lIns="0" tIns="0" rIns="0" bIns="0" anchor="t">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sz="1050" b="0" i="0" u="none" strike="noStrike" kern="1200" cap="none" spc="0" normalizeH="0" baseline="0" noProof="0" dirty="0" err="1">
                <a:ln>
                  <a:noFill/>
                </a:ln>
                <a:solidFill>
                  <a:srgbClr val="CBD5E1"/>
                </a:solidFill>
                <a:effectLst/>
                <a:uLnTx/>
                <a:uFillTx/>
                <a:latin typeface="DM Sans"/>
                <a:ea typeface="+mn-ea"/>
                <a:cs typeface="+mn-cs"/>
              </a:rPr>
              <a:t>Sakarya</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Üniversitesi</a:t>
            </a:r>
            <a:r>
              <a:rPr kumimoji="0" sz="1050" b="0" i="0" u="none" strike="noStrike" kern="1200" cap="none" spc="0" normalizeH="0" baseline="0" noProof="0" dirty="0">
                <a:ln>
                  <a:noFill/>
                </a:ln>
                <a:solidFill>
                  <a:srgbClr val="CBD5E1"/>
                </a:solidFill>
                <a:effectLst/>
                <a:uLnTx/>
                <a:uFillTx/>
                <a:latin typeface="DM Sans"/>
                <a:ea typeface="+mn-ea"/>
                <a:cs typeface="+mn-cs"/>
              </a:rPr>
              <a:t> • </a:t>
            </a:r>
            <a:r>
              <a:rPr kumimoji="0" sz="1050" b="0" i="0" u="none" strike="noStrike" kern="1200" cap="none" spc="0" normalizeH="0" baseline="0" noProof="0" dirty="0" err="1">
                <a:ln>
                  <a:noFill/>
                </a:ln>
                <a:solidFill>
                  <a:srgbClr val="CBD5E1"/>
                </a:solidFill>
                <a:effectLst/>
                <a:uLnTx/>
                <a:uFillTx/>
                <a:latin typeface="DM Sans"/>
                <a:ea typeface="+mn-ea"/>
                <a:cs typeface="+mn-cs"/>
              </a:rPr>
              <a:t>Bilgisayar</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ve</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Bilişim</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lang="tr-TR" sz="1050" b="0" i="0" u="none" strike="noStrike" kern="1200" cap="none" spc="0" normalizeH="0" baseline="0" noProof="0" dirty="0">
                <a:ln>
                  <a:noFill/>
                </a:ln>
                <a:solidFill>
                  <a:srgbClr val="CBD5E1"/>
                </a:solidFill>
                <a:effectLst/>
                <a:uLnTx/>
                <a:uFillTx/>
                <a:latin typeface="DM Sans"/>
                <a:ea typeface="+mn-ea"/>
                <a:cs typeface="+mn-cs"/>
              </a:rPr>
              <a:t>Mühendisliği Anabilim Dalı</a:t>
            </a:r>
            <a:r>
              <a:rPr kumimoji="0" sz="1050" b="0" i="0" u="none" strike="noStrike" kern="1200" cap="none" spc="0" normalizeH="0" baseline="0" noProof="0" dirty="0">
                <a:ln>
                  <a:noFill/>
                </a:ln>
                <a:solidFill>
                  <a:srgbClr val="CBD5E1"/>
                </a:solidFill>
                <a:effectLst/>
                <a:uLnTx/>
                <a:uFillTx/>
                <a:latin typeface="DM Sans"/>
                <a:ea typeface="+mn-ea"/>
                <a:cs typeface="+mn-cs"/>
              </a:rPr>
              <a:t> • </a:t>
            </a:r>
            <a:r>
              <a:rPr kumimoji="0" sz="1050" b="0" i="0" u="none" strike="noStrike" kern="1200" cap="none" spc="0" normalizeH="0" baseline="0" noProof="0" dirty="0" err="1">
                <a:ln>
                  <a:noFill/>
                </a:ln>
                <a:solidFill>
                  <a:srgbClr val="CBD5E1"/>
                </a:solidFill>
                <a:effectLst/>
                <a:uLnTx/>
                <a:uFillTx/>
                <a:latin typeface="DM Sans"/>
                <a:ea typeface="+mn-ea"/>
                <a:cs typeface="+mn-cs"/>
              </a:rPr>
              <a:t>Siber</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sz="1050" b="0" i="0" u="none" strike="noStrike" kern="1200" cap="none" spc="0" normalizeH="0" baseline="0" noProof="0" dirty="0" err="1">
                <a:ln>
                  <a:noFill/>
                </a:ln>
                <a:solidFill>
                  <a:srgbClr val="CBD5E1"/>
                </a:solidFill>
                <a:effectLst/>
                <a:uLnTx/>
                <a:uFillTx/>
                <a:latin typeface="DM Sans"/>
                <a:ea typeface="+mn-ea"/>
                <a:cs typeface="+mn-cs"/>
              </a:rPr>
              <a:t>Güvenlik</a:t>
            </a:r>
            <a:r>
              <a:rPr kumimoji="0" sz="1050" b="0" i="0" u="none" strike="noStrike" kern="1200" cap="none" spc="0" normalizeH="0" baseline="0" noProof="0" dirty="0">
                <a:ln>
                  <a:noFill/>
                </a:ln>
                <a:solidFill>
                  <a:srgbClr val="CBD5E1"/>
                </a:solidFill>
                <a:effectLst/>
                <a:uLnTx/>
                <a:uFillTx/>
                <a:latin typeface="DM Sans"/>
                <a:ea typeface="+mn-ea"/>
                <a:cs typeface="+mn-cs"/>
              </a:rPr>
              <a:t> </a:t>
            </a:r>
            <a:r>
              <a:rPr kumimoji="0" lang="tr-TR" sz="1050" b="0" i="0" u="none" strike="noStrike" kern="1200" cap="none" spc="0" normalizeH="0" baseline="0" noProof="0" dirty="0">
                <a:ln>
                  <a:noFill/>
                </a:ln>
                <a:solidFill>
                  <a:srgbClr val="CBD5E1"/>
                </a:solidFill>
                <a:effectLst/>
                <a:uLnTx/>
                <a:uFillTx/>
                <a:latin typeface="DM Sans"/>
                <a:ea typeface="+mn-ea"/>
                <a:cs typeface="+mn-cs"/>
              </a:rPr>
              <a:t>Programı</a:t>
            </a:r>
            <a:endParaRPr kumimoji="0" sz="1050" b="0" i="0" u="none" strike="noStrike" kern="1200" cap="none" spc="0" normalizeH="0" baseline="0" noProof="0" dirty="0">
              <a:ln>
                <a:noFill/>
              </a:ln>
              <a:solidFill>
                <a:srgbClr val="CBD5E1"/>
              </a:solidFill>
              <a:effectLst/>
              <a:uLnTx/>
              <a:uFillTx/>
              <a:latin typeface="DM Sans"/>
              <a:ea typeface="+mn-ea"/>
              <a:cs typeface="+mn-cs"/>
            </a:endParaRPr>
          </a:p>
        </p:txBody>
      </p:sp>
      <p:pic>
        <p:nvPicPr>
          <p:cNvPr id="15" name="İçerik Yer Tutucusu 10">
            <a:extLst>
              <a:ext uri="{FF2B5EF4-FFF2-40B4-BE49-F238E27FC236}">
                <a16:creationId xmlns:a16="http://schemas.microsoft.com/office/drawing/2014/main" id="{93AEC6A2-EE6E-EA5E-1118-58252B5A57B7}"/>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5090318" y="358352"/>
            <a:ext cx="2011362" cy="463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518</TotalTime>
  <Words>2279</Words>
  <Application>Microsoft Macintosh PowerPoint</Application>
  <PresentationFormat>Geniş ekran</PresentationFormat>
  <Paragraphs>417</Paragraphs>
  <Slides>26</Slides>
  <Notes>0</Notes>
  <HiddenSlides>0</HiddenSlides>
  <MMClips>0</MMClips>
  <ScaleCrop>false</ScaleCrop>
  <HeadingPairs>
    <vt:vector size="6" baseType="variant">
      <vt:variant>
        <vt:lpstr>Kullanılan Yazı Tipleri</vt:lpstr>
      </vt:variant>
      <vt:variant>
        <vt:i4>7</vt:i4>
      </vt:variant>
      <vt:variant>
        <vt:lpstr>Tema</vt:lpstr>
      </vt:variant>
      <vt:variant>
        <vt:i4>1</vt:i4>
      </vt:variant>
      <vt:variant>
        <vt:lpstr>Slayt Başlıkları</vt:lpstr>
      </vt:variant>
      <vt:variant>
        <vt:i4>26</vt:i4>
      </vt:variant>
    </vt:vector>
  </HeadingPairs>
  <TitlesOfParts>
    <vt:vector size="34" baseType="lpstr">
      <vt:lpstr>Arial</vt:lpstr>
      <vt:lpstr>Calibri</vt:lpstr>
      <vt:lpstr>DM Sans</vt:lpstr>
      <vt:lpstr>DM Sans Medium</vt:lpstr>
      <vt:lpstr>DM Sans SemiBold</vt:lpstr>
      <vt:lpstr>Inter</vt:lpstr>
      <vt:lpstr>Merriweather</vt:lpstr>
      <vt:lpstr>Office Theme</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lpstr>PowerPoint Sunusu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M.Melih Tüfekcioğlu</cp:lastModifiedBy>
  <cp:revision>77</cp:revision>
  <dcterms:created xsi:type="dcterms:W3CDTF">2013-01-27T09:14:16Z</dcterms:created>
  <dcterms:modified xsi:type="dcterms:W3CDTF">2026-07-27T19:28:39Z</dcterms:modified>
  <cp:category/>
</cp:coreProperties>
</file>