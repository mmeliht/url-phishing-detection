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8" r:id="rId3"/>
    <p:sldId id="269" r:id="rId4"/>
    <p:sldId id="257" r:id="rId5"/>
    <p:sldId id="270" r:id="rId6"/>
    <p:sldId id="271" r:id="rId7"/>
    <p:sldId id="259" r:id="rId8"/>
    <p:sldId id="272" r:id="rId9"/>
    <p:sldId id="273" r:id="rId10"/>
    <p:sldId id="261" r:id="rId11"/>
    <p:sldId id="274" r:id="rId12"/>
    <p:sldId id="275" r:id="rId13"/>
    <p:sldId id="292" r:id="rId14"/>
    <p:sldId id="277" r:id="rId15"/>
    <p:sldId id="263" r:id="rId16"/>
    <p:sldId id="280" r:id="rId17"/>
    <p:sldId id="279" r:id="rId18"/>
    <p:sldId id="290" r:id="rId19"/>
    <p:sldId id="282" r:id="rId20"/>
    <p:sldId id="293" r:id="rId21"/>
    <p:sldId id="284" r:id="rId22"/>
    <p:sldId id="291" r:id="rId23"/>
    <p:sldId id="286" r:id="rId24"/>
    <p:sldId id="287" r:id="rId25"/>
    <p:sldId id="288" r:id="rId26"/>
    <p:sldId id="267"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912" autoAdjust="0"/>
    <p:restoredTop sz="94660"/>
  </p:normalViewPr>
  <p:slideViewPr>
    <p:cSldViewPr snapToGrid="0" snapToObjects="1">
      <p:cViewPr>
        <p:scale>
          <a:sx n="100" d="100"/>
          <a:sy n="100" d="100"/>
        </p:scale>
        <p:origin x="1170" y="18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png"/><Relationship Id="rId2" Type="http://schemas.openxmlformats.org/officeDocument/2006/relationships/image" Target="../media/image5.png"/><Relationship Id="rId16"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5" Type="http://schemas.openxmlformats.org/officeDocument/2006/relationships/image" Target="../media/image1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 Id="rId14" Type="http://schemas.openxmlformats.org/officeDocument/2006/relationships/image" Target="../media/image17.png"/></Relationships>
</file>

<file path=ppt/slides/_rels/slide3.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9"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27.png"/><Relationship Id="rId10" Type="http://schemas.openxmlformats.org/officeDocument/2006/relationships/image" Target="../media/image4.jpeg"/><Relationship Id="rId4" Type="http://schemas.openxmlformats.org/officeDocument/2006/relationships/image" Target="../media/image26.png"/><Relationship Id="rId9" Type="http://schemas.openxmlformats.org/officeDocument/2006/relationships/image" Target="../media/image18.png"/></Relationships>
</file>

<file path=ppt/slides/_rels/slide6.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33.png"/><Relationship Id="rId10" Type="http://schemas.openxmlformats.org/officeDocument/2006/relationships/image" Target="../media/image4.jpeg"/><Relationship Id="rId4" Type="http://schemas.openxmlformats.org/officeDocument/2006/relationships/image" Target="../media/image32.png"/><Relationship Id="rId9"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11.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4.jpe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40.png"/><Relationship Id="rId4" Type="http://schemas.openxmlformats.org/officeDocument/2006/relationships/image" Target="../media/image39.png"/></Relationships>
</file>

<file path=ppt/slides/_rels/slide12.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 Id="rId9" Type="http://schemas.openxmlformats.org/officeDocument/2006/relationships/image" Target="../media/image4.jpeg"/></Relationships>
</file>

<file path=ppt/slides/_rels/slide13.xml.rels><?xml version="1.0" encoding="UTF-8" standalone="yes"?>
<Relationships xmlns="http://schemas.openxmlformats.org/package/2006/relationships"><Relationship Id="rId8" Type="http://schemas.openxmlformats.org/officeDocument/2006/relationships/image" Target="../media/image51.png"/><Relationship Id="rId13" Type="http://schemas.openxmlformats.org/officeDocument/2006/relationships/image" Target="../media/image18.png"/><Relationship Id="rId3" Type="http://schemas.openxmlformats.org/officeDocument/2006/relationships/image" Target="../media/image46.png"/><Relationship Id="rId7" Type="http://schemas.openxmlformats.org/officeDocument/2006/relationships/image" Target="../media/image50.png"/><Relationship Id="rId12" Type="http://schemas.openxmlformats.org/officeDocument/2006/relationships/image" Target="../media/image55.png"/><Relationship Id="rId2" Type="http://schemas.openxmlformats.org/officeDocument/2006/relationships/slideLayout" Target="../slideLayouts/slideLayout7.xml"/><Relationship Id="rId1" Type="http://schemas.openxmlformats.org/officeDocument/2006/relationships/themeOverride" Target="../theme/themeOverride1.xml"/><Relationship Id="rId6" Type="http://schemas.openxmlformats.org/officeDocument/2006/relationships/image" Target="../media/image49.png"/><Relationship Id="rId11" Type="http://schemas.openxmlformats.org/officeDocument/2006/relationships/image" Target="../media/image54.png"/><Relationship Id="rId5" Type="http://schemas.openxmlformats.org/officeDocument/2006/relationships/image" Target="../media/image48.png"/><Relationship Id="rId10" Type="http://schemas.openxmlformats.org/officeDocument/2006/relationships/image" Target="../media/image53.png"/><Relationship Id="rId4" Type="http://schemas.openxmlformats.org/officeDocument/2006/relationships/image" Target="../media/image47.png"/><Relationship Id="rId9" Type="http://schemas.openxmlformats.org/officeDocument/2006/relationships/image" Target="../media/image52.png"/><Relationship Id="rId14" Type="http://schemas.openxmlformats.org/officeDocument/2006/relationships/image" Target="../media/image4.jpeg"/></Relationships>
</file>

<file path=ppt/slides/_rels/slide14.xml.rels><?xml version="1.0" encoding="UTF-8" standalone="yes"?>
<Relationships xmlns="http://schemas.openxmlformats.org/package/2006/relationships"><Relationship Id="rId8" Type="http://schemas.openxmlformats.org/officeDocument/2006/relationships/image" Target="../media/image4.jpeg"/><Relationship Id="rId3" Type="http://schemas.openxmlformats.org/officeDocument/2006/relationships/image" Target="../media/image56.png"/><Relationship Id="rId7" Type="http://schemas.openxmlformats.org/officeDocument/2006/relationships/image" Target="../media/image18.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1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16.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61.png"/><Relationship Id="rId7" Type="http://schemas.openxmlformats.org/officeDocument/2006/relationships/image" Target="../media/image65.png"/><Relationship Id="rId12" Type="http://schemas.openxmlformats.org/officeDocument/2006/relationships/image" Target="../media/image4.jpe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64.png"/><Relationship Id="rId11" Type="http://schemas.openxmlformats.org/officeDocument/2006/relationships/image" Target="../media/image18.png"/><Relationship Id="rId5" Type="http://schemas.openxmlformats.org/officeDocument/2006/relationships/image" Target="../media/image63.png"/><Relationship Id="rId10" Type="http://schemas.openxmlformats.org/officeDocument/2006/relationships/image" Target="../media/image68.png"/><Relationship Id="rId4" Type="http://schemas.openxmlformats.org/officeDocument/2006/relationships/image" Target="../media/image62.png"/><Relationship Id="rId9" Type="http://schemas.openxmlformats.org/officeDocument/2006/relationships/image" Target="../media/image67.png"/></Relationships>
</file>

<file path=ppt/slides/_rels/slide17.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4.jpeg"/><Relationship Id="rId5" Type="http://schemas.openxmlformats.org/officeDocument/2006/relationships/image" Target="../media/image18.png"/><Relationship Id="rId4" Type="http://schemas.openxmlformats.org/officeDocument/2006/relationships/image" Target="../media/image70.png"/></Relationships>
</file>

<file path=ppt/slides/_rels/slide1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21.xml.rels><?xml version="1.0" encoding="UTF-8" standalone="yes"?>
<Relationships xmlns="http://schemas.openxmlformats.org/package/2006/relationships"><Relationship Id="rId8" Type="http://schemas.openxmlformats.org/officeDocument/2006/relationships/image" Target="../media/image76.png"/><Relationship Id="rId3" Type="http://schemas.openxmlformats.org/officeDocument/2006/relationships/image" Target="../media/image71.png"/><Relationship Id="rId7" Type="http://schemas.openxmlformats.org/officeDocument/2006/relationships/image" Target="../media/image75.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74.png"/><Relationship Id="rId5" Type="http://schemas.openxmlformats.org/officeDocument/2006/relationships/image" Target="../media/image73.png"/><Relationship Id="rId10" Type="http://schemas.openxmlformats.org/officeDocument/2006/relationships/image" Target="../media/image4.jpeg"/><Relationship Id="rId4" Type="http://schemas.openxmlformats.org/officeDocument/2006/relationships/image" Target="../media/image72.png"/><Relationship Id="rId9"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23.xml.rels><?xml version="1.0" encoding="UTF-8" standalone="yes"?>
<Relationships xmlns="http://schemas.openxmlformats.org/package/2006/relationships"><Relationship Id="rId8" Type="http://schemas.openxmlformats.org/officeDocument/2006/relationships/image" Target="../media/image4.jpeg"/><Relationship Id="rId3" Type="http://schemas.openxmlformats.org/officeDocument/2006/relationships/image" Target="../media/image77.png"/><Relationship Id="rId7" Type="http://schemas.openxmlformats.org/officeDocument/2006/relationships/image" Target="../media/image18.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80.png"/><Relationship Id="rId5" Type="http://schemas.openxmlformats.org/officeDocument/2006/relationships/image" Target="../media/image79.png"/><Relationship Id="rId4" Type="http://schemas.openxmlformats.org/officeDocument/2006/relationships/image" Target="../media/image78.png"/></Relationships>
</file>

<file path=ppt/slides/_rels/slide24.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4.jpeg"/><Relationship Id="rId5" Type="http://schemas.openxmlformats.org/officeDocument/2006/relationships/image" Target="../media/image18.png"/><Relationship Id="rId4" Type="http://schemas.openxmlformats.org/officeDocument/2006/relationships/image" Target="../media/image82.png"/></Relationships>
</file>

<file path=ppt/slides/_rels/slide25.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83.png"/><Relationship Id="rId7" Type="http://schemas.openxmlformats.org/officeDocument/2006/relationships/image" Target="../media/image87.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 Id="rId9" Type="http://schemas.openxmlformats.org/officeDocument/2006/relationships/image" Target="../media/image4.jpeg"/></Relationships>
</file>

<file path=ppt/slides/_rels/slide26.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jpeg"/><Relationship Id="rId5" Type="http://schemas.openxmlformats.org/officeDocument/2006/relationships/image" Target="../media/image90.png"/><Relationship Id="rId4" Type="http://schemas.openxmlformats.org/officeDocument/2006/relationships/image" Target="../media/image8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2C5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666750" y="6429375"/>
            <a:ext cx="10858500" cy="238125"/>
          </a:xfrm>
          <a:prstGeom prst="rect">
            <a:avLst/>
          </a:prstGeom>
        </p:spPr>
      </p:pic>
      <p:pic>
        <p:nvPicPr>
          <p:cNvPr id="3" name="Picture 2" descr="image.png"/>
          <p:cNvPicPr>
            <a:picLocks noChangeAspect="1"/>
          </p:cNvPicPr>
          <p:nvPr/>
        </p:nvPicPr>
        <p:blipFill>
          <a:blip r:embed="rId3"/>
          <a:stretch>
            <a:fillRect/>
          </a:stretch>
        </p:blipFill>
        <p:spPr>
          <a:xfrm>
            <a:off x="666750" y="2505075"/>
            <a:ext cx="10858500" cy="171450"/>
          </a:xfrm>
          <a:prstGeom prst="rect">
            <a:avLst/>
          </a:prstGeom>
        </p:spPr>
      </p:pic>
      <p:pic>
        <p:nvPicPr>
          <p:cNvPr id="4" name="Picture 3" descr="image.png"/>
          <p:cNvPicPr>
            <a:picLocks noChangeAspect="1"/>
          </p:cNvPicPr>
          <p:nvPr/>
        </p:nvPicPr>
        <p:blipFill>
          <a:blip r:embed="rId4"/>
          <a:stretch>
            <a:fillRect/>
          </a:stretch>
        </p:blipFill>
        <p:spPr>
          <a:xfrm>
            <a:off x="666750" y="5695950"/>
            <a:ext cx="10858500" cy="685800"/>
          </a:xfrm>
          <a:prstGeom prst="rect">
            <a:avLst/>
          </a:prstGeom>
        </p:spPr>
      </p:pic>
      <p:sp>
        <p:nvSpPr>
          <p:cNvPr id="5" name="TextBox 4"/>
          <p:cNvSpPr txBox="1"/>
          <p:nvPr/>
        </p:nvSpPr>
        <p:spPr>
          <a:xfrm>
            <a:off x="10639425" y="628650"/>
            <a:ext cx="885825" cy="152400"/>
          </a:xfrm>
          <a:prstGeom prst="rect">
            <a:avLst/>
          </a:prstGeom>
          <a:noFill/>
        </p:spPr>
        <p:txBody>
          <a:bodyPr wrap="square" lIns="0" tIns="0" rIns="0" bIns="0" anchor="t">
            <a:spAutoFit/>
          </a:bodyPr>
          <a:lstStyle/>
          <a:p>
            <a:pPr algn="l"/>
            <a:r>
              <a:rPr sz="900" b="0" i="0" u="none">
                <a:solidFill>
                  <a:srgbClr val="CBD5E1"/>
                </a:solidFill>
                <a:latin typeface="DM Sans Medium"/>
              </a:rPr>
              <a:t>TEMMUZ 2026</a:t>
            </a:r>
          </a:p>
        </p:txBody>
      </p:sp>
      <p:sp>
        <p:nvSpPr>
          <p:cNvPr id="6" name="TextBox 5"/>
          <p:cNvSpPr txBox="1"/>
          <p:nvPr/>
        </p:nvSpPr>
        <p:spPr>
          <a:xfrm>
            <a:off x="666750" y="1314450"/>
            <a:ext cx="11001375" cy="904875"/>
          </a:xfrm>
          <a:prstGeom prst="rect">
            <a:avLst/>
          </a:prstGeom>
          <a:noFill/>
        </p:spPr>
        <p:txBody>
          <a:bodyPr wrap="square" lIns="0" tIns="0" rIns="0" bIns="0" anchor="t">
            <a:spAutoFit/>
          </a:bodyPr>
          <a:lstStyle/>
          <a:p>
            <a:pPr algn="l">
              <a:lnSpc>
                <a:spcPts val="3562"/>
              </a:lnSpc>
            </a:pPr>
            <a:r>
              <a:rPr sz="2850" b="1" i="0" u="none">
                <a:solidFill>
                  <a:srgbClr val="FFFFFF"/>
                </a:solidFill>
                <a:latin typeface="Merriweather"/>
              </a:rPr>
              <a:t>Gerçek Zamanlı URL Analizi ile Kimlik Avı Saldırılarının Sınıflandırılması ve Tarayıcı Eklentisi Geliştirme</a:t>
            </a:r>
          </a:p>
        </p:txBody>
      </p:sp>
      <p:sp>
        <p:nvSpPr>
          <p:cNvPr id="7" name="TextBox 6"/>
          <p:cNvSpPr txBox="1"/>
          <p:nvPr/>
        </p:nvSpPr>
        <p:spPr>
          <a:xfrm>
            <a:off x="666750" y="6534150"/>
            <a:ext cx="2009775" cy="126958"/>
          </a:xfrm>
          <a:prstGeom prst="rect">
            <a:avLst/>
          </a:prstGeom>
          <a:noFill/>
        </p:spPr>
        <p:txBody>
          <a:bodyPr wrap="square" lIns="0" tIns="0" rIns="0" bIns="0" anchor="t">
            <a:spAutoFit/>
          </a:bodyPr>
          <a:lstStyle/>
          <a:p>
            <a:pPr algn="l"/>
            <a:r>
              <a:rPr sz="825" b="0" i="0" u="none" dirty="0" err="1">
                <a:solidFill>
                  <a:srgbClr val="94A3B8"/>
                </a:solidFill>
                <a:latin typeface="DM Sans"/>
              </a:rPr>
              <a:t>Siber</a:t>
            </a:r>
            <a:r>
              <a:rPr sz="825" b="0" i="0" u="none" dirty="0">
                <a:solidFill>
                  <a:srgbClr val="94A3B8"/>
                </a:solidFill>
                <a:latin typeface="DM Sans"/>
              </a:rPr>
              <a:t> </a:t>
            </a:r>
            <a:r>
              <a:rPr sz="825" b="0" i="0" u="none" dirty="0" err="1">
                <a:solidFill>
                  <a:srgbClr val="94A3B8"/>
                </a:solidFill>
                <a:latin typeface="DM Sans"/>
              </a:rPr>
              <a:t>Güvenlik</a:t>
            </a:r>
            <a:r>
              <a:rPr sz="825" b="0" i="0" u="none" dirty="0">
                <a:solidFill>
                  <a:srgbClr val="94A3B8"/>
                </a:solidFill>
                <a:latin typeface="DM Sans"/>
              </a:rPr>
              <a:t> • Fen </a:t>
            </a:r>
            <a:r>
              <a:rPr sz="825" b="0" i="0" u="none" dirty="0" err="1">
                <a:solidFill>
                  <a:srgbClr val="94A3B8"/>
                </a:solidFill>
                <a:latin typeface="DM Sans"/>
              </a:rPr>
              <a:t>Bilimleri</a:t>
            </a:r>
            <a:r>
              <a:rPr sz="825" b="0" i="0" u="none" dirty="0">
                <a:solidFill>
                  <a:srgbClr val="94A3B8"/>
                </a:solidFill>
                <a:latin typeface="DM Sans"/>
              </a:rPr>
              <a:t> </a:t>
            </a:r>
            <a:r>
              <a:rPr sz="825" b="0" i="0" u="none" dirty="0" err="1">
                <a:solidFill>
                  <a:srgbClr val="94A3B8"/>
                </a:solidFill>
                <a:latin typeface="DM Sans"/>
              </a:rPr>
              <a:t>Enstitüsü</a:t>
            </a:r>
            <a:endParaRPr sz="825" b="0" i="0" u="none" dirty="0">
              <a:solidFill>
                <a:srgbClr val="94A3B8"/>
              </a:solidFill>
              <a:latin typeface="DM Sans"/>
            </a:endParaRPr>
          </a:p>
        </p:txBody>
      </p:sp>
      <p:sp>
        <p:nvSpPr>
          <p:cNvPr id="8" name="TextBox 7"/>
          <p:cNvSpPr txBox="1"/>
          <p:nvPr/>
        </p:nvSpPr>
        <p:spPr>
          <a:xfrm>
            <a:off x="10572750" y="6534150"/>
            <a:ext cx="1021842" cy="126958"/>
          </a:xfrm>
          <a:prstGeom prst="rect">
            <a:avLst/>
          </a:prstGeom>
          <a:noFill/>
        </p:spPr>
        <p:txBody>
          <a:bodyPr wrap="square" lIns="0" tIns="0" rIns="0" bIns="0" anchor="t">
            <a:spAutoFit/>
          </a:bodyPr>
          <a:lstStyle/>
          <a:p>
            <a:pPr algn="l"/>
            <a:r>
              <a:rPr sz="825" b="0" i="0" u="none">
                <a:solidFill>
                  <a:srgbClr val="FFFFFF"/>
                </a:solidFill>
                <a:latin typeface="DM Sans Medium"/>
              </a:rPr>
              <a:t>www.sakarya.edu.tr</a:t>
            </a:r>
          </a:p>
        </p:txBody>
      </p:sp>
      <p:sp>
        <p:nvSpPr>
          <p:cNvPr id="10" name="TextBox 9"/>
          <p:cNvSpPr txBox="1"/>
          <p:nvPr/>
        </p:nvSpPr>
        <p:spPr>
          <a:xfrm>
            <a:off x="666750" y="542925"/>
            <a:ext cx="2324100" cy="323850"/>
          </a:xfrm>
          <a:prstGeom prst="rect">
            <a:avLst/>
          </a:prstGeom>
          <a:noFill/>
        </p:spPr>
        <p:txBody>
          <a:bodyPr wrap="square" lIns="0" tIns="0" rIns="0" bIns="0" anchor="t">
            <a:spAutoFit/>
          </a:bodyPr>
          <a:lstStyle/>
          <a:p>
            <a:pPr algn="l"/>
            <a:r>
              <a:rPr sz="1200" b="1" i="0" u="none" dirty="0">
                <a:solidFill>
                  <a:srgbClr val="FFFFFF"/>
                </a:solidFill>
                <a:latin typeface="DM Sans"/>
              </a:rPr>
              <a:t>SAKARYA ÜNİVERSİTESİ</a:t>
            </a:r>
            <a:r>
              <a:rPr sz="1200" b="0" i="0" u="none" dirty="0">
                <a:solidFill>
                  <a:srgbClr val="FFFFFF"/>
                </a:solidFill>
                <a:latin typeface="DM Sans"/>
              </a:rPr>
              <a:t> YÜKSEK LİSANS TEZ SAVUNMASI</a:t>
            </a:r>
          </a:p>
        </p:txBody>
      </p:sp>
      <p:sp>
        <p:nvSpPr>
          <p:cNvPr id="11" name="TextBox 10"/>
          <p:cNvSpPr txBox="1"/>
          <p:nvPr/>
        </p:nvSpPr>
        <p:spPr>
          <a:xfrm>
            <a:off x="666750" y="5943600"/>
            <a:ext cx="5238750" cy="161925"/>
          </a:xfrm>
          <a:prstGeom prst="rect">
            <a:avLst/>
          </a:prstGeom>
          <a:noFill/>
        </p:spPr>
        <p:txBody>
          <a:bodyPr wrap="square" lIns="0" tIns="0" rIns="0" bIns="0" anchor="t">
            <a:spAutoFit/>
          </a:bodyPr>
          <a:lstStyle/>
          <a:p>
            <a:pPr algn="l"/>
            <a:r>
              <a:rPr sz="975" b="0" i="0" u="none">
                <a:solidFill>
                  <a:srgbClr val="94A3B8"/>
                </a:solidFill>
                <a:latin typeface="DM Sans"/>
              </a:rPr>
              <a:t>TEZI HAZIRLAYAN</a:t>
            </a:r>
          </a:p>
        </p:txBody>
      </p:sp>
      <p:sp>
        <p:nvSpPr>
          <p:cNvPr id="12" name="TextBox 11"/>
          <p:cNvSpPr txBox="1"/>
          <p:nvPr/>
        </p:nvSpPr>
        <p:spPr>
          <a:xfrm>
            <a:off x="666750" y="6153150"/>
            <a:ext cx="5238750" cy="228600"/>
          </a:xfrm>
          <a:prstGeom prst="rect">
            <a:avLst/>
          </a:prstGeom>
          <a:noFill/>
        </p:spPr>
        <p:txBody>
          <a:bodyPr wrap="square" lIns="0" tIns="0" rIns="0" bIns="0" anchor="t">
            <a:spAutoFit/>
          </a:bodyPr>
          <a:lstStyle/>
          <a:p>
            <a:pPr algn="l"/>
            <a:r>
              <a:rPr sz="1350" b="1" i="0" u="none">
                <a:solidFill>
                  <a:srgbClr val="FFFFFF"/>
                </a:solidFill>
                <a:latin typeface="DM Sans"/>
              </a:rPr>
              <a:t>Mustafa Melih TÜFEKCİOĞLU</a:t>
            </a:r>
          </a:p>
        </p:txBody>
      </p:sp>
      <p:sp>
        <p:nvSpPr>
          <p:cNvPr id="13" name="TextBox 12"/>
          <p:cNvSpPr txBox="1"/>
          <p:nvPr/>
        </p:nvSpPr>
        <p:spPr>
          <a:xfrm>
            <a:off x="6286500" y="5943600"/>
            <a:ext cx="5238750" cy="161925"/>
          </a:xfrm>
          <a:prstGeom prst="rect">
            <a:avLst/>
          </a:prstGeom>
          <a:noFill/>
        </p:spPr>
        <p:txBody>
          <a:bodyPr wrap="square" lIns="0" tIns="0" rIns="0" bIns="0" anchor="t">
            <a:spAutoFit/>
          </a:bodyPr>
          <a:lstStyle/>
          <a:p>
            <a:pPr algn="l"/>
            <a:r>
              <a:rPr sz="975" b="0" i="0" u="none">
                <a:solidFill>
                  <a:srgbClr val="94A3B8"/>
                </a:solidFill>
                <a:latin typeface="DM Sans"/>
              </a:rPr>
              <a:t>TEZ DANIŞMANI</a:t>
            </a:r>
          </a:p>
        </p:txBody>
      </p:sp>
      <p:sp>
        <p:nvSpPr>
          <p:cNvPr id="14" name="TextBox 13"/>
          <p:cNvSpPr txBox="1"/>
          <p:nvPr/>
        </p:nvSpPr>
        <p:spPr>
          <a:xfrm>
            <a:off x="6286500" y="6153150"/>
            <a:ext cx="5238750" cy="228600"/>
          </a:xfrm>
          <a:prstGeom prst="rect">
            <a:avLst/>
          </a:prstGeom>
          <a:noFill/>
        </p:spPr>
        <p:txBody>
          <a:bodyPr wrap="square" lIns="0" tIns="0" rIns="0" bIns="0" anchor="t">
            <a:spAutoFit/>
          </a:bodyPr>
          <a:lstStyle/>
          <a:p>
            <a:pPr algn="l"/>
            <a:r>
              <a:rPr sz="1350" b="1" i="0" u="none">
                <a:solidFill>
                  <a:srgbClr val="FFFFFF"/>
                </a:solidFill>
                <a:latin typeface="DM Sans"/>
              </a:rPr>
              <a:t>Dr. Öğr. Üyesi Musa BALTA</a:t>
            </a:r>
          </a:p>
        </p:txBody>
      </p:sp>
      <p:pic>
        <p:nvPicPr>
          <p:cNvPr id="16" name="İçerik Yer Tutucusu 10">
            <a:extLst>
              <a:ext uri="{FF2B5EF4-FFF2-40B4-BE49-F238E27FC236}">
                <a16:creationId xmlns:a16="http://schemas.microsoft.com/office/drawing/2014/main" id="{F4EFEE5A-68A6-7625-B4A7-553332BAF6AA}"/>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090319" y="403225"/>
            <a:ext cx="2011362"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png"/>
          <p:cNvPicPr>
            <a:picLocks noChangeAspect="1"/>
          </p:cNvPicPr>
          <p:nvPr/>
        </p:nvPicPr>
        <p:blipFill>
          <a:blip r:embed="rId2"/>
          <a:stretch>
            <a:fillRect/>
          </a:stretch>
        </p:blipFill>
        <p:spPr>
          <a:xfrm>
            <a:off x="571500" y="6391275"/>
            <a:ext cx="11049000" cy="276225"/>
          </a:xfrm>
          <a:prstGeom prst="rect">
            <a:avLst/>
          </a:prstGeom>
        </p:spPr>
      </p:pic>
      <p:pic>
        <p:nvPicPr>
          <p:cNvPr id="4" name="Picture 3" descr="image.png"/>
          <p:cNvPicPr>
            <a:picLocks noChangeAspect="1"/>
          </p:cNvPicPr>
          <p:nvPr/>
        </p:nvPicPr>
        <p:blipFill>
          <a:blip r:embed="rId3"/>
          <a:stretch>
            <a:fillRect/>
          </a:stretch>
        </p:blipFill>
        <p:spPr>
          <a:xfrm>
            <a:off x="571500" y="1252537"/>
            <a:ext cx="3555950" cy="2090737"/>
          </a:xfrm>
          <a:prstGeom prst="rect">
            <a:avLst/>
          </a:prstGeom>
        </p:spPr>
      </p:pic>
      <p:pic>
        <p:nvPicPr>
          <p:cNvPr id="5" name="Picture 4" descr="image.png"/>
          <p:cNvPicPr>
            <a:picLocks noChangeAspect="1"/>
          </p:cNvPicPr>
          <p:nvPr/>
        </p:nvPicPr>
        <p:blipFill>
          <a:blip r:embed="rId4"/>
          <a:stretch>
            <a:fillRect/>
          </a:stretch>
        </p:blipFill>
        <p:spPr>
          <a:xfrm>
            <a:off x="4317950" y="1252537"/>
            <a:ext cx="3555950" cy="2090737"/>
          </a:xfrm>
          <a:prstGeom prst="rect">
            <a:avLst/>
          </a:prstGeom>
        </p:spPr>
      </p:pic>
      <p:pic>
        <p:nvPicPr>
          <p:cNvPr id="6" name="Picture 5" descr="image.png"/>
          <p:cNvPicPr>
            <a:picLocks noChangeAspect="1"/>
          </p:cNvPicPr>
          <p:nvPr/>
        </p:nvPicPr>
        <p:blipFill>
          <a:blip r:embed="rId5"/>
          <a:stretch>
            <a:fillRect/>
          </a:stretch>
        </p:blipFill>
        <p:spPr>
          <a:xfrm>
            <a:off x="8064400" y="1252537"/>
            <a:ext cx="3556099" cy="2090737"/>
          </a:xfrm>
          <a:prstGeom prst="rect">
            <a:avLst/>
          </a:prstGeom>
        </p:spPr>
      </p:pic>
      <p:pic>
        <p:nvPicPr>
          <p:cNvPr id="7" name="Picture 6" descr="image.png"/>
          <p:cNvPicPr>
            <a:picLocks noChangeAspect="1"/>
          </p:cNvPicPr>
          <p:nvPr/>
        </p:nvPicPr>
        <p:blipFill>
          <a:blip r:embed="rId6"/>
          <a:stretch>
            <a:fillRect/>
          </a:stretch>
        </p:blipFill>
        <p:spPr>
          <a:xfrm>
            <a:off x="571500" y="3533775"/>
            <a:ext cx="3555950" cy="2090737"/>
          </a:xfrm>
          <a:prstGeom prst="rect">
            <a:avLst/>
          </a:prstGeom>
        </p:spPr>
      </p:pic>
      <p:pic>
        <p:nvPicPr>
          <p:cNvPr id="8" name="Picture 7" descr="image.png"/>
          <p:cNvPicPr>
            <a:picLocks noChangeAspect="1"/>
          </p:cNvPicPr>
          <p:nvPr/>
        </p:nvPicPr>
        <p:blipFill>
          <a:blip r:embed="rId7"/>
          <a:stretch>
            <a:fillRect/>
          </a:stretch>
        </p:blipFill>
        <p:spPr>
          <a:xfrm>
            <a:off x="4317950" y="3533775"/>
            <a:ext cx="3555950" cy="2090737"/>
          </a:xfrm>
          <a:prstGeom prst="rect">
            <a:avLst/>
          </a:prstGeom>
        </p:spPr>
      </p:pic>
      <p:pic>
        <p:nvPicPr>
          <p:cNvPr id="9" name="Picture 8" descr="image.png"/>
          <p:cNvPicPr>
            <a:picLocks noChangeAspect="1"/>
          </p:cNvPicPr>
          <p:nvPr/>
        </p:nvPicPr>
        <p:blipFill>
          <a:blip r:embed="rId8"/>
          <a:stretch>
            <a:fillRect/>
          </a:stretch>
        </p:blipFill>
        <p:spPr>
          <a:xfrm>
            <a:off x="8064400" y="3533775"/>
            <a:ext cx="3556099" cy="2090737"/>
          </a:xfrm>
          <a:prstGeom prst="rect">
            <a:avLst/>
          </a:prstGeom>
        </p:spPr>
      </p:pic>
      <p:sp>
        <p:nvSpPr>
          <p:cNvPr id="10" name="TextBox 9"/>
          <p:cNvSpPr txBox="1"/>
          <p:nvPr/>
        </p:nvSpPr>
        <p:spPr>
          <a:xfrm>
            <a:off x="571500" y="476250"/>
            <a:ext cx="11601450" cy="423862"/>
          </a:xfrm>
          <a:prstGeom prst="rect">
            <a:avLst/>
          </a:prstGeom>
          <a:noFill/>
        </p:spPr>
        <p:txBody>
          <a:bodyPr wrap="square" lIns="0" tIns="0" rIns="0" bIns="0" anchor="t">
            <a:spAutoFit/>
          </a:bodyPr>
          <a:lstStyle/>
          <a:p>
            <a:pPr algn="l">
              <a:lnSpc>
                <a:spcPts val="3187"/>
              </a:lnSpc>
            </a:pPr>
            <a:r>
              <a:rPr sz="2550" b="1" i="0" u="none" dirty="0" err="1">
                <a:solidFill>
                  <a:srgbClr val="005088"/>
                </a:solidFill>
                <a:latin typeface="Merriweather"/>
              </a:rPr>
              <a:t>Sunum</a:t>
            </a:r>
            <a:r>
              <a:rPr sz="2550" b="1" i="0" u="none" dirty="0">
                <a:solidFill>
                  <a:srgbClr val="005088"/>
                </a:solidFill>
                <a:latin typeface="Merriweather"/>
              </a:rPr>
              <a:t> </a:t>
            </a:r>
            <a:r>
              <a:rPr sz="2550" b="1" i="0" u="none" dirty="0" err="1">
                <a:solidFill>
                  <a:srgbClr val="005088"/>
                </a:solidFill>
                <a:latin typeface="Merriweather"/>
              </a:rPr>
              <a:t>Planı</a:t>
            </a:r>
            <a:r>
              <a:rPr sz="2550" b="1" i="0" u="none" dirty="0">
                <a:solidFill>
                  <a:srgbClr val="005088"/>
                </a:solidFill>
                <a:latin typeface="Merriweather"/>
              </a:rPr>
              <a:t> </a:t>
            </a:r>
            <a:r>
              <a:rPr sz="2550" b="1" i="0" u="none" dirty="0" err="1">
                <a:solidFill>
                  <a:srgbClr val="005088"/>
                </a:solidFill>
                <a:latin typeface="Merriweather"/>
              </a:rPr>
              <a:t>ve</a:t>
            </a:r>
            <a:r>
              <a:rPr sz="2550" b="1" i="0" u="none" dirty="0">
                <a:solidFill>
                  <a:srgbClr val="005088"/>
                </a:solidFill>
                <a:latin typeface="Merriweather"/>
              </a:rPr>
              <a:t> </a:t>
            </a:r>
            <a:r>
              <a:rPr sz="2550" b="1" i="0" u="none" dirty="0" err="1">
                <a:solidFill>
                  <a:srgbClr val="005088"/>
                </a:solidFill>
                <a:latin typeface="Merriweather"/>
              </a:rPr>
              <a:t>İçindekiler</a:t>
            </a:r>
            <a:endParaRPr sz="2550" b="1" i="0" u="none" dirty="0">
              <a:solidFill>
                <a:srgbClr val="005088"/>
              </a:solidFill>
              <a:latin typeface="Merriweather"/>
            </a:endParaRPr>
          </a:p>
        </p:txBody>
      </p:sp>
      <p:sp>
        <p:nvSpPr>
          <p:cNvPr id="11" name="Rectangle 10"/>
          <p:cNvSpPr/>
          <p:nvPr/>
        </p:nvSpPr>
        <p:spPr>
          <a:xfrm>
            <a:off x="571500" y="995362"/>
            <a:ext cx="11049000"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71500" y="6496050"/>
            <a:ext cx="3009900" cy="171450"/>
          </a:xfrm>
          <a:prstGeom prst="rect">
            <a:avLst/>
          </a:prstGeom>
          <a:noFill/>
        </p:spPr>
        <p:txBody>
          <a:bodyPr wrap="square" lIns="0" tIns="0" rIns="0" bIns="0" anchor="t">
            <a:spAutoFit/>
          </a:bodyPr>
          <a:lstStyle/>
          <a:p>
            <a:pPr algn="l">
              <a:lnSpc>
                <a:spcPts val="1350"/>
              </a:lnSpc>
            </a:pPr>
            <a:r>
              <a:rPr sz="900" b="0" i="0" u="none">
                <a:solidFill>
                  <a:srgbClr val="94A3B8"/>
                </a:solidFill>
                <a:latin typeface="DM Sans"/>
              </a:rPr>
              <a:t>SAKARYA ÜNİVERSİTESİ • YÜKSEK LİSANS TEZ SAVUNMASI</a:t>
            </a:r>
          </a:p>
        </p:txBody>
      </p:sp>
      <p:sp>
        <p:nvSpPr>
          <p:cNvPr id="13" name="TextBox 12"/>
          <p:cNvSpPr txBox="1"/>
          <p:nvPr/>
        </p:nvSpPr>
        <p:spPr>
          <a:xfrm>
            <a:off x="11249025" y="6496050"/>
            <a:ext cx="371475" cy="171450"/>
          </a:xfrm>
          <a:prstGeom prst="rect">
            <a:avLst/>
          </a:prstGeom>
          <a:noFill/>
        </p:spPr>
        <p:txBody>
          <a:bodyPr wrap="square" lIns="0" tIns="0" rIns="0" bIns="0" anchor="t">
            <a:spAutoFit/>
          </a:bodyPr>
          <a:lstStyle/>
          <a:p>
            <a:pPr algn="l">
              <a:lnSpc>
                <a:spcPts val="1350"/>
              </a:lnSpc>
            </a:pPr>
            <a:r>
              <a:rPr sz="900" b="0" i="0" u="none">
                <a:solidFill>
                  <a:srgbClr val="94A3B8"/>
                </a:solidFill>
                <a:latin typeface="DM Sans"/>
              </a:rPr>
              <a:t>Slayt 2</a:t>
            </a:r>
          </a:p>
        </p:txBody>
      </p:sp>
      <p:sp>
        <p:nvSpPr>
          <p:cNvPr id="14" name="TextBox 13"/>
          <p:cNvSpPr txBox="1"/>
          <p:nvPr/>
        </p:nvSpPr>
        <p:spPr>
          <a:xfrm>
            <a:off x="819150" y="2119312"/>
            <a:ext cx="3213682" cy="238125"/>
          </a:xfrm>
          <a:prstGeom prst="rect">
            <a:avLst/>
          </a:prstGeom>
          <a:noFill/>
        </p:spPr>
        <p:txBody>
          <a:bodyPr wrap="square" lIns="0" tIns="0" rIns="0" bIns="0" anchor="t">
            <a:spAutoFit/>
          </a:bodyPr>
          <a:lstStyle/>
          <a:p>
            <a:pPr algn="l"/>
            <a:r>
              <a:rPr sz="1500" b="1" i="0" u="none" dirty="0">
                <a:solidFill>
                  <a:srgbClr val="0F172A"/>
                </a:solidFill>
                <a:latin typeface="Merriweather"/>
              </a:rPr>
              <a:t>01. </a:t>
            </a:r>
            <a:r>
              <a:rPr sz="1500" b="1" i="0" u="none" dirty="0" err="1">
                <a:solidFill>
                  <a:srgbClr val="0F172A"/>
                </a:solidFill>
                <a:latin typeface="Merriweather"/>
              </a:rPr>
              <a:t>Giriş</a:t>
            </a:r>
            <a:r>
              <a:rPr sz="1500" b="1" i="0" u="none" dirty="0">
                <a:solidFill>
                  <a:srgbClr val="0F172A"/>
                </a:solidFill>
                <a:latin typeface="Merriweather"/>
              </a:rPr>
              <a:t> </a:t>
            </a:r>
            <a:r>
              <a:rPr sz="1500" b="1" i="0" u="none" dirty="0" err="1">
                <a:solidFill>
                  <a:srgbClr val="0F172A"/>
                </a:solidFill>
                <a:latin typeface="Merriweather"/>
              </a:rPr>
              <a:t>ve</a:t>
            </a:r>
            <a:r>
              <a:rPr sz="1500" b="1" i="0" u="none" dirty="0">
                <a:solidFill>
                  <a:srgbClr val="0F172A"/>
                </a:solidFill>
                <a:latin typeface="Merriweather"/>
              </a:rPr>
              <a:t> Problem</a:t>
            </a:r>
          </a:p>
        </p:txBody>
      </p:sp>
      <p:sp>
        <p:nvSpPr>
          <p:cNvPr id="15" name="TextBox 14"/>
          <p:cNvSpPr txBox="1"/>
          <p:nvPr/>
        </p:nvSpPr>
        <p:spPr>
          <a:xfrm>
            <a:off x="819150" y="2452687"/>
            <a:ext cx="3060650" cy="428625"/>
          </a:xfrm>
          <a:prstGeom prst="rect">
            <a:avLst/>
          </a:prstGeom>
          <a:noFill/>
        </p:spPr>
        <p:txBody>
          <a:bodyPr wrap="square" lIns="0" tIns="0" rIns="0" bIns="0" anchor="t">
            <a:spAutoFit/>
          </a:bodyPr>
          <a:lstStyle/>
          <a:p>
            <a:pPr algn="l">
              <a:lnSpc>
                <a:spcPts val="1687"/>
              </a:lnSpc>
            </a:pPr>
            <a:r>
              <a:rPr sz="1125" b="0" i="0" u="none">
                <a:solidFill>
                  <a:srgbClr val="64748B"/>
                </a:solidFill>
                <a:latin typeface="DM Sans"/>
              </a:rPr>
              <a:t>Oltalama tehditleri, tez amacı, motivasyon ve literatüre yapılan özgün akademik katkılar.</a:t>
            </a:r>
          </a:p>
        </p:txBody>
      </p:sp>
      <p:sp>
        <p:nvSpPr>
          <p:cNvPr id="16" name="TextBox 15"/>
          <p:cNvSpPr txBox="1"/>
          <p:nvPr/>
        </p:nvSpPr>
        <p:spPr>
          <a:xfrm>
            <a:off x="4565600" y="2119312"/>
            <a:ext cx="3213682" cy="238125"/>
          </a:xfrm>
          <a:prstGeom prst="rect">
            <a:avLst/>
          </a:prstGeom>
          <a:noFill/>
        </p:spPr>
        <p:txBody>
          <a:bodyPr wrap="square" lIns="0" tIns="0" rIns="0" bIns="0" anchor="t">
            <a:spAutoFit/>
          </a:bodyPr>
          <a:lstStyle/>
          <a:p>
            <a:pPr algn="l"/>
            <a:r>
              <a:rPr sz="1500" b="1" i="0" u="none">
                <a:solidFill>
                  <a:srgbClr val="0F172A"/>
                </a:solidFill>
                <a:latin typeface="Merriweather"/>
              </a:rPr>
              <a:t>02. Literatür Analizi</a:t>
            </a:r>
          </a:p>
        </p:txBody>
      </p:sp>
      <p:sp>
        <p:nvSpPr>
          <p:cNvPr id="17" name="TextBox 16"/>
          <p:cNvSpPr txBox="1"/>
          <p:nvPr/>
        </p:nvSpPr>
        <p:spPr>
          <a:xfrm>
            <a:off x="4565600" y="2452687"/>
            <a:ext cx="3060650" cy="422744"/>
          </a:xfrm>
          <a:prstGeom prst="rect">
            <a:avLst/>
          </a:prstGeom>
          <a:noFill/>
        </p:spPr>
        <p:txBody>
          <a:bodyPr wrap="square" lIns="0" tIns="0" rIns="0" bIns="0" anchor="t">
            <a:spAutoFit/>
          </a:bodyPr>
          <a:lstStyle/>
          <a:p>
            <a:pPr algn="l">
              <a:lnSpc>
                <a:spcPts val="1687"/>
              </a:lnSpc>
            </a:pPr>
            <a:r>
              <a:rPr sz="1125" b="0" i="0" u="none" dirty="0">
                <a:solidFill>
                  <a:srgbClr val="64748B"/>
                </a:solidFill>
                <a:latin typeface="DM Sans"/>
              </a:rPr>
              <a:t>2020-2026 </a:t>
            </a:r>
            <a:r>
              <a:rPr sz="1125" b="0" i="0" u="none" dirty="0" err="1">
                <a:solidFill>
                  <a:srgbClr val="64748B"/>
                </a:solidFill>
                <a:latin typeface="DM Sans"/>
              </a:rPr>
              <a:t>güncel</a:t>
            </a:r>
            <a:r>
              <a:rPr sz="1125" b="0" i="0" u="none" dirty="0">
                <a:solidFill>
                  <a:srgbClr val="64748B"/>
                </a:solidFill>
                <a:latin typeface="DM Sans"/>
              </a:rPr>
              <a:t> </a:t>
            </a:r>
            <a:r>
              <a:rPr sz="1125" b="0" i="0" u="none" dirty="0" err="1">
                <a:solidFill>
                  <a:srgbClr val="64748B"/>
                </a:solidFill>
                <a:latin typeface="DM Sans"/>
              </a:rPr>
              <a:t>literatür</a:t>
            </a:r>
            <a:r>
              <a:rPr sz="1125" b="0" i="0" u="none" dirty="0">
                <a:solidFill>
                  <a:srgbClr val="64748B"/>
                </a:solidFill>
                <a:latin typeface="DM Sans"/>
              </a:rPr>
              <a:t> </a:t>
            </a:r>
            <a:r>
              <a:rPr sz="1125" b="0" i="0" u="none" dirty="0" err="1">
                <a:solidFill>
                  <a:srgbClr val="64748B"/>
                </a:solidFill>
                <a:latin typeface="DM Sans"/>
              </a:rPr>
              <a:t>incelemesi</a:t>
            </a:r>
            <a:r>
              <a:rPr sz="1125" b="0" i="0" u="none" dirty="0">
                <a:solidFill>
                  <a:srgbClr val="64748B"/>
                </a:solidFill>
                <a:latin typeface="DM Sans"/>
              </a:rPr>
              <a:t>, </a:t>
            </a:r>
            <a:r>
              <a:rPr sz="1125" b="0" i="0" u="none" dirty="0" err="1">
                <a:solidFill>
                  <a:srgbClr val="64748B"/>
                </a:solidFill>
                <a:latin typeface="DM Sans"/>
              </a:rPr>
              <a:t>yöntemler</a:t>
            </a:r>
            <a:r>
              <a:rPr lang="tr-TR" sz="1125" dirty="0">
                <a:solidFill>
                  <a:srgbClr val="64748B"/>
                </a:solidFill>
                <a:latin typeface="DM Sans"/>
              </a:rPr>
              <a:t> ve</a:t>
            </a:r>
            <a:r>
              <a:rPr sz="1125" b="0" i="0" u="none" dirty="0">
                <a:solidFill>
                  <a:srgbClr val="64748B"/>
                </a:solidFill>
                <a:latin typeface="DM Sans"/>
              </a:rPr>
              <a:t> </a:t>
            </a:r>
            <a:r>
              <a:rPr sz="1125" b="0" i="0" u="none" dirty="0" err="1">
                <a:solidFill>
                  <a:srgbClr val="64748B"/>
                </a:solidFill>
                <a:latin typeface="DM Sans"/>
              </a:rPr>
              <a:t>başarım</a:t>
            </a:r>
            <a:r>
              <a:rPr sz="1125" b="0" i="0" u="none" dirty="0">
                <a:solidFill>
                  <a:srgbClr val="64748B"/>
                </a:solidFill>
                <a:latin typeface="DM Sans"/>
              </a:rPr>
              <a:t> </a:t>
            </a:r>
            <a:r>
              <a:rPr sz="1125" b="0" i="0" u="none" dirty="0" err="1">
                <a:solidFill>
                  <a:srgbClr val="64748B"/>
                </a:solidFill>
                <a:latin typeface="DM Sans"/>
              </a:rPr>
              <a:t>oranları</a:t>
            </a:r>
            <a:endParaRPr sz="1125" b="0" i="0" u="none" dirty="0">
              <a:solidFill>
                <a:srgbClr val="64748B"/>
              </a:solidFill>
              <a:latin typeface="DM Sans"/>
            </a:endParaRPr>
          </a:p>
        </p:txBody>
      </p:sp>
      <p:sp>
        <p:nvSpPr>
          <p:cNvPr id="18" name="TextBox 17"/>
          <p:cNvSpPr txBox="1"/>
          <p:nvPr/>
        </p:nvSpPr>
        <p:spPr>
          <a:xfrm>
            <a:off x="8312050" y="2119312"/>
            <a:ext cx="3213839" cy="238125"/>
          </a:xfrm>
          <a:prstGeom prst="rect">
            <a:avLst/>
          </a:prstGeom>
          <a:noFill/>
        </p:spPr>
        <p:txBody>
          <a:bodyPr wrap="square" lIns="0" tIns="0" rIns="0" bIns="0" anchor="t">
            <a:spAutoFit/>
          </a:bodyPr>
          <a:lstStyle/>
          <a:p>
            <a:pPr algn="l"/>
            <a:r>
              <a:rPr sz="1500" b="1" i="0" u="none">
                <a:solidFill>
                  <a:srgbClr val="0F172A"/>
                </a:solidFill>
                <a:latin typeface="Merriweather"/>
              </a:rPr>
              <a:t>03. Metodoloji ve Veri</a:t>
            </a:r>
          </a:p>
        </p:txBody>
      </p:sp>
      <p:sp>
        <p:nvSpPr>
          <p:cNvPr id="19" name="TextBox 18"/>
          <p:cNvSpPr txBox="1"/>
          <p:nvPr/>
        </p:nvSpPr>
        <p:spPr>
          <a:xfrm>
            <a:off x="8312050" y="2452687"/>
            <a:ext cx="3060799" cy="428625"/>
          </a:xfrm>
          <a:prstGeom prst="rect">
            <a:avLst/>
          </a:prstGeom>
          <a:noFill/>
        </p:spPr>
        <p:txBody>
          <a:bodyPr wrap="square" lIns="0" tIns="0" rIns="0" bIns="0" anchor="t">
            <a:spAutoFit/>
          </a:bodyPr>
          <a:lstStyle/>
          <a:p>
            <a:pPr algn="l">
              <a:lnSpc>
                <a:spcPts val="1687"/>
              </a:lnSpc>
            </a:pPr>
            <a:r>
              <a:rPr lang="tr-TR" sz="1125" dirty="0">
                <a:solidFill>
                  <a:srgbClr val="64748B"/>
                </a:solidFill>
                <a:latin typeface="DM Sans"/>
              </a:rPr>
              <a:t>350,000+</a:t>
            </a:r>
            <a:r>
              <a:rPr sz="1125" b="0" i="0" u="none" dirty="0">
                <a:solidFill>
                  <a:srgbClr val="64748B"/>
                </a:solidFill>
                <a:latin typeface="DM Sans"/>
              </a:rPr>
              <a:t> URL </a:t>
            </a:r>
            <a:r>
              <a:rPr sz="1125" b="0" i="0" u="none" dirty="0" err="1">
                <a:solidFill>
                  <a:srgbClr val="64748B"/>
                </a:solidFill>
                <a:latin typeface="DM Sans"/>
              </a:rPr>
              <a:t>veri</a:t>
            </a:r>
            <a:r>
              <a:rPr sz="1125" b="0" i="0" u="none" dirty="0">
                <a:solidFill>
                  <a:srgbClr val="64748B"/>
                </a:solidFill>
                <a:latin typeface="DM Sans"/>
              </a:rPr>
              <a:t> </a:t>
            </a:r>
            <a:r>
              <a:rPr sz="1125" b="0" i="0" u="none" dirty="0" err="1">
                <a:solidFill>
                  <a:srgbClr val="64748B"/>
                </a:solidFill>
                <a:latin typeface="DM Sans"/>
              </a:rPr>
              <a:t>seti</a:t>
            </a:r>
            <a:r>
              <a:rPr sz="1125" b="0" i="0" u="none" dirty="0">
                <a:solidFill>
                  <a:srgbClr val="64748B"/>
                </a:solidFill>
                <a:latin typeface="DM Sans"/>
              </a:rPr>
              <a:t>, </a:t>
            </a:r>
            <a:r>
              <a:rPr sz="1125" b="0" i="0" u="none" dirty="0" err="1">
                <a:solidFill>
                  <a:srgbClr val="64748B"/>
                </a:solidFill>
                <a:latin typeface="DM Sans"/>
              </a:rPr>
              <a:t>ön</a:t>
            </a:r>
            <a:r>
              <a:rPr sz="1125" b="0" i="0" u="none" dirty="0">
                <a:solidFill>
                  <a:srgbClr val="64748B"/>
                </a:solidFill>
                <a:latin typeface="DM Sans"/>
              </a:rPr>
              <a:t> </a:t>
            </a:r>
            <a:r>
              <a:rPr sz="1125" b="0" i="0" u="none" dirty="0" err="1">
                <a:solidFill>
                  <a:srgbClr val="64748B"/>
                </a:solidFill>
                <a:latin typeface="DM Sans"/>
              </a:rPr>
              <a:t>işleme</a:t>
            </a:r>
            <a:r>
              <a:rPr sz="1125" b="0" i="0" u="none" dirty="0">
                <a:solidFill>
                  <a:srgbClr val="64748B"/>
                </a:solidFill>
                <a:latin typeface="DM Sans"/>
              </a:rPr>
              <a:t>, lexical </a:t>
            </a:r>
            <a:r>
              <a:rPr sz="1125" b="0" i="0" u="none" dirty="0" err="1">
                <a:solidFill>
                  <a:srgbClr val="64748B"/>
                </a:solidFill>
                <a:latin typeface="DM Sans"/>
              </a:rPr>
              <a:t>öznitelik</a:t>
            </a:r>
            <a:r>
              <a:rPr sz="1125" b="0" i="0" u="none" dirty="0">
                <a:solidFill>
                  <a:srgbClr val="64748B"/>
                </a:solidFill>
                <a:latin typeface="DM Sans"/>
              </a:rPr>
              <a:t> </a:t>
            </a:r>
            <a:r>
              <a:rPr sz="1125" b="0" i="0" u="none" dirty="0" err="1">
                <a:solidFill>
                  <a:srgbClr val="64748B"/>
                </a:solidFill>
                <a:latin typeface="DM Sans"/>
              </a:rPr>
              <a:t>çıkarımı</a:t>
            </a:r>
            <a:r>
              <a:rPr sz="1125" b="0" i="0" u="none" dirty="0">
                <a:solidFill>
                  <a:srgbClr val="64748B"/>
                </a:solidFill>
                <a:latin typeface="DM Sans"/>
              </a:rPr>
              <a:t> </a:t>
            </a:r>
            <a:r>
              <a:rPr sz="1125" b="0" i="0" u="none" dirty="0" err="1">
                <a:solidFill>
                  <a:srgbClr val="64748B"/>
                </a:solidFill>
                <a:latin typeface="DM Sans"/>
              </a:rPr>
              <a:t>ve</a:t>
            </a:r>
            <a:r>
              <a:rPr sz="1125" b="0" i="0" u="none" dirty="0">
                <a:solidFill>
                  <a:srgbClr val="64748B"/>
                </a:solidFill>
                <a:latin typeface="DM Sans"/>
              </a:rPr>
              <a:t> </a:t>
            </a:r>
            <a:r>
              <a:rPr sz="1125" b="0" i="0" u="none" dirty="0" err="1">
                <a:solidFill>
                  <a:srgbClr val="64748B"/>
                </a:solidFill>
                <a:latin typeface="DM Sans"/>
              </a:rPr>
              <a:t>öznitelik</a:t>
            </a:r>
            <a:r>
              <a:rPr sz="1125" b="0" i="0" u="none" dirty="0">
                <a:solidFill>
                  <a:srgbClr val="64748B"/>
                </a:solidFill>
                <a:latin typeface="DM Sans"/>
              </a:rPr>
              <a:t> </a:t>
            </a:r>
            <a:r>
              <a:rPr sz="1125" b="0" i="0" u="none" dirty="0" err="1">
                <a:solidFill>
                  <a:srgbClr val="64748B"/>
                </a:solidFill>
                <a:latin typeface="DM Sans"/>
              </a:rPr>
              <a:t>seçimi</a:t>
            </a:r>
            <a:r>
              <a:rPr sz="1125" b="0" i="0" u="none" dirty="0">
                <a:solidFill>
                  <a:srgbClr val="64748B"/>
                </a:solidFill>
                <a:latin typeface="DM Sans"/>
              </a:rPr>
              <a:t>.</a:t>
            </a:r>
          </a:p>
        </p:txBody>
      </p:sp>
      <p:sp>
        <p:nvSpPr>
          <p:cNvPr id="20" name="TextBox 19"/>
          <p:cNvSpPr txBox="1"/>
          <p:nvPr/>
        </p:nvSpPr>
        <p:spPr>
          <a:xfrm>
            <a:off x="819150" y="4400550"/>
            <a:ext cx="3213682" cy="238125"/>
          </a:xfrm>
          <a:prstGeom prst="rect">
            <a:avLst/>
          </a:prstGeom>
          <a:noFill/>
        </p:spPr>
        <p:txBody>
          <a:bodyPr wrap="square" lIns="0" tIns="0" rIns="0" bIns="0" anchor="t">
            <a:spAutoFit/>
          </a:bodyPr>
          <a:lstStyle/>
          <a:p>
            <a:pPr algn="l"/>
            <a:r>
              <a:rPr sz="1500" b="1" i="0" u="none">
                <a:solidFill>
                  <a:srgbClr val="0F172A"/>
                </a:solidFill>
                <a:latin typeface="Merriweather"/>
              </a:rPr>
              <a:t>04. Makine Öğrenmesi</a:t>
            </a:r>
          </a:p>
        </p:txBody>
      </p:sp>
      <p:sp>
        <p:nvSpPr>
          <p:cNvPr id="21" name="TextBox 20"/>
          <p:cNvSpPr txBox="1"/>
          <p:nvPr/>
        </p:nvSpPr>
        <p:spPr>
          <a:xfrm>
            <a:off x="819150" y="4733925"/>
            <a:ext cx="3060650" cy="422744"/>
          </a:xfrm>
          <a:prstGeom prst="rect">
            <a:avLst/>
          </a:prstGeom>
          <a:noFill/>
        </p:spPr>
        <p:txBody>
          <a:bodyPr wrap="square" lIns="0" tIns="0" rIns="0" bIns="0" anchor="t">
            <a:spAutoFit/>
          </a:bodyPr>
          <a:lstStyle/>
          <a:p>
            <a:pPr algn="l">
              <a:lnSpc>
                <a:spcPts val="1687"/>
              </a:lnSpc>
            </a:pPr>
            <a:r>
              <a:rPr sz="1125" b="0" i="0" u="none" dirty="0" err="1">
                <a:solidFill>
                  <a:srgbClr val="64748B"/>
                </a:solidFill>
                <a:latin typeface="DM Sans"/>
              </a:rPr>
              <a:t>XGBoost</a:t>
            </a:r>
            <a:r>
              <a:rPr sz="1125" b="0" i="0" u="none" dirty="0">
                <a:solidFill>
                  <a:srgbClr val="64748B"/>
                </a:solidFill>
                <a:latin typeface="DM Sans"/>
              </a:rPr>
              <a:t>, Random Forest, Decision Tree, LR, SVM, KNN </a:t>
            </a:r>
            <a:r>
              <a:rPr sz="1125" b="0" i="0" u="none" dirty="0" err="1">
                <a:solidFill>
                  <a:srgbClr val="64748B"/>
                </a:solidFill>
                <a:latin typeface="DM Sans"/>
              </a:rPr>
              <a:t>algoritma</a:t>
            </a:r>
            <a:r>
              <a:rPr sz="1125" b="0" i="0" u="none" dirty="0">
                <a:solidFill>
                  <a:srgbClr val="64748B"/>
                </a:solidFill>
                <a:latin typeface="DM Sans"/>
              </a:rPr>
              <a:t> </a:t>
            </a:r>
            <a:r>
              <a:rPr sz="1125" b="0" i="0" u="none" dirty="0" err="1">
                <a:solidFill>
                  <a:srgbClr val="64748B"/>
                </a:solidFill>
                <a:latin typeface="DM Sans"/>
              </a:rPr>
              <a:t>detayları</a:t>
            </a:r>
            <a:r>
              <a:rPr sz="1125" b="0" i="0" u="none" dirty="0">
                <a:solidFill>
                  <a:srgbClr val="64748B"/>
                </a:solidFill>
                <a:latin typeface="DM Sans"/>
              </a:rPr>
              <a:t> </a:t>
            </a:r>
            <a:r>
              <a:rPr sz="1125" b="0" i="0" u="none" dirty="0" err="1">
                <a:solidFill>
                  <a:srgbClr val="64748B"/>
                </a:solidFill>
                <a:latin typeface="DM Sans"/>
              </a:rPr>
              <a:t>ve</a:t>
            </a:r>
            <a:r>
              <a:rPr sz="1125" b="0" i="0" u="none" dirty="0">
                <a:solidFill>
                  <a:srgbClr val="64748B"/>
                </a:solidFill>
                <a:latin typeface="DM Sans"/>
              </a:rPr>
              <a:t> </a:t>
            </a:r>
            <a:r>
              <a:rPr sz="1125" b="0" i="0" u="none" dirty="0" err="1">
                <a:solidFill>
                  <a:srgbClr val="64748B"/>
                </a:solidFill>
                <a:latin typeface="DM Sans"/>
              </a:rPr>
              <a:t>modelleme</a:t>
            </a:r>
            <a:r>
              <a:rPr sz="1125" b="0" i="0" u="none" dirty="0">
                <a:solidFill>
                  <a:srgbClr val="64748B"/>
                </a:solidFill>
                <a:latin typeface="DM Sans"/>
              </a:rPr>
              <a:t>.</a:t>
            </a:r>
          </a:p>
        </p:txBody>
      </p:sp>
      <p:sp>
        <p:nvSpPr>
          <p:cNvPr id="22" name="TextBox 21"/>
          <p:cNvSpPr txBox="1"/>
          <p:nvPr/>
        </p:nvSpPr>
        <p:spPr>
          <a:xfrm>
            <a:off x="4565600" y="4400550"/>
            <a:ext cx="3213682" cy="238125"/>
          </a:xfrm>
          <a:prstGeom prst="rect">
            <a:avLst/>
          </a:prstGeom>
          <a:noFill/>
        </p:spPr>
        <p:txBody>
          <a:bodyPr wrap="square" lIns="0" tIns="0" rIns="0" bIns="0" anchor="t">
            <a:spAutoFit/>
          </a:bodyPr>
          <a:lstStyle/>
          <a:p>
            <a:pPr algn="l"/>
            <a:r>
              <a:rPr sz="1500" b="1" i="0" u="none">
                <a:solidFill>
                  <a:srgbClr val="0F172A"/>
                </a:solidFill>
                <a:latin typeface="Merriweather"/>
              </a:rPr>
              <a:t>05. Deneysel Sonuçlar</a:t>
            </a:r>
          </a:p>
        </p:txBody>
      </p:sp>
      <p:sp>
        <p:nvSpPr>
          <p:cNvPr id="23" name="TextBox 22"/>
          <p:cNvSpPr txBox="1"/>
          <p:nvPr/>
        </p:nvSpPr>
        <p:spPr>
          <a:xfrm>
            <a:off x="4565600" y="4733925"/>
            <a:ext cx="3060650" cy="204736"/>
          </a:xfrm>
          <a:prstGeom prst="rect">
            <a:avLst/>
          </a:prstGeom>
          <a:noFill/>
        </p:spPr>
        <p:txBody>
          <a:bodyPr wrap="square" lIns="0" tIns="0" rIns="0" bIns="0" anchor="t">
            <a:spAutoFit/>
          </a:bodyPr>
          <a:lstStyle/>
          <a:p>
            <a:pPr algn="l">
              <a:lnSpc>
                <a:spcPts val="1687"/>
              </a:lnSpc>
            </a:pPr>
            <a:r>
              <a:rPr sz="1125" b="0" i="0" u="none" dirty="0">
                <a:solidFill>
                  <a:srgbClr val="64748B"/>
                </a:solidFill>
                <a:latin typeface="DM Sans"/>
              </a:rPr>
              <a:t>Model </a:t>
            </a:r>
            <a:r>
              <a:rPr sz="1125" b="0" i="0" u="none" dirty="0" err="1">
                <a:solidFill>
                  <a:srgbClr val="64748B"/>
                </a:solidFill>
                <a:latin typeface="DM Sans"/>
              </a:rPr>
              <a:t>başarım</a:t>
            </a:r>
            <a:r>
              <a:rPr sz="1125" b="0" i="0" u="none" dirty="0">
                <a:solidFill>
                  <a:srgbClr val="64748B"/>
                </a:solidFill>
                <a:latin typeface="DM Sans"/>
              </a:rPr>
              <a:t> </a:t>
            </a:r>
            <a:r>
              <a:rPr sz="1125" b="0" i="0" u="none" dirty="0" err="1">
                <a:solidFill>
                  <a:srgbClr val="64748B"/>
                </a:solidFill>
                <a:latin typeface="DM Sans"/>
              </a:rPr>
              <a:t>tabloları</a:t>
            </a:r>
            <a:r>
              <a:rPr sz="1125" b="0" i="0" u="none" dirty="0">
                <a:solidFill>
                  <a:srgbClr val="64748B"/>
                </a:solidFill>
                <a:latin typeface="DM Sans"/>
              </a:rPr>
              <a:t>, </a:t>
            </a:r>
            <a:r>
              <a:rPr lang="tr-TR" sz="1125" b="0" i="0" u="none" dirty="0">
                <a:solidFill>
                  <a:srgbClr val="64748B"/>
                </a:solidFill>
                <a:latin typeface="DM Sans"/>
              </a:rPr>
              <a:t>model kıyaslamaları</a:t>
            </a:r>
            <a:endParaRPr sz="1125" b="0" i="0" u="none" dirty="0">
              <a:solidFill>
                <a:srgbClr val="64748B"/>
              </a:solidFill>
              <a:latin typeface="DM Sans"/>
            </a:endParaRPr>
          </a:p>
        </p:txBody>
      </p:sp>
      <p:sp>
        <p:nvSpPr>
          <p:cNvPr id="24" name="TextBox 23"/>
          <p:cNvSpPr txBox="1"/>
          <p:nvPr/>
        </p:nvSpPr>
        <p:spPr>
          <a:xfrm>
            <a:off x="8312050" y="4400550"/>
            <a:ext cx="3213839" cy="238125"/>
          </a:xfrm>
          <a:prstGeom prst="rect">
            <a:avLst/>
          </a:prstGeom>
          <a:noFill/>
        </p:spPr>
        <p:txBody>
          <a:bodyPr wrap="square" lIns="0" tIns="0" rIns="0" bIns="0" anchor="t">
            <a:spAutoFit/>
          </a:bodyPr>
          <a:lstStyle/>
          <a:p>
            <a:pPr algn="l"/>
            <a:r>
              <a:rPr sz="1500" b="1" i="0" u="none">
                <a:solidFill>
                  <a:srgbClr val="0F172A"/>
                </a:solidFill>
                <a:latin typeface="Merriweather"/>
              </a:rPr>
              <a:t>06. Eklenti &amp; Saha Testi</a:t>
            </a:r>
          </a:p>
        </p:txBody>
      </p:sp>
      <p:sp>
        <p:nvSpPr>
          <p:cNvPr id="25" name="TextBox 24"/>
          <p:cNvSpPr txBox="1"/>
          <p:nvPr/>
        </p:nvSpPr>
        <p:spPr>
          <a:xfrm>
            <a:off x="8312050" y="4733925"/>
            <a:ext cx="3060799" cy="642937"/>
          </a:xfrm>
          <a:prstGeom prst="rect">
            <a:avLst/>
          </a:prstGeom>
          <a:noFill/>
        </p:spPr>
        <p:txBody>
          <a:bodyPr wrap="square" lIns="0" tIns="0" rIns="0" bIns="0" anchor="t">
            <a:spAutoFit/>
          </a:bodyPr>
          <a:lstStyle/>
          <a:p>
            <a:pPr algn="l">
              <a:lnSpc>
                <a:spcPts val="1687"/>
              </a:lnSpc>
            </a:pPr>
            <a:r>
              <a:rPr sz="1125" b="0" i="0" u="none" dirty="0">
                <a:solidFill>
                  <a:srgbClr val="64748B"/>
                </a:solidFill>
                <a:latin typeface="DM Sans"/>
              </a:rPr>
              <a:t>Manifest V3 </a:t>
            </a:r>
            <a:r>
              <a:rPr sz="1125" b="0" i="0" u="none" dirty="0" err="1">
                <a:solidFill>
                  <a:srgbClr val="64748B"/>
                </a:solidFill>
                <a:latin typeface="DM Sans"/>
              </a:rPr>
              <a:t>istemci-sunucu</a:t>
            </a:r>
            <a:r>
              <a:rPr sz="1125" b="0" i="0" u="none" dirty="0">
                <a:solidFill>
                  <a:srgbClr val="64748B"/>
                </a:solidFill>
                <a:latin typeface="DM Sans"/>
              </a:rPr>
              <a:t> </a:t>
            </a:r>
            <a:r>
              <a:rPr sz="1125" b="0" i="0" u="none" dirty="0" err="1">
                <a:solidFill>
                  <a:srgbClr val="64748B"/>
                </a:solidFill>
                <a:latin typeface="DM Sans"/>
              </a:rPr>
              <a:t>mimarisi</a:t>
            </a:r>
            <a:r>
              <a:rPr sz="1125" b="0" i="0" u="none" dirty="0">
                <a:solidFill>
                  <a:srgbClr val="64748B"/>
                </a:solidFill>
                <a:latin typeface="DM Sans"/>
              </a:rPr>
              <a:t>, 177 </a:t>
            </a:r>
            <a:r>
              <a:rPr sz="1125" b="0" i="0" u="none" dirty="0" err="1">
                <a:solidFill>
                  <a:srgbClr val="64748B"/>
                </a:solidFill>
                <a:latin typeface="DM Sans"/>
              </a:rPr>
              <a:t>canlı</a:t>
            </a:r>
            <a:r>
              <a:rPr sz="1125" b="0" i="0" u="none" dirty="0">
                <a:solidFill>
                  <a:srgbClr val="64748B"/>
                </a:solidFill>
                <a:latin typeface="DM Sans"/>
              </a:rPr>
              <a:t> URL </a:t>
            </a:r>
            <a:r>
              <a:rPr sz="1125" b="0" i="0" u="none" dirty="0" err="1">
                <a:solidFill>
                  <a:srgbClr val="64748B"/>
                </a:solidFill>
                <a:latin typeface="DM Sans"/>
              </a:rPr>
              <a:t>testi</a:t>
            </a:r>
            <a:r>
              <a:rPr sz="1125" b="0" i="0" u="none" dirty="0">
                <a:solidFill>
                  <a:srgbClr val="64748B"/>
                </a:solidFill>
                <a:latin typeface="DM Sans"/>
              </a:rPr>
              <a:t>, 16.5 </a:t>
            </a:r>
            <a:r>
              <a:rPr sz="1125" b="0" i="0" u="none" dirty="0" err="1">
                <a:solidFill>
                  <a:srgbClr val="64748B"/>
                </a:solidFill>
                <a:latin typeface="DM Sans"/>
              </a:rPr>
              <a:t>ms</a:t>
            </a:r>
            <a:r>
              <a:rPr sz="1125" b="0" i="0" u="none" dirty="0">
                <a:solidFill>
                  <a:srgbClr val="64748B"/>
                </a:solidFill>
                <a:latin typeface="DM Sans"/>
              </a:rPr>
              <a:t> </a:t>
            </a:r>
            <a:r>
              <a:rPr sz="1125" b="0" i="0" u="none" dirty="0" err="1">
                <a:solidFill>
                  <a:srgbClr val="64748B"/>
                </a:solidFill>
                <a:latin typeface="DM Sans"/>
              </a:rPr>
              <a:t>tepki</a:t>
            </a:r>
            <a:r>
              <a:rPr sz="1125" b="0" i="0" u="none" dirty="0">
                <a:solidFill>
                  <a:srgbClr val="64748B"/>
                </a:solidFill>
                <a:latin typeface="DM Sans"/>
              </a:rPr>
              <a:t> </a:t>
            </a:r>
            <a:r>
              <a:rPr sz="1125" b="0" i="0" u="none" dirty="0" err="1">
                <a:solidFill>
                  <a:srgbClr val="64748B"/>
                </a:solidFill>
                <a:latin typeface="DM Sans"/>
              </a:rPr>
              <a:t>süresi</a:t>
            </a:r>
            <a:r>
              <a:rPr sz="1125" b="0" i="0" u="none" dirty="0">
                <a:solidFill>
                  <a:srgbClr val="64748B"/>
                </a:solidFill>
                <a:latin typeface="DM Sans"/>
              </a:rPr>
              <a:t> </a:t>
            </a:r>
            <a:r>
              <a:rPr sz="1125" b="0" i="0" u="none" dirty="0" err="1">
                <a:solidFill>
                  <a:srgbClr val="64748B"/>
                </a:solidFill>
                <a:latin typeface="DM Sans"/>
              </a:rPr>
              <a:t>ve</a:t>
            </a:r>
            <a:r>
              <a:rPr sz="1125" b="0" i="0" u="none" dirty="0">
                <a:solidFill>
                  <a:srgbClr val="64748B"/>
                </a:solidFill>
                <a:latin typeface="DM Sans"/>
              </a:rPr>
              <a:t> </a:t>
            </a:r>
            <a:r>
              <a:rPr sz="1125" b="0" i="0" u="none" dirty="0" err="1">
                <a:solidFill>
                  <a:srgbClr val="64748B"/>
                </a:solidFill>
                <a:latin typeface="DM Sans"/>
              </a:rPr>
              <a:t>sonuçlar</a:t>
            </a:r>
            <a:r>
              <a:rPr sz="1125" b="0" i="0" u="none" dirty="0">
                <a:solidFill>
                  <a:srgbClr val="64748B"/>
                </a:solidFill>
                <a:latin typeface="DM Sans"/>
              </a:rPr>
              <a:t>.</a:t>
            </a:r>
          </a:p>
        </p:txBody>
      </p:sp>
      <p:pic>
        <p:nvPicPr>
          <p:cNvPr id="26" name="Picture 25" descr="image.png"/>
          <p:cNvPicPr>
            <a:picLocks noChangeAspect="1"/>
          </p:cNvPicPr>
          <p:nvPr/>
        </p:nvPicPr>
        <p:blipFill>
          <a:blip r:embed="rId9"/>
          <a:stretch>
            <a:fillRect/>
          </a:stretch>
        </p:blipFill>
        <p:spPr>
          <a:xfrm>
            <a:off x="819150" y="1576387"/>
            <a:ext cx="342900" cy="342900"/>
          </a:xfrm>
          <a:prstGeom prst="rect">
            <a:avLst/>
          </a:prstGeom>
        </p:spPr>
      </p:pic>
      <p:pic>
        <p:nvPicPr>
          <p:cNvPr id="27" name="Picture 26" descr="image.png"/>
          <p:cNvPicPr>
            <a:picLocks noChangeAspect="1"/>
          </p:cNvPicPr>
          <p:nvPr/>
        </p:nvPicPr>
        <p:blipFill>
          <a:blip r:embed="rId10"/>
          <a:stretch>
            <a:fillRect/>
          </a:stretch>
        </p:blipFill>
        <p:spPr>
          <a:xfrm>
            <a:off x="4565600" y="1576387"/>
            <a:ext cx="304800" cy="342900"/>
          </a:xfrm>
          <a:prstGeom prst="rect">
            <a:avLst/>
          </a:prstGeom>
        </p:spPr>
      </p:pic>
      <p:pic>
        <p:nvPicPr>
          <p:cNvPr id="28" name="Picture 27" descr="image.png"/>
          <p:cNvPicPr>
            <a:picLocks noChangeAspect="1"/>
          </p:cNvPicPr>
          <p:nvPr/>
        </p:nvPicPr>
        <p:blipFill>
          <a:blip r:embed="rId11"/>
          <a:stretch>
            <a:fillRect/>
          </a:stretch>
        </p:blipFill>
        <p:spPr>
          <a:xfrm>
            <a:off x="8312050" y="1576387"/>
            <a:ext cx="304800" cy="342900"/>
          </a:xfrm>
          <a:prstGeom prst="rect">
            <a:avLst/>
          </a:prstGeom>
        </p:spPr>
      </p:pic>
      <p:pic>
        <p:nvPicPr>
          <p:cNvPr id="29" name="Picture 28" descr="image.png"/>
          <p:cNvPicPr>
            <a:picLocks noChangeAspect="1"/>
          </p:cNvPicPr>
          <p:nvPr/>
        </p:nvPicPr>
        <p:blipFill>
          <a:blip r:embed="rId12"/>
          <a:stretch>
            <a:fillRect/>
          </a:stretch>
        </p:blipFill>
        <p:spPr>
          <a:xfrm>
            <a:off x="819150" y="3857625"/>
            <a:ext cx="342900" cy="342900"/>
          </a:xfrm>
          <a:prstGeom prst="rect">
            <a:avLst/>
          </a:prstGeom>
        </p:spPr>
      </p:pic>
      <p:pic>
        <p:nvPicPr>
          <p:cNvPr id="30" name="Picture 29" descr="image.png"/>
          <p:cNvPicPr>
            <a:picLocks noChangeAspect="1"/>
          </p:cNvPicPr>
          <p:nvPr/>
        </p:nvPicPr>
        <p:blipFill>
          <a:blip r:embed="rId13"/>
          <a:stretch>
            <a:fillRect/>
          </a:stretch>
        </p:blipFill>
        <p:spPr>
          <a:xfrm>
            <a:off x="4565600" y="3857625"/>
            <a:ext cx="342900" cy="342900"/>
          </a:xfrm>
          <a:prstGeom prst="rect">
            <a:avLst/>
          </a:prstGeom>
        </p:spPr>
      </p:pic>
      <p:pic>
        <p:nvPicPr>
          <p:cNvPr id="31" name="Picture 30" descr="image.png"/>
          <p:cNvPicPr>
            <a:picLocks noChangeAspect="1"/>
          </p:cNvPicPr>
          <p:nvPr/>
        </p:nvPicPr>
        <p:blipFill>
          <a:blip r:embed="rId14"/>
          <a:stretch>
            <a:fillRect/>
          </a:stretch>
        </p:blipFill>
        <p:spPr>
          <a:xfrm>
            <a:off x="8312050" y="3857625"/>
            <a:ext cx="342900" cy="342900"/>
          </a:xfrm>
          <a:prstGeom prst="rect">
            <a:avLst/>
          </a:prstGeom>
        </p:spPr>
      </p:pic>
      <p:pic>
        <p:nvPicPr>
          <p:cNvPr id="32" name="Picture 1" descr="image.png">
            <a:extLst>
              <a:ext uri="{FF2B5EF4-FFF2-40B4-BE49-F238E27FC236}">
                <a16:creationId xmlns:a16="http://schemas.microsoft.com/office/drawing/2014/main" id="{147CFF62-D139-C60D-55F5-C5CE9605AD3C}"/>
              </a:ext>
            </a:extLst>
          </p:cNvPr>
          <p:cNvPicPr>
            <a:picLocks noChangeAspect="1"/>
          </p:cNvPicPr>
          <p:nvPr/>
        </p:nvPicPr>
        <p:blipFill>
          <a:blip r:embed="rId15"/>
          <a:stretch>
            <a:fillRect/>
          </a:stretch>
        </p:blipFill>
        <p:spPr>
          <a:xfrm>
            <a:off x="571500" y="928687"/>
            <a:ext cx="11048999" cy="174458"/>
          </a:xfrm>
          <a:prstGeom prst="rect">
            <a:avLst/>
          </a:prstGeom>
        </p:spPr>
      </p:pic>
      <p:pic>
        <p:nvPicPr>
          <p:cNvPr id="33" name="İçerik Yer Tutucusu 10">
            <a:extLst>
              <a:ext uri="{FF2B5EF4-FFF2-40B4-BE49-F238E27FC236}">
                <a16:creationId xmlns:a16="http://schemas.microsoft.com/office/drawing/2014/main" id="{7DD7A4BD-ADC0-D165-77D7-6A3F51BFCDA6}"/>
              </a:ext>
            </a:extLst>
          </p:cNvPr>
          <p:cNvPicPr>
            <a:picLocks noChangeAspect="1"/>
          </p:cNvPicPr>
          <p:nvPr/>
        </p:nvPicPr>
        <p:blipFill>
          <a:blip r:embed="rId16">
            <a:extLst>
              <a:ext uri="{28A0092B-C50C-407E-A947-70E740481C1C}">
                <a14:useLocalDpi xmlns:a14="http://schemas.microsoft.com/office/drawing/2010/main" val="0"/>
              </a:ext>
            </a:extLst>
          </a:blip>
          <a:srcRect/>
          <a:stretch>
            <a:fillRect/>
          </a:stretch>
        </p:blipFill>
        <p:spPr bwMode="auto">
          <a:xfrm>
            <a:off x="9609138" y="456406"/>
            <a:ext cx="2011362"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png"/>
          <p:cNvPicPr>
            <a:picLocks noChangeAspect="1"/>
          </p:cNvPicPr>
          <p:nvPr/>
        </p:nvPicPr>
        <p:blipFill>
          <a:blip r:embed="rId2"/>
          <a:stretch>
            <a:fillRect/>
          </a:stretch>
        </p:blipFill>
        <p:spPr>
          <a:xfrm>
            <a:off x="571500" y="6391275"/>
            <a:ext cx="11049000" cy="276225"/>
          </a:xfrm>
          <a:prstGeom prst="rect">
            <a:avLst/>
          </a:prstGeom>
        </p:spPr>
      </p:pic>
      <p:pic>
        <p:nvPicPr>
          <p:cNvPr id="4" name="Picture 3" descr="image.png"/>
          <p:cNvPicPr>
            <a:picLocks noChangeAspect="1"/>
          </p:cNvPicPr>
          <p:nvPr/>
        </p:nvPicPr>
        <p:blipFill>
          <a:blip r:embed="rId3"/>
          <a:stretch>
            <a:fillRect/>
          </a:stretch>
        </p:blipFill>
        <p:spPr>
          <a:xfrm>
            <a:off x="571500" y="1252537"/>
            <a:ext cx="5334000" cy="1514475"/>
          </a:xfrm>
          <a:prstGeom prst="rect">
            <a:avLst/>
          </a:prstGeom>
        </p:spPr>
      </p:pic>
      <p:pic>
        <p:nvPicPr>
          <p:cNvPr id="5" name="Picture 4" descr="image.png"/>
          <p:cNvPicPr>
            <a:picLocks noChangeAspect="1"/>
          </p:cNvPicPr>
          <p:nvPr/>
        </p:nvPicPr>
        <p:blipFill>
          <a:blip r:embed="rId4"/>
          <a:stretch>
            <a:fillRect/>
          </a:stretch>
        </p:blipFill>
        <p:spPr>
          <a:xfrm>
            <a:off x="571500" y="2957512"/>
            <a:ext cx="5334000" cy="1514475"/>
          </a:xfrm>
          <a:prstGeom prst="rect">
            <a:avLst/>
          </a:prstGeom>
        </p:spPr>
      </p:pic>
      <p:sp>
        <p:nvSpPr>
          <p:cNvPr id="6" name="TextBox 5"/>
          <p:cNvSpPr txBox="1"/>
          <p:nvPr/>
        </p:nvSpPr>
        <p:spPr>
          <a:xfrm>
            <a:off x="571500" y="476250"/>
            <a:ext cx="11601450" cy="423862"/>
          </a:xfrm>
          <a:prstGeom prst="rect">
            <a:avLst/>
          </a:prstGeom>
          <a:noFill/>
        </p:spPr>
        <p:txBody>
          <a:bodyPr wrap="square" lIns="0" tIns="0" rIns="0" bIns="0" anchor="t">
            <a:spAutoFit/>
          </a:bodyPr>
          <a:lstStyle/>
          <a:p>
            <a:pPr algn="l">
              <a:lnSpc>
                <a:spcPts val="3187"/>
              </a:lnSpc>
            </a:pPr>
            <a:r>
              <a:rPr sz="2550" b="1" i="0" u="none">
                <a:solidFill>
                  <a:srgbClr val="005088"/>
                </a:solidFill>
                <a:latin typeface="Merriweather"/>
              </a:rPr>
              <a:t>Çalışmanın Amacı, Motivasyonu ve Katkıları</a:t>
            </a:r>
          </a:p>
        </p:txBody>
      </p:sp>
      <p:sp>
        <p:nvSpPr>
          <p:cNvPr id="7" name="Rectangle 6"/>
          <p:cNvSpPr/>
          <p:nvPr/>
        </p:nvSpPr>
        <p:spPr>
          <a:xfrm>
            <a:off x="571500" y="995362"/>
            <a:ext cx="11049000"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71500" y="6496050"/>
            <a:ext cx="3009900" cy="171450"/>
          </a:xfrm>
          <a:prstGeom prst="rect">
            <a:avLst/>
          </a:prstGeom>
          <a:noFill/>
        </p:spPr>
        <p:txBody>
          <a:bodyPr wrap="square" lIns="0" tIns="0" rIns="0" bIns="0" anchor="t">
            <a:spAutoFit/>
          </a:bodyPr>
          <a:lstStyle/>
          <a:p>
            <a:pPr algn="l">
              <a:lnSpc>
                <a:spcPts val="1350"/>
              </a:lnSpc>
            </a:pPr>
            <a:r>
              <a:rPr sz="900" b="0" i="0" u="none">
                <a:solidFill>
                  <a:srgbClr val="94A3B8"/>
                </a:solidFill>
                <a:latin typeface="DM Sans"/>
              </a:rPr>
              <a:t>SAKARYA ÜNİVERSİTESİ • YÜKSEK LİSANS TEZ SAVUNMASI</a:t>
            </a:r>
          </a:p>
        </p:txBody>
      </p:sp>
      <p:sp>
        <p:nvSpPr>
          <p:cNvPr id="9" name="TextBox 8"/>
          <p:cNvSpPr txBox="1"/>
          <p:nvPr/>
        </p:nvSpPr>
        <p:spPr>
          <a:xfrm>
            <a:off x="11249025" y="6496050"/>
            <a:ext cx="371475" cy="171450"/>
          </a:xfrm>
          <a:prstGeom prst="rect">
            <a:avLst/>
          </a:prstGeom>
          <a:noFill/>
        </p:spPr>
        <p:txBody>
          <a:bodyPr wrap="square" lIns="0" tIns="0" rIns="0" bIns="0" anchor="t">
            <a:spAutoFit/>
          </a:bodyPr>
          <a:lstStyle/>
          <a:p>
            <a:pPr algn="l">
              <a:lnSpc>
                <a:spcPts val="1350"/>
              </a:lnSpc>
            </a:pPr>
            <a:r>
              <a:rPr sz="900" b="0" i="0" u="none">
                <a:solidFill>
                  <a:srgbClr val="94A3B8"/>
                </a:solidFill>
                <a:latin typeface="DM Sans"/>
              </a:rPr>
              <a:t>Slayt 3</a:t>
            </a:r>
          </a:p>
        </p:txBody>
      </p:sp>
      <p:sp>
        <p:nvSpPr>
          <p:cNvPr id="10" name="TextBox 9"/>
          <p:cNvSpPr txBox="1"/>
          <p:nvPr/>
        </p:nvSpPr>
        <p:spPr>
          <a:xfrm>
            <a:off x="6286500" y="1252537"/>
            <a:ext cx="5600700" cy="238125"/>
          </a:xfrm>
          <a:prstGeom prst="rect">
            <a:avLst/>
          </a:prstGeom>
          <a:noFill/>
        </p:spPr>
        <p:txBody>
          <a:bodyPr wrap="square" lIns="0" tIns="0" rIns="0" bIns="0" anchor="t">
            <a:spAutoFit/>
          </a:bodyPr>
          <a:lstStyle/>
          <a:p>
            <a:pPr algn="l"/>
            <a:r>
              <a:rPr sz="1500" b="1" i="0" u="none">
                <a:solidFill>
                  <a:srgbClr val="005088"/>
                </a:solidFill>
                <a:latin typeface="Merriweather"/>
              </a:rPr>
              <a:t>Tezin Akademik ve Pratik Katkıları</a:t>
            </a:r>
          </a:p>
        </p:txBody>
      </p:sp>
      <p:sp>
        <p:nvSpPr>
          <p:cNvPr id="11" name="TextBox 10"/>
          <p:cNvSpPr txBox="1"/>
          <p:nvPr/>
        </p:nvSpPr>
        <p:spPr>
          <a:xfrm>
            <a:off x="809625" y="1443037"/>
            <a:ext cx="5150643" cy="219075"/>
          </a:xfrm>
          <a:prstGeom prst="rect">
            <a:avLst/>
          </a:prstGeom>
          <a:noFill/>
        </p:spPr>
        <p:txBody>
          <a:bodyPr wrap="square" lIns="247650" tIns="0" rIns="0" bIns="0" anchor="t">
            <a:spAutoFit/>
          </a:bodyPr>
          <a:lstStyle/>
          <a:p>
            <a:pPr algn="l"/>
            <a:r>
              <a:rPr sz="1350" b="1" i="0" u="none">
                <a:solidFill>
                  <a:srgbClr val="065F46"/>
                </a:solidFill>
                <a:latin typeface="Merriweather"/>
              </a:rPr>
              <a:t>Tezin Temel Amacı</a:t>
            </a:r>
          </a:p>
        </p:txBody>
      </p:sp>
      <p:sp>
        <p:nvSpPr>
          <p:cNvPr id="12" name="TextBox 11"/>
          <p:cNvSpPr txBox="1"/>
          <p:nvPr/>
        </p:nvSpPr>
        <p:spPr>
          <a:xfrm>
            <a:off x="809625" y="1719262"/>
            <a:ext cx="4905375" cy="857250"/>
          </a:xfrm>
          <a:prstGeom prst="rect">
            <a:avLst/>
          </a:prstGeom>
          <a:noFill/>
        </p:spPr>
        <p:txBody>
          <a:bodyPr wrap="square" lIns="0" tIns="0" rIns="0" bIns="0" anchor="t">
            <a:spAutoFit/>
          </a:bodyPr>
          <a:lstStyle/>
          <a:p>
            <a:pPr algn="l">
              <a:lnSpc>
                <a:spcPts val="1687"/>
              </a:lnSpc>
            </a:pPr>
            <a:r>
              <a:rPr sz="1125" b="0" i="0" u="none" dirty="0" err="1">
                <a:solidFill>
                  <a:srgbClr val="475569"/>
                </a:solidFill>
                <a:latin typeface="DM Sans"/>
              </a:rPr>
              <a:t>Dinamik</a:t>
            </a:r>
            <a:r>
              <a:rPr sz="1125" b="0" i="0" u="none" dirty="0">
                <a:solidFill>
                  <a:srgbClr val="475569"/>
                </a:solidFill>
                <a:latin typeface="DM Sans"/>
              </a:rPr>
              <a:t> </a:t>
            </a:r>
            <a:r>
              <a:rPr sz="1125" b="0" i="0" u="none" dirty="0" err="1">
                <a:solidFill>
                  <a:srgbClr val="475569"/>
                </a:solidFill>
                <a:latin typeface="DM Sans"/>
              </a:rPr>
              <a:t>ve</a:t>
            </a:r>
            <a:r>
              <a:rPr sz="1125" b="0" i="0" u="none" dirty="0">
                <a:solidFill>
                  <a:srgbClr val="475569"/>
                </a:solidFill>
                <a:latin typeface="DM Sans"/>
              </a:rPr>
              <a:t> </a:t>
            </a:r>
            <a:r>
              <a:rPr lang="tr-TR" sz="1125" b="0" i="0" u="none" dirty="0">
                <a:solidFill>
                  <a:srgbClr val="475569"/>
                </a:solidFill>
                <a:latin typeface="DM Sans"/>
              </a:rPr>
              <a:t>milisaniyeler</a:t>
            </a:r>
            <a:r>
              <a:rPr sz="1125" b="0" i="0" u="none" dirty="0">
                <a:solidFill>
                  <a:srgbClr val="475569"/>
                </a:solidFill>
                <a:latin typeface="DM Sans"/>
              </a:rPr>
              <a:t> </a:t>
            </a:r>
            <a:r>
              <a:rPr sz="1125" b="0" i="0" u="none" dirty="0" err="1">
                <a:solidFill>
                  <a:srgbClr val="475569"/>
                </a:solidFill>
                <a:latin typeface="DM Sans"/>
              </a:rPr>
              <a:t>içinde</a:t>
            </a:r>
            <a:r>
              <a:rPr sz="1125" b="0" i="0" u="none" dirty="0">
                <a:solidFill>
                  <a:srgbClr val="475569"/>
                </a:solidFill>
                <a:latin typeface="DM Sans"/>
              </a:rPr>
              <a:t> </a:t>
            </a:r>
            <a:r>
              <a:rPr sz="1125" b="0" i="0" u="none" dirty="0" err="1">
                <a:solidFill>
                  <a:srgbClr val="475569"/>
                </a:solidFill>
                <a:latin typeface="DM Sans"/>
              </a:rPr>
              <a:t>değişen</a:t>
            </a:r>
            <a:r>
              <a:rPr sz="1125" b="0" i="0" u="none" dirty="0">
                <a:solidFill>
                  <a:srgbClr val="475569"/>
                </a:solidFill>
                <a:latin typeface="DM Sans"/>
              </a:rPr>
              <a:t> </a:t>
            </a:r>
            <a:r>
              <a:rPr sz="1125" b="0" i="0" u="none" dirty="0" err="1">
                <a:solidFill>
                  <a:srgbClr val="475569"/>
                </a:solidFill>
                <a:latin typeface="DM Sans"/>
              </a:rPr>
              <a:t>sıfırıncı</a:t>
            </a:r>
            <a:r>
              <a:rPr sz="1125" b="0" i="0" u="none" dirty="0">
                <a:solidFill>
                  <a:srgbClr val="475569"/>
                </a:solidFill>
                <a:latin typeface="DM Sans"/>
              </a:rPr>
              <a:t> </a:t>
            </a:r>
            <a:r>
              <a:rPr sz="1125" b="0" i="0" u="none" dirty="0" err="1">
                <a:solidFill>
                  <a:srgbClr val="475569"/>
                </a:solidFill>
                <a:latin typeface="DM Sans"/>
              </a:rPr>
              <a:t>gün</a:t>
            </a:r>
            <a:r>
              <a:rPr sz="1125" b="0" i="0" u="none" dirty="0">
                <a:solidFill>
                  <a:srgbClr val="475569"/>
                </a:solidFill>
                <a:latin typeface="DM Sans"/>
              </a:rPr>
              <a:t> (zero-day) </a:t>
            </a:r>
            <a:r>
              <a:rPr sz="1125" b="0" i="0" u="none" dirty="0" err="1">
                <a:solidFill>
                  <a:srgbClr val="475569"/>
                </a:solidFill>
                <a:latin typeface="DM Sans"/>
              </a:rPr>
              <a:t>oltalama</a:t>
            </a:r>
            <a:r>
              <a:rPr sz="1125" b="0" i="0" u="none" dirty="0">
                <a:solidFill>
                  <a:srgbClr val="475569"/>
                </a:solidFill>
                <a:latin typeface="DM Sans"/>
              </a:rPr>
              <a:t> </a:t>
            </a:r>
            <a:r>
              <a:rPr sz="1125" b="0" i="0" u="none" dirty="0" err="1">
                <a:solidFill>
                  <a:srgbClr val="475569"/>
                </a:solidFill>
                <a:latin typeface="DM Sans"/>
              </a:rPr>
              <a:t>URL'lerini</a:t>
            </a:r>
            <a:r>
              <a:rPr sz="1125" b="0" i="0" u="none" dirty="0">
                <a:solidFill>
                  <a:srgbClr val="475569"/>
                </a:solidFill>
                <a:latin typeface="DM Sans"/>
              </a:rPr>
              <a:t>, </a:t>
            </a:r>
            <a:r>
              <a:rPr sz="1125" b="0" i="0" u="none" dirty="0" err="1">
                <a:solidFill>
                  <a:srgbClr val="475569"/>
                </a:solidFill>
                <a:latin typeface="DM Sans"/>
              </a:rPr>
              <a:t>sunucu</a:t>
            </a:r>
            <a:r>
              <a:rPr sz="1125" b="0" i="0" u="none" dirty="0">
                <a:solidFill>
                  <a:srgbClr val="475569"/>
                </a:solidFill>
                <a:latin typeface="DM Sans"/>
              </a:rPr>
              <a:t> </a:t>
            </a:r>
            <a:r>
              <a:rPr sz="1125" b="0" i="0" u="none" dirty="0" err="1">
                <a:solidFill>
                  <a:srgbClr val="475569"/>
                </a:solidFill>
                <a:latin typeface="DM Sans"/>
              </a:rPr>
              <a:t>içeriğine</a:t>
            </a:r>
            <a:r>
              <a:rPr sz="1125" b="0" i="0" u="none" dirty="0">
                <a:solidFill>
                  <a:srgbClr val="475569"/>
                </a:solidFill>
                <a:latin typeface="DM Sans"/>
              </a:rPr>
              <a:t> </a:t>
            </a:r>
            <a:r>
              <a:rPr sz="1125" b="0" i="0" u="none" dirty="0" err="1">
                <a:solidFill>
                  <a:srgbClr val="475569"/>
                </a:solidFill>
                <a:latin typeface="DM Sans"/>
              </a:rPr>
              <a:t>erişim</a:t>
            </a:r>
            <a:r>
              <a:rPr sz="1125" b="0" i="0" u="none" dirty="0">
                <a:solidFill>
                  <a:srgbClr val="475569"/>
                </a:solidFill>
                <a:latin typeface="DM Sans"/>
              </a:rPr>
              <a:t> </a:t>
            </a:r>
            <a:r>
              <a:rPr sz="1125" b="0" i="0" u="none" dirty="0" err="1">
                <a:solidFill>
                  <a:srgbClr val="475569"/>
                </a:solidFill>
                <a:latin typeface="DM Sans"/>
              </a:rPr>
              <a:t>zorunluluğu</a:t>
            </a:r>
            <a:r>
              <a:rPr sz="1125" b="0" i="0" u="none" dirty="0">
                <a:solidFill>
                  <a:srgbClr val="475569"/>
                </a:solidFill>
                <a:latin typeface="DM Sans"/>
              </a:rPr>
              <a:t> </a:t>
            </a:r>
            <a:r>
              <a:rPr sz="1125" b="0" i="0" u="none" dirty="0" err="1">
                <a:solidFill>
                  <a:srgbClr val="475569"/>
                </a:solidFill>
                <a:latin typeface="DM Sans"/>
              </a:rPr>
              <a:t>olmadan</a:t>
            </a:r>
            <a:r>
              <a:rPr sz="1125" b="0" i="0" u="none" dirty="0">
                <a:solidFill>
                  <a:srgbClr val="475569"/>
                </a:solidFill>
                <a:latin typeface="DM Sans"/>
              </a:rPr>
              <a:t> </a:t>
            </a:r>
            <a:r>
              <a:rPr sz="1125" b="0" i="0" u="none" dirty="0" err="1">
                <a:solidFill>
                  <a:srgbClr val="475569"/>
                </a:solidFill>
                <a:latin typeface="DM Sans"/>
              </a:rPr>
              <a:t>yalnızca</a:t>
            </a:r>
            <a:r>
              <a:rPr sz="1125" b="0" i="0" u="none" dirty="0">
                <a:solidFill>
                  <a:srgbClr val="475569"/>
                </a:solidFill>
                <a:latin typeface="DM Sans"/>
              </a:rPr>
              <a:t> </a:t>
            </a:r>
            <a:r>
              <a:rPr sz="1125" b="0" i="0" u="none" dirty="0" err="1">
                <a:solidFill>
                  <a:srgbClr val="475569"/>
                </a:solidFill>
                <a:latin typeface="DM Sans"/>
              </a:rPr>
              <a:t>yapısal</a:t>
            </a:r>
            <a:r>
              <a:rPr sz="1125" b="0" i="0" u="none" dirty="0">
                <a:solidFill>
                  <a:srgbClr val="475569"/>
                </a:solidFill>
                <a:latin typeface="DM Sans"/>
              </a:rPr>
              <a:t> </a:t>
            </a:r>
            <a:r>
              <a:rPr sz="1125" b="0" i="0" u="none" dirty="0" err="1">
                <a:solidFill>
                  <a:srgbClr val="475569"/>
                </a:solidFill>
                <a:latin typeface="DM Sans"/>
              </a:rPr>
              <a:t>öznitelikler</a:t>
            </a:r>
            <a:r>
              <a:rPr sz="1125" b="0" i="0" u="none" dirty="0">
                <a:solidFill>
                  <a:srgbClr val="475569"/>
                </a:solidFill>
                <a:latin typeface="DM Sans"/>
              </a:rPr>
              <a:t> </a:t>
            </a:r>
            <a:r>
              <a:rPr sz="1125" b="0" i="0" u="none" dirty="0" err="1">
                <a:solidFill>
                  <a:srgbClr val="475569"/>
                </a:solidFill>
                <a:latin typeface="DM Sans"/>
              </a:rPr>
              <a:t>kullanarak</a:t>
            </a:r>
            <a:r>
              <a:rPr sz="1125" b="0" i="0" u="none" dirty="0">
                <a:solidFill>
                  <a:srgbClr val="475569"/>
                </a:solidFill>
                <a:latin typeface="DM Sans"/>
              </a:rPr>
              <a:t> </a:t>
            </a:r>
            <a:r>
              <a:rPr lang="tr-TR" sz="1125" dirty="0">
                <a:solidFill>
                  <a:srgbClr val="475569"/>
                </a:solidFill>
                <a:latin typeface="DM Sans"/>
              </a:rPr>
              <a:t>yüksek</a:t>
            </a:r>
            <a:r>
              <a:rPr sz="1125" b="0" i="0" u="none" dirty="0">
                <a:solidFill>
                  <a:srgbClr val="475569"/>
                </a:solidFill>
                <a:latin typeface="DM Sans"/>
              </a:rPr>
              <a:t> </a:t>
            </a:r>
            <a:r>
              <a:rPr sz="1125" b="0" i="0" u="none" dirty="0" err="1">
                <a:solidFill>
                  <a:srgbClr val="475569"/>
                </a:solidFill>
                <a:latin typeface="DM Sans"/>
              </a:rPr>
              <a:t>doğrulukla</a:t>
            </a:r>
            <a:r>
              <a:rPr sz="1125" b="0" i="0" u="none" dirty="0">
                <a:solidFill>
                  <a:srgbClr val="475569"/>
                </a:solidFill>
                <a:latin typeface="DM Sans"/>
              </a:rPr>
              <a:t> </a:t>
            </a:r>
            <a:r>
              <a:rPr sz="1125" b="0" i="0" u="none" dirty="0" err="1">
                <a:solidFill>
                  <a:srgbClr val="475569"/>
                </a:solidFill>
                <a:latin typeface="DM Sans"/>
              </a:rPr>
              <a:t>tespit</a:t>
            </a:r>
            <a:r>
              <a:rPr sz="1125" b="0" i="0" u="none" dirty="0">
                <a:solidFill>
                  <a:srgbClr val="475569"/>
                </a:solidFill>
                <a:latin typeface="DM Sans"/>
              </a:rPr>
              <a:t> </a:t>
            </a:r>
            <a:r>
              <a:rPr sz="1125" b="0" i="0" u="none" dirty="0" err="1">
                <a:solidFill>
                  <a:srgbClr val="475569"/>
                </a:solidFill>
                <a:latin typeface="DM Sans"/>
              </a:rPr>
              <a:t>eden</a:t>
            </a:r>
            <a:r>
              <a:rPr sz="1125" b="0" i="0" u="none" dirty="0">
                <a:solidFill>
                  <a:srgbClr val="475569"/>
                </a:solidFill>
                <a:latin typeface="DM Sans"/>
              </a:rPr>
              <a:t> </a:t>
            </a:r>
            <a:r>
              <a:rPr sz="1125" b="0" i="0" u="none" dirty="0" err="1">
                <a:solidFill>
                  <a:srgbClr val="475569"/>
                </a:solidFill>
                <a:latin typeface="DM Sans"/>
              </a:rPr>
              <a:t>istemci</a:t>
            </a:r>
            <a:r>
              <a:rPr sz="1125" b="0" i="0" u="none" dirty="0">
                <a:solidFill>
                  <a:srgbClr val="475569"/>
                </a:solidFill>
                <a:latin typeface="DM Sans"/>
              </a:rPr>
              <a:t> </a:t>
            </a:r>
            <a:r>
              <a:rPr sz="1125" b="0" i="0" u="none" dirty="0" err="1">
                <a:solidFill>
                  <a:srgbClr val="475569"/>
                </a:solidFill>
                <a:latin typeface="DM Sans"/>
              </a:rPr>
              <a:t>taraflı</a:t>
            </a:r>
            <a:r>
              <a:rPr sz="1125" b="0" i="0" u="none" dirty="0">
                <a:solidFill>
                  <a:srgbClr val="475569"/>
                </a:solidFill>
                <a:latin typeface="DM Sans"/>
              </a:rPr>
              <a:t> </a:t>
            </a:r>
            <a:r>
              <a:rPr sz="1125" b="0" i="0" u="none" dirty="0" err="1">
                <a:solidFill>
                  <a:srgbClr val="475569"/>
                </a:solidFill>
                <a:latin typeface="DM Sans"/>
              </a:rPr>
              <a:t>tarayıcı</a:t>
            </a:r>
            <a:r>
              <a:rPr sz="1125" b="0" i="0" u="none" dirty="0">
                <a:solidFill>
                  <a:srgbClr val="475569"/>
                </a:solidFill>
                <a:latin typeface="DM Sans"/>
              </a:rPr>
              <a:t> </a:t>
            </a:r>
            <a:r>
              <a:rPr sz="1125" b="0" i="0" u="none" dirty="0" err="1">
                <a:solidFill>
                  <a:srgbClr val="475569"/>
                </a:solidFill>
                <a:latin typeface="DM Sans"/>
              </a:rPr>
              <a:t>eklentisi</a:t>
            </a:r>
            <a:r>
              <a:rPr sz="1125" b="0" i="0" u="none" dirty="0">
                <a:solidFill>
                  <a:srgbClr val="475569"/>
                </a:solidFill>
                <a:latin typeface="DM Sans"/>
              </a:rPr>
              <a:t> </a:t>
            </a:r>
            <a:r>
              <a:rPr sz="1125" b="0" i="0" u="none" dirty="0" err="1">
                <a:solidFill>
                  <a:srgbClr val="475569"/>
                </a:solidFill>
                <a:latin typeface="DM Sans"/>
              </a:rPr>
              <a:t>geliştirmektir</a:t>
            </a:r>
            <a:r>
              <a:rPr sz="1125" b="0" i="0" u="none" dirty="0">
                <a:solidFill>
                  <a:srgbClr val="475569"/>
                </a:solidFill>
                <a:latin typeface="DM Sans"/>
              </a:rPr>
              <a:t>.</a:t>
            </a:r>
          </a:p>
        </p:txBody>
      </p:sp>
      <p:sp>
        <p:nvSpPr>
          <p:cNvPr id="13" name="TextBox 12"/>
          <p:cNvSpPr txBox="1"/>
          <p:nvPr/>
        </p:nvSpPr>
        <p:spPr>
          <a:xfrm>
            <a:off x="809625" y="3148012"/>
            <a:ext cx="5150643" cy="219075"/>
          </a:xfrm>
          <a:prstGeom prst="rect">
            <a:avLst/>
          </a:prstGeom>
          <a:noFill/>
        </p:spPr>
        <p:txBody>
          <a:bodyPr wrap="square" lIns="209550" tIns="0" rIns="0" bIns="0" anchor="t">
            <a:spAutoFit/>
          </a:bodyPr>
          <a:lstStyle/>
          <a:p>
            <a:pPr algn="l"/>
            <a:r>
              <a:rPr sz="1350" b="1" i="0" u="none">
                <a:solidFill>
                  <a:srgbClr val="065F46"/>
                </a:solidFill>
                <a:latin typeface="Merriweather"/>
              </a:rPr>
              <a:t>Temel Motivasyon</a:t>
            </a:r>
          </a:p>
        </p:txBody>
      </p:sp>
      <p:sp>
        <p:nvSpPr>
          <p:cNvPr id="14" name="TextBox 13"/>
          <p:cNvSpPr txBox="1"/>
          <p:nvPr/>
        </p:nvSpPr>
        <p:spPr>
          <a:xfrm>
            <a:off x="809625" y="3424237"/>
            <a:ext cx="4905375" cy="857250"/>
          </a:xfrm>
          <a:prstGeom prst="rect">
            <a:avLst/>
          </a:prstGeom>
          <a:noFill/>
        </p:spPr>
        <p:txBody>
          <a:bodyPr wrap="square" lIns="0" tIns="0" rIns="0" bIns="0" anchor="t">
            <a:spAutoFit/>
          </a:bodyPr>
          <a:lstStyle/>
          <a:p>
            <a:pPr algn="l">
              <a:lnSpc>
                <a:spcPts val="1687"/>
              </a:lnSpc>
            </a:pPr>
            <a:r>
              <a:rPr sz="1125" b="0" i="0" u="none">
                <a:solidFill>
                  <a:srgbClr val="475569"/>
                </a:solidFill>
                <a:latin typeface="DM Sans"/>
              </a:rPr>
              <a:t>Geleneksel kara listelerin ortalama 24-48 saat gecikmeyle güncellenmesi ve ağ trafiğini tarayan ağır derin öğrenme modellerinin yüksek işlemci/bellek tüketimi nedeniyle son kullanıcı tarayıcılarında gecikme (latency) oluşturmasıdır.</a:t>
            </a:r>
          </a:p>
        </p:txBody>
      </p:sp>
      <p:sp>
        <p:nvSpPr>
          <p:cNvPr id="15" name="TextBox 14"/>
          <p:cNvSpPr txBox="1"/>
          <p:nvPr/>
        </p:nvSpPr>
        <p:spPr>
          <a:xfrm>
            <a:off x="6572250" y="1633537"/>
            <a:ext cx="5048250" cy="457200"/>
          </a:xfrm>
          <a:prstGeom prst="rect">
            <a:avLst/>
          </a:prstGeom>
          <a:noFill/>
        </p:spPr>
        <p:txBody>
          <a:bodyPr wrap="square" lIns="0" tIns="0" rIns="0" bIns="0" anchor="t">
            <a:spAutoFit/>
          </a:bodyPr>
          <a:lstStyle/>
          <a:p>
            <a:pPr algn="l">
              <a:lnSpc>
                <a:spcPts val="1800"/>
              </a:lnSpc>
            </a:pPr>
            <a:r>
              <a:rPr sz="1200" b="1" i="0" u="none">
                <a:solidFill>
                  <a:srgbClr val="334155"/>
                </a:solidFill>
                <a:latin typeface="DM Sans"/>
              </a:rPr>
              <a:t>Özgün Hibrit Öznitelik Seti:</a:t>
            </a:r>
            <a:r>
              <a:rPr sz="1200" b="0" i="0" u="none">
                <a:solidFill>
                  <a:srgbClr val="334155"/>
                </a:solidFill>
                <a:latin typeface="DM Sans"/>
              </a:rPr>
              <a:t> 33 adet lexical, istatistiksel karmaşıklık (entropi) ve alan adı yapısal özelliğinin kombinasyonu.</a:t>
            </a:r>
          </a:p>
        </p:txBody>
      </p:sp>
      <p:sp>
        <p:nvSpPr>
          <p:cNvPr id="16" name="TextBox 15"/>
          <p:cNvSpPr txBox="1"/>
          <p:nvPr/>
        </p:nvSpPr>
        <p:spPr>
          <a:xfrm>
            <a:off x="6572250" y="2224087"/>
            <a:ext cx="5048250" cy="457200"/>
          </a:xfrm>
          <a:prstGeom prst="rect">
            <a:avLst/>
          </a:prstGeom>
          <a:noFill/>
        </p:spPr>
        <p:txBody>
          <a:bodyPr wrap="square" lIns="0" tIns="0" rIns="0" bIns="0" anchor="t">
            <a:spAutoFit/>
          </a:bodyPr>
          <a:lstStyle/>
          <a:p>
            <a:pPr algn="l">
              <a:lnSpc>
                <a:spcPts val="1800"/>
              </a:lnSpc>
            </a:pPr>
            <a:r>
              <a:rPr sz="1200" b="1" i="0" u="none">
                <a:solidFill>
                  <a:srgbClr val="334155"/>
                </a:solidFill>
                <a:latin typeface="DM Sans"/>
              </a:rPr>
              <a:t>Hafif ve Hızlı Modelleme:</a:t>
            </a:r>
            <a:r>
              <a:rPr sz="1200" b="0" i="0" u="none">
                <a:solidFill>
                  <a:srgbClr val="334155"/>
                </a:solidFill>
                <a:latin typeface="DM Sans"/>
              </a:rPr>
              <a:t> Yalnızca 16.5 ms ortalama karar süresi ile CPU kaynaklarını yormayan istemci dostu mimari.</a:t>
            </a:r>
          </a:p>
        </p:txBody>
      </p:sp>
      <p:sp>
        <p:nvSpPr>
          <p:cNvPr id="17" name="TextBox 16"/>
          <p:cNvSpPr txBox="1"/>
          <p:nvPr/>
        </p:nvSpPr>
        <p:spPr>
          <a:xfrm>
            <a:off x="6572250" y="2814637"/>
            <a:ext cx="5048250" cy="685800"/>
          </a:xfrm>
          <a:prstGeom prst="rect">
            <a:avLst/>
          </a:prstGeom>
          <a:noFill/>
        </p:spPr>
        <p:txBody>
          <a:bodyPr wrap="square" lIns="0" tIns="0" rIns="0" bIns="0" anchor="t">
            <a:spAutoFit/>
          </a:bodyPr>
          <a:lstStyle/>
          <a:p>
            <a:pPr algn="l">
              <a:lnSpc>
                <a:spcPts val="1800"/>
              </a:lnSpc>
            </a:pPr>
            <a:r>
              <a:rPr sz="1200" b="1" i="0" u="none">
                <a:solidFill>
                  <a:srgbClr val="334155"/>
                </a:solidFill>
                <a:latin typeface="DM Sans"/>
              </a:rPr>
              <a:t>Canlı Eklenti Entegrasyonu:</a:t>
            </a:r>
            <a:r>
              <a:rPr sz="1200" b="0" i="0" u="none">
                <a:solidFill>
                  <a:srgbClr val="334155"/>
                </a:solidFill>
                <a:latin typeface="DM Sans"/>
              </a:rPr>
              <a:t> Google Chrome Manifest V3 standartlarına uygun asenkron arka plan servis çalıştırıcısı (Service Worker).</a:t>
            </a:r>
          </a:p>
        </p:txBody>
      </p:sp>
      <p:sp>
        <p:nvSpPr>
          <p:cNvPr id="18" name="TextBox 17"/>
          <p:cNvSpPr txBox="1"/>
          <p:nvPr/>
        </p:nvSpPr>
        <p:spPr>
          <a:xfrm>
            <a:off x="6572250" y="3633787"/>
            <a:ext cx="5048250" cy="457200"/>
          </a:xfrm>
          <a:prstGeom prst="rect">
            <a:avLst/>
          </a:prstGeom>
          <a:noFill/>
        </p:spPr>
        <p:txBody>
          <a:bodyPr wrap="square" lIns="0" tIns="0" rIns="0" bIns="0" anchor="t">
            <a:spAutoFit/>
          </a:bodyPr>
          <a:lstStyle/>
          <a:p>
            <a:pPr algn="l">
              <a:lnSpc>
                <a:spcPts val="1800"/>
              </a:lnSpc>
            </a:pPr>
            <a:r>
              <a:rPr lang="tr-TR" sz="1200" b="1" dirty="0" err="1">
                <a:solidFill>
                  <a:srgbClr val="334155"/>
                </a:solidFill>
                <a:latin typeface="DM Sans"/>
              </a:rPr>
              <a:t>False</a:t>
            </a:r>
            <a:r>
              <a:rPr lang="tr-TR" sz="1200" b="1" dirty="0">
                <a:solidFill>
                  <a:srgbClr val="334155"/>
                </a:solidFill>
                <a:latin typeface="DM Sans"/>
              </a:rPr>
              <a:t> </a:t>
            </a:r>
            <a:r>
              <a:rPr lang="tr-TR" sz="1200" b="1" dirty="0" err="1">
                <a:solidFill>
                  <a:srgbClr val="334155"/>
                </a:solidFill>
                <a:latin typeface="DM Sans"/>
              </a:rPr>
              <a:t>Positive</a:t>
            </a:r>
            <a:r>
              <a:rPr sz="1200" b="1" i="0" u="none" dirty="0">
                <a:solidFill>
                  <a:srgbClr val="334155"/>
                </a:solidFill>
                <a:latin typeface="DM Sans"/>
              </a:rPr>
              <a:t> </a:t>
            </a:r>
            <a:r>
              <a:rPr sz="1200" b="1" i="0" u="none" dirty="0" err="1">
                <a:solidFill>
                  <a:srgbClr val="334155"/>
                </a:solidFill>
                <a:latin typeface="DM Sans"/>
              </a:rPr>
              <a:t>Oranı</a:t>
            </a:r>
            <a:r>
              <a:rPr sz="1200" b="1" i="0" u="none" dirty="0">
                <a:solidFill>
                  <a:srgbClr val="334155"/>
                </a:solidFill>
                <a:latin typeface="DM Sans"/>
              </a:rPr>
              <a:t>:</a:t>
            </a:r>
            <a:r>
              <a:rPr sz="1200" b="0" i="0" u="none" dirty="0">
                <a:solidFill>
                  <a:srgbClr val="334155"/>
                </a:solidFill>
                <a:latin typeface="DM Sans"/>
              </a:rPr>
              <a:t> Saha </a:t>
            </a:r>
            <a:r>
              <a:rPr sz="1200" b="0" i="0" u="none" dirty="0" err="1">
                <a:solidFill>
                  <a:srgbClr val="334155"/>
                </a:solidFill>
                <a:latin typeface="DM Sans"/>
              </a:rPr>
              <a:t>doğrulama</a:t>
            </a:r>
            <a:r>
              <a:rPr sz="1200" b="0" i="0" u="none" dirty="0">
                <a:solidFill>
                  <a:srgbClr val="334155"/>
                </a:solidFill>
                <a:latin typeface="DM Sans"/>
              </a:rPr>
              <a:t> </a:t>
            </a:r>
            <a:r>
              <a:rPr sz="1200" b="0" i="0" u="none" dirty="0" err="1">
                <a:solidFill>
                  <a:srgbClr val="334155"/>
                </a:solidFill>
                <a:latin typeface="DM Sans"/>
              </a:rPr>
              <a:t>testlerinde</a:t>
            </a:r>
            <a:r>
              <a:rPr sz="1200" b="0" i="0" u="none" dirty="0">
                <a:solidFill>
                  <a:srgbClr val="334155"/>
                </a:solidFill>
                <a:latin typeface="DM Sans"/>
              </a:rPr>
              <a:t> </a:t>
            </a:r>
            <a:r>
              <a:rPr sz="1200" b="0" i="0" u="none" dirty="0" err="1">
                <a:solidFill>
                  <a:srgbClr val="334155"/>
                </a:solidFill>
                <a:latin typeface="DM Sans"/>
              </a:rPr>
              <a:t>meşru</a:t>
            </a:r>
            <a:r>
              <a:rPr sz="1200" b="0" i="0" u="none" dirty="0">
                <a:solidFill>
                  <a:srgbClr val="334155"/>
                </a:solidFill>
                <a:latin typeface="DM Sans"/>
              </a:rPr>
              <a:t> web </a:t>
            </a:r>
            <a:r>
              <a:rPr sz="1200" b="0" i="0" u="none" dirty="0" err="1">
                <a:solidFill>
                  <a:srgbClr val="334155"/>
                </a:solidFill>
                <a:latin typeface="DM Sans"/>
              </a:rPr>
              <a:t>sitelerini</a:t>
            </a:r>
            <a:r>
              <a:rPr sz="1200" b="0" i="0" u="none" dirty="0">
                <a:solidFill>
                  <a:srgbClr val="334155"/>
                </a:solidFill>
                <a:latin typeface="DM Sans"/>
              </a:rPr>
              <a:t> </a:t>
            </a:r>
            <a:r>
              <a:rPr sz="1200" b="0" i="0" u="none" dirty="0" err="1">
                <a:solidFill>
                  <a:srgbClr val="334155"/>
                </a:solidFill>
                <a:latin typeface="DM Sans"/>
              </a:rPr>
              <a:t>hatalı</a:t>
            </a:r>
            <a:r>
              <a:rPr sz="1200" b="0" i="0" u="none" dirty="0">
                <a:solidFill>
                  <a:srgbClr val="334155"/>
                </a:solidFill>
                <a:latin typeface="DM Sans"/>
              </a:rPr>
              <a:t> </a:t>
            </a:r>
            <a:r>
              <a:rPr sz="1200" b="0" i="0" u="none" dirty="0" err="1">
                <a:solidFill>
                  <a:srgbClr val="334155"/>
                </a:solidFill>
                <a:latin typeface="DM Sans"/>
              </a:rPr>
              <a:t>engellemeyen</a:t>
            </a:r>
            <a:r>
              <a:rPr sz="1200" b="0" i="0" u="none" dirty="0">
                <a:solidFill>
                  <a:srgbClr val="334155"/>
                </a:solidFill>
                <a:latin typeface="DM Sans"/>
              </a:rPr>
              <a:t> </a:t>
            </a:r>
            <a:r>
              <a:rPr sz="1200" b="0" i="0" u="none" dirty="0" err="1">
                <a:solidFill>
                  <a:srgbClr val="334155"/>
                </a:solidFill>
                <a:latin typeface="DM Sans"/>
              </a:rPr>
              <a:t>güvenilir</a:t>
            </a:r>
            <a:r>
              <a:rPr sz="1200" b="0" i="0" u="none" dirty="0">
                <a:solidFill>
                  <a:srgbClr val="334155"/>
                </a:solidFill>
                <a:latin typeface="DM Sans"/>
              </a:rPr>
              <a:t> </a:t>
            </a:r>
            <a:r>
              <a:rPr sz="1200" b="0" i="0" u="none" dirty="0" err="1">
                <a:solidFill>
                  <a:srgbClr val="334155"/>
                </a:solidFill>
                <a:latin typeface="DM Sans"/>
              </a:rPr>
              <a:t>sınıflandırma</a:t>
            </a:r>
            <a:r>
              <a:rPr sz="1200" b="0" i="0" u="none" dirty="0">
                <a:solidFill>
                  <a:srgbClr val="334155"/>
                </a:solidFill>
                <a:latin typeface="DM Sans"/>
              </a:rPr>
              <a:t>.</a:t>
            </a:r>
          </a:p>
        </p:txBody>
      </p:sp>
      <p:pic>
        <p:nvPicPr>
          <p:cNvPr id="19" name="Picture 18" descr="image.png"/>
          <p:cNvPicPr>
            <a:picLocks noChangeAspect="1"/>
          </p:cNvPicPr>
          <p:nvPr/>
        </p:nvPicPr>
        <p:blipFill>
          <a:blip r:embed="rId5"/>
          <a:stretch>
            <a:fillRect/>
          </a:stretch>
        </p:blipFill>
        <p:spPr>
          <a:xfrm>
            <a:off x="809625" y="1471612"/>
            <a:ext cx="171450" cy="171450"/>
          </a:xfrm>
          <a:prstGeom prst="rect">
            <a:avLst/>
          </a:prstGeom>
        </p:spPr>
      </p:pic>
      <p:pic>
        <p:nvPicPr>
          <p:cNvPr id="20" name="Picture 19" descr="image.png"/>
          <p:cNvPicPr>
            <a:picLocks noChangeAspect="1"/>
          </p:cNvPicPr>
          <p:nvPr/>
        </p:nvPicPr>
        <p:blipFill>
          <a:blip r:embed="rId6"/>
          <a:stretch>
            <a:fillRect/>
          </a:stretch>
        </p:blipFill>
        <p:spPr>
          <a:xfrm>
            <a:off x="809625" y="3176587"/>
            <a:ext cx="133350" cy="171450"/>
          </a:xfrm>
          <a:prstGeom prst="rect">
            <a:avLst/>
          </a:prstGeom>
        </p:spPr>
      </p:pic>
      <p:pic>
        <p:nvPicPr>
          <p:cNvPr id="21" name="Picture 20" descr="image.png"/>
          <p:cNvPicPr>
            <a:picLocks noChangeAspect="1"/>
          </p:cNvPicPr>
          <p:nvPr/>
        </p:nvPicPr>
        <p:blipFill>
          <a:blip r:embed="rId7"/>
          <a:stretch>
            <a:fillRect/>
          </a:stretch>
        </p:blipFill>
        <p:spPr>
          <a:xfrm>
            <a:off x="6286500" y="1657350"/>
            <a:ext cx="171450" cy="180975"/>
          </a:xfrm>
          <a:prstGeom prst="rect">
            <a:avLst/>
          </a:prstGeom>
        </p:spPr>
      </p:pic>
      <p:pic>
        <p:nvPicPr>
          <p:cNvPr id="22" name="Picture 21" descr="image.png"/>
          <p:cNvPicPr>
            <a:picLocks noChangeAspect="1"/>
          </p:cNvPicPr>
          <p:nvPr/>
        </p:nvPicPr>
        <p:blipFill>
          <a:blip r:embed="rId7"/>
          <a:stretch>
            <a:fillRect/>
          </a:stretch>
        </p:blipFill>
        <p:spPr>
          <a:xfrm>
            <a:off x="6286500" y="2247900"/>
            <a:ext cx="171450" cy="180975"/>
          </a:xfrm>
          <a:prstGeom prst="rect">
            <a:avLst/>
          </a:prstGeom>
        </p:spPr>
      </p:pic>
      <p:pic>
        <p:nvPicPr>
          <p:cNvPr id="23" name="Picture 22" descr="image.png"/>
          <p:cNvPicPr>
            <a:picLocks noChangeAspect="1"/>
          </p:cNvPicPr>
          <p:nvPr/>
        </p:nvPicPr>
        <p:blipFill>
          <a:blip r:embed="rId7"/>
          <a:stretch>
            <a:fillRect/>
          </a:stretch>
        </p:blipFill>
        <p:spPr>
          <a:xfrm>
            <a:off x="6286500" y="2838450"/>
            <a:ext cx="171450" cy="180975"/>
          </a:xfrm>
          <a:prstGeom prst="rect">
            <a:avLst/>
          </a:prstGeom>
        </p:spPr>
      </p:pic>
      <p:pic>
        <p:nvPicPr>
          <p:cNvPr id="24" name="Picture 23" descr="image.png"/>
          <p:cNvPicPr>
            <a:picLocks noChangeAspect="1"/>
          </p:cNvPicPr>
          <p:nvPr/>
        </p:nvPicPr>
        <p:blipFill>
          <a:blip r:embed="rId7"/>
          <a:stretch>
            <a:fillRect/>
          </a:stretch>
        </p:blipFill>
        <p:spPr>
          <a:xfrm>
            <a:off x="6286500" y="3657600"/>
            <a:ext cx="171450" cy="180975"/>
          </a:xfrm>
          <a:prstGeom prst="rect">
            <a:avLst/>
          </a:prstGeom>
        </p:spPr>
      </p:pic>
      <p:pic>
        <p:nvPicPr>
          <p:cNvPr id="25" name="Picture 1" descr="image.png">
            <a:extLst>
              <a:ext uri="{FF2B5EF4-FFF2-40B4-BE49-F238E27FC236}">
                <a16:creationId xmlns:a16="http://schemas.microsoft.com/office/drawing/2014/main" id="{67A4E002-5D95-991E-4C08-5DE8A795E153}"/>
              </a:ext>
            </a:extLst>
          </p:cNvPr>
          <p:cNvPicPr>
            <a:picLocks noChangeAspect="1"/>
          </p:cNvPicPr>
          <p:nvPr/>
        </p:nvPicPr>
        <p:blipFill>
          <a:blip r:embed="rId8"/>
          <a:stretch>
            <a:fillRect/>
          </a:stretch>
        </p:blipFill>
        <p:spPr>
          <a:xfrm>
            <a:off x="571500" y="928687"/>
            <a:ext cx="11048999" cy="174458"/>
          </a:xfrm>
          <a:prstGeom prst="rect">
            <a:avLst/>
          </a:prstGeom>
        </p:spPr>
      </p:pic>
      <p:pic>
        <p:nvPicPr>
          <p:cNvPr id="26" name="İçerik Yer Tutucusu 10">
            <a:extLst>
              <a:ext uri="{FF2B5EF4-FFF2-40B4-BE49-F238E27FC236}">
                <a16:creationId xmlns:a16="http://schemas.microsoft.com/office/drawing/2014/main" id="{141DE077-B4E6-801C-C9C0-880899014269}"/>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9609138" y="456406"/>
            <a:ext cx="2011362"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2C5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666750" y="6429375"/>
            <a:ext cx="10858500" cy="238125"/>
          </a:xfrm>
          <a:prstGeom prst="rect">
            <a:avLst/>
          </a:prstGeom>
        </p:spPr>
      </p:pic>
      <p:pic>
        <p:nvPicPr>
          <p:cNvPr id="3" name="Picture 2" descr="image.png"/>
          <p:cNvPicPr>
            <a:picLocks noChangeAspect="1"/>
          </p:cNvPicPr>
          <p:nvPr/>
        </p:nvPicPr>
        <p:blipFill>
          <a:blip r:embed="rId3"/>
          <a:stretch>
            <a:fillRect/>
          </a:stretch>
        </p:blipFill>
        <p:spPr>
          <a:xfrm>
            <a:off x="4667250" y="3717577"/>
            <a:ext cx="2857500" cy="171450"/>
          </a:xfrm>
          <a:prstGeom prst="rect">
            <a:avLst/>
          </a:prstGeom>
        </p:spPr>
      </p:pic>
      <p:sp>
        <p:nvSpPr>
          <p:cNvPr id="4" name="TextBox 3"/>
          <p:cNvSpPr txBox="1"/>
          <p:nvPr/>
        </p:nvSpPr>
        <p:spPr>
          <a:xfrm>
            <a:off x="666750" y="476250"/>
            <a:ext cx="1838325" cy="133350"/>
          </a:xfrm>
          <a:prstGeom prst="rect">
            <a:avLst/>
          </a:prstGeom>
          <a:noFill/>
        </p:spPr>
        <p:txBody>
          <a:bodyPr wrap="square" lIns="0" tIns="0" rIns="0" bIns="0" anchor="ctr">
            <a:spAutoFit/>
          </a:bodyPr>
          <a:lstStyle/>
          <a:p>
            <a:pPr algn="l"/>
            <a:r>
              <a:rPr sz="1200" b="1" i="0" u="none" dirty="0">
                <a:solidFill>
                  <a:srgbClr val="FFFFFF"/>
                </a:solidFill>
                <a:latin typeface="DM Sans"/>
              </a:rPr>
              <a:t>SAKARYA ÜNİVERSİTESİ</a:t>
            </a:r>
          </a:p>
        </p:txBody>
      </p:sp>
      <p:sp>
        <p:nvSpPr>
          <p:cNvPr id="5" name="TextBox 4"/>
          <p:cNvSpPr txBox="1"/>
          <p:nvPr/>
        </p:nvSpPr>
        <p:spPr>
          <a:xfrm>
            <a:off x="2095500" y="2572791"/>
            <a:ext cx="8001000" cy="238125"/>
          </a:xfrm>
          <a:prstGeom prst="rect">
            <a:avLst/>
          </a:prstGeom>
          <a:noFill/>
        </p:spPr>
        <p:txBody>
          <a:bodyPr wrap="square" lIns="0" tIns="0" rIns="0" bIns="0" anchor="t">
            <a:spAutoFit/>
          </a:bodyPr>
          <a:lstStyle/>
          <a:p>
            <a:pPr algn="ctr"/>
            <a:r>
              <a:rPr sz="1500" b="1" i="0" u="none">
                <a:solidFill>
                  <a:srgbClr val="C5A059"/>
                </a:solidFill>
                <a:latin typeface="Merriweather"/>
              </a:rPr>
              <a:t>BÖLÜM 01</a:t>
            </a:r>
          </a:p>
        </p:txBody>
      </p:sp>
      <p:sp>
        <p:nvSpPr>
          <p:cNvPr id="6" name="TextBox 5"/>
          <p:cNvSpPr txBox="1"/>
          <p:nvPr/>
        </p:nvSpPr>
        <p:spPr>
          <a:xfrm>
            <a:off x="2095500" y="2953791"/>
            <a:ext cx="8001000" cy="525660"/>
          </a:xfrm>
          <a:prstGeom prst="rect">
            <a:avLst/>
          </a:prstGeom>
          <a:noFill/>
        </p:spPr>
        <p:txBody>
          <a:bodyPr wrap="square" lIns="0" tIns="0" rIns="0" bIns="0" anchor="t">
            <a:spAutoFit/>
          </a:bodyPr>
          <a:lstStyle/>
          <a:p>
            <a:pPr algn="ctr">
              <a:lnSpc>
                <a:spcPts val="4140"/>
              </a:lnSpc>
            </a:pPr>
            <a:r>
              <a:rPr sz="3450" b="1" i="0" u="none">
                <a:solidFill>
                  <a:srgbClr val="FFFFFF"/>
                </a:solidFill>
                <a:latin typeface="Merriweather"/>
              </a:rPr>
              <a:t>GİRİŞ VE TEHDİT MATRİSİ</a:t>
            </a:r>
          </a:p>
        </p:txBody>
      </p:sp>
      <p:sp>
        <p:nvSpPr>
          <p:cNvPr id="7" name="TextBox 6"/>
          <p:cNvSpPr txBox="1"/>
          <p:nvPr/>
        </p:nvSpPr>
        <p:spPr>
          <a:xfrm>
            <a:off x="2286000" y="4174777"/>
            <a:ext cx="7620000" cy="243780"/>
          </a:xfrm>
          <a:prstGeom prst="rect">
            <a:avLst/>
          </a:prstGeom>
          <a:noFill/>
        </p:spPr>
        <p:txBody>
          <a:bodyPr wrap="square" lIns="0" tIns="0" rIns="0" bIns="0" anchor="t">
            <a:spAutoFit/>
          </a:bodyPr>
          <a:lstStyle/>
          <a:p>
            <a:pPr algn="ctr">
              <a:lnSpc>
                <a:spcPts val="1920"/>
              </a:lnSpc>
            </a:pPr>
            <a:r>
              <a:rPr sz="1200" b="0" i="0" u="none">
                <a:solidFill>
                  <a:srgbClr val="CBD5E1"/>
                </a:solidFill>
                <a:latin typeface="DM Sans"/>
              </a:rPr>
              <a:t>Problem Tanımı, Tezin Amacı ve Oltalama (Phishing) Saldırılarının Günümüzdeki Küresel Etkileri.</a:t>
            </a:r>
          </a:p>
        </p:txBody>
      </p:sp>
      <p:sp>
        <p:nvSpPr>
          <p:cNvPr id="8" name="TextBox 7"/>
          <p:cNvSpPr txBox="1"/>
          <p:nvPr/>
        </p:nvSpPr>
        <p:spPr>
          <a:xfrm>
            <a:off x="666750" y="6534150"/>
            <a:ext cx="2451354" cy="126958"/>
          </a:xfrm>
          <a:prstGeom prst="rect">
            <a:avLst/>
          </a:prstGeom>
          <a:noFill/>
        </p:spPr>
        <p:txBody>
          <a:bodyPr wrap="square" lIns="0" tIns="0" rIns="0" bIns="0" anchor="t">
            <a:spAutoFit/>
          </a:bodyPr>
          <a:lstStyle/>
          <a:p>
            <a:pPr algn="l"/>
            <a:r>
              <a:rPr sz="825" b="0" i="0" u="none" dirty="0">
                <a:solidFill>
                  <a:srgbClr val="94A3B8"/>
                </a:solidFill>
                <a:latin typeface="DM Sans"/>
              </a:rPr>
              <a:t>Mustafa </a:t>
            </a:r>
            <a:r>
              <a:rPr sz="825" b="0" i="0" u="none" dirty="0" err="1">
                <a:solidFill>
                  <a:srgbClr val="94A3B8"/>
                </a:solidFill>
                <a:latin typeface="DM Sans"/>
              </a:rPr>
              <a:t>Melih</a:t>
            </a:r>
            <a:r>
              <a:rPr sz="825" b="0" i="0" u="none" dirty="0">
                <a:solidFill>
                  <a:srgbClr val="94A3B8"/>
                </a:solidFill>
                <a:latin typeface="DM Sans"/>
              </a:rPr>
              <a:t> TÜFEKCİOĞLU • </a:t>
            </a:r>
            <a:r>
              <a:rPr sz="825" b="0" i="0" u="none" dirty="0" err="1">
                <a:solidFill>
                  <a:srgbClr val="94A3B8"/>
                </a:solidFill>
                <a:latin typeface="DM Sans"/>
              </a:rPr>
              <a:t>Yüksek</a:t>
            </a:r>
            <a:r>
              <a:rPr sz="825" b="0" i="0" u="none" dirty="0">
                <a:solidFill>
                  <a:srgbClr val="94A3B8"/>
                </a:solidFill>
                <a:latin typeface="DM Sans"/>
              </a:rPr>
              <a:t> </a:t>
            </a:r>
            <a:r>
              <a:rPr sz="825" b="0" i="0" u="none" dirty="0" err="1">
                <a:solidFill>
                  <a:srgbClr val="94A3B8"/>
                </a:solidFill>
                <a:latin typeface="DM Sans"/>
              </a:rPr>
              <a:t>Lisans</a:t>
            </a:r>
            <a:r>
              <a:rPr sz="825" b="0" i="0" u="none" dirty="0">
                <a:solidFill>
                  <a:srgbClr val="94A3B8"/>
                </a:solidFill>
                <a:latin typeface="DM Sans"/>
              </a:rPr>
              <a:t> </a:t>
            </a:r>
            <a:r>
              <a:rPr sz="825" b="0" i="0" u="none" dirty="0" err="1">
                <a:solidFill>
                  <a:srgbClr val="94A3B8"/>
                </a:solidFill>
                <a:latin typeface="DM Sans"/>
              </a:rPr>
              <a:t>Tezi</a:t>
            </a:r>
            <a:endParaRPr sz="825" b="0" i="0" u="none" dirty="0">
              <a:solidFill>
                <a:srgbClr val="94A3B8"/>
              </a:solidFill>
              <a:latin typeface="DM Sans"/>
            </a:endParaRPr>
          </a:p>
        </p:txBody>
      </p:sp>
      <p:sp>
        <p:nvSpPr>
          <p:cNvPr id="9" name="TextBox 8"/>
          <p:cNvSpPr txBox="1"/>
          <p:nvPr/>
        </p:nvSpPr>
        <p:spPr>
          <a:xfrm>
            <a:off x="11210925" y="6534150"/>
            <a:ext cx="314325" cy="253916"/>
          </a:xfrm>
          <a:prstGeom prst="rect">
            <a:avLst/>
          </a:prstGeom>
          <a:noFill/>
        </p:spPr>
        <p:txBody>
          <a:bodyPr wrap="square" lIns="0" tIns="0" rIns="0" bIns="0" anchor="t">
            <a:spAutoFit/>
          </a:bodyPr>
          <a:lstStyle/>
          <a:p>
            <a:pPr algn="l"/>
            <a:r>
              <a:rPr sz="825" b="0" i="0" u="none" dirty="0" err="1">
                <a:solidFill>
                  <a:srgbClr val="94A3B8"/>
                </a:solidFill>
                <a:latin typeface="DM Sans"/>
              </a:rPr>
              <a:t>Slayt</a:t>
            </a:r>
            <a:r>
              <a:rPr sz="825" b="0" i="0" u="none" dirty="0">
                <a:solidFill>
                  <a:srgbClr val="94A3B8"/>
                </a:solidFill>
                <a:latin typeface="DM Sans"/>
              </a:rPr>
              <a:t> </a:t>
            </a:r>
            <a:r>
              <a:rPr lang="tr-TR" sz="825" b="0" i="0" u="none" dirty="0">
                <a:solidFill>
                  <a:srgbClr val="94A3B8"/>
                </a:solidFill>
                <a:latin typeface="DM Sans"/>
              </a:rPr>
              <a:t>4</a:t>
            </a:r>
            <a:endParaRPr sz="825" b="0" i="0" u="none" dirty="0">
              <a:solidFill>
                <a:srgbClr val="94A3B8"/>
              </a:solidFill>
              <a:latin typeface="DM Sans"/>
            </a:endParaRPr>
          </a:p>
        </p:txBody>
      </p:sp>
      <p:pic>
        <p:nvPicPr>
          <p:cNvPr id="10" name="İçerik Yer Tutucusu 10">
            <a:extLst>
              <a:ext uri="{FF2B5EF4-FFF2-40B4-BE49-F238E27FC236}">
                <a16:creationId xmlns:a16="http://schemas.microsoft.com/office/drawing/2014/main" id="{97C8F7BC-80A7-ACB8-5889-0B1E77A65D3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80231" y="300012"/>
            <a:ext cx="2011362"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png"/>
          <p:cNvPicPr>
            <a:picLocks noChangeAspect="1"/>
          </p:cNvPicPr>
          <p:nvPr/>
        </p:nvPicPr>
        <p:blipFill>
          <a:blip r:embed="rId2"/>
          <a:stretch>
            <a:fillRect/>
          </a:stretch>
        </p:blipFill>
        <p:spPr>
          <a:xfrm>
            <a:off x="571500" y="6391275"/>
            <a:ext cx="11049000" cy="276225"/>
          </a:xfrm>
          <a:prstGeom prst="rect">
            <a:avLst/>
          </a:prstGeom>
        </p:spPr>
      </p:pic>
      <p:pic>
        <p:nvPicPr>
          <p:cNvPr id="4" name="Picture 3" descr="image.png"/>
          <p:cNvPicPr>
            <a:picLocks noChangeAspect="1"/>
          </p:cNvPicPr>
          <p:nvPr/>
        </p:nvPicPr>
        <p:blipFill>
          <a:blip r:embed="rId3"/>
          <a:stretch>
            <a:fillRect/>
          </a:stretch>
        </p:blipFill>
        <p:spPr>
          <a:xfrm>
            <a:off x="571500" y="1252537"/>
            <a:ext cx="4848969" cy="1181100"/>
          </a:xfrm>
          <a:prstGeom prst="rect">
            <a:avLst/>
          </a:prstGeom>
        </p:spPr>
      </p:pic>
      <p:pic>
        <p:nvPicPr>
          <p:cNvPr id="5" name="Picture 4" descr="image.png"/>
          <p:cNvPicPr>
            <a:picLocks noChangeAspect="1"/>
          </p:cNvPicPr>
          <p:nvPr/>
        </p:nvPicPr>
        <p:blipFill>
          <a:blip r:embed="rId4"/>
          <a:stretch>
            <a:fillRect/>
          </a:stretch>
        </p:blipFill>
        <p:spPr>
          <a:xfrm>
            <a:off x="571500" y="2576512"/>
            <a:ext cx="4848969" cy="1181100"/>
          </a:xfrm>
          <a:prstGeom prst="rect">
            <a:avLst/>
          </a:prstGeom>
        </p:spPr>
      </p:pic>
      <p:sp>
        <p:nvSpPr>
          <p:cNvPr id="6" name="TextBox 5"/>
          <p:cNvSpPr txBox="1"/>
          <p:nvPr/>
        </p:nvSpPr>
        <p:spPr>
          <a:xfrm>
            <a:off x="571500" y="476250"/>
            <a:ext cx="11601450" cy="392993"/>
          </a:xfrm>
          <a:prstGeom prst="rect">
            <a:avLst/>
          </a:prstGeom>
          <a:noFill/>
        </p:spPr>
        <p:txBody>
          <a:bodyPr wrap="square" lIns="0" tIns="0" rIns="0" bIns="0" anchor="t">
            <a:spAutoFit/>
          </a:bodyPr>
          <a:lstStyle/>
          <a:p>
            <a:pPr algn="l">
              <a:lnSpc>
                <a:spcPts val="3187"/>
              </a:lnSpc>
            </a:pPr>
            <a:r>
              <a:rPr sz="2550" b="1" i="0" u="none" dirty="0" err="1">
                <a:solidFill>
                  <a:srgbClr val="005088"/>
                </a:solidFill>
                <a:latin typeface="Merriweather"/>
              </a:rPr>
              <a:t>Siber</a:t>
            </a:r>
            <a:r>
              <a:rPr sz="2550" b="1" i="0" u="none" dirty="0">
                <a:solidFill>
                  <a:srgbClr val="005088"/>
                </a:solidFill>
                <a:latin typeface="Merriweather"/>
              </a:rPr>
              <a:t> </a:t>
            </a:r>
            <a:r>
              <a:rPr sz="2550" b="1" i="0" u="none" dirty="0" err="1">
                <a:solidFill>
                  <a:srgbClr val="005088"/>
                </a:solidFill>
                <a:latin typeface="Merriweather"/>
              </a:rPr>
              <a:t>Tehdit</a:t>
            </a:r>
            <a:r>
              <a:rPr sz="2550" b="1" i="0" u="none" dirty="0">
                <a:solidFill>
                  <a:srgbClr val="005088"/>
                </a:solidFill>
                <a:latin typeface="Merriweather"/>
              </a:rPr>
              <a:t> </a:t>
            </a:r>
            <a:r>
              <a:rPr sz="2550" b="1" i="0" u="none" dirty="0" err="1">
                <a:solidFill>
                  <a:srgbClr val="005088"/>
                </a:solidFill>
                <a:latin typeface="Merriweather"/>
              </a:rPr>
              <a:t>Ortamı</a:t>
            </a:r>
            <a:r>
              <a:rPr sz="2550" b="1" i="0" u="none" dirty="0">
                <a:solidFill>
                  <a:srgbClr val="005088"/>
                </a:solidFill>
                <a:latin typeface="Merriweather"/>
              </a:rPr>
              <a:t> </a:t>
            </a:r>
            <a:r>
              <a:rPr sz="2550" b="1" i="0" u="none" dirty="0" err="1">
                <a:solidFill>
                  <a:srgbClr val="005088"/>
                </a:solidFill>
                <a:latin typeface="Merriweather"/>
              </a:rPr>
              <a:t>ve</a:t>
            </a:r>
            <a:r>
              <a:rPr sz="2550" b="1" i="0" u="none" dirty="0">
                <a:solidFill>
                  <a:srgbClr val="005088"/>
                </a:solidFill>
                <a:latin typeface="Merriweather"/>
              </a:rPr>
              <a:t> </a:t>
            </a:r>
            <a:r>
              <a:rPr sz="2550" b="1" i="0" u="none" dirty="0" err="1">
                <a:solidFill>
                  <a:srgbClr val="005088"/>
                </a:solidFill>
                <a:latin typeface="Merriweather"/>
              </a:rPr>
              <a:t>Oltalama</a:t>
            </a:r>
            <a:r>
              <a:rPr sz="2550" b="1" i="0" u="none" dirty="0">
                <a:solidFill>
                  <a:srgbClr val="005088"/>
                </a:solidFill>
                <a:latin typeface="Merriweather"/>
              </a:rPr>
              <a:t> </a:t>
            </a:r>
            <a:r>
              <a:rPr sz="2550" b="1" i="0" u="none" dirty="0" err="1">
                <a:solidFill>
                  <a:srgbClr val="005088"/>
                </a:solidFill>
                <a:latin typeface="Merriweather"/>
              </a:rPr>
              <a:t>Trendleri</a:t>
            </a:r>
            <a:endParaRPr sz="2550" b="1" i="0" u="none" dirty="0">
              <a:solidFill>
                <a:srgbClr val="005088"/>
              </a:solidFill>
              <a:latin typeface="Merriweather"/>
            </a:endParaRPr>
          </a:p>
        </p:txBody>
      </p:sp>
      <p:sp>
        <p:nvSpPr>
          <p:cNvPr id="7" name="Rectangle 6"/>
          <p:cNvSpPr/>
          <p:nvPr/>
        </p:nvSpPr>
        <p:spPr>
          <a:xfrm>
            <a:off x="571500" y="995362"/>
            <a:ext cx="11049000"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71500" y="6496050"/>
            <a:ext cx="3009900" cy="171450"/>
          </a:xfrm>
          <a:prstGeom prst="rect">
            <a:avLst/>
          </a:prstGeom>
          <a:noFill/>
        </p:spPr>
        <p:txBody>
          <a:bodyPr wrap="square" lIns="0" tIns="0" rIns="0" bIns="0" anchor="t">
            <a:spAutoFit/>
          </a:bodyPr>
          <a:lstStyle/>
          <a:p>
            <a:pPr algn="l">
              <a:lnSpc>
                <a:spcPts val="1350"/>
              </a:lnSpc>
            </a:pPr>
            <a:r>
              <a:rPr sz="900" b="0" i="0" u="none">
                <a:solidFill>
                  <a:srgbClr val="94A3B8"/>
                </a:solidFill>
                <a:latin typeface="DM Sans"/>
              </a:rPr>
              <a:t>SAKARYA ÜNİVERSİTESİ • YÜKSEK LİSANS TEZ SAVUNMASI</a:t>
            </a:r>
          </a:p>
        </p:txBody>
      </p:sp>
      <p:sp>
        <p:nvSpPr>
          <p:cNvPr id="9" name="TextBox 8"/>
          <p:cNvSpPr txBox="1"/>
          <p:nvPr/>
        </p:nvSpPr>
        <p:spPr>
          <a:xfrm>
            <a:off x="11249025" y="6496050"/>
            <a:ext cx="371475" cy="171450"/>
          </a:xfrm>
          <a:prstGeom prst="rect">
            <a:avLst/>
          </a:prstGeom>
          <a:noFill/>
        </p:spPr>
        <p:txBody>
          <a:bodyPr wrap="square" lIns="0" tIns="0" rIns="0" bIns="0" anchor="t">
            <a:spAutoFit/>
          </a:bodyPr>
          <a:lstStyle/>
          <a:p>
            <a:pPr algn="l">
              <a:lnSpc>
                <a:spcPts val="1350"/>
              </a:lnSpc>
            </a:pPr>
            <a:r>
              <a:rPr sz="900" b="0" i="0" u="none" dirty="0" err="1">
                <a:solidFill>
                  <a:srgbClr val="94A3B8"/>
                </a:solidFill>
                <a:latin typeface="DM Sans"/>
              </a:rPr>
              <a:t>Slayt</a:t>
            </a:r>
            <a:r>
              <a:rPr sz="900" b="0" i="0" u="none" dirty="0">
                <a:solidFill>
                  <a:srgbClr val="94A3B8"/>
                </a:solidFill>
                <a:latin typeface="DM Sans"/>
              </a:rPr>
              <a:t> 5</a:t>
            </a:r>
          </a:p>
        </p:txBody>
      </p:sp>
      <p:sp>
        <p:nvSpPr>
          <p:cNvPr id="10" name="TextBox 9"/>
          <p:cNvSpPr txBox="1"/>
          <p:nvPr/>
        </p:nvSpPr>
        <p:spPr>
          <a:xfrm>
            <a:off x="5801469" y="1252537"/>
            <a:ext cx="6109982" cy="238125"/>
          </a:xfrm>
          <a:prstGeom prst="rect">
            <a:avLst/>
          </a:prstGeom>
          <a:noFill/>
        </p:spPr>
        <p:txBody>
          <a:bodyPr wrap="square" lIns="0" tIns="0" rIns="0" bIns="0" anchor="t">
            <a:spAutoFit/>
          </a:bodyPr>
          <a:lstStyle/>
          <a:p>
            <a:pPr algn="l"/>
            <a:r>
              <a:rPr sz="1500" b="1" i="0" u="none">
                <a:solidFill>
                  <a:srgbClr val="005088"/>
                </a:solidFill>
                <a:latin typeface="Merriweather"/>
              </a:rPr>
              <a:t>Oltalama Saldırılarının Karakteristiği</a:t>
            </a:r>
          </a:p>
        </p:txBody>
      </p:sp>
      <p:sp>
        <p:nvSpPr>
          <p:cNvPr id="11" name="TextBox 10"/>
          <p:cNvSpPr txBox="1"/>
          <p:nvPr/>
        </p:nvSpPr>
        <p:spPr>
          <a:xfrm>
            <a:off x="809625" y="1490662"/>
            <a:ext cx="4372719" cy="438150"/>
          </a:xfrm>
          <a:prstGeom prst="rect">
            <a:avLst/>
          </a:prstGeom>
          <a:noFill/>
        </p:spPr>
        <p:txBody>
          <a:bodyPr wrap="square" lIns="0" tIns="0" rIns="0" bIns="0" anchor="t">
            <a:spAutoFit/>
          </a:bodyPr>
          <a:lstStyle/>
          <a:p>
            <a:pPr algn="ctr">
              <a:lnSpc>
                <a:spcPts val="3450"/>
              </a:lnSpc>
            </a:pPr>
            <a:r>
              <a:rPr sz="3450" b="1" i="0" u="none">
                <a:solidFill>
                  <a:srgbClr val="11CAA0"/>
                </a:solidFill>
                <a:latin typeface="Merriweather"/>
              </a:rPr>
              <a:t>%300+</a:t>
            </a:r>
          </a:p>
        </p:txBody>
      </p:sp>
      <p:sp>
        <p:nvSpPr>
          <p:cNvPr id="12" name="TextBox 11"/>
          <p:cNvSpPr txBox="1"/>
          <p:nvPr/>
        </p:nvSpPr>
        <p:spPr>
          <a:xfrm>
            <a:off x="809625" y="2005012"/>
            <a:ext cx="4372719" cy="190500"/>
          </a:xfrm>
          <a:prstGeom prst="rect">
            <a:avLst/>
          </a:prstGeom>
          <a:noFill/>
        </p:spPr>
        <p:txBody>
          <a:bodyPr wrap="square" lIns="0" tIns="0" rIns="0" bIns="0" anchor="t">
            <a:spAutoFit/>
          </a:bodyPr>
          <a:lstStyle/>
          <a:p>
            <a:pPr algn="ctr"/>
            <a:r>
              <a:rPr sz="1125" b="0" i="0" u="none">
                <a:solidFill>
                  <a:srgbClr val="F3F0DF"/>
                </a:solidFill>
                <a:latin typeface="DM Sans Medium"/>
              </a:rPr>
              <a:t>Son 10 Yılda Küresel Siber Saldırı Artış Oranı</a:t>
            </a:r>
          </a:p>
        </p:txBody>
      </p:sp>
      <p:sp>
        <p:nvSpPr>
          <p:cNvPr id="13" name="TextBox 12"/>
          <p:cNvSpPr txBox="1"/>
          <p:nvPr/>
        </p:nvSpPr>
        <p:spPr>
          <a:xfrm>
            <a:off x="809625" y="2814637"/>
            <a:ext cx="4372719" cy="438150"/>
          </a:xfrm>
          <a:prstGeom prst="rect">
            <a:avLst/>
          </a:prstGeom>
          <a:noFill/>
        </p:spPr>
        <p:txBody>
          <a:bodyPr wrap="square" lIns="0" tIns="0" rIns="0" bIns="0" anchor="t">
            <a:spAutoFit/>
          </a:bodyPr>
          <a:lstStyle/>
          <a:p>
            <a:pPr algn="ctr">
              <a:lnSpc>
                <a:spcPts val="3450"/>
              </a:lnSpc>
            </a:pPr>
            <a:r>
              <a:rPr sz="3450" b="1" i="0" u="none">
                <a:solidFill>
                  <a:srgbClr val="FACC15"/>
                </a:solidFill>
                <a:latin typeface="Merriweather"/>
              </a:rPr>
              <a:t>10.5 Trilyon $</a:t>
            </a:r>
          </a:p>
        </p:txBody>
      </p:sp>
      <p:sp>
        <p:nvSpPr>
          <p:cNvPr id="14" name="TextBox 13"/>
          <p:cNvSpPr txBox="1"/>
          <p:nvPr/>
        </p:nvSpPr>
        <p:spPr>
          <a:xfrm>
            <a:off x="809625" y="3328987"/>
            <a:ext cx="4372719" cy="190500"/>
          </a:xfrm>
          <a:prstGeom prst="rect">
            <a:avLst/>
          </a:prstGeom>
          <a:noFill/>
        </p:spPr>
        <p:txBody>
          <a:bodyPr wrap="square" lIns="0" tIns="0" rIns="0" bIns="0" anchor="t">
            <a:spAutoFit/>
          </a:bodyPr>
          <a:lstStyle/>
          <a:p>
            <a:pPr algn="ctr"/>
            <a:r>
              <a:rPr sz="1125" b="0" i="0" u="none">
                <a:solidFill>
                  <a:srgbClr val="F3F0DF"/>
                </a:solidFill>
                <a:latin typeface="DM Sans Medium"/>
              </a:rPr>
              <a:t>Siber Suçların 2025+ Yıllık Küresel Maliyeti</a:t>
            </a:r>
          </a:p>
        </p:txBody>
      </p:sp>
      <p:sp>
        <p:nvSpPr>
          <p:cNvPr id="15" name="TextBox 14"/>
          <p:cNvSpPr txBox="1"/>
          <p:nvPr/>
        </p:nvSpPr>
        <p:spPr>
          <a:xfrm>
            <a:off x="6087219" y="1633537"/>
            <a:ext cx="5533280" cy="457200"/>
          </a:xfrm>
          <a:prstGeom prst="rect">
            <a:avLst/>
          </a:prstGeom>
          <a:noFill/>
        </p:spPr>
        <p:txBody>
          <a:bodyPr wrap="square" lIns="0" tIns="0" rIns="0" bIns="0" anchor="t">
            <a:spAutoFit/>
          </a:bodyPr>
          <a:lstStyle/>
          <a:p>
            <a:pPr algn="l">
              <a:lnSpc>
                <a:spcPts val="1800"/>
              </a:lnSpc>
            </a:pPr>
            <a:r>
              <a:rPr sz="1200" b="1" i="0" u="none" dirty="0" err="1">
                <a:solidFill>
                  <a:srgbClr val="334155"/>
                </a:solidFill>
                <a:latin typeface="DM Sans"/>
              </a:rPr>
              <a:t>Saldırı</a:t>
            </a:r>
            <a:r>
              <a:rPr sz="1200" b="1" i="0" u="none" dirty="0">
                <a:solidFill>
                  <a:srgbClr val="334155"/>
                </a:solidFill>
                <a:latin typeface="DM Sans"/>
              </a:rPr>
              <a:t> </a:t>
            </a:r>
            <a:r>
              <a:rPr sz="1200" b="1" i="0" u="none" dirty="0" err="1">
                <a:solidFill>
                  <a:srgbClr val="334155"/>
                </a:solidFill>
                <a:latin typeface="DM Sans"/>
              </a:rPr>
              <a:t>Payı</a:t>
            </a:r>
            <a:r>
              <a:rPr sz="1200" b="1" i="0" u="none" dirty="0">
                <a:solidFill>
                  <a:srgbClr val="334155"/>
                </a:solidFill>
                <a:latin typeface="DM Sans"/>
              </a:rPr>
              <a:t>:</a:t>
            </a:r>
            <a:r>
              <a:rPr sz="1200" b="0" i="0" u="none" dirty="0">
                <a:solidFill>
                  <a:srgbClr val="334155"/>
                </a:solidFill>
                <a:latin typeface="DM Sans"/>
              </a:rPr>
              <a:t> </a:t>
            </a:r>
            <a:r>
              <a:rPr sz="1200" b="0" i="0" u="none" dirty="0" err="1">
                <a:solidFill>
                  <a:srgbClr val="334155"/>
                </a:solidFill>
                <a:latin typeface="DM Sans"/>
              </a:rPr>
              <a:t>Küresel</a:t>
            </a:r>
            <a:r>
              <a:rPr sz="1200" b="0" i="0" u="none" dirty="0">
                <a:solidFill>
                  <a:srgbClr val="334155"/>
                </a:solidFill>
                <a:latin typeface="DM Sans"/>
              </a:rPr>
              <a:t> </a:t>
            </a:r>
            <a:r>
              <a:rPr sz="1200" b="0" i="0" u="none" dirty="0" err="1">
                <a:solidFill>
                  <a:srgbClr val="334155"/>
                </a:solidFill>
                <a:latin typeface="DM Sans"/>
              </a:rPr>
              <a:t>ölçekte</a:t>
            </a:r>
            <a:r>
              <a:rPr sz="1200" b="0" i="0" u="none" dirty="0">
                <a:solidFill>
                  <a:srgbClr val="334155"/>
                </a:solidFill>
                <a:latin typeface="DM Sans"/>
              </a:rPr>
              <a:t> </a:t>
            </a:r>
            <a:r>
              <a:rPr sz="1200" b="0" i="0" u="none" dirty="0" err="1">
                <a:solidFill>
                  <a:srgbClr val="334155"/>
                </a:solidFill>
                <a:latin typeface="DM Sans"/>
              </a:rPr>
              <a:t>gerçekleşen</a:t>
            </a:r>
            <a:r>
              <a:rPr sz="1200" b="0" i="0" u="none" dirty="0">
                <a:solidFill>
                  <a:srgbClr val="334155"/>
                </a:solidFill>
                <a:latin typeface="DM Sans"/>
              </a:rPr>
              <a:t> </a:t>
            </a:r>
            <a:r>
              <a:rPr sz="1200" b="0" i="0" u="none" dirty="0" err="1">
                <a:solidFill>
                  <a:srgbClr val="334155"/>
                </a:solidFill>
                <a:latin typeface="DM Sans"/>
              </a:rPr>
              <a:t>siber</a:t>
            </a:r>
            <a:r>
              <a:rPr sz="1200" b="0" i="0" u="none" dirty="0">
                <a:solidFill>
                  <a:srgbClr val="334155"/>
                </a:solidFill>
                <a:latin typeface="DM Sans"/>
              </a:rPr>
              <a:t> </a:t>
            </a:r>
            <a:r>
              <a:rPr sz="1200" b="0" i="0" u="none" dirty="0" err="1">
                <a:solidFill>
                  <a:srgbClr val="334155"/>
                </a:solidFill>
                <a:latin typeface="DM Sans"/>
              </a:rPr>
              <a:t>güvenlik</a:t>
            </a:r>
            <a:r>
              <a:rPr sz="1200" b="0" i="0" u="none" dirty="0">
                <a:solidFill>
                  <a:srgbClr val="334155"/>
                </a:solidFill>
                <a:latin typeface="DM Sans"/>
              </a:rPr>
              <a:t> </a:t>
            </a:r>
            <a:r>
              <a:rPr sz="1200" b="0" i="0" u="none" dirty="0" err="1">
                <a:solidFill>
                  <a:srgbClr val="334155"/>
                </a:solidFill>
                <a:latin typeface="DM Sans"/>
              </a:rPr>
              <a:t>ihlallerinin</a:t>
            </a:r>
            <a:r>
              <a:rPr sz="1200" b="0" i="0" u="none" dirty="0">
                <a:solidFill>
                  <a:srgbClr val="334155"/>
                </a:solidFill>
                <a:latin typeface="DM Sans"/>
              </a:rPr>
              <a:t> </a:t>
            </a:r>
            <a:r>
              <a:rPr sz="1200" b="0" i="0" u="none" dirty="0" err="1">
                <a:solidFill>
                  <a:srgbClr val="334155"/>
                </a:solidFill>
                <a:latin typeface="DM Sans"/>
              </a:rPr>
              <a:t>yaklaşık</a:t>
            </a:r>
            <a:r>
              <a:rPr sz="1200" b="0" i="0" u="none" dirty="0">
                <a:solidFill>
                  <a:srgbClr val="334155"/>
                </a:solidFill>
                <a:latin typeface="DM Sans"/>
              </a:rPr>
              <a:t> %3</a:t>
            </a:r>
            <a:r>
              <a:rPr lang="tr-TR" sz="1200" b="0" i="0" u="none" dirty="0">
                <a:solidFill>
                  <a:srgbClr val="334155"/>
                </a:solidFill>
                <a:latin typeface="DM Sans"/>
              </a:rPr>
              <a:t>0</a:t>
            </a:r>
            <a:r>
              <a:rPr sz="1200" b="0" i="0" u="none" dirty="0">
                <a:solidFill>
                  <a:srgbClr val="334155"/>
                </a:solidFill>
                <a:latin typeface="DM Sans"/>
              </a:rPr>
              <a:t>-40'ı </a:t>
            </a:r>
            <a:r>
              <a:rPr sz="1200" b="0" i="0" u="none" dirty="0" err="1">
                <a:solidFill>
                  <a:srgbClr val="334155"/>
                </a:solidFill>
                <a:latin typeface="DM Sans"/>
              </a:rPr>
              <a:t>doğrudan</a:t>
            </a:r>
            <a:r>
              <a:rPr sz="1200" b="0" i="0" u="none" dirty="0">
                <a:solidFill>
                  <a:srgbClr val="334155"/>
                </a:solidFill>
                <a:latin typeface="DM Sans"/>
              </a:rPr>
              <a:t> </a:t>
            </a:r>
            <a:r>
              <a:rPr sz="1200" b="0" i="0" u="none" dirty="0" err="1">
                <a:solidFill>
                  <a:srgbClr val="334155"/>
                </a:solidFill>
                <a:latin typeface="DM Sans"/>
              </a:rPr>
              <a:t>oltalama</a:t>
            </a:r>
            <a:r>
              <a:rPr sz="1200" b="0" i="0" u="none" dirty="0">
                <a:solidFill>
                  <a:srgbClr val="334155"/>
                </a:solidFill>
                <a:latin typeface="DM Sans"/>
              </a:rPr>
              <a:t> </a:t>
            </a:r>
            <a:r>
              <a:rPr sz="1200" b="0" i="0" u="none" dirty="0" err="1">
                <a:solidFill>
                  <a:srgbClr val="334155"/>
                </a:solidFill>
                <a:latin typeface="DM Sans"/>
              </a:rPr>
              <a:t>saldırıları</a:t>
            </a:r>
            <a:r>
              <a:rPr sz="1200" b="0" i="0" u="none" dirty="0">
                <a:solidFill>
                  <a:srgbClr val="334155"/>
                </a:solidFill>
                <a:latin typeface="DM Sans"/>
              </a:rPr>
              <a:t> </a:t>
            </a:r>
            <a:r>
              <a:rPr sz="1200" b="0" i="0" u="none" dirty="0" err="1">
                <a:solidFill>
                  <a:srgbClr val="334155"/>
                </a:solidFill>
                <a:latin typeface="DM Sans"/>
              </a:rPr>
              <a:t>ile</a:t>
            </a:r>
            <a:r>
              <a:rPr sz="1200" b="0" i="0" u="none" dirty="0">
                <a:solidFill>
                  <a:srgbClr val="334155"/>
                </a:solidFill>
                <a:latin typeface="DM Sans"/>
              </a:rPr>
              <a:t> </a:t>
            </a:r>
            <a:r>
              <a:rPr sz="1200" b="0" i="0" u="none" dirty="0" err="1">
                <a:solidFill>
                  <a:srgbClr val="334155"/>
                </a:solidFill>
                <a:latin typeface="DM Sans"/>
              </a:rPr>
              <a:t>başlamaktadır</a:t>
            </a:r>
            <a:r>
              <a:rPr sz="1200" b="0" i="0" u="none" dirty="0">
                <a:solidFill>
                  <a:srgbClr val="334155"/>
                </a:solidFill>
                <a:latin typeface="DM Sans"/>
              </a:rPr>
              <a:t>.</a:t>
            </a:r>
          </a:p>
        </p:txBody>
      </p:sp>
      <p:sp>
        <p:nvSpPr>
          <p:cNvPr id="16" name="TextBox 15"/>
          <p:cNvSpPr txBox="1"/>
          <p:nvPr/>
        </p:nvSpPr>
        <p:spPr>
          <a:xfrm>
            <a:off x="6087219" y="2224087"/>
            <a:ext cx="5533280" cy="457200"/>
          </a:xfrm>
          <a:prstGeom prst="rect">
            <a:avLst/>
          </a:prstGeom>
          <a:noFill/>
        </p:spPr>
        <p:txBody>
          <a:bodyPr wrap="square" lIns="0" tIns="0" rIns="0" bIns="0" anchor="t">
            <a:spAutoFit/>
          </a:bodyPr>
          <a:lstStyle/>
          <a:p>
            <a:pPr algn="l">
              <a:lnSpc>
                <a:spcPts val="1800"/>
              </a:lnSpc>
            </a:pPr>
            <a:r>
              <a:rPr sz="1200" b="1" i="0" u="none">
                <a:solidFill>
                  <a:srgbClr val="334155"/>
                </a:solidFill>
                <a:latin typeface="DM Sans"/>
              </a:rPr>
              <a:t>Kısa Ömürlü URL'ler:</a:t>
            </a:r>
            <a:r>
              <a:rPr sz="1200" b="0" i="0" u="none">
                <a:solidFill>
                  <a:srgbClr val="334155"/>
                </a:solidFill>
                <a:latin typeface="DM Sans"/>
              </a:rPr>
              <a:t> Saldırganların kullandığı URL'lerin %80'inden fazlası yalnızca 24 saat aktif kalmakta ve ardından kapatılmaktadır.</a:t>
            </a:r>
          </a:p>
        </p:txBody>
      </p:sp>
      <p:sp>
        <p:nvSpPr>
          <p:cNvPr id="17" name="TextBox 16"/>
          <p:cNvSpPr txBox="1"/>
          <p:nvPr/>
        </p:nvSpPr>
        <p:spPr>
          <a:xfrm>
            <a:off x="6087219" y="2814637"/>
            <a:ext cx="5533280" cy="457200"/>
          </a:xfrm>
          <a:prstGeom prst="rect">
            <a:avLst/>
          </a:prstGeom>
          <a:noFill/>
        </p:spPr>
        <p:txBody>
          <a:bodyPr wrap="square" lIns="0" tIns="0" rIns="0" bIns="0" anchor="t">
            <a:spAutoFit/>
          </a:bodyPr>
          <a:lstStyle/>
          <a:p>
            <a:pPr algn="l">
              <a:lnSpc>
                <a:spcPts val="1800"/>
              </a:lnSpc>
            </a:pPr>
            <a:r>
              <a:rPr sz="1200" b="1" i="0" u="none" dirty="0" err="1">
                <a:solidFill>
                  <a:srgbClr val="334155"/>
                </a:solidFill>
                <a:latin typeface="DM Sans"/>
              </a:rPr>
              <a:t>Sosyal</a:t>
            </a:r>
            <a:r>
              <a:rPr sz="1200" b="1" i="0" u="none" dirty="0">
                <a:solidFill>
                  <a:srgbClr val="334155"/>
                </a:solidFill>
                <a:latin typeface="DM Sans"/>
              </a:rPr>
              <a:t> </a:t>
            </a:r>
            <a:r>
              <a:rPr sz="1200" b="1" i="0" u="none" dirty="0" err="1">
                <a:solidFill>
                  <a:srgbClr val="334155"/>
                </a:solidFill>
                <a:latin typeface="DM Sans"/>
              </a:rPr>
              <a:t>Mühendislik</a:t>
            </a:r>
            <a:r>
              <a:rPr sz="1200" b="1" i="0" u="none" dirty="0">
                <a:solidFill>
                  <a:srgbClr val="334155"/>
                </a:solidFill>
                <a:latin typeface="DM Sans"/>
              </a:rPr>
              <a:t> </a:t>
            </a:r>
            <a:r>
              <a:rPr sz="1200" b="1" i="0" u="none" dirty="0" err="1">
                <a:solidFill>
                  <a:srgbClr val="334155"/>
                </a:solidFill>
                <a:latin typeface="DM Sans"/>
              </a:rPr>
              <a:t>Manipülasyonu</a:t>
            </a:r>
            <a:r>
              <a:rPr sz="1200" b="1" i="0" u="none" dirty="0">
                <a:solidFill>
                  <a:srgbClr val="334155"/>
                </a:solidFill>
                <a:latin typeface="DM Sans"/>
              </a:rPr>
              <a:t>:</a:t>
            </a:r>
            <a:r>
              <a:rPr sz="1200" b="0" i="0" u="none" dirty="0">
                <a:solidFill>
                  <a:srgbClr val="334155"/>
                </a:solidFill>
                <a:latin typeface="DM Sans"/>
              </a:rPr>
              <a:t> Alan </a:t>
            </a:r>
            <a:r>
              <a:rPr sz="1200" b="0" i="0" u="none" dirty="0" err="1">
                <a:solidFill>
                  <a:srgbClr val="334155"/>
                </a:solidFill>
                <a:latin typeface="DM Sans"/>
              </a:rPr>
              <a:t>adı</a:t>
            </a:r>
            <a:r>
              <a:rPr sz="1200" b="0" i="0" u="none" dirty="0">
                <a:solidFill>
                  <a:srgbClr val="334155"/>
                </a:solidFill>
                <a:latin typeface="DM Sans"/>
              </a:rPr>
              <a:t> </a:t>
            </a:r>
            <a:r>
              <a:rPr sz="1200" b="0" i="0" u="none" dirty="0" err="1">
                <a:solidFill>
                  <a:srgbClr val="334155"/>
                </a:solidFill>
                <a:latin typeface="DM Sans"/>
              </a:rPr>
              <a:t>gizleme</a:t>
            </a:r>
            <a:r>
              <a:rPr sz="1200" b="0" i="0" u="none" dirty="0">
                <a:solidFill>
                  <a:srgbClr val="334155"/>
                </a:solidFill>
                <a:latin typeface="DM Sans"/>
              </a:rPr>
              <a:t> (</a:t>
            </a:r>
            <a:r>
              <a:rPr sz="1200" b="0" i="0" u="none" dirty="0" err="1">
                <a:solidFill>
                  <a:srgbClr val="334155"/>
                </a:solidFill>
                <a:latin typeface="DM Sans"/>
              </a:rPr>
              <a:t>typosquatting</a:t>
            </a:r>
            <a:r>
              <a:rPr sz="1200" b="0" i="0" u="none" dirty="0">
                <a:solidFill>
                  <a:srgbClr val="334155"/>
                </a:solidFill>
                <a:latin typeface="DM Sans"/>
              </a:rPr>
              <a:t>), IP </a:t>
            </a:r>
            <a:r>
              <a:rPr sz="1200" b="0" i="0" u="none" dirty="0" err="1">
                <a:solidFill>
                  <a:srgbClr val="334155"/>
                </a:solidFill>
                <a:latin typeface="DM Sans"/>
              </a:rPr>
              <a:t>kullanımı</a:t>
            </a:r>
            <a:r>
              <a:rPr sz="1200" b="0" i="0" u="none" dirty="0">
                <a:solidFill>
                  <a:srgbClr val="334155"/>
                </a:solidFill>
                <a:latin typeface="DM Sans"/>
              </a:rPr>
              <a:t> </a:t>
            </a:r>
            <a:r>
              <a:rPr sz="1200" b="0" i="0" u="none" dirty="0" err="1">
                <a:solidFill>
                  <a:srgbClr val="334155"/>
                </a:solidFill>
                <a:latin typeface="DM Sans"/>
              </a:rPr>
              <a:t>ve</a:t>
            </a:r>
            <a:r>
              <a:rPr sz="1200" b="0" i="0" u="none" dirty="0">
                <a:solidFill>
                  <a:srgbClr val="334155"/>
                </a:solidFill>
                <a:latin typeface="DM Sans"/>
              </a:rPr>
              <a:t> </a:t>
            </a:r>
            <a:r>
              <a:rPr sz="1200" b="0" i="0" u="none" dirty="0" err="1">
                <a:solidFill>
                  <a:srgbClr val="334155"/>
                </a:solidFill>
                <a:latin typeface="DM Sans"/>
              </a:rPr>
              <a:t>karmaşık</a:t>
            </a:r>
            <a:r>
              <a:rPr sz="1200" b="0" i="0" u="none" dirty="0">
                <a:solidFill>
                  <a:srgbClr val="334155"/>
                </a:solidFill>
                <a:latin typeface="DM Sans"/>
              </a:rPr>
              <a:t> </a:t>
            </a:r>
            <a:r>
              <a:rPr sz="1200" b="0" i="0" u="none" dirty="0" err="1">
                <a:solidFill>
                  <a:srgbClr val="334155"/>
                </a:solidFill>
                <a:latin typeface="DM Sans"/>
              </a:rPr>
              <a:t>sorgu</a:t>
            </a:r>
            <a:r>
              <a:rPr sz="1200" b="0" i="0" u="none" dirty="0">
                <a:solidFill>
                  <a:srgbClr val="334155"/>
                </a:solidFill>
                <a:latin typeface="DM Sans"/>
              </a:rPr>
              <a:t> </a:t>
            </a:r>
            <a:r>
              <a:rPr sz="1200" b="0" i="0" u="none" dirty="0" err="1">
                <a:solidFill>
                  <a:srgbClr val="334155"/>
                </a:solidFill>
                <a:latin typeface="DM Sans"/>
              </a:rPr>
              <a:t>dizileri</a:t>
            </a:r>
            <a:r>
              <a:rPr sz="1200" b="0" i="0" u="none" dirty="0">
                <a:solidFill>
                  <a:srgbClr val="334155"/>
                </a:solidFill>
                <a:latin typeface="DM Sans"/>
              </a:rPr>
              <a:t> </a:t>
            </a:r>
            <a:r>
              <a:rPr sz="1200" b="0" i="0" u="none" dirty="0" err="1">
                <a:solidFill>
                  <a:srgbClr val="334155"/>
                </a:solidFill>
                <a:latin typeface="DM Sans"/>
              </a:rPr>
              <a:t>ile</a:t>
            </a:r>
            <a:r>
              <a:rPr sz="1200" b="0" i="0" u="none" dirty="0">
                <a:solidFill>
                  <a:srgbClr val="334155"/>
                </a:solidFill>
                <a:latin typeface="DM Sans"/>
              </a:rPr>
              <a:t> son </a:t>
            </a:r>
            <a:r>
              <a:rPr sz="1200" b="0" i="0" u="none" dirty="0" err="1">
                <a:solidFill>
                  <a:srgbClr val="334155"/>
                </a:solidFill>
                <a:latin typeface="DM Sans"/>
              </a:rPr>
              <a:t>kullanıcı</a:t>
            </a:r>
            <a:r>
              <a:rPr sz="1200" b="0" i="0" u="none" dirty="0">
                <a:solidFill>
                  <a:srgbClr val="334155"/>
                </a:solidFill>
                <a:latin typeface="DM Sans"/>
              </a:rPr>
              <a:t> </a:t>
            </a:r>
            <a:r>
              <a:rPr sz="1200" b="0" i="0" u="none" dirty="0" err="1">
                <a:solidFill>
                  <a:srgbClr val="334155"/>
                </a:solidFill>
                <a:latin typeface="DM Sans"/>
              </a:rPr>
              <a:t>ikna</a:t>
            </a:r>
            <a:r>
              <a:rPr sz="1200" b="0" i="0" u="none" dirty="0">
                <a:solidFill>
                  <a:srgbClr val="334155"/>
                </a:solidFill>
                <a:latin typeface="DM Sans"/>
              </a:rPr>
              <a:t> </a:t>
            </a:r>
            <a:r>
              <a:rPr sz="1200" b="0" i="0" u="none" dirty="0" err="1">
                <a:solidFill>
                  <a:srgbClr val="334155"/>
                </a:solidFill>
                <a:latin typeface="DM Sans"/>
              </a:rPr>
              <a:t>edilmektedir</a:t>
            </a:r>
            <a:r>
              <a:rPr sz="1200" b="0" i="0" u="none" dirty="0">
                <a:solidFill>
                  <a:srgbClr val="334155"/>
                </a:solidFill>
                <a:latin typeface="DM Sans"/>
              </a:rPr>
              <a:t>.</a:t>
            </a:r>
          </a:p>
        </p:txBody>
      </p:sp>
      <p:sp>
        <p:nvSpPr>
          <p:cNvPr id="18" name="TextBox 17"/>
          <p:cNvSpPr txBox="1"/>
          <p:nvPr/>
        </p:nvSpPr>
        <p:spPr>
          <a:xfrm>
            <a:off x="6087219" y="3405187"/>
            <a:ext cx="5533280" cy="457200"/>
          </a:xfrm>
          <a:prstGeom prst="rect">
            <a:avLst/>
          </a:prstGeom>
          <a:noFill/>
        </p:spPr>
        <p:txBody>
          <a:bodyPr wrap="square" lIns="0" tIns="0" rIns="0" bIns="0" anchor="t">
            <a:spAutoFit/>
          </a:bodyPr>
          <a:lstStyle/>
          <a:p>
            <a:pPr algn="l">
              <a:lnSpc>
                <a:spcPts val="1800"/>
              </a:lnSpc>
            </a:pPr>
            <a:r>
              <a:rPr sz="1200" b="1" i="0" u="none">
                <a:solidFill>
                  <a:srgbClr val="334155"/>
                </a:solidFill>
                <a:latin typeface="DM Sans"/>
              </a:rPr>
              <a:t>Zero-Day Yükü:</a:t>
            </a:r>
            <a:r>
              <a:rPr sz="1200" b="0" i="0" u="none">
                <a:solidFill>
                  <a:srgbClr val="334155"/>
                </a:solidFill>
                <a:latin typeface="DM Sans"/>
              </a:rPr>
              <a:t> Statik tespit mekanizmalarını atlatmak adına her gün yüz binlerce yeni tespit edilmemiş URL üretilmektedir.</a:t>
            </a:r>
          </a:p>
        </p:txBody>
      </p:sp>
      <p:pic>
        <p:nvPicPr>
          <p:cNvPr id="19" name="Picture 18" descr="image.png"/>
          <p:cNvPicPr>
            <a:picLocks noChangeAspect="1"/>
          </p:cNvPicPr>
          <p:nvPr/>
        </p:nvPicPr>
        <p:blipFill>
          <a:blip r:embed="rId5"/>
          <a:stretch>
            <a:fillRect/>
          </a:stretch>
        </p:blipFill>
        <p:spPr>
          <a:xfrm>
            <a:off x="5801469" y="1657350"/>
            <a:ext cx="171450" cy="180975"/>
          </a:xfrm>
          <a:prstGeom prst="rect">
            <a:avLst/>
          </a:prstGeom>
        </p:spPr>
      </p:pic>
      <p:pic>
        <p:nvPicPr>
          <p:cNvPr id="20" name="Picture 19" descr="image.png"/>
          <p:cNvPicPr>
            <a:picLocks noChangeAspect="1"/>
          </p:cNvPicPr>
          <p:nvPr/>
        </p:nvPicPr>
        <p:blipFill>
          <a:blip r:embed="rId6"/>
          <a:stretch>
            <a:fillRect/>
          </a:stretch>
        </p:blipFill>
        <p:spPr>
          <a:xfrm>
            <a:off x="5801469" y="2247900"/>
            <a:ext cx="171450" cy="180975"/>
          </a:xfrm>
          <a:prstGeom prst="rect">
            <a:avLst/>
          </a:prstGeom>
        </p:spPr>
      </p:pic>
      <p:pic>
        <p:nvPicPr>
          <p:cNvPr id="21" name="Picture 20" descr="image.png"/>
          <p:cNvPicPr>
            <a:picLocks noChangeAspect="1"/>
          </p:cNvPicPr>
          <p:nvPr/>
        </p:nvPicPr>
        <p:blipFill>
          <a:blip r:embed="rId7"/>
          <a:stretch>
            <a:fillRect/>
          </a:stretch>
        </p:blipFill>
        <p:spPr>
          <a:xfrm>
            <a:off x="5801469" y="2838450"/>
            <a:ext cx="152400" cy="180975"/>
          </a:xfrm>
          <a:prstGeom prst="rect">
            <a:avLst/>
          </a:prstGeom>
        </p:spPr>
      </p:pic>
      <p:pic>
        <p:nvPicPr>
          <p:cNvPr id="22" name="Picture 21" descr="image.png"/>
          <p:cNvPicPr>
            <a:picLocks noChangeAspect="1"/>
          </p:cNvPicPr>
          <p:nvPr/>
        </p:nvPicPr>
        <p:blipFill>
          <a:blip r:embed="rId8"/>
          <a:stretch>
            <a:fillRect/>
          </a:stretch>
        </p:blipFill>
        <p:spPr>
          <a:xfrm>
            <a:off x="5801469" y="3429000"/>
            <a:ext cx="219075" cy="180975"/>
          </a:xfrm>
          <a:prstGeom prst="rect">
            <a:avLst/>
          </a:prstGeom>
        </p:spPr>
      </p:pic>
      <p:pic>
        <p:nvPicPr>
          <p:cNvPr id="23" name="Picture 1" descr="image.png">
            <a:extLst>
              <a:ext uri="{FF2B5EF4-FFF2-40B4-BE49-F238E27FC236}">
                <a16:creationId xmlns:a16="http://schemas.microsoft.com/office/drawing/2014/main" id="{900354B0-868E-84D0-D03E-26C746BA38B8}"/>
              </a:ext>
            </a:extLst>
          </p:cNvPr>
          <p:cNvPicPr>
            <a:picLocks noChangeAspect="1"/>
          </p:cNvPicPr>
          <p:nvPr/>
        </p:nvPicPr>
        <p:blipFill>
          <a:blip r:embed="rId9"/>
          <a:stretch>
            <a:fillRect/>
          </a:stretch>
        </p:blipFill>
        <p:spPr>
          <a:xfrm>
            <a:off x="666750" y="952500"/>
            <a:ext cx="10858500" cy="171450"/>
          </a:xfrm>
          <a:prstGeom prst="rect">
            <a:avLst/>
          </a:prstGeom>
        </p:spPr>
      </p:pic>
      <p:pic>
        <p:nvPicPr>
          <p:cNvPr id="24" name="İçerik Yer Tutucusu 10">
            <a:extLst>
              <a:ext uri="{FF2B5EF4-FFF2-40B4-BE49-F238E27FC236}">
                <a16:creationId xmlns:a16="http://schemas.microsoft.com/office/drawing/2014/main" id="{D0BB3651-52C8-B2B0-D772-E7157BDDACB6}"/>
              </a:ext>
            </a:extLst>
          </p:cNvPr>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a:off x="9513887" y="476250"/>
            <a:ext cx="2011362"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png"/>
          <p:cNvPicPr>
            <a:picLocks noChangeAspect="1"/>
          </p:cNvPicPr>
          <p:nvPr/>
        </p:nvPicPr>
        <p:blipFill>
          <a:blip r:embed="rId2"/>
          <a:stretch>
            <a:fillRect/>
          </a:stretch>
        </p:blipFill>
        <p:spPr>
          <a:xfrm>
            <a:off x="571500" y="6391275"/>
            <a:ext cx="11049000" cy="276225"/>
          </a:xfrm>
          <a:prstGeom prst="rect">
            <a:avLst/>
          </a:prstGeom>
        </p:spPr>
      </p:pic>
      <p:pic>
        <p:nvPicPr>
          <p:cNvPr id="4" name="Picture 3" descr="image.png"/>
          <p:cNvPicPr>
            <a:picLocks noChangeAspect="1"/>
          </p:cNvPicPr>
          <p:nvPr/>
        </p:nvPicPr>
        <p:blipFill>
          <a:blip r:embed="rId3"/>
          <a:stretch>
            <a:fillRect/>
          </a:stretch>
        </p:blipFill>
        <p:spPr>
          <a:xfrm>
            <a:off x="571500" y="1252537"/>
            <a:ext cx="3524250" cy="2519362"/>
          </a:xfrm>
          <a:prstGeom prst="rect">
            <a:avLst/>
          </a:prstGeom>
        </p:spPr>
      </p:pic>
      <p:pic>
        <p:nvPicPr>
          <p:cNvPr id="5" name="Picture 4" descr="image.png"/>
          <p:cNvPicPr>
            <a:picLocks noChangeAspect="1"/>
          </p:cNvPicPr>
          <p:nvPr/>
        </p:nvPicPr>
        <p:blipFill>
          <a:blip r:embed="rId4"/>
          <a:stretch>
            <a:fillRect/>
          </a:stretch>
        </p:blipFill>
        <p:spPr>
          <a:xfrm>
            <a:off x="4333875" y="1252537"/>
            <a:ext cx="3524250" cy="2519362"/>
          </a:xfrm>
          <a:prstGeom prst="rect">
            <a:avLst/>
          </a:prstGeom>
        </p:spPr>
      </p:pic>
      <p:pic>
        <p:nvPicPr>
          <p:cNvPr id="6" name="Picture 5" descr="image.png"/>
          <p:cNvPicPr>
            <a:picLocks noChangeAspect="1"/>
          </p:cNvPicPr>
          <p:nvPr/>
        </p:nvPicPr>
        <p:blipFill>
          <a:blip r:embed="rId5"/>
          <a:stretch>
            <a:fillRect/>
          </a:stretch>
        </p:blipFill>
        <p:spPr>
          <a:xfrm>
            <a:off x="8096250" y="1252537"/>
            <a:ext cx="3524250" cy="2519362"/>
          </a:xfrm>
          <a:prstGeom prst="rect">
            <a:avLst/>
          </a:prstGeom>
        </p:spPr>
      </p:pic>
      <p:sp>
        <p:nvSpPr>
          <p:cNvPr id="7" name="TextBox 6"/>
          <p:cNvSpPr txBox="1"/>
          <p:nvPr/>
        </p:nvSpPr>
        <p:spPr>
          <a:xfrm>
            <a:off x="571500" y="476250"/>
            <a:ext cx="11601450" cy="423862"/>
          </a:xfrm>
          <a:prstGeom prst="rect">
            <a:avLst/>
          </a:prstGeom>
          <a:noFill/>
        </p:spPr>
        <p:txBody>
          <a:bodyPr wrap="square" lIns="0" tIns="0" rIns="0" bIns="0" anchor="t">
            <a:spAutoFit/>
          </a:bodyPr>
          <a:lstStyle/>
          <a:p>
            <a:pPr algn="l">
              <a:lnSpc>
                <a:spcPts val="3187"/>
              </a:lnSpc>
            </a:pPr>
            <a:r>
              <a:rPr sz="2550" b="1" i="0" u="none">
                <a:solidFill>
                  <a:srgbClr val="005088"/>
                </a:solidFill>
                <a:latin typeface="Merriweather"/>
              </a:rPr>
              <a:t>Geleneksel Çözümlerin Sınırları ve Problem Tanımı</a:t>
            </a:r>
          </a:p>
        </p:txBody>
      </p:sp>
      <p:sp>
        <p:nvSpPr>
          <p:cNvPr id="8" name="Rectangle 7"/>
          <p:cNvSpPr/>
          <p:nvPr/>
        </p:nvSpPr>
        <p:spPr>
          <a:xfrm>
            <a:off x="571500" y="995362"/>
            <a:ext cx="11049000"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71500" y="6496050"/>
            <a:ext cx="3009900" cy="171450"/>
          </a:xfrm>
          <a:prstGeom prst="rect">
            <a:avLst/>
          </a:prstGeom>
          <a:noFill/>
        </p:spPr>
        <p:txBody>
          <a:bodyPr wrap="square" lIns="0" tIns="0" rIns="0" bIns="0" anchor="t">
            <a:spAutoFit/>
          </a:bodyPr>
          <a:lstStyle/>
          <a:p>
            <a:pPr algn="l">
              <a:lnSpc>
                <a:spcPts val="1350"/>
              </a:lnSpc>
            </a:pPr>
            <a:r>
              <a:rPr sz="900" b="0" i="0" u="none">
                <a:solidFill>
                  <a:srgbClr val="94A3B8"/>
                </a:solidFill>
                <a:latin typeface="DM Sans"/>
              </a:rPr>
              <a:t>SAKARYA ÜNİVERSİTESİ • YÜKSEK LİSANS TEZ SAVUNMASI</a:t>
            </a:r>
          </a:p>
        </p:txBody>
      </p:sp>
      <p:sp>
        <p:nvSpPr>
          <p:cNvPr id="10" name="TextBox 9"/>
          <p:cNvSpPr txBox="1"/>
          <p:nvPr/>
        </p:nvSpPr>
        <p:spPr>
          <a:xfrm>
            <a:off x="11239500" y="6496050"/>
            <a:ext cx="381000" cy="171450"/>
          </a:xfrm>
          <a:prstGeom prst="rect">
            <a:avLst/>
          </a:prstGeom>
          <a:noFill/>
        </p:spPr>
        <p:txBody>
          <a:bodyPr wrap="square" lIns="0" tIns="0" rIns="0" bIns="0" anchor="t">
            <a:spAutoFit/>
          </a:bodyPr>
          <a:lstStyle/>
          <a:p>
            <a:pPr algn="l">
              <a:lnSpc>
                <a:spcPts val="1350"/>
              </a:lnSpc>
            </a:pPr>
            <a:r>
              <a:rPr sz="900" b="0" i="0" u="none">
                <a:solidFill>
                  <a:srgbClr val="94A3B8"/>
                </a:solidFill>
                <a:latin typeface="DM Sans"/>
              </a:rPr>
              <a:t>Slayt 6</a:t>
            </a:r>
          </a:p>
        </p:txBody>
      </p:sp>
      <p:sp>
        <p:nvSpPr>
          <p:cNvPr id="11" name="TextBox 10"/>
          <p:cNvSpPr txBox="1"/>
          <p:nvPr/>
        </p:nvSpPr>
        <p:spPr>
          <a:xfrm>
            <a:off x="819150" y="2119312"/>
            <a:ext cx="3180397" cy="238125"/>
          </a:xfrm>
          <a:prstGeom prst="rect">
            <a:avLst/>
          </a:prstGeom>
          <a:noFill/>
        </p:spPr>
        <p:txBody>
          <a:bodyPr wrap="square" lIns="0" tIns="0" rIns="0" bIns="0" anchor="t">
            <a:spAutoFit/>
          </a:bodyPr>
          <a:lstStyle/>
          <a:p>
            <a:pPr algn="l"/>
            <a:r>
              <a:rPr sz="1500" b="1" i="0" u="none">
                <a:solidFill>
                  <a:srgbClr val="0F172A"/>
                </a:solidFill>
                <a:latin typeface="Merriweather"/>
              </a:rPr>
              <a:t>Statik Kara Listeler</a:t>
            </a:r>
          </a:p>
        </p:txBody>
      </p:sp>
      <p:sp>
        <p:nvSpPr>
          <p:cNvPr id="12" name="TextBox 11"/>
          <p:cNvSpPr txBox="1"/>
          <p:nvPr/>
        </p:nvSpPr>
        <p:spPr>
          <a:xfrm>
            <a:off x="819150" y="2452687"/>
            <a:ext cx="3028950" cy="857250"/>
          </a:xfrm>
          <a:prstGeom prst="rect">
            <a:avLst/>
          </a:prstGeom>
          <a:noFill/>
        </p:spPr>
        <p:txBody>
          <a:bodyPr wrap="square" lIns="0" tIns="0" rIns="0" bIns="0" anchor="t">
            <a:spAutoFit/>
          </a:bodyPr>
          <a:lstStyle/>
          <a:p>
            <a:pPr algn="l">
              <a:lnSpc>
                <a:spcPts val="1687"/>
              </a:lnSpc>
            </a:pPr>
            <a:r>
              <a:rPr sz="1125" b="0" i="0" u="none" dirty="0">
                <a:solidFill>
                  <a:srgbClr val="64748B"/>
                </a:solidFill>
                <a:latin typeface="DM Sans"/>
              </a:rPr>
              <a:t>Google Safe Browsing </a:t>
            </a:r>
            <a:r>
              <a:rPr sz="1125" b="0" i="0" u="none" dirty="0" err="1">
                <a:solidFill>
                  <a:srgbClr val="64748B"/>
                </a:solidFill>
                <a:latin typeface="DM Sans"/>
              </a:rPr>
              <a:t>ve</a:t>
            </a:r>
            <a:r>
              <a:rPr sz="1125" b="0" i="0" u="none" dirty="0">
                <a:solidFill>
                  <a:srgbClr val="64748B"/>
                </a:solidFill>
                <a:latin typeface="DM Sans"/>
              </a:rPr>
              <a:t> </a:t>
            </a:r>
            <a:r>
              <a:rPr sz="1125" b="0" i="0" u="none" dirty="0" err="1">
                <a:solidFill>
                  <a:srgbClr val="64748B"/>
                </a:solidFill>
                <a:latin typeface="DM Sans"/>
              </a:rPr>
              <a:t>PhishTank</a:t>
            </a:r>
            <a:r>
              <a:rPr sz="1125" b="0" i="0" u="none" dirty="0">
                <a:solidFill>
                  <a:srgbClr val="64748B"/>
                </a:solidFill>
                <a:latin typeface="DM Sans"/>
              </a:rPr>
              <a:t> </a:t>
            </a:r>
            <a:r>
              <a:rPr sz="1125" b="0" i="0" u="none" dirty="0" err="1">
                <a:solidFill>
                  <a:srgbClr val="64748B"/>
                </a:solidFill>
                <a:latin typeface="DM Sans"/>
              </a:rPr>
              <a:t>gibi</a:t>
            </a:r>
            <a:r>
              <a:rPr sz="1125" b="0" i="0" u="none" dirty="0">
                <a:solidFill>
                  <a:srgbClr val="64748B"/>
                </a:solidFill>
                <a:latin typeface="DM Sans"/>
              </a:rPr>
              <a:t> kara </a:t>
            </a:r>
            <a:r>
              <a:rPr sz="1125" b="0" i="0" u="none" dirty="0" err="1">
                <a:solidFill>
                  <a:srgbClr val="64748B"/>
                </a:solidFill>
                <a:latin typeface="DM Sans"/>
              </a:rPr>
              <a:t>listeler</a:t>
            </a:r>
            <a:r>
              <a:rPr sz="1125" b="0" i="0" u="none" dirty="0">
                <a:solidFill>
                  <a:srgbClr val="64748B"/>
                </a:solidFill>
                <a:latin typeface="DM Sans"/>
              </a:rPr>
              <a:t> </a:t>
            </a:r>
            <a:r>
              <a:rPr sz="1125" b="0" i="0" u="none" dirty="0" err="1">
                <a:solidFill>
                  <a:srgbClr val="64748B"/>
                </a:solidFill>
                <a:latin typeface="DM Sans"/>
              </a:rPr>
              <a:t>tepkiseldir</a:t>
            </a:r>
            <a:r>
              <a:rPr sz="1125" b="0" i="0" u="none" dirty="0">
                <a:solidFill>
                  <a:srgbClr val="64748B"/>
                </a:solidFill>
                <a:latin typeface="DM Sans"/>
              </a:rPr>
              <a:t>. Yeni </a:t>
            </a:r>
            <a:r>
              <a:rPr sz="1125" b="0" i="0" u="none" dirty="0" err="1">
                <a:solidFill>
                  <a:srgbClr val="64748B"/>
                </a:solidFill>
                <a:latin typeface="DM Sans"/>
              </a:rPr>
              <a:t>üretilen</a:t>
            </a:r>
            <a:r>
              <a:rPr sz="1125" b="0" i="0" u="none" dirty="0">
                <a:solidFill>
                  <a:srgbClr val="64748B"/>
                </a:solidFill>
                <a:latin typeface="DM Sans"/>
              </a:rPr>
              <a:t> </a:t>
            </a:r>
            <a:r>
              <a:rPr sz="1125" b="0" i="0" u="none" dirty="0" err="1">
                <a:solidFill>
                  <a:srgbClr val="64748B"/>
                </a:solidFill>
                <a:latin typeface="DM Sans"/>
              </a:rPr>
              <a:t>zararlı</a:t>
            </a:r>
            <a:r>
              <a:rPr sz="1125" b="0" i="0" u="none" dirty="0">
                <a:solidFill>
                  <a:srgbClr val="64748B"/>
                </a:solidFill>
                <a:latin typeface="DM Sans"/>
              </a:rPr>
              <a:t> </a:t>
            </a:r>
            <a:r>
              <a:rPr sz="1125" b="0" i="0" u="none" dirty="0" err="1">
                <a:solidFill>
                  <a:srgbClr val="64748B"/>
                </a:solidFill>
                <a:latin typeface="DM Sans"/>
              </a:rPr>
              <a:t>bir</a:t>
            </a:r>
            <a:r>
              <a:rPr sz="1125" b="0" i="0" u="none" dirty="0">
                <a:solidFill>
                  <a:srgbClr val="64748B"/>
                </a:solidFill>
                <a:latin typeface="DM Sans"/>
              </a:rPr>
              <a:t> </a:t>
            </a:r>
            <a:r>
              <a:rPr sz="1125" b="0" i="0" u="none" dirty="0" err="1">
                <a:solidFill>
                  <a:srgbClr val="64748B"/>
                </a:solidFill>
                <a:latin typeface="DM Sans"/>
              </a:rPr>
              <a:t>adresin</a:t>
            </a:r>
            <a:r>
              <a:rPr sz="1125" b="0" i="0" u="none" dirty="0">
                <a:solidFill>
                  <a:srgbClr val="64748B"/>
                </a:solidFill>
                <a:latin typeface="DM Sans"/>
              </a:rPr>
              <a:t> </a:t>
            </a:r>
            <a:r>
              <a:rPr sz="1125" b="0" i="0" u="none" dirty="0" err="1">
                <a:solidFill>
                  <a:srgbClr val="64748B"/>
                </a:solidFill>
                <a:latin typeface="DM Sans"/>
              </a:rPr>
              <a:t>listeye</a:t>
            </a:r>
            <a:r>
              <a:rPr sz="1125" b="0" i="0" u="none" dirty="0">
                <a:solidFill>
                  <a:srgbClr val="64748B"/>
                </a:solidFill>
                <a:latin typeface="DM Sans"/>
              </a:rPr>
              <a:t> </a:t>
            </a:r>
            <a:r>
              <a:rPr sz="1125" b="0" i="0" u="none" dirty="0" err="1">
                <a:solidFill>
                  <a:srgbClr val="64748B"/>
                </a:solidFill>
                <a:latin typeface="DM Sans"/>
              </a:rPr>
              <a:t>eklenmesi</a:t>
            </a:r>
            <a:r>
              <a:rPr sz="1125" b="0" i="0" u="none" dirty="0">
                <a:solidFill>
                  <a:srgbClr val="64748B"/>
                </a:solidFill>
                <a:latin typeface="DM Sans"/>
              </a:rPr>
              <a:t> </a:t>
            </a:r>
            <a:r>
              <a:rPr sz="1125" b="0" i="0" u="none" dirty="0" err="1">
                <a:solidFill>
                  <a:srgbClr val="64748B"/>
                </a:solidFill>
                <a:latin typeface="DM Sans"/>
              </a:rPr>
              <a:t>saatler</a:t>
            </a:r>
            <a:r>
              <a:rPr sz="1125" b="0" i="0" u="none" dirty="0">
                <a:solidFill>
                  <a:srgbClr val="64748B"/>
                </a:solidFill>
                <a:latin typeface="DM Sans"/>
              </a:rPr>
              <a:t> </a:t>
            </a:r>
            <a:r>
              <a:rPr sz="1125" b="0" i="0" u="none" dirty="0" err="1">
                <a:solidFill>
                  <a:srgbClr val="64748B"/>
                </a:solidFill>
                <a:latin typeface="DM Sans"/>
              </a:rPr>
              <a:t>veya</a:t>
            </a:r>
            <a:r>
              <a:rPr sz="1125" b="0" i="0" u="none" dirty="0">
                <a:solidFill>
                  <a:srgbClr val="64748B"/>
                </a:solidFill>
                <a:latin typeface="DM Sans"/>
              </a:rPr>
              <a:t> </a:t>
            </a:r>
            <a:r>
              <a:rPr sz="1125" b="0" i="0" u="none" dirty="0" err="1">
                <a:solidFill>
                  <a:srgbClr val="64748B"/>
                </a:solidFill>
                <a:latin typeface="DM Sans"/>
              </a:rPr>
              <a:t>günler</a:t>
            </a:r>
            <a:r>
              <a:rPr sz="1125" b="0" i="0" u="none" dirty="0">
                <a:solidFill>
                  <a:srgbClr val="64748B"/>
                </a:solidFill>
                <a:latin typeface="DM Sans"/>
              </a:rPr>
              <a:t> </a:t>
            </a:r>
            <a:r>
              <a:rPr sz="1125" b="0" i="0" u="none" dirty="0" err="1">
                <a:solidFill>
                  <a:srgbClr val="64748B"/>
                </a:solidFill>
                <a:latin typeface="DM Sans"/>
              </a:rPr>
              <a:t>sürebilir</a:t>
            </a:r>
            <a:r>
              <a:rPr sz="1125" b="0" i="0" u="none" dirty="0">
                <a:solidFill>
                  <a:srgbClr val="64748B"/>
                </a:solidFill>
                <a:latin typeface="DM Sans"/>
              </a:rPr>
              <a:t>.</a:t>
            </a:r>
          </a:p>
        </p:txBody>
      </p:sp>
      <p:sp>
        <p:nvSpPr>
          <p:cNvPr id="13" name="TextBox 12"/>
          <p:cNvSpPr txBox="1"/>
          <p:nvPr/>
        </p:nvSpPr>
        <p:spPr>
          <a:xfrm>
            <a:off x="4581525" y="2119312"/>
            <a:ext cx="3180397" cy="238125"/>
          </a:xfrm>
          <a:prstGeom prst="rect">
            <a:avLst/>
          </a:prstGeom>
          <a:noFill/>
        </p:spPr>
        <p:txBody>
          <a:bodyPr wrap="square" lIns="0" tIns="0" rIns="0" bIns="0" anchor="t">
            <a:spAutoFit/>
          </a:bodyPr>
          <a:lstStyle/>
          <a:p>
            <a:pPr algn="l"/>
            <a:r>
              <a:rPr sz="1500" b="1" i="0" u="none">
                <a:solidFill>
                  <a:srgbClr val="0F172A"/>
                </a:solidFill>
                <a:latin typeface="Merriweather"/>
              </a:rPr>
              <a:t>Web Sayfası İçerik Analizi</a:t>
            </a:r>
          </a:p>
        </p:txBody>
      </p:sp>
      <p:sp>
        <p:nvSpPr>
          <p:cNvPr id="14" name="TextBox 13"/>
          <p:cNvSpPr txBox="1"/>
          <p:nvPr/>
        </p:nvSpPr>
        <p:spPr>
          <a:xfrm>
            <a:off x="4581525" y="2452687"/>
            <a:ext cx="3028950" cy="1071562"/>
          </a:xfrm>
          <a:prstGeom prst="rect">
            <a:avLst/>
          </a:prstGeom>
          <a:noFill/>
        </p:spPr>
        <p:txBody>
          <a:bodyPr wrap="square" lIns="0" tIns="0" rIns="0" bIns="0" anchor="t">
            <a:spAutoFit/>
          </a:bodyPr>
          <a:lstStyle/>
          <a:p>
            <a:pPr algn="l">
              <a:lnSpc>
                <a:spcPts val="1687"/>
              </a:lnSpc>
            </a:pPr>
            <a:r>
              <a:rPr sz="1125" b="0" i="0" u="none">
                <a:solidFill>
                  <a:srgbClr val="64748B"/>
                </a:solidFill>
                <a:latin typeface="DM Sans"/>
              </a:rPr>
              <a:t>HTML DOM ağacı, DOM öznitelikleri ve ekran görüntüsü (OCR) analizi yapan sistemler zararlı siteye bağlantı kurulmasını ve verinin indirilmesini gerektirir; bu durum güvenlik riski doğurur.</a:t>
            </a:r>
          </a:p>
        </p:txBody>
      </p:sp>
      <p:sp>
        <p:nvSpPr>
          <p:cNvPr id="15" name="TextBox 14"/>
          <p:cNvSpPr txBox="1"/>
          <p:nvPr/>
        </p:nvSpPr>
        <p:spPr>
          <a:xfrm>
            <a:off x="8343900" y="2119312"/>
            <a:ext cx="3180397" cy="238125"/>
          </a:xfrm>
          <a:prstGeom prst="rect">
            <a:avLst/>
          </a:prstGeom>
          <a:noFill/>
        </p:spPr>
        <p:txBody>
          <a:bodyPr wrap="square" lIns="0" tIns="0" rIns="0" bIns="0" anchor="t">
            <a:spAutoFit/>
          </a:bodyPr>
          <a:lstStyle/>
          <a:p>
            <a:pPr algn="l"/>
            <a:r>
              <a:rPr sz="1500" b="1" i="0" u="none">
                <a:solidFill>
                  <a:srgbClr val="0F172A"/>
                </a:solidFill>
                <a:latin typeface="Merriweather"/>
              </a:rPr>
              <a:t>Ağır Hesaplama Karmaşıklığı</a:t>
            </a:r>
          </a:p>
        </p:txBody>
      </p:sp>
      <p:sp>
        <p:nvSpPr>
          <p:cNvPr id="16" name="TextBox 15"/>
          <p:cNvSpPr txBox="1"/>
          <p:nvPr/>
        </p:nvSpPr>
        <p:spPr>
          <a:xfrm>
            <a:off x="8343900" y="2452687"/>
            <a:ext cx="3028950" cy="1071562"/>
          </a:xfrm>
          <a:prstGeom prst="rect">
            <a:avLst/>
          </a:prstGeom>
          <a:noFill/>
        </p:spPr>
        <p:txBody>
          <a:bodyPr wrap="square" lIns="0" tIns="0" rIns="0" bIns="0" anchor="t">
            <a:spAutoFit/>
          </a:bodyPr>
          <a:lstStyle/>
          <a:p>
            <a:pPr algn="l">
              <a:lnSpc>
                <a:spcPts val="1687"/>
              </a:lnSpc>
            </a:pPr>
            <a:r>
              <a:rPr sz="1125" b="0" i="0" u="none" dirty="0" err="1">
                <a:solidFill>
                  <a:srgbClr val="64748B"/>
                </a:solidFill>
                <a:latin typeface="DM Sans"/>
              </a:rPr>
              <a:t>Karmaşık</a:t>
            </a:r>
            <a:r>
              <a:rPr sz="1125" b="0" i="0" u="none" dirty="0">
                <a:solidFill>
                  <a:srgbClr val="64748B"/>
                </a:solidFill>
                <a:latin typeface="DM Sans"/>
              </a:rPr>
              <a:t> </a:t>
            </a:r>
            <a:r>
              <a:rPr sz="1125" b="0" i="0" u="none" dirty="0" err="1">
                <a:solidFill>
                  <a:srgbClr val="64748B"/>
                </a:solidFill>
                <a:latin typeface="DM Sans"/>
              </a:rPr>
              <a:t>Derin</a:t>
            </a:r>
            <a:r>
              <a:rPr sz="1125" b="0" i="0" u="none" dirty="0">
                <a:solidFill>
                  <a:srgbClr val="64748B"/>
                </a:solidFill>
                <a:latin typeface="DM Sans"/>
              </a:rPr>
              <a:t> </a:t>
            </a:r>
            <a:r>
              <a:rPr sz="1125" b="0" i="0" u="none" dirty="0" err="1">
                <a:solidFill>
                  <a:srgbClr val="64748B"/>
                </a:solidFill>
                <a:latin typeface="DM Sans"/>
              </a:rPr>
              <a:t>Öğrenme</a:t>
            </a:r>
            <a:r>
              <a:rPr sz="1125" b="0" i="0" u="none" dirty="0">
                <a:solidFill>
                  <a:srgbClr val="64748B"/>
                </a:solidFill>
                <a:latin typeface="DM Sans"/>
              </a:rPr>
              <a:t> (CNN, LSTM) </a:t>
            </a:r>
            <a:r>
              <a:rPr sz="1125" b="0" i="0" u="none" dirty="0" err="1">
                <a:solidFill>
                  <a:srgbClr val="64748B"/>
                </a:solidFill>
                <a:latin typeface="DM Sans"/>
              </a:rPr>
              <a:t>modelleri</a:t>
            </a:r>
            <a:r>
              <a:rPr sz="1125" b="0" i="0" u="none" dirty="0">
                <a:solidFill>
                  <a:srgbClr val="64748B"/>
                </a:solidFill>
                <a:latin typeface="DM Sans"/>
              </a:rPr>
              <a:t> </a:t>
            </a:r>
            <a:r>
              <a:rPr sz="1125" b="0" i="0" u="none" dirty="0" err="1">
                <a:solidFill>
                  <a:srgbClr val="64748B"/>
                </a:solidFill>
                <a:latin typeface="DM Sans"/>
              </a:rPr>
              <a:t>yüksek</a:t>
            </a:r>
            <a:r>
              <a:rPr sz="1125" b="0" i="0" u="none" dirty="0">
                <a:solidFill>
                  <a:srgbClr val="64748B"/>
                </a:solidFill>
                <a:latin typeface="DM Sans"/>
              </a:rPr>
              <a:t> </a:t>
            </a:r>
            <a:r>
              <a:rPr sz="1125" b="0" i="0" u="none" dirty="0" err="1">
                <a:solidFill>
                  <a:srgbClr val="64748B"/>
                </a:solidFill>
                <a:latin typeface="DM Sans"/>
              </a:rPr>
              <a:t>doğruluk</a:t>
            </a:r>
            <a:r>
              <a:rPr sz="1125" b="0" i="0" u="none" dirty="0">
                <a:solidFill>
                  <a:srgbClr val="64748B"/>
                </a:solidFill>
                <a:latin typeface="DM Sans"/>
              </a:rPr>
              <a:t> </a:t>
            </a:r>
            <a:r>
              <a:rPr sz="1125" b="0" i="0" u="none" dirty="0" err="1">
                <a:solidFill>
                  <a:srgbClr val="64748B"/>
                </a:solidFill>
                <a:latin typeface="DM Sans"/>
              </a:rPr>
              <a:t>sağlasa</a:t>
            </a:r>
            <a:r>
              <a:rPr sz="1125" b="0" i="0" u="none" dirty="0">
                <a:solidFill>
                  <a:srgbClr val="64748B"/>
                </a:solidFill>
                <a:latin typeface="DM Sans"/>
              </a:rPr>
              <a:t> da </a:t>
            </a:r>
            <a:r>
              <a:rPr sz="1125" b="0" i="0" u="none" dirty="0" err="1">
                <a:solidFill>
                  <a:srgbClr val="64748B"/>
                </a:solidFill>
                <a:latin typeface="DM Sans"/>
              </a:rPr>
              <a:t>istemci</a:t>
            </a:r>
            <a:r>
              <a:rPr sz="1125" b="0" i="0" u="none" dirty="0">
                <a:solidFill>
                  <a:srgbClr val="64748B"/>
                </a:solidFill>
                <a:latin typeface="DM Sans"/>
              </a:rPr>
              <a:t> </a:t>
            </a:r>
            <a:r>
              <a:rPr sz="1125" b="0" i="0" u="none" dirty="0" err="1">
                <a:solidFill>
                  <a:srgbClr val="64748B"/>
                </a:solidFill>
                <a:latin typeface="DM Sans"/>
              </a:rPr>
              <a:t>cihazlarda</a:t>
            </a:r>
            <a:r>
              <a:rPr sz="1125" b="0" i="0" u="none" dirty="0">
                <a:solidFill>
                  <a:srgbClr val="64748B"/>
                </a:solidFill>
                <a:latin typeface="DM Sans"/>
              </a:rPr>
              <a:t> </a:t>
            </a:r>
            <a:r>
              <a:rPr sz="1125" b="0" i="0" u="none" dirty="0" err="1">
                <a:solidFill>
                  <a:srgbClr val="64748B"/>
                </a:solidFill>
                <a:latin typeface="DM Sans"/>
              </a:rPr>
              <a:t>gecikmeye</a:t>
            </a:r>
            <a:r>
              <a:rPr sz="1125" b="0" i="0" u="none" dirty="0">
                <a:solidFill>
                  <a:srgbClr val="64748B"/>
                </a:solidFill>
                <a:latin typeface="DM Sans"/>
              </a:rPr>
              <a:t> </a:t>
            </a:r>
            <a:r>
              <a:rPr sz="1125" b="0" i="0" u="none" dirty="0" err="1">
                <a:solidFill>
                  <a:srgbClr val="64748B"/>
                </a:solidFill>
                <a:latin typeface="DM Sans"/>
              </a:rPr>
              <a:t>yol</a:t>
            </a:r>
            <a:r>
              <a:rPr sz="1125" b="0" i="0" u="none" dirty="0">
                <a:solidFill>
                  <a:srgbClr val="64748B"/>
                </a:solidFill>
                <a:latin typeface="DM Sans"/>
              </a:rPr>
              <a:t> </a:t>
            </a:r>
            <a:r>
              <a:rPr sz="1125" b="0" i="0" u="none" dirty="0" err="1">
                <a:solidFill>
                  <a:srgbClr val="64748B"/>
                </a:solidFill>
                <a:latin typeface="DM Sans"/>
              </a:rPr>
              <a:t>açar</a:t>
            </a:r>
            <a:r>
              <a:rPr sz="1125" b="0" i="0" u="none" dirty="0">
                <a:solidFill>
                  <a:srgbClr val="64748B"/>
                </a:solidFill>
                <a:latin typeface="DM Sans"/>
              </a:rPr>
              <a:t> </a:t>
            </a:r>
            <a:r>
              <a:rPr sz="1125" b="0" i="0" u="none" dirty="0" err="1">
                <a:solidFill>
                  <a:srgbClr val="64748B"/>
                </a:solidFill>
                <a:latin typeface="DM Sans"/>
              </a:rPr>
              <a:t>ve</a:t>
            </a:r>
            <a:r>
              <a:rPr sz="1125" b="0" i="0" u="none" dirty="0">
                <a:solidFill>
                  <a:srgbClr val="64748B"/>
                </a:solidFill>
                <a:latin typeface="DM Sans"/>
              </a:rPr>
              <a:t> </a:t>
            </a:r>
            <a:r>
              <a:rPr sz="1125" b="0" i="0" u="none" dirty="0" err="1">
                <a:solidFill>
                  <a:srgbClr val="64748B"/>
                </a:solidFill>
                <a:latin typeface="DM Sans"/>
              </a:rPr>
              <a:t>uç</a:t>
            </a:r>
            <a:r>
              <a:rPr sz="1125" b="0" i="0" u="none" dirty="0">
                <a:solidFill>
                  <a:srgbClr val="64748B"/>
                </a:solidFill>
                <a:latin typeface="DM Sans"/>
              </a:rPr>
              <a:t> </a:t>
            </a:r>
            <a:r>
              <a:rPr sz="1125" b="0" i="0" u="none" dirty="0" err="1">
                <a:solidFill>
                  <a:srgbClr val="64748B"/>
                </a:solidFill>
                <a:latin typeface="DM Sans"/>
              </a:rPr>
              <a:t>cihaz</a:t>
            </a:r>
            <a:r>
              <a:rPr sz="1125" b="0" i="0" u="none" dirty="0">
                <a:solidFill>
                  <a:srgbClr val="64748B"/>
                </a:solidFill>
                <a:latin typeface="DM Sans"/>
              </a:rPr>
              <a:t> </a:t>
            </a:r>
            <a:r>
              <a:rPr sz="1125" b="0" i="0" u="none" dirty="0" err="1">
                <a:solidFill>
                  <a:srgbClr val="64748B"/>
                </a:solidFill>
                <a:latin typeface="DM Sans"/>
              </a:rPr>
              <a:t>tarayıcı</a:t>
            </a:r>
            <a:r>
              <a:rPr sz="1125" b="0" i="0" u="none" dirty="0">
                <a:solidFill>
                  <a:srgbClr val="64748B"/>
                </a:solidFill>
                <a:latin typeface="DM Sans"/>
              </a:rPr>
              <a:t> </a:t>
            </a:r>
            <a:r>
              <a:rPr sz="1125" b="0" i="0" u="none" dirty="0" err="1">
                <a:solidFill>
                  <a:srgbClr val="64748B"/>
                </a:solidFill>
                <a:latin typeface="DM Sans"/>
              </a:rPr>
              <a:t>eklentilerinde</a:t>
            </a:r>
            <a:r>
              <a:rPr sz="1125" b="0" i="0" u="none" dirty="0">
                <a:solidFill>
                  <a:srgbClr val="64748B"/>
                </a:solidFill>
                <a:latin typeface="DM Sans"/>
              </a:rPr>
              <a:t> </a:t>
            </a:r>
            <a:r>
              <a:rPr sz="1125" b="0" i="0" u="none" dirty="0" err="1">
                <a:solidFill>
                  <a:srgbClr val="64748B"/>
                </a:solidFill>
                <a:latin typeface="DM Sans"/>
              </a:rPr>
              <a:t>kullanıma</a:t>
            </a:r>
            <a:r>
              <a:rPr sz="1125" b="0" i="0" u="none" dirty="0">
                <a:solidFill>
                  <a:srgbClr val="64748B"/>
                </a:solidFill>
                <a:latin typeface="DM Sans"/>
              </a:rPr>
              <a:t> </a:t>
            </a:r>
            <a:r>
              <a:rPr sz="1125" b="0" i="0" u="none" dirty="0" err="1">
                <a:solidFill>
                  <a:srgbClr val="64748B"/>
                </a:solidFill>
                <a:latin typeface="DM Sans"/>
              </a:rPr>
              <a:t>uygun</a:t>
            </a:r>
            <a:r>
              <a:rPr sz="1125" b="0" i="0" u="none" dirty="0">
                <a:solidFill>
                  <a:srgbClr val="64748B"/>
                </a:solidFill>
                <a:latin typeface="DM Sans"/>
              </a:rPr>
              <a:t> </a:t>
            </a:r>
            <a:r>
              <a:rPr sz="1125" b="0" i="0" u="none" dirty="0" err="1">
                <a:solidFill>
                  <a:srgbClr val="64748B"/>
                </a:solidFill>
                <a:latin typeface="DM Sans"/>
              </a:rPr>
              <a:t>değildir</a:t>
            </a:r>
            <a:r>
              <a:rPr sz="1125" b="0" i="0" u="none" dirty="0">
                <a:solidFill>
                  <a:srgbClr val="64748B"/>
                </a:solidFill>
                <a:latin typeface="DM Sans"/>
              </a:rPr>
              <a:t>.</a:t>
            </a:r>
          </a:p>
        </p:txBody>
      </p:sp>
      <p:pic>
        <p:nvPicPr>
          <p:cNvPr id="17" name="Picture 16" descr="image.png"/>
          <p:cNvPicPr>
            <a:picLocks noChangeAspect="1"/>
          </p:cNvPicPr>
          <p:nvPr/>
        </p:nvPicPr>
        <p:blipFill>
          <a:blip r:embed="rId6"/>
          <a:stretch>
            <a:fillRect/>
          </a:stretch>
        </p:blipFill>
        <p:spPr>
          <a:xfrm>
            <a:off x="819150" y="1576387"/>
            <a:ext cx="342900" cy="342900"/>
          </a:xfrm>
          <a:prstGeom prst="rect">
            <a:avLst/>
          </a:prstGeom>
        </p:spPr>
      </p:pic>
      <p:pic>
        <p:nvPicPr>
          <p:cNvPr id="18" name="Picture 17" descr="image.png"/>
          <p:cNvPicPr>
            <a:picLocks noChangeAspect="1"/>
          </p:cNvPicPr>
          <p:nvPr/>
        </p:nvPicPr>
        <p:blipFill>
          <a:blip r:embed="rId7"/>
          <a:stretch>
            <a:fillRect/>
          </a:stretch>
        </p:blipFill>
        <p:spPr>
          <a:xfrm>
            <a:off x="4581525" y="1576387"/>
            <a:ext cx="342900" cy="342900"/>
          </a:xfrm>
          <a:prstGeom prst="rect">
            <a:avLst/>
          </a:prstGeom>
        </p:spPr>
      </p:pic>
      <p:pic>
        <p:nvPicPr>
          <p:cNvPr id="19" name="Picture 18" descr="image.png"/>
          <p:cNvPicPr>
            <a:picLocks noChangeAspect="1"/>
          </p:cNvPicPr>
          <p:nvPr/>
        </p:nvPicPr>
        <p:blipFill>
          <a:blip r:embed="rId8"/>
          <a:stretch>
            <a:fillRect/>
          </a:stretch>
        </p:blipFill>
        <p:spPr>
          <a:xfrm>
            <a:off x="8343900" y="1576387"/>
            <a:ext cx="342900" cy="342900"/>
          </a:xfrm>
          <a:prstGeom prst="rect">
            <a:avLst/>
          </a:prstGeom>
        </p:spPr>
      </p:pic>
      <p:pic>
        <p:nvPicPr>
          <p:cNvPr id="20" name="Picture 1" descr="image.png">
            <a:extLst>
              <a:ext uri="{FF2B5EF4-FFF2-40B4-BE49-F238E27FC236}">
                <a16:creationId xmlns:a16="http://schemas.microsoft.com/office/drawing/2014/main" id="{E98833FC-0B71-4E32-4375-080E3C7005C6}"/>
              </a:ext>
            </a:extLst>
          </p:cNvPr>
          <p:cNvPicPr>
            <a:picLocks noChangeAspect="1"/>
          </p:cNvPicPr>
          <p:nvPr/>
        </p:nvPicPr>
        <p:blipFill>
          <a:blip r:embed="rId9"/>
          <a:stretch>
            <a:fillRect/>
          </a:stretch>
        </p:blipFill>
        <p:spPr>
          <a:xfrm>
            <a:off x="666750" y="952500"/>
            <a:ext cx="10858500" cy="171450"/>
          </a:xfrm>
          <a:prstGeom prst="rect">
            <a:avLst/>
          </a:prstGeom>
        </p:spPr>
      </p:pic>
      <p:pic>
        <p:nvPicPr>
          <p:cNvPr id="21" name="İçerik Yer Tutucusu 10">
            <a:extLst>
              <a:ext uri="{FF2B5EF4-FFF2-40B4-BE49-F238E27FC236}">
                <a16:creationId xmlns:a16="http://schemas.microsoft.com/office/drawing/2014/main" id="{18E3B83B-B134-00A4-1D58-3F0F6E80ACF7}"/>
              </a:ext>
            </a:extLst>
          </p:cNvPr>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a:off x="9513887" y="476250"/>
            <a:ext cx="2011362"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2C5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666750" y="6429375"/>
            <a:ext cx="10858500" cy="238125"/>
          </a:xfrm>
          <a:prstGeom prst="rect">
            <a:avLst/>
          </a:prstGeom>
        </p:spPr>
      </p:pic>
      <p:pic>
        <p:nvPicPr>
          <p:cNvPr id="3" name="Picture 2" descr="image.png"/>
          <p:cNvPicPr>
            <a:picLocks noChangeAspect="1"/>
          </p:cNvPicPr>
          <p:nvPr/>
        </p:nvPicPr>
        <p:blipFill>
          <a:blip r:embed="rId3"/>
          <a:stretch>
            <a:fillRect/>
          </a:stretch>
        </p:blipFill>
        <p:spPr>
          <a:xfrm>
            <a:off x="4667250" y="3858517"/>
            <a:ext cx="2857500" cy="171450"/>
          </a:xfrm>
          <a:prstGeom prst="rect">
            <a:avLst/>
          </a:prstGeom>
        </p:spPr>
      </p:pic>
      <p:sp>
        <p:nvSpPr>
          <p:cNvPr id="4" name="TextBox 3"/>
          <p:cNvSpPr txBox="1"/>
          <p:nvPr/>
        </p:nvSpPr>
        <p:spPr>
          <a:xfrm>
            <a:off x="666750" y="476250"/>
            <a:ext cx="1838325" cy="133350"/>
          </a:xfrm>
          <a:prstGeom prst="rect">
            <a:avLst/>
          </a:prstGeom>
          <a:noFill/>
        </p:spPr>
        <p:txBody>
          <a:bodyPr wrap="square" lIns="0" tIns="0" rIns="0" bIns="0" anchor="ctr">
            <a:spAutoFit/>
          </a:bodyPr>
          <a:lstStyle/>
          <a:p>
            <a:pPr algn="l"/>
            <a:r>
              <a:rPr sz="1200" b="1" i="0" u="none" dirty="0">
                <a:solidFill>
                  <a:srgbClr val="FFFFFF"/>
                </a:solidFill>
                <a:latin typeface="DM Sans"/>
              </a:rPr>
              <a:t>SAKARYA ÜNİVERSİTESİ</a:t>
            </a:r>
          </a:p>
        </p:txBody>
      </p:sp>
      <p:sp>
        <p:nvSpPr>
          <p:cNvPr id="5" name="TextBox 4"/>
          <p:cNvSpPr txBox="1"/>
          <p:nvPr/>
        </p:nvSpPr>
        <p:spPr>
          <a:xfrm>
            <a:off x="2095500" y="2188071"/>
            <a:ext cx="8001000" cy="238125"/>
          </a:xfrm>
          <a:prstGeom prst="rect">
            <a:avLst/>
          </a:prstGeom>
          <a:noFill/>
        </p:spPr>
        <p:txBody>
          <a:bodyPr wrap="square" lIns="0" tIns="0" rIns="0" bIns="0" anchor="t">
            <a:spAutoFit/>
          </a:bodyPr>
          <a:lstStyle/>
          <a:p>
            <a:pPr algn="ctr"/>
            <a:r>
              <a:rPr sz="1500" b="1" i="0" u="none">
                <a:solidFill>
                  <a:srgbClr val="C5A059"/>
                </a:solidFill>
                <a:latin typeface="Merriweather"/>
              </a:rPr>
              <a:t>BÖLÜM 02</a:t>
            </a:r>
          </a:p>
        </p:txBody>
      </p:sp>
      <p:sp>
        <p:nvSpPr>
          <p:cNvPr id="6" name="TextBox 5"/>
          <p:cNvSpPr txBox="1"/>
          <p:nvPr/>
        </p:nvSpPr>
        <p:spPr>
          <a:xfrm>
            <a:off x="2095500" y="2569071"/>
            <a:ext cx="8001000" cy="1051321"/>
          </a:xfrm>
          <a:prstGeom prst="rect">
            <a:avLst/>
          </a:prstGeom>
          <a:noFill/>
        </p:spPr>
        <p:txBody>
          <a:bodyPr wrap="square" lIns="0" tIns="0" rIns="0" bIns="0" anchor="t">
            <a:spAutoFit/>
          </a:bodyPr>
          <a:lstStyle/>
          <a:p>
            <a:pPr algn="ctr">
              <a:lnSpc>
                <a:spcPts val="4140"/>
              </a:lnSpc>
            </a:pPr>
            <a:r>
              <a:rPr sz="3450" b="1" i="0" u="none">
                <a:solidFill>
                  <a:srgbClr val="FFFFFF"/>
                </a:solidFill>
                <a:latin typeface="Merriweather"/>
              </a:rPr>
              <a:t>LİTERATÜR ANALİZİ VE AKADEMİK DURUM</a:t>
            </a:r>
          </a:p>
        </p:txBody>
      </p:sp>
      <p:sp>
        <p:nvSpPr>
          <p:cNvPr id="7" name="TextBox 6"/>
          <p:cNvSpPr txBox="1"/>
          <p:nvPr/>
        </p:nvSpPr>
        <p:spPr>
          <a:xfrm>
            <a:off x="2286000" y="4315717"/>
            <a:ext cx="7620000" cy="487560"/>
          </a:xfrm>
          <a:prstGeom prst="rect">
            <a:avLst/>
          </a:prstGeom>
          <a:noFill/>
        </p:spPr>
        <p:txBody>
          <a:bodyPr wrap="square" lIns="0" tIns="0" rIns="0" bIns="0" anchor="t">
            <a:spAutoFit/>
          </a:bodyPr>
          <a:lstStyle/>
          <a:p>
            <a:pPr algn="ctr">
              <a:lnSpc>
                <a:spcPts val="1920"/>
              </a:lnSpc>
            </a:pPr>
            <a:r>
              <a:rPr sz="1200" b="0" i="0" u="none">
                <a:solidFill>
                  <a:srgbClr val="CBD5E1"/>
                </a:solidFill>
                <a:latin typeface="DM Sans"/>
              </a:rPr>
              <a:t>Dünya genelindeki oltalama tespiti çalışmaları, kullanılan sınıflandırıcılar ve elde edilen başarım değerlerinin kıyaslanması.</a:t>
            </a:r>
          </a:p>
        </p:txBody>
      </p:sp>
      <p:sp>
        <p:nvSpPr>
          <p:cNvPr id="8" name="TextBox 7"/>
          <p:cNvSpPr txBox="1"/>
          <p:nvPr/>
        </p:nvSpPr>
        <p:spPr>
          <a:xfrm>
            <a:off x="666750" y="6534150"/>
            <a:ext cx="2460498" cy="126958"/>
          </a:xfrm>
          <a:prstGeom prst="rect">
            <a:avLst/>
          </a:prstGeom>
          <a:noFill/>
        </p:spPr>
        <p:txBody>
          <a:bodyPr wrap="square" lIns="0" tIns="0" rIns="0" bIns="0" anchor="t">
            <a:spAutoFit/>
          </a:bodyPr>
          <a:lstStyle/>
          <a:p>
            <a:pPr algn="l"/>
            <a:r>
              <a:rPr sz="825" b="0" i="0" u="none" dirty="0">
                <a:solidFill>
                  <a:srgbClr val="94A3B8"/>
                </a:solidFill>
                <a:latin typeface="DM Sans"/>
              </a:rPr>
              <a:t>Mustafa </a:t>
            </a:r>
            <a:r>
              <a:rPr sz="825" b="0" i="0" u="none" dirty="0" err="1">
                <a:solidFill>
                  <a:srgbClr val="94A3B8"/>
                </a:solidFill>
                <a:latin typeface="DM Sans"/>
              </a:rPr>
              <a:t>Melih</a:t>
            </a:r>
            <a:r>
              <a:rPr sz="825" b="0" i="0" u="none" dirty="0">
                <a:solidFill>
                  <a:srgbClr val="94A3B8"/>
                </a:solidFill>
                <a:latin typeface="DM Sans"/>
              </a:rPr>
              <a:t> TÜFEKCİOĞLU • </a:t>
            </a:r>
            <a:r>
              <a:rPr sz="825" b="0" i="0" u="none" dirty="0" err="1">
                <a:solidFill>
                  <a:srgbClr val="94A3B8"/>
                </a:solidFill>
                <a:latin typeface="DM Sans"/>
              </a:rPr>
              <a:t>Yüksek</a:t>
            </a:r>
            <a:r>
              <a:rPr sz="825" b="0" i="0" u="none" dirty="0">
                <a:solidFill>
                  <a:srgbClr val="94A3B8"/>
                </a:solidFill>
                <a:latin typeface="DM Sans"/>
              </a:rPr>
              <a:t> </a:t>
            </a:r>
            <a:r>
              <a:rPr sz="825" b="0" i="0" u="none" dirty="0" err="1">
                <a:solidFill>
                  <a:srgbClr val="94A3B8"/>
                </a:solidFill>
                <a:latin typeface="DM Sans"/>
              </a:rPr>
              <a:t>Lisans</a:t>
            </a:r>
            <a:r>
              <a:rPr sz="825" b="0" i="0" u="none" dirty="0">
                <a:solidFill>
                  <a:srgbClr val="94A3B8"/>
                </a:solidFill>
                <a:latin typeface="DM Sans"/>
              </a:rPr>
              <a:t> </a:t>
            </a:r>
            <a:r>
              <a:rPr sz="825" b="0" i="0" u="none" dirty="0" err="1">
                <a:solidFill>
                  <a:srgbClr val="94A3B8"/>
                </a:solidFill>
                <a:latin typeface="DM Sans"/>
              </a:rPr>
              <a:t>Tezi</a:t>
            </a:r>
            <a:endParaRPr sz="825" b="0" i="0" u="none" dirty="0">
              <a:solidFill>
                <a:srgbClr val="94A3B8"/>
              </a:solidFill>
              <a:latin typeface="DM Sans"/>
            </a:endParaRPr>
          </a:p>
        </p:txBody>
      </p:sp>
      <p:sp>
        <p:nvSpPr>
          <p:cNvPr id="9" name="TextBox 8"/>
          <p:cNvSpPr txBox="1"/>
          <p:nvPr/>
        </p:nvSpPr>
        <p:spPr>
          <a:xfrm>
            <a:off x="11201400" y="6534150"/>
            <a:ext cx="323850" cy="133350"/>
          </a:xfrm>
          <a:prstGeom prst="rect">
            <a:avLst/>
          </a:prstGeom>
          <a:noFill/>
        </p:spPr>
        <p:txBody>
          <a:bodyPr wrap="square" lIns="0" tIns="0" rIns="0" bIns="0" anchor="t">
            <a:spAutoFit/>
          </a:bodyPr>
          <a:lstStyle/>
          <a:p>
            <a:pPr algn="l"/>
            <a:r>
              <a:rPr sz="825" b="0" i="0" u="none">
                <a:solidFill>
                  <a:srgbClr val="94A3B8"/>
                </a:solidFill>
                <a:latin typeface="DM Sans"/>
              </a:rPr>
              <a:t>Slayt 4</a:t>
            </a:r>
          </a:p>
        </p:txBody>
      </p:sp>
      <p:pic>
        <p:nvPicPr>
          <p:cNvPr id="10" name="İçerik Yer Tutucusu 10">
            <a:extLst>
              <a:ext uri="{FF2B5EF4-FFF2-40B4-BE49-F238E27FC236}">
                <a16:creationId xmlns:a16="http://schemas.microsoft.com/office/drawing/2014/main" id="{DF86BEEA-DE10-F713-6293-90151D48B95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80231" y="244475"/>
            <a:ext cx="2011362"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png"/>
          <p:cNvPicPr>
            <a:picLocks noChangeAspect="1"/>
          </p:cNvPicPr>
          <p:nvPr/>
        </p:nvPicPr>
        <p:blipFill>
          <a:blip r:embed="rId2"/>
          <a:stretch>
            <a:fillRect/>
          </a:stretch>
        </p:blipFill>
        <p:spPr>
          <a:xfrm>
            <a:off x="571500" y="6391275"/>
            <a:ext cx="11049000" cy="276225"/>
          </a:xfrm>
          <a:prstGeom prst="rect">
            <a:avLst/>
          </a:prstGeom>
        </p:spPr>
      </p:pic>
      <p:sp>
        <p:nvSpPr>
          <p:cNvPr id="4" name="TextBox 3"/>
          <p:cNvSpPr txBox="1"/>
          <p:nvPr/>
        </p:nvSpPr>
        <p:spPr>
          <a:xfrm>
            <a:off x="571500" y="476250"/>
            <a:ext cx="11601450" cy="423862"/>
          </a:xfrm>
          <a:prstGeom prst="rect">
            <a:avLst/>
          </a:prstGeom>
          <a:noFill/>
        </p:spPr>
        <p:txBody>
          <a:bodyPr wrap="square" lIns="0" tIns="0" rIns="0" bIns="0" anchor="t">
            <a:spAutoFit/>
          </a:bodyPr>
          <a:lstStyle/>
          <a:p>
            <a:pPr algn="l">
              <a:lnSpc>
                <a:spcPts val="3187"/>
              </a:lnSpc>
            </a:pPr>
            <a:r>
              <a:rPr sz="2550" b="1" i="0" u="none">
                <a:solidFill>
                  <a:srgbClr val="005088"/>
                </a:solidFill>
                <a:latin typeface="Merriweather"/>
              </a:rPr>
              <a:t>Literatür Çalışmalarının Kıyaslanması (2020 - 2022)</a:t>
            </a:r>
          </a:p>
        </p:txBody>
      </p:sp>
      <p:sp>
        <p:nvSpPr>
          <p:cNvPr id="5" name="Rectangle 4"/>
          <p:cNvSpPr/>
          <p:nvPr/>
        </p:nvSpPr>
        <p:spPr>
          <a:xfrm>
            <a:off x="571500" y="995362"/>
            <a:ext cx="11049000"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71500" y="6496050"/>
            <a:ext cx="3009900" cy="171450"/>
          </a:xfrm>
          <a:prstGeom prst="rect">
            <a:avLst/>
          </a:prstGeom>
          <a:noFill/>
        </p:spPr>
        <p:txBody>
          <a:bodyPr wrap="square" lIns="0" tIns="0" rIns="0" bIns="0" anchor="t">
            <a:spAutoFit/>
          </a:bodyPr>
          <a:lstStyle/>
          <a:p>
            <a:pPr algn="l">
              <a:lnSpc>
                <a:spcPts val="1350"/>
              </a:lnSpc>
            </a:pPr>
            <a:r>
              <a:rPr sz="900" b="0" i="0" u="none">
                <a:solidFill>
                  <a:srgbClr val="94A3B8"/>
                </a:solidFill>
                <a:latin typeface="DM Sans"/>
              </a:rPr>
              <a:t>SAKARYA ÜNİVERSİTESİ • YÜKSEK LİSANS TEZ SAVUNMASI</a:t>
            </a:r>
          </a:p>
        </p:txBody>
      </p:sp>
      <p:sp>
        <p:nvSpPr>
          <p:cNvPr id="7" name="TextBox 6"/>
          <p:cNvSpPr txBox="1"/>
          <p:nvPr/>
        </p:nvSpPr>
        <p:spPr>
          <a:xfrm>
            <a:off x="11249025" y="6496050"/>
            <a:ext cx="371475" cy="171450"/>
          </a:xfrm>
          <a:prstGeom prst="rect">
            <a:avLst/>
          </a:prstGeom>
          <a:noFill/>
        </p:spPr>
        <p:txBody>
          <a:bodyPr wrap="square" lIns="0" tIns="0" rIns="0" bIns="0" anchor="t">
            <a:spAutoFit/>
          </a:bodyPr>
          <a:lstStyle/>
          <a:p>
            <a:pPr algn="l">
              <a:lnSpc>
                <a:spcPts val="1350"/>
              </a:lnSpc>
            </a:pPr>
            <a:r>
              <a:rPr sz="900" b="0" i="0" u="none">
                <a:solidFill>
                  <a:srgbClr val="94A3B8"/>
                </a:solidFill>
                <a:latin typeface="DM Sans"/>
              </a:rPr>
              <a:t>Slayt 8</a:t>
            </a:r>
          </a:p>
        </p:txBody>
      </p:sp>
      <p:pic>
        <p:nvPicPr>
          <p:cNvPr id="34" name="Picture 1" descr="image.png">
            <a:extLst>
              <a:ext uri="{FF2B5EF4-FFF2-40B4-BE49-F238E27FC236}">
                <a16:creationId xmlns:a16="http://schemas.microsoft.com/office/drawing/2014/main" id="{6816AFBD-0F6E-97EC-3448-F1B6B70EC158}"/>
              </a:ext>
            </a:extLst>
          </p:cNvPr>
          <p:cNvPicPr>
            <a:picLocks noChangeAspect="1"/>
          </p:cNvPicPr>
          <p:nvPr/>
        </p:nvPicPr>
        <p:blipFill>
          <a:blip r:embed="rId3"/>
          <a:stretch>
            <a:fillRect/>
          </a:stretch>
        </p:blipFill>
        <p:spPr>
          <a:xfrm>
            <a:off x="666750" y="952500"/>
            <a:ext cx="10858500" cy="171450"/>
          </a:xfrm>
          <a:prstGeom prst="rect">
            <a:avLst/>
          </a:prstGeom>
        </p:spPr>
      </p:pic>
      <p:pic>
        <p:nvPicPr>
          <p:cNvPr id="35" name="İçerik Yer Tutucusu 10">
            <a:extLst>
              <a:ext uri="{FF2B5EF4-FFF2-40B4-BE49-F238E27FC236}">
                <a16:creationId xmlns:a16="http://schemas.microsoft.com/office/drawing/2014/main" id="{00C87510-F95C-33AD-0F6C-009BE2D7B680}"/>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9513888" y="476250"/>
            <a:ext cx="2011362"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 name="Tablo 1">
            <a:extLst>
              <a:ext uri="{FF2B5EF4-FFF2-40B4-BE49-F238E27FC236}">
                <a16:creationId xmlns:a16="http://schemas.microsoft.com/office/drawing/2014/main" id="{E26B4BF3-61DD-BF97-D2CA-F366673C9E98}"/>
              </a:ext>
            </a:extLst>
          </p:cNvPr>
          <p:cNvGraphicFramePr>
            <a:graphicFrameLocks noGrp="1"/>
          </p:cNvGraphicFramePr>
          <p:nvPr>
            <p:extLst>
              <p:ext uri="{D42A27DB-BD31-4B8C-83A1-F6EECF244321}">
                <p14:modId xmlns:p14="http://schemas.microsoft.com/office/powerpoint/2010/main" val="1232740790"/>
              </p:ext>
            </p:extLst>
          </p:nvPr>
        </p:nvGraphicFramePr>
        <p:xfrm>
          <a:off x="685800" y="1459705"/>
          <a:ext cx="10839450" cy="1913732"/>
        </p:xfrm>
        <a:graphic>
          <a:graphicData uri="http://schemas.openxmlformats.org/drawingml/2006/table">
            <a:tbl>
              <a:tblPr firstRow="1" bandRow="1">
                <a:tableStyleId>{5C22544A-7EE6-4342-B048-85BDC9FD1C3A}</a:tableStyleId>
              </a:tblPr>
              <a:tblGrid>
                <a:gridCol w="2347617">
                  <a:extLst>
                    <a:ext uri="{9D8B030D-6E8A-4147-A177-3AD203B41FA5}">
                      <a16:colId xmlns:a16="http://schemas.microsoft.com/office/drawing/2014/main" val="597739189"/>
                    </a:ext>
                  </a:extLst>
                </a:gridCol>
                <a:gridCol w="845194">
                  <a:extLst>
                    <a:ext uri="{9D8B030D-6E8A-4147-A177-3AD203B41FA5}">
                      <a16:colId xmlns:a16="http://schemas.microsoft.com/office/drawing/2014/main" val="2586540196"/>
                    </a:ext>
                  </a:extLst>
                </a:gridCol>
                <a:gridCol w="4473326">
                  <a:extLst>
                    <a:ext uri="{9D8B030D-6E8A-4147-A177-3AD203B41FA5}">
                      <a16:colId xmlns:a16="http://schemas.microsoft.com/office/drawing/2014/main" val="2545839624"/>
                    </a:ext>
                  </a:extLst>
                </a:gridCol>
                <a:gridCol w="3173313">
                  <a:extLst>
                    <a:ext uri="{9D8B030D-6E8A-4147-A177-3AD203B41FA5}">
                      <a16:colId xmlns:a16="http://schemas.microsoft.com/office/drawing/2014/main" val="3852894523"/>
                    </a:ext>
                  </a:extLst>
                </a:gridCol>
              </a:tblGrid>
              <a:tr h="373062">
                <a:tc>
                  <a:txBody>
                    <a:bodyPr/>
                    <a:lstStyle/>
                    <a:p>
                      <a:pPr algn="l"/>
                      <a:r>
                        <a:rPr lang="tr-TR" sz="975" b="1" i="0" u="none" dirty="0">
                          <a:solidFill>
                            <a:srgbClr val="FFFFFF"/>
                          </a:solidFill>
                          <a:latin typeface="Merriweather"/>
                        </a:rPr>
                        <a:t>Çalışma</a:t>
                      </a:r>
                      <a:endParaRPr sz="975" b="1" i="0" u="none" dirty="0">
                        <a:solidFill>
                          <a:srgbClr val="FFFFFF"/>
                        </a:solidFill>
                        <a:latin typeface="Merriweather"/>
                      </a:endParaRPr>
                    </a:p>
                  </a:txBody>
                  <a:tcPr marL="63500" marR="63500" marT="25400" marB="25400" anchor="ctr">
                    <a:lnL>
                      <a:noFill/>
                    </a:lnL>
                    <a:lnR>
                      <a:noFill/>
                    </a:lnR>
                    <a:lnT>
                      <a:noFill/>
                    </a:lnT>
                    <a:lnB>
                      <a:noFill/>
                    </a:lnB>
                    <a:solidFill>
                      <a:srgbClr val="0B2C5C"/>
                    </a:solidFill>
                  </a:tcPr>
                </a:tc>
                <a:tc>
                  <a:txBody>
                    <a:bodyPr/>
                    <a:lstStyle/>
                    <a:p>
                      <a:pPr algn="l"/>
                      <a:r>
                        <a:rPr sz="975" b="1" i="0" u="none">
                          <a:solidFill>
                            <a:srgbClr val="FFFFFF"/>
                          </a:solidFill>
                          <a:latin typeface="Merriweather"/>
                        </a:rPr>
                        <a:t>Yıl</a:t>
                      </a:r>
                    </a:p>
                  </a:txBody>
                  <a:tcPr marL="63500" marR="63500" marT="25400" marB="25400" anchor="ctr">
                    <a:lnL>
                      <a:noFill/>
                    </a:lnL>
                    <a:lnR>
                      <a:noFill/>
                    </a:lnR>
                    <a:lnT>
                      <a:noFill/>
                    </a:lnT>
                    <a:lnB>
                      <a:noFill/>
                    </a:lnB>
                    <a:solidFill>
                      <a:srgbClr val="0B2C5C"/>
                    </a:solidFill>
                  </a:tcPr>
                </a:tc>
                <a:tc>
                  <a:txBody>
                    <a:bodyPr/>
                    <a:lstStyle/>
                    <a:p>
                      <a:pPr algn="l"/>
                      <a:r>
                        <a:rPr sz="975" b="1" i="0" u="none">
                          <a:solidFill>
                            <a:srgbClr val="FFFFFF"/>
                          </a:solidFill>
                          <a:latin typeface="Merriweather"/>
                        </a:rPr>
                        <a:t>Kullanılan Sınıflandırıcı / Yöntem</a:t>
                      </a:r>
                    </a:p>
                  </a:txBody>
                  <a:tcPr marL="63500" marR="63500" marT="25400" marB="25400" anchor="ctr">
                    <a:lnL>
                      <a:noFill/>
                    </a:lnL>
                    <a:lnR>
                      <a:noFill/>
                    </a:lnR>
                    <a:lnT>
                      <a:noFill/>
                    </a:lnT>
                    <a:lnB>
                      <a:noFill/>
                    </a:lnB>
                    <a:solidFill>
                      <a:srgbClr val="0B2C5C"/>
                    </a:solidFill>
                  </a:tcPr>
                </a:tc>
                <a:tc>
                  <a:txBody>
                    <a:bodyPr/>
                    <a:lstStyle/>
                    <a:p>
                      <a:pPr algn="l"/>
                      <a:r>
                        <a:rPr sz="975" b="1" i="0" u="none">
                          <a:solidFill>
                            <a:srgbClr val="FFFFFF"/>
                          </a:solidFill>
                          <a:latin typeface="Merriweather"/>
                        </a:rPr>
                        <a:t>Sınıflandırma Doğruluk Başarımı</a:t>
                      </a:r>
                    </a:p>
                  </a:txBody>
                  <a:tcPr marL="63500" marR="63500" marT="25400" marB="25400" anchor="ctr">
                    <a:lnL>
                      <a:noFill/>
                    </a:lnL>
                    <a:lnR>
                      <a:noFill/>
                    </a:lnR>
                    <a:lnT>
                      <a:noFill/>
                    </a:lnT>
                    <a:lnB>
                      <a:noFill/>
                    </a:lnB>
                    <a:solidFill>
                      <a:srgbClr val="0B2C5C"/>
                    </a:solidFill>
                  </a:tcPr>
                </a:tc>
                <a:extLst>
                  <a:ext uri="{0D108BD9-81ED-4DB2-BD59-A6C34878D82A}">
                    <a16:rowId xmlns:a16="http://schemas.microsoft.com/office/drawing/2014/main" val="4086173002"/>
                  </a:ext>
                </a:extLst>
              </a:tr>
              <a:tr h="373062">
                <a:tc>
                  <a:txBody>
                    <a:bodyPr/>
                    <a:lstStyle/>
                    <a:p>
                      <a:r>
                        <a:rPr lang="tr-TR" sz="1200" b="0" i="0" u="none" kern="1200" dirty="0" err="1">
                          <a:solidFill>
                            <a:srgbClr val="334155"/>
                          </a:solidFill>
                          <a:latin typeface="DM Sans"/>
                          <a:ea typeface="+mn-ea"/>
                          <a:cs typeface="+mn-cs"/>
                        </a:rPr>
                        <a:t>Yu</a:t>
                      </a:r>
                      <a:endParaRPr lang="tr-TR" sz="1200" b="0" i="0" u="none" kern="1200" dirty="0">
                        <a:solidFill>
                          <a:srgbClr val="334155"/>
                        </a:solidFill>
                        <a:latin typeface="DM Sans"/>
                        <a:ea typeface="+mn-ea"/>
                        <a:cs typeface="+mn-cs"/>
                      </a:endParaRPr>
                    </a:p>
                  </a:txBody>
                  <a:tcPr anchor="ctr">
                    <a:lnL>
                      <a:noFill/>
                    </a:lnL>
                    <a:lnR>
                      <a:noFill/>
                    </a:lnR>
                    <a:lnT>
                      <a:noFill/>
                    </a:lnT>
                    <a:lnB>
                      <a:noFill/>
                    </a:lnB>
                    <a:noFill/>
                  </a:tcPr>
                </a:tc>
                <a:tc>
                  <a:txBody>
                    <a:bodyPr/>
                    <a:lstStyle/>
                    <a:p>
                      <a:r>
                        <a:rPr lang="tr-TR" sz="1200" b="0" i="0" u="none" kern="1200">
                          <a:solidFill>
                            <a:srgbClr val="334155"/>
                          </a:solidFill>
                          <a:latin typeface="DM Sans"/>
                          <a:ea typeface="+mn-ea"/>
                          <a:cs typeface="+mn-cs"/>
                        </a:rPr>
                        <a:t>2020</a:t>
                      </a:r>
                    </a:p>
                  </a:txBody>
                  <a:tcPr anchor="ctr">
                    <a:lnL>
                      <a:noFill/>
                    </a:lnL>
                    <a:lnR>
                      <a:noFill/>
                    </a:lnR>
                    <a:lnT>
                      <a:noFill/>
                    </a:lnT>
                    <a:lnB>
                      <a:noFill/>
                    </a:lnB>
                    <a:noFill/>
                  </a:tcPr>
                </a:tc>
                <a:tc>
                  <a:txBody>
                    <a:bodyPr/>
                    <a:lstStyle/>
                    <a:p>
                      <a:r>
                        <a:rPr lang="tr-TR" sz="1200" b="0" i="0" u="none" kern="1200">
                          <a:solidFill>
                            <a:srgbClr val="334155"/>
                          </a:solidFill>
                          <a:latin typeface="DM Sans"/>
                          <a:ea typeface="+mn-ea"/>
                          <a:cs typeface="+mn-cs"/>
                        </a:rPr>
                        <a:t>DBN-SVM, CNN, LR, SVM</a:t>
                      </a:r>
                    </a:p>
                  </a:txBody>
                  <a:tcPr anchor="ctr">
                    <a:lnL>
                      <a:noFill/>
                    </a:lnL>
                    <a:lnR>
                      <a:noFill/>
                    </a:lnR>
                    <a:lnT>
                      <a:noFill/>
                    </a:lnT>
                    <a:lnB>
                      <a:noFill/>
                    </a:lnB>
                    <a:noFill/>
                  </a:tcPr>
                </a:tc>
                <a:tc>
                  <a:txBody>
                    <a:bodyPr/>
                    <a:lstStyle/>
                    <a:p>
                      <a:r>
                        <a:rPr lang="tr-TR" sz="1200" b="0" i="0" u="none" kern="1200">
                          <a:solidFill>
                            <a:srgbClr val="334155"/>
                          </a:solidFill>
                          <a:latin typeface="DM Sans"/>
                          <a:ea typeface="+mn-ea"/>
                          <a:cs typeface="+mn-cs"/>
                        </a:rPr>
                        <a:t>%99,96</a:t>
                      </a:r>
                    </a:p>
                  </a:txBody>
                  <a:tcPr anchor="ctr">
                    <a:lnL>
                      <a:noFill/>
                    </a:lnL>
                    <a:lnR>
                      <a:noFill/>
                    </a:lnR>
                    <a:lnT>
                      <a:noFill/>
                    </a:lnT>
                    <a:lnB>
                      <a:noFill/>
                    </a:lnB>
                    <a:noFill/>
                  </a:tcPr>
                </a:tc>
                <a:extLst>
                  <a:ext uri="{0D108BD9-81ED-4DB2-BD59-A6C34878D82A}">
                    <a16:rowId xmlns:a16="http://schemas.microsoft.com/office/drawing/2014/main" val="2840748683"/>
                  </a:ext>
                </a:extLst>
              </a:tr>
              <a:tr h="373062">
                <a:tc>
                  <a:txBody>
                    <a:bodyPr/>
                    <a:lstStyle/>
                    <a:p>
                      <a:r>
                        <a:rPr lang="tr-TR" sz="1200" b="0" i="0" u="none" kern="1200" dirty="0" err="1">
                          <a:solidFill>
                            <a:srgbClr val="334155"/>
                          </a:solidFill>
                          <a:latin typeface="DM Sans"/>
                          <a:ea typeface="+mn-ea"/>
                          <a:cs typeface="+mn-cs"/>
                        </a:rPr>
                        <a:t>Ispahany</a:t>
                      </a:r>
                      <a:r>
                        <a:rPr lang="tr-TR" sz="1200" b="0" i="0" u="none" kern="1200" dirty="0">
                          <a:solidFill>
                            <a:srgbClr val="334155"/>
                          </a:solidFill>
                          <a:latin typeface="DM Sans"/>
                          <a:ea typeface="+mn-ea"/>
                          <a:cs typeface="+mn-cs"/>
                        </a:rPr>
                        <a:t> &amp; </a:t>
                      </a:r>
                      <a:r>
                        <a:rPr lang="tr-TR" sz="1200" b="0" i="0" u="none" kern="1200" dirty="0" err="1">
                          <a:solidFill>
                            <a:srgbClr val="334155"/>
                          </a:solidFill>
                          <a:latin typeface="DM Sans"/>
                          <a:ea typeface="+mn-ea"/>
                          <a:cs typeface="+mn-cs"/>
                        </a:rPr>
                        <a:t>Islam</a:t>
                      </a:r>
                      <a:endParaRPr lang="tr-TR" sz="1200" b="0" i="0" u="none" kern="1200" dirty="0">
                        <a:solidFill>
                          <a:srgbClr val="334155"/>
                        </a:solidFill>
                        <a:latin typeface="DM Sans"/>
                        <a:ea typeface="+mn-ea"/>
                        <a:cs typeface="+mn-cs"/>
                      </a:endParaRPr>
                    </a:p>
                  </a:txBody>
                  <a:tcPr anchor="ctr">
                    <a:lnL>
                      <a:noFill/>
                    </a:lnL>
                    <a:lnR>
                      <a:noFill/>
                    </a:lnR>
                    <a:lnT>
                      <a:noFill/>
                    </a:lnT>
                    <a:lnB>
                      <a:noFill/>
                    </a:lnB>
                    <a:noFill/>
                  </a:tcPr>
                </a:tc>
                <a:tc>
                  <a:txBody>
                    <a:bodyPr/>
                    <a:lstStyle/>
                    <a:p>
                      <a:r>
                        <a:rPr lang="tr-TR" sz="1200" b="0" i="0" u="none" kern="1200" dirty="0">
                          <a:solidFill>
                            <a:srgbClr val="334155"/>
                          </a:solidFill>
                          <a:latin typeface="DM Sans"/>
                          <a:ea typeface="+mn-ea"/>
                          <a:cs typeface="+mn-cs"/>
                        </a:rPr>
                        <a:t>2020</a:t>
                      </a:r>
                    </a:p>
                  </a:txBody>
                  <a:tcPr anchor="ctr">
                    <a:lnL>
                      <a:noFill/>
                    </a:lnL>
                    <a:lnR>
                      <a:noFill/>
                    </a:lnR>
                    <a:lnT>
                      <a:noFill/>
                    </a:lnT>
                    <a:lnB>
                      <a:noFill/>
                    </a:lnB>
                    <a:noFill/>
                  </a:tcPr>
                </a:tc>
                <a:tc>
                  <a:txBody>
                    <a:bodyPr/>
                    <a:lstStyle/>
                    <a:p>
                      <a:r>
                        <a:rPr lang="tr-TR" sz="1200" b="0" i="0" u="none" kern="1200">
                          <a:solidFill>
                            <a:srgbClr val="334155"/>
                          </a:solidFill>
                          <a:latin typeface="DM Sans"/>
                          <a:ea typeface="+mn-ea"/>
                          <a:cs typeface="+mn-cs"/>
                        </a:rPr>
                        <a:t>KNN (Entropi olmadan)</a:t>
                      </a:r>
                    </a:p>
                  </a:txBody>
                  <a:tcPr anchor="ctr">
                    <a:lnL>
                      <a:noFill/>
                    </a:lnL>
                    <a:lnR>
                      <a:noFill/>
                    </a:lnR>
                    <a:lnT>
                      <a:noFill/>
                    </a:lnT>
                    <a:lnB>
                      <a:noFill/>
                    </a:lnB>
                    <a:noFill/>
                  </a:tcPr>
                </a:tc>
                <a:tc>
                  <a:txBody>
                    <a:bodyPr/>
                    <a:lstStyle/>
                    <a:p>
                      <a:r>
                        <a:rPr lang="tr-TR" sz="1200" b="0" i="0" u="none" kern="1200">
                          <a:solidFill>
                            <a:srgbClr val="334155"/>
                          </a:solidFill>
                          <a:latin typeface="DM Sans"/>
                          <a:ea typeface="+mn-ea"/>
                          <a:cs typeface="+mn-cs"/>
                        </a:rPr>
                        <a:t>%99,20</a:t>
                      </a:r>
                    </a:p>
                  </a:txBody>
                  <a:tcPr anchor="ctr">
                    <a:lnL>
                      <a:noFill/>
                    </a:lnL>
                    <a:lnR>
                      <a:noFill/>
                    </a:lnR>
                    <a:lnT>
                      <a:noFill/>
                    </a:lnT>
                    <a:lnB>
                      <a:noFill/>
                    </a:lnB>
                    <a:noFill/>
                  </a:tcPr>
                </a:tc>
                <a:extLst>
                  <a:ext uri="{0D108BD9-81ED-4DB2-BD59-A6C34878D82A}">
                    <a16:rowId xmlns:a16="http://schemas.microsoft.com/office/drawing/2014/main" val="2136417538"/>
                  </a:ext>
                </a:extLst>
              </a:tr>
              <a:tr h="421484">
                <a:tc>
                  <a:txBody>
                    <a:bodyPr/>
                    <a:lstStyle/>
                    <a:p>
                      <a:r>
                        <a:rPr lang="tr-TR" sz="1200" b="0" i="0" u="none" kern="1200">
                          <a:solidFill>
                            <a:srgbClr val="334155"/>
                          </a:solidFill>
                          <a:latin typeface="DM Sans"/>
                          <a:ea typeface="+mn-ea"/>
                          <a:cs typeface="+mn-cs"/>
                        </a:rPr>
                        <a:t>Yuan et al.</a:t>
                      </a:r>
                    </a:p>
                  </a:txBody>
                  <a:tcPr anchor="ctr">
                    <a:lnL>
                      <a:noFill/>
                    </a:lnL>
                    <a:lnR>
                      <a:noFill/>
                    </a:lnR>
                    <a:lnT>
                      <a:noFill/>
                    </a:lnT>
                    <a:lnB>
                      <a:noFill/>
                    </a:lnB>
                    <a:noFill/>
                  </a:tcPr>
                </a:tc>
                <a:tc>
                  <a:txBody>
                    <a:bodyPr/>
                    <a:lstStyle/>
                    <a:p>
                      <a:r>
                        <a:rPr lang="tr-TR" sz="1200" b="0" i="0" u="none" kern="1200" dirty="0">
                          <a:solidFill>
                            <a:srgbClr val="334155"/>
                          </a:solidFill>
                          <a:latin typeface="DM Sans"/>
                          <a:ea typeface="+mn-ea"/>
                          <a:cs typeface="+mn-cs"/>
                        </a:rPr>
                        <a:t>2021</a:t>
                      </a:r>
                    </a:p>
                  </a:txBody>
                  <a:tcPr anchor="ctr">
                    <a:lnL>
                      <a:noFill/>
                    </a:lnL>
                    <a:lnR>
                      <a:noFill/>
                    </a:lnR>
                    <a:lnT>
                      <a:noFill/>
                    </a:lnT>
                    <a:lnB>
                      <a:noFill/>
                    </a:lnB>
                    <a:noFill/>
                  </a:tcPr>
                </a:tc>
                <a:tc>
                  <a:txBody>
                    <a:bodyPr/>
                    <a:lstStyle/>
                    <a:p>
                      <a:r>
                        <a:rPr lang="tr-TR" sz="1200" b="0" i="0" u="none" kern="1200" dirty="0" err="1">
                          <a:solidFill>
                            <a:srgbClr val="334155"/>
                          </a:solidFill>
                          <a:latin typeface="DM Sans"/>
                          <a:ea typeface="+mn-ea"/>
                          <a:cs typeface="+mn-cs"/>
                        </a:rPr>
                        <a:t>Bi-IndRNN</a:t>
                      </a:r>
                      <a:r>
                        <a:rPr lang="tr-TR" sz="1200" b="0" i="0" u="none" kern="1200" dirty="0">
                          <a:solidFill>
                            <a:srgbClr val="334155"/>
                          </a:solidFill>
                          <a:latin typeface="DM Sans"/>
                          <a:ea typeface="+mn-ea"/>
                          <a:cs typeface="+mn-cs"/>
                        </a:rPr>
                        <a:t>, </a:t>
                      </a:r>
                      <a:r>
                        <a:rPr lang="tr-TR" sz="1200" b="0" i="0" u="none" kern="1200" dirty="0" err="1">
                          <a:solidFill>
                            <a:srgbClr val="334155"/>
                          </a:solidFill>
                          <a:latin typeface="DM Sans"/>
                          <a:ea typeface="+mn-ea"/>
                          <a:cs typeface="+mn-cs"/>
                        </a:rPr>
                        <a:t>CapsNet</a:t>
                      </a:r>
                      <a:endParaRPr lang="tr-TR" sz="1200" b="0" i="0" u="none" kern="1200" dirty="0">
                        <a:solidFill>
                          <a:srgbClr val="334155"/>
                        </a:solidFill>
                        <a:latin typeface="DM Sans"/>
                        <a:ea typeface="+mn-ea"/>
                        <a:cs typeface="+mn-cs"/>
                      </a:endParaRPr>
                    </a:p>
                  </a:txBody>
                  <a:tcPr anchor="ctr">
                    <a:lnL>
                      <a:noFill/>
                    </a:lnL>
                    <a:lnR>
                      <a:noFill/>
                    </a:lnR>
                    <a:lnT>
                      <a:noFill/>
                    </a:lnT>
                    <a:lnB>
                      <a:noFill/>
                    </a:lnB>
                    <a:noFill/>
                  </a:tcPr>
                </a:tc>
                <a:tc>
                  <a:txBody>
                    <a:bodyPr/>
                    <a:lstStyle/>
                    <a:p>
                      <a:r>
                        <a:rPr lang="tr-TR" sz="1200" b="0" i="0" u="none" kern="1200">
                          <a:solidFill>
                            <a:srgbClr val="334155"/>
                          </a:solidFill>
                          <a:latin typeface="DM Sans"/>
                          <a:ea typeface="+mn-ea"/>
                          <a:cs typeface="+mn-cs"/>
                        </a:rPr>
                        <a:t>%99,89</a:t>
                      </a:r>
                    </a:p>
                  </a:txBody>
                  <a:tcPr anchor="ctr">
                    <a:lnL>
                      <a:noFill/>
                    </a:lnL>
                    <a:lnR>
                      <a:noFill/>
                    </a:lnR>
                    <a:lnT>
                      <a:noFill/>
                    </a:lnT>
                    <a:lnB>
                      <a:noFill/>
                    </a:lnB>
                    <a:noFill/>
                  </a:tcPr>
                </a:tc>
                <a:extLst>
                  <a:ext uri="{0D108BD9-81ED-4DB2-BD59-A6C34878D82A}">
                    <a16:rowId xmlns:a16="http://schemas.microsoft.com/office/drawing/2014/main" val="85843424"/>
                  </a:ext>
                </a:extLst>
              </a:tr>
              <a:tr h="373062">
                <a:tc>
                  <a:txBody>
                    <a:bodyPr/>
                    <a:lstStyle/>
                    <a:p>
                      <a:r>
                        <a:rPr lang="tr-TR" sz="1200" b="0" i="0" u="none" kern="1200">
                          <a:solidFill>
                            <a:srgbClr val="334155"/>
                          </a:solidFill>
                          <a:latin typeface="DM Sans"/>
                          <a:ea typeface="+mn-ea"/>
                          <a:cs typeface="+mn-cs"/>
                        </a:rPr>
                        <a:t>He et al.</a:t>
                      </a:r>
                    </a:p>
                  </a:txBody>
                  <a:tcPr anchor="ctr">
                    <a:lnL>
                      <a:noFill/>
                    </a:lnL>
                    <a:lnR>
                      <a:noFill/>
                    </a:lnR>
                    <a:lnT>
                      <a:noFill/>
                    </a:lnT>
                    <a:lnB>
                      <a:noFill/>
                    </a:lnB>
                    <a:noFill/>
                  </a:tcPr>
                </a:tc>
                <a:tc>
                  <a:txBody>
                    <a:bodyPr/>
                    <a:lstStyle/>
                    <a:p>
                      <a:r>
                        <a:rPr lang="tr-TR" sz="1200" b="0" i="0" u="none" kern="1200">
                          <a:solidFill>
                            <a:srgbClr val="334155"/>
                          </a:solidFill>
                          <a:latin typeface="DM Sans"/>
                          <a:ea typeface="+mn-ea"/>
                          <a:cs typeface="+mn-cs"/>
                        </a:rPr>
                        <a:t>2021</a:t>
                      </a:r>
                    </a:p>
                  </a:txBody>
                  <a:tcPr anchor="ctr">
                    <a:lnL>
                      <a:noFill/>
                    </a:lnL>
                    <a:lnR>
                      <a:noFill/>
                    </a:lnR>
                    <a:lnT>
                      <a:noFill/>
                    </a:lnT>
                    <a:lnB>
                      <a:noFill/>
                    </a:lnB>
                    <a:noFill/>
                  </a:tcPr>
                </a:tc>
                <a:tc>
                  <a:txBody>
                    <a:bodyPr/>
                    <a:lstStyle/>
                    <a:p>
                      <a:r>
                        <a:rPr lang="tr-TR" sz="1200" b="0" i="0" u="none" kern="1200" dirty="0">
                          <a:solidFill>
                            <a:srgbClr val="334155"/>
                          </a:solidFill>
                          <a:latin typeface="DM Sans"/>
                          <a:ea typeface="+mn-ea"/>
                          <a:cs typeface="+mn-cs"/>
                        </a:rPr>
                        <a:t>CS-</a:t>
                      </a:r>
                      <a:r>
                        <a:rPr lang="tr-TR" sz="1200" b="0" i="0" u="none" kern="1200" dirty="0" err="1">
                          <a:solidFill>
                            <a:srgbClr val="334155"/>
                          </a:solidFill>
                          <a:latin typeface="DM Sans"/>
                          <a:ea typeface="+mn-ea"/>
                          <a:cs typeface="+mn-cs"/>
                        </a:rPr>
                        <a:t>XGBoost</a:t>
                      </a:r>
                      <a:r>
                        <a:rPr lang="tr-TR" sz="1200" b="0" i="0" u="none" kern="1200" dirty="0">
                          <a:solidFill>
                            <a:srgbClr val="334155"/>
                          </a:solidFill>
                          <a:latin typeface="DM Sans"/>
                          <a:ea typeface="+mn-ea"/>
                          <a:cs typeface="+mn-cs"/>
                        </a:rPr>
                        <a:t>, </a:t>
                      </a:r>
                      <a:r>
                        <a:rPr lang="tr-TR" sz="1200" b="0" i="0" u="none" kern="1200" dirty="0" err="1">
                          <a:solidFill>
                            <a:srgbClr val="334155"/>
                          </a:solidFill>
                          <a:latin typeface="DM Sans"/>
                          <a:ea typeface="+mn-ea"/>
                          <a:cs typeface="+mn-cs"/>
                        </a:rPr>
                        <a:t>SMOTE+XGBoost</a:t>
                      </a:r>
                      <a:endParaRPr lang="tr-TR" sz="1200" b="0" i="0" u="none" kern="1200" dirty="0">
                        <a:solidFill>
                          <a:srgbClr val="334155"/>
                        </a:solidFill>
                        <a:latin typeface="DM Sans"/>
                        <a:ea typeface="+mn-ea"/>
                        <a:cs typeface="+mn-cs"/>
                      </a:endParaRPr>
                    </a:p>
                  </a:txBody>
                  <a:tcPr anchor="ctr">
                    <a:lnL>
                      <a:noFill/>
                    </a:lnL>
                    <a:lnR>
                      <a:noFill/>
                    </a:lnR>
                    <a:lnT>
                      <a:noFill/>
                    </a:lnT>
                    <a:lnB>
                      <a:noFill/>
                    </a:lnB>
                    <a:noFill/>
                  </a:tcPr>
                </a:tc>
                <a:tc>
                  <a:txBody>
                    <a:bodyPr/>
                    <a:lstStyle/>
                    <a:p>
                      <a:r>
                        <a:rPr lang="tr-TR" sz="1200" b="0" i="0" u="none" kern="1200" dirty="0">
                          <a:solidFill>
                            <a:srgbClr val="334155"/>
                          </a:solidFill>
                          <a:latin typeface="DM Sans"/>
                          <a:ea typeface="+mn-ea"/>
                          <a:cs typeface="+mn-cs"/>
                        </a:rPr>
                        <a:t>%99,05</a:t>
                      </a:r>
                    </a:p>
                  </a:txBody>
                  <a:tcPr anchor="ctr">
                    <a:lnL>
                      <a:noFill/>
                    </a:lnL>
                    <a:lnR>
                      <a:noFill/>
                    </a:lnR>
                    <a:lnT>
                      <a:noFill/>
                    </a:lnT>
                    <a:lnB>
                      <a:noFill/>
                    </a:lnB>
                    <a:noFill/>
                  </a:tcPr>
                </a:tc>
                <a:extLst>
                  <a:ext uri="{0D108BD9-81ED-4DB2-BD59-A6C34878D82A}">
                    <a16:rowId xmlns:a16="http://schemas.microsoft.com/office/drawing/2014/main" val="3666670535"/>
                  </a:ext>
                </a:extLst>
              </a:tr>
            </a:tbl>
          </a:graphicData>
        </a:graphic>
      </p:graphicFrame>
      <p:graphicFrame>
        <p:nvGraphicFramePr>
          <p:cNvPr id="37" name="Tablo 36">
            <a:extLst>
              <a:ext uri="{FF2B5EF4-FFF2-40B4-BE49-F238E27FC236}">
                <a16:creationId xmlns:a16="http://schemas.microsoft.com/office/drawing/2014/main" id="{4D9FA29A-D17A-7E58-7E88-1020FD60E20A}"/>
              </a:ext>
            </a:extLst>
          </p:cNvPr>
          <p:cNvGraphicFramePr>
            <a:graphicFrameLocks noGrp="1"/>
          </p:cNvGraphicFramePr>
          <p:nvPr>
            <p:extLst>
              <p:ext uri="{D42A27DB-BD31-4B8C-83A1-F6EECF244321}">
                <p14:modId xmlns:p14="http://schemas.microsoft.com/office/powerpoint/2010/main" val="2780342510"/>
              </p:ext>
            </p:extLst>
          </p:nvPr>
        </p:nvGraphicFramePr>
        <p:xfrm>
          <a:off x="666750" y="3341686"/>
          <a:ext cx="10839450" cy="1540670"/>
        </p:xfrm>
        <a:graphic>
          <a:graphicData uri="http://schemas.openxmlformats.org/drawingml/2006/table">
            <a:tbl>
              <a:tblPr firstRow="1" bandRow="1">
                <a:tableStyleId>{5C22544A-7EE6-4342-B048-85BDC9FD1C3A}</a:tableStyleId>
              </a:tblPr>
              <a:tblGrid>
                <a:gridCol w="2347617">
                  <a:extLst>
                    <a:ext uri="{9D8B030D-6E8A-4147-A177-3AD203B41FA5}">
                      <a16:colId xmlns:a16="http://schemas.microsoft.com/office/drawing/2014/main" val="1348160844"/>
                    </a:ext>
                  </a:extLst>
                </a:gridCol>
                <a:gridCol w="845194">
                  <a:extLst>
                    <a:ext uri="{9D8B030D-6E8A-4147-A177-3AD203B41FA5}">
                      <a16:colId xmlns:a16="http://schemas.microsoft.com/office/drawing/2014/main" val="1882331439"/>
                    </a:ext>
                  </a:extLst>
                </a:gridCol>
                <a:gridCol w="4473326">
                  <a:extLst>
                    <a:ext uri="{9D8B030D-6E8A-4147-A177-3AD203B41FA5}">
                      <a16:colId xmlns:a16="http://schemas.microsoft.com/office/drawing/2014/main" val="703671192"/>
                    </a:ext>
                  </a:extLst>
                </a:gridCol>
                <a:gridCol w="3173313">
                  <a:extLst>
                    <a:ext uri="{9D8B030D-6E8A-4147-A177-3AD203B41FA5}">
                      <a16:colId xmlns:a16="http://schemas.microsoft.com/office/drawing/2014/main" val="95878702"/>
                    </a:ext>
                  </a:extLst>
                </a:gridCol>
              </a:tblGrid>
              <a:tr h="373062">
                <a:tc>
                  <a:txBody>
                    <a:bodyPr/>
                    <a:lstStyle/>
                    <a:p>
                      <a:r>
                        <a:rPr lang="tr-TR" sz="1200" b="0" i="0" u="none" kern="1200" dirty="0" err="1">
                          <a:solidFill>
                            <a:srgbClr val="334155"/>
                          </a:solidFill>
                          <a:latin typeface="DM Sans"/>
                          <a:ea typeface="+mn-ea"/>
                          <a:cs typeface="+mn-cs"/>
                        </a:rPr>
                        <a:t>Aljabri</a:t>
                      </a:r>
                      <a:r>
                        <a:rPr lang="tr-TR" sz="1200" b="0" i="0" u="none" kern="1200" dirty="0">
                          <a:solidFill>
                            <a:srgbClr val="334155"/>
                          </a:solidFill>
                          <a:latin typeface="DM Sans"/>
                          <a:ea typeface="+mn-ea"/>
                          <a:cs typeface="+mn-cs"/>
                        </a:rPr>
                        <a:t> et al.</a:t>
                      </a:r>
                    </a:p>
                  </a:txBody>
                  <a:tcPr anchor="ctr">
                    <a:lnL>
                      <a:noFill/>
                    </a:lnL>
                    <a:lnR>
                      <a:noFill/>
                    </a:lnR>
                    <a:lnT>
                      <a:noFill/>
                    </a:lnT>
                    <a:lnB>
                      <a:noFill/>
                    </a:lnB>
                    <a:noFill/>
                  </a:tcPr>
                </a:tc>
                <a:tc>
                  <a:txBody>
                    <a:bodyPr/>
                    <a:lstStyle/>
                    <a:p>
                      <a:r>
                        <a:rPr lang="tr-TR" sz="1200" b="0" i="0" u="none" kern="1200">
                          <a:solidFill>
                            <a:srgbClr val="334155"/>
                          </a:solidFill>
                          <a:latin typeface="DM Sans"/>
                          <a:ea typeface="+mn-ea"/>
                          <a:cs typeface="+mn-cs"/>
                        </a:rPr>
                        <a:t>2022</a:t>
                      </a:r>
                    </a:p>
                  </a:txBody>
                  <a:tcPr anchor="ctr">
                    <a:lnL>
                      <a:noFill/>
                    </a:lnL>
                    <a:lnR>
                      <a:noFill/>
                    </a:lnR>
                    <a:lnT>
                      <a:noFill/>
                    </a:lnT>
                    <a:lnB>
                      <a:noFill/>
                    </a:lnB>
                    <a:noFill/>
                  </a:tcPr>
                </a:tc>
                <a:tc>
                  <a:txBody>
                    <a:bodyPr/>
                    <a:lstStyle/>
                    <a:p>
                      <a:r>
                        <a:rPr lang="tr-TR" sz="1200" b="0" i="0" u="none" kern="1200">
                          <a:solidFill>
                            <a:srgbClr val="334155"/>
                          </a:solidFill>
                          <a:latin typeface="DM Sans"/>
                          <a:ea typeface="+mn-ea"/>
                          <a:cs typeface="+mn-cs"/>
                        </a:rPr>
                        <a:t>CNN, LSTM, NB, RF</a:t>
                      </a:r>
                    </a:p>
                  </a:txBody>
                  <a:tcPr anchor="ctr">
                    <a:lnL>
                      <a:noFill/>
                    </a:lnL>
                    <a:lnR>
                      <a:noFill/>
                    </a:lnR>
                    <a:lnT>
                      <a:noFill/>
                    </a:lnT>
                    <a:lnB>
                      <a:noFill/>
                    </a:lnB>
                    <a:noFill/>
                  </a:tcPr>
                </a:tc>
                <a:tc>
                  <a:txBody>
                    <a:bodyPr/>
                    <a:lstStyle/>
                    <a:p>
                      <a:r>
                        <a:rPr lang="tr-TR" sz="1200" b="0" i="0" u="none" kern="1200">
                          <a:solidFill>
                            <a:srgbClr val="334155"/>
                          </a:solidFill>
                          <a:latin typeface="DM Sans"/>
                          <a:ea typeface="+mn-ea"/>
                          <a:cs typeface="+mn-cs"/>
                        </a:rPr>
                        <a:t>%96,01</a:t>
                      </a:r>
                    </a:p>
                  </a:txBody>
                  <a:tcPr anchor="ctr">
                    <a:lnL>
                      <a:noFill/>
                    </a:lnL>
                    <a:lnR>
                      <a:noFill/>
                    </a:lnR>
                    <a:lnT>
                      <a:noFill/>
                    </a:lnT>
                    <a:lnB>
                      <a:noFill/>
                    </a:lnB>
                    <a:noFill/>
                  </a:tcPr>
                </a:tc>
                <a:extLst>
                  <a:ext uri="{0D108BD9-81ED-4DB2-BD59-A6C34878D82A}">
                    <a16:rowId xmlns:a16="http://schemas.microsoft.com/office/drawing/2014/main" val="4073228933"/>
                  </a:ext>
                </a:extLst>
              </a:tr>
              <a:tr h="373062">
                <a:tc>
                  <a:txBody>
                    <a:bodyPr/>
                    <a:lstStyle/>
                    <a:p>
                      <a:r>
                        <a:rPr lang="tr-TR" sz="1200" b="0" i="0" u="none" kern="1200" dirty="0" err="1">
                          <a:solidFill>
                            <a:srgbClr val="334155"/>
                          </a:solidFill>
                          <a:latin typeface="DM Sans"/>
                          <a:ea typeface="+mn-ea"/>
                          <a:cs typeface="+mn-cs"/>
                        </a:rPr>
                        <a:t>Umer</a:t>
                      </a:r>
                      <a:r>
                        <a:rPr lang="tr-TR" sz="1200" b="0" i="0" u="none" kern="1200" dirty="0">
                          <a:solidFill>
                            <a:srgbClr val="334155"/>
                          </a:solidFill>
                          <a:latin typeface="DM Sans"/>
                          <a:ea typeface="+mn-ea"/>
                          <a:cs typeface="+mn-cs"/>
                        </a:rPr>
                        <a:t> et al.</a:t>
                      </a:r>
                    </a:p>
                  </a:txBody>
                  <a:tcPr anchor="ctr">
                    <a:lnL>
                      <a:noFill/>
                    </a:lnL>
                    <a:lnR>
                      <a:noFill/>
                    </a:lnR>
                    <a:lnT>
                      <a:noFill/>
                    </a:lnT>
                    <a:lnB>
                      <a:noFill/>
                    </a:lnB>
                    <a:noFill/>
                  </a:tcPr>
                </a:tc>
                <a:tc>
                  <a:txBody>
                    <a:bodyPr/>
                    <a:lstStyle/>
                    <a:p>
                      <a:r>
                        <a:rPr lang="tr-TR" sz="1200" b="0" i="0" u="none" kern="1200">
                          <a:solidFill>
                            <a:srgbClr val="334155"/>
                          </a:solidFill>
                          <a:latin typeface="DM Sans"/>
                          <a:ea typeface="+mn-ea"/>
                          <a:cs typeface="+mn-cs"/>
                        </a:rPr>
                        <a:t>2022</a:t>
                      </a:r>
                    </a:p>
                  </a:txBody>
                  <a:tcPr anchor="ctr">
                    <a:lnL>
                      <a:noFill/>
                    </a:lnL>
                    <a:lnR>
                      <a:noFill/>
                    </a:lnR>
                    <a:lnT>
                      <a:noFill/>
                    </a:lnT>
                    <a:lnB>
                      <a:noFill/>
                    </a:lnB>
                    <a:noFill/>
                  </a:tcPr>
                </a:tc>
                <a:tc>
                  <a:txBody>
                    <a:bodyPr/>
                    <a:lstStyle/>
                    <a:p>
                      <a:r>
                        <a:rPr lang="tr-TR" sz="1200" b="0" i="0" u="none" kern="1200">
                          <a:solidFill>
                            <a:srgbClr val="334155"/>
                          </a:solidFill>
                          <a:latin typeface="DM Sans"/>
                          <a:ea typeface="+mn-ea"/>
                          <a:cs typeface="+mn-cs"/>
                        </a:rPr>
                        <a:t>MLP (Yapay Sinir Ağları)</a:t>
                      </a:r>
                    </a:p>
                  </a:txBody>
                  <a:tcPr anchor="ctr">
                    <a:lnL>
                      <a:noFill/>
                    </a:lnL>
                    <a:lnR>
                      <a:noFill/>
                    </a:lnR>
                    <a:lnT>
                      <a:noFill/>
                    </a:lnT>
                    <a:lnB>
                      <a:noFill/>
                    </a:lnB>
                    <a:noFill/>
                  </a:tcPr>
                </a:tc>
                <a:tc>
                  <a:txBody>
                    <a:bodyPr/>
                    <a:lstStyle/>
                    <a:p>
                      <a:r>
                        <a:rPr lang="tr-TR" sz="1200" b="0" i="0" u="none" kern="1200">
                          <a:solidFill>
                            <a:srgbClr val="334155"/>
                          </a:solidFill>
                          <a:latin typeface="DM Sans"/>
                          <a:ea typeface="+mn-ea"/>
                          <a:cs typeface="+mn-cs"/>
                        </a:rPr>
                        <a:t>%99,62</a:t>
                      </a:r>
                    </a:p>
                  </a:txBody>
                  <a:tcPr anchor="ctr">
                    <a:lnL>
                      <a:noFill/>
                    </a:lnL>
                    <a:lnR>
                      <a:noFill/>
                    </a:lnR>
                    <a:lnT>
                      <a:noFill/>
                    </a:lnT>
                    <a:lnB>
                      <a:noFill/>
                    </a:lnB>
                    <a:noFill/>
                  </a:tcPr>
                </a:tc>
                <a:extLst>
                  <a:ext uri="{0D108BD9-81ED-4DB2-BD59-A6C34878D82A}">
                    <a16:rowId xmlns:a16="http://schemas.microsoft.com/office/drawing/2014/main" val="2451798105"/>
                  </a:ext>
                </a:extLst>
              </a:tr>
              <a:tr h="421484">
                <a:tc>
                  <a:txBody>
                    <a:bodyPr/>
                    <a:lstStyle/>
                    <a:p>
                      <a:r>
                        <a:rPr lang="tr-TR" sz="1200" b="0" i="0" u="none" kern="1200">
                          <a:solidFill>
                            <a:srgbClr val="334155"/>
                          </a:solidFill>
                          <a:latin typeface="DM Sans"/>
                          <a:ea typeface="+mn-ea"/>
                          <a:cs typeface="+mn-cs"/>
                        </a:rPr>
                        <a:t>Hajaj et al.</a:t>
                      </a:r>
                    </a:p>
                  </a:txBody>
                  <a:tcPr anchor="ctr">
                    <a:lnL>
                      <a:noFill/>
                    </a:lnL>
                    <a:lnR>
                      <a:noFill/>
                    </a:lnR>
                    <a:lnT>
                      <a:noFill/>
                    </a:lnT>
                    <a:lnB>
                      <a:noFill/>
                    </a:lnB>
                    <a:noFill/>
                  </a:tcPr>
                </a:tc>
                <a:tc>
                  <a:txBody>
                    <a:bodyPr/>
                    <a:lstStyle/>
                    <a:p>
                      <a:r>
                        <a:rPr lang="tr-TR" sz="1200" b="0" i="0" u="none" kern="1200">
                          <a:solidFill>
                            <a:srgbClr val="334155"/>
                          </a:solidFill>
                          <a:latin typeface="DM Sans"/>
                          <a:ea typeface="+mn-ea"/>
                          <a:cs typeface="+mn-cs"/>
                        </a:rPr>
                        <a:t>2022</a:t>
                      </a:r>
                    </a:p>
                  </a:txBody>
                  <a:tcPr anchor="ctr">
                    <a:lnL>
                      <a:noFill/>
                    </a:lnL>
                    <a:lnR>
                      <a:noFill/>
                    </a:lnR>
                    <a:lnT>
                      <a:noFill/>
                    </a:lnT>
                    <a:lnB>
                      <a:noFill/>
                    </a:lnB>
                    <a:noFill/>
                  </a:tcPr>
                </a:tc>
                <a:tc>
                  <a:txBody>
                    <a:bodyPr/>
                    <a:lstStyle/>
                    <a:p>
                      <a:r>
                        <a:rPr lang="tr-TR" sz="1200" b="0" i="0" u="none" kern="1200" dirty="0" err="1">
                          <a:solidFill>
                            <a:srgbClr val="334155"/>
                          </a:solidFill>
                          <a:latin typeface="DM Sans"/>
                          <a:ea typeface="+mn-ea"/>
                          <a:cs typeface="+mn-cs"/>
                        </a:rPr>
                        <a:t>Random</a:t>
                      </a:r>
                      <a:r>
                        <a:rPr lang="tr-TR" sz="1200" b="0" i="0" u="none" kern="1200" dirty="0">
                          <a:solidFill>
                            <a:srgbClr val="334155"/>
                          </a:solidFill>
                          <a:latin typeface="DM Sans"/>
                          <a:ea typeface="+mn-ea"/>
                          <a:cs typeface="+mn-cs"/>
                        </a:rPr>
                        <a:t> </a:t>
                      </a:r>
                      <a:r>
                        <a:rPr lang="tr-TR" sz="1200" b="0" i="0" u="none" kern="1200" dirty="0" err="1">
                          <a:solidFill>
                            <a:srgbClr val="334155"/>
                          </a:solidFill>
                          <a:latin typeface="DM Sans"/>
                          <a:ea typeface="+mn-ea"/>
                          <a:cs typeface="+mn-cs"/>
                        </a:rPr>
                        <a:t>Forest</a:t>
                      </a:r>
                      <a:endParaRPr lang="tr-TR" sz="1200" b="0" i="0" u="none" kern="1200" dirty="0">
                        <a:solidFill>
                          <a:srgbClr val="334155"/>
                        </a:solidFill>
                        <a:latin typeface="DM Sans"/>
                        <a:ea typeface="+mn-ea"/>
                        <a:cs typeface="+mn-cs"/>
                      </a:endParaRPr>
                    </a:p>
                  </a:txBody>
                  <a:tcPr anchor="ctr">
                    <a:lnL>
                      <a:noFill/>
                    </a:lnL>
                    <a:lnR>
                      <a:noFill/>
                    </a:lnR>
                    <a:lnT>
                      <a:noFill/>
                    </a:lnT>
                    <a:lnB>
                      <a:noFill/>
                    </a:lnB>
                    <a:noFill/>
                  </a:tcPr>
                </a:tc>
                <a:tc>
                  <a:txBody>
                    <a:bodyPr/>
                    <a:lstStyle/>
                    <a:p>
                      <a:r>
                        <a:rPr lang="tr-TR" sz="1200" b="0" i="0" u="none" kern="1200">
                          <a:solidFill>
                            <a:srgbClr val="334155"/>
                          </a:solidFill>
                          <a:latin typeface="DM Sans"/>
                          <a:ea typeface="+mn-ea"/>
                          <a:cs typeface="+mn-cs"/>
                        </a:rPr>
                        <a:t>%99,80</a:t>
                      </a:r>
                    </a:p>
                  </a:txBody>
                  <a:tcPr anchor="ctr">
                    <a:lnL>
                      <a:noFill/>
                    </a:lnL>
                    <a:lnR>
                      <a:noFill/>
                    </a:lnR>
                    <a:lnT>
                      <a:noFill/>
                    </a:lnT>
                    <a:lnB>
                      <a:noFill/>
                    </a:lnB>
                    <a:noFill/>
                  </a:tcPr>
                </a:tc>
                <a:extLst>
                  <a:ext uri="{0D108BD9-81ED-4DB2-BD59-A6C34878D82A}">
                    <a16:rowId xmlns:a16="http://schemas.microsoft.com/office/drawing/2014/main" val="3178215238"/>
                  </a:ext>
                </a:extLst>
              </a:tr>
              <a:tr h="373062">
                <a:tc>
                  <a:txBody>
                    <a:bodyPr/>
                    <a:lstStyle/>
                    <a:p>
                      <a:r>
                        <a:rPr lang="tr-TR" sz="1200" b="0" i="0" u="none" kern="1200">
                          <a:solidFill>
                            <a:srgbClr val="334155"/>
                          </a:solidFill>
                          <a:latin typeface="DM Sans"/>
                          <a:ea typeface="+mn-ea"/>
                          <a:cs typeface="+mn-cs"/>
                        </a:rPr>
                        <a:t>Roy et al.</a:t>
                      </a:r>
                    </a:p>
                  </a:txBody>
                  <a:tcPr anchor="ctr">
                    <a:lnL>
                      <a:noFill/>
                    </a:lnL>
                    <a:lnR>
                      <a:noFill/>
                    </a:lnR>
                    <a:lnT>
                      <a:noFill/>
                    </a:lnT>
                    <a:lnB>
                      <a:noFill/>
                    </a:lnB>
                    <a:noFill/>
                  </a:tcPr>
                </a:tc>
                <a:tc>
                  <a:txBody>
                    <a:bodyPr/>
                    <a:lstStyle/>
                    <a:p>
                      <a:r>
                        <a:rPr lang="tr-TR" sz="1200" b="0" i="0" u="none" kern="1200">
                          <a:solidFill>
                            <a:srgbClr val="334155"/>
                          </a:solidFill>
                          <a:latin typeface="DM Sans"/>
                          <a:ea typeface="+mn-ea"/>
                          <a:cs typeface="+mn-cs"/>
                        </a:rPr>
                        <a:t>2022</a:t>
                      </a:r>
                    </a:p>
                  </a:txBody>
                  <a:tcPr anchor="ctr">
                    <a:lnL>
                      <a:noFill/>
                    </a:lnL>
                    <a:lnR>
                      <a:noFill/>
                    </a:lnR>
                    <a:lnT>
                      <a:noFill/>
                    </a:lnT>
                    <a:lnB>
                      <a:noFill/>
                    </a:lnB>
                    <a:noFill/>
                  </a:tcPr>
                </a:tc>
                <a:tc>
                  <a:txBody>
                    <a:bodyPr/>
                    <a:lstStyle/>
                    <a:p>
                      <a:r>
                        <a:rPr lang="tr-TR" sz="1200" b="0" i="0" u="none" kern="1200" dirty="0" err="1">
                          <a:solidFill>
                            <a:srgbClr val="334155"/>
                          </a:solidFill>
                          <a:latin typeface="DM Sans"/>
                          <a:ea typeface="+mn-ea"/>
                          <a:cs typeface="+mn-cs"/>
                        </a:rPr>
                        <a:t>Bi</a:t>
                      </a:r>
                      <a:r>
                        <a:rPr lang="tr-TR" sz="1200" b="0" i="0" u="none" kern="1200" dirty="0">
                          <a:solidFill>
                            <a:srgbClr val="334155"/>
                          </a:solidFill>
                          <a:latin typeface="DM Sans"/>
                          <a:ea typeface="+mn-ea"/>
                          <a:cs typeface="+mn-cs"/>
                        </a:rPr>
                        <a:t>-LSTM, LSTM, GRU</a:t>
                      </a:r>
                    </a:p>
                  </a:txBody>
                  <a:tcPr anchor="ctr">
                    <a:lnL>
                      <a:noFill/>
                    </a:lnL>
                    <a:lnR>
                      <a:noFill/>
                    </a:lnR>
                    <a:lnT>
                      <a:noFill/>
                    </a:lnT>
                    <a:lnB>
                      <a:noFill/>
                    </a:lnB>
                    <a:noFill/>
                  </a:tcPr>
                </a:tc>
                <a:tc>
                  <a:txBody>
                    <a:bodyPr/>
                    <a:lstStyle/>
                    <a:p>
                      <a:r>
                        <a:rPr lang="tr-TR" sz="1200" b="0" i="0" u="none" kern="1200" dirty="0">
                          <a:solidFill>
                            <a:srgbClr val="334155"/>
                          </a:solidFill>
                          <a:latin typeface="DM Sans"/>
                          <a:ea typeface="+mn-ea"/>
                          <a:cs typeface="+mn-cs"/>
                        </a:rPr>
                        <a:t>%99,00</a:t>
                      </a:r>
                    </a:p>
                  </a:txBody>
                  <a:tcPr anchor="ctr">
                    <a:lnL>
                      <a:noFill/>
                    </a:lnL>
                    <a:lnR>
                      <a:noFill/>
                    </a:lnR>
                    <a:lnT>
                      <a:noFill/>
                    </a:lnT>
                    <a:lnB>
                      <a:noFill/>
                    </a:lnB>
                    <a:noFill/>
                  </a:tcPr>
                </a:tc>
                <a:extLst>
                  <a:ext uri="{0D108BD9-81ED-4DB2-BD59-A6C34878D82A}">
                    <a16:rowId xmlns:a16="http://schemas.microsoft.com/office/drawing/2014/main" val="2514575940"/>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png"/>
          <p:cNvPicPr>
            <a:picLocks noChangeAspect="1"/>
          </p:cNvPicPr>
          <p:nvPr/>
        </p:nvPicPr>
        <p:blipFill>
          <a:blip r:embed="rId2"/>
          <a:stretch>
            <a:fillRect/>
          </a:stretch>
        </p:blipFill>
        <p:spPr>
          <a:xfrm>
            <a:off x="571500" y="6391275"/>
            <a:ext cx="11049000" cy="276225"/>
          </a:xfrm>
          <a:prstGeom prst="rect">
            <a:avLst/>
          </a:prstGeom>
        </p:spPr>
      </p:pic>
      <p:sp>
        <p:nvSpPr>
          <p:cNvPr id="4" name="TextBox 3"/>
          <p:cNvSpPr txBox="1"/>
          <p:nvPr/>
        </p:nvSpPr>
        <p:spPr>
          <a:xfrm>
            <a:off x="571500" y="476250"/>
            <a:ext cx="11601450" cy="423862"/>
          </a:xfrm>
          <a:prstGeom prst="rect">
            <a:avLst/>
          </a:prstGeom>
          <a:noFill/>
        </p:spPr>
        <p:txBody>
          <a:bodyPr wrap="square" lIns="0" tIns="0" rIns="0" bIns="0" anchor="t">
            <a:spAutoFit/>
          </a:bodyPr>
          <a:lstStyle/>
          <a:p>
            <a:pPr algn="l">
              <a:lnSpc>
                <a:spcPts val="3187"/>
              </a:lnSpc>
            </a:pPr>
            <a:r>
              <a:rPr sz="2550" b="1" i="0" u="none">
                <a:solidFill>
                  <a:srgbClr val="005088"/>
                </a:solidFill>
                <a:latin typeface="Merriweather"/>
              </a:rPr>
              <a:t>Literatür Çalışmalarının Kıyaslanması (2023 - 2026)</a:t>
            </a:r>
          </a:p>
        </p:txBody>
      </p:sp>
      <p:sp>
        <p:nvSpPr>
          <p:cNvPr id="5" name="Rectangle 4"/>
          <p:cNvSpPr/>
          <p:nvPr/>
        </p:nvSpPr>
        <p:spPr>
          <a:xfrm>
            <a:off x="571500" y="995362"/>
            <a:ext cx="11049000"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71500" y="6496050"/>
            <a:ext cx="3009900" cy="171450"/>
          </a:xfrm>
          <a:prstGeom prst="rect">
            <a:avLst/>
          </a:prstGeom>
          <a:noFill/>
        </p:spPr>
        <p:txBody>
          <a:bodyPr wrap="square" lIns="0" tIns="0" rIns="0" bIns="0" anchor="t">
            <a:spAutoFit/>
          </a:bodyPr>
          <a:lstStyle/>
          <a:p>
            <a:pPr algn="l">
              <a:lnSpc>
                <a:spcPts val="1350"/>
              </a:lnSpc>
            </a:pPr>
            <a:r>
              <a:rPr sz="900" b="0" i="0" u="none">
                <a:solidFill>
                  <a:srgbClr val="94A3B8"/>
                </a:solidFill>
                <a:latin typeface="DM Sans"/>
              </a:rPr>
              <a:t>SAKARYA ÜNİVERSİTESİ • YÜKSEK LİSANS TEZ SAVUNMASI</a:t>
            </a:r>
          </a:p>
        </p:txBody>
      </p:sp>
      <p:sp>
        <p:nvSpPr>
          <p:cNvPr id="7" name="TextBox 6"/>
          <p:cNvSpPr txBox="1"/>
          <p:nvPr/>
        </p:nvSpPr>
        <p:spPr>
          <a:xfrm>
            <a:off x="11239500" y="6496050"/>
            <a:ext cx="381000" cy="171450"/>
          </a:xfrm>
          <a:prstGeom prst="rect">
            <a:avLst/>
          </a:prstGeom>
          <a:noFill/>
        </p:spPr>
        <p:txBody>
          <a:bodyPr wrap="square" lIns="0" tIns="0" rIns="0" bIns="0" anchor="t">
            <a:spAutoFit/>
          </a:bodyPr>
          <a:lstStyle/>
          <a:p>
            <a:pPr algn="l">
              <a:lnSpc>
                <a:spcPts val="1350"/>
              </a:lnSpc>
            </a:pPr>
            <a:r>
              <a:rPr sz="900" b="0" i="0" u="none">
                <a:solidFill>
                  <a:srgbClr val="94A3B8"/>
                </a:solidFill>
                <a:latin typeface="DM Sans"/>
              </a:rPr>
              <a:t>Slayt 9</a:t>
            </a:r>
          </a:p>
        </p:txBody>
      </p:sp>
      <p:pic>
        <p:nvPicPr>
          <p:cNvPr id="34" name="Picture 1" descr="image.png">
            <a:extLst>
              <a:ext uri="{FF2B5EF4-FFF2-40B4-BE49-F238E27FC236}">
                <a16:creationId xmlns:a16="http://schemas.microsoft.com/office/drawing/2014/main" id="{466F07D2-592A-1605-7029-8012CE6507AA}"/>
              </a:ext>
            </a:extLst>
          </p:cNvPr>
          <p:cNvPicPr>
            <a:picLocks noChangeAspect="1"/>
          </p:cNvPicPr>
          <p:nvPr/>
        </p:nvPicPr>
        <p:blipFill>
          <a:blip r:embed="rId3"/>
          <a:stretch>
            <a:fillRect/>
          </a:stretch>
        </p:blipFill>
        <p:spPr>
          <a:xfrm>
            <a:off x="666750" y="952500"/>
            <a:ext cx="10858500" cy="171450"/>
          </a:xfrm>
          <a:prstGeom prst="rect">
            <a:avLst/>
          </a:prstGeom>
        </p:spPr>
      </p:pic>
      <p:pic>
        <p:nvPicPr>
          <p:cNvPr id="35" name="İçerik Yer Tutucusu 10">
            <a:extLst>
              <a:ext uri="{FF2B5EF4-FFF2-40B4-BE49-F238E27FC236}">
                <a16:creationId xmlns:a16="http://schemas.microsoft.com/office/drawing/2014/main" id="{F69F5E07-549A-60DE-7554-E60999902EB2}"/>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9513888" y="476250"/>
            <a:ext cx="2011362"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 name="Tablo 1">
            <a:extLst>
              <a:ext uri="{FF2B5EF4-FFF2-40B4-BE49-F238E27FC236}">
                <a16:creationId xmlns:a16="http://schemas.microsoft.com/office/drawing/2014/main" id="{080D9694-282D-1ACC-ED95-6F68F4B636AF}"/>
              </a:ext>
            </a:extLst>
          </p:cNvPr>
          <p:cNvGraphicFramePr>
            <a:graphicFrameLocks noGrp="1"/>
          </p:cNvGraphicFramePr>
          <p:nvPr>
            <p:extLst>
              <p:ext uri="{D42A27DB-BD31-4B8C-83A1-F6EECF244321}">
                <p14:modId xmlns:p14="http://schemas.microsoft.com/office/powerpoint/2010/main" val="2181063629"/>
              </p:ext>
            </p:extLst>
          </p:nvPr>
        </p:nvGraphicFramePr>
        <p:xfrm>
          <a:off x="685800" y="1459705"/>
          <a:ext cx="10839450" cy="1913732"/>
        </p:xfrm>
        <a:graphic>
          <a:graphicData uri="http://schemas.openxmlformats.org/drawingml/2006/table">
            <a:tbl>
              <a:tblPr firstRow="1" bandRow="1">
                <a:tableStyleId>{5C22544A-7EE6-4342-B048-85BDC9FD1C3A}</a:tableStyleId>
              </a:tblPr>
              <a:tblGrid>
                <a:gridCol w="2347617">
                  <a:extLst>
                    <a:ext uri="{9D8B030D-6E8A-4147-A177-3AD203B41FA5}">
                      <a16:colId xmlns:a16="http://schemas.microsoft.com/office/drawing/2014/main" val="597739189"/>
                    </a:ext>
                  </a:extLst>
                </a:gridCol>
                <a:gridCol w="845194">
                  <a:extLst>
                    <a:ext uri="{9D8B030D-6E8A-4147-A177-3AD203B41FA5}">
                      <a16:colId xmlns:a16="http://schemas.microsoft.com/office/drawing/2014/main" val="2586540196"/>
                    </a:ext>
                  </a:extLst>
                </a:gridCol>
                <a:gridCol w="4473326">
                  <a:extLst>
                    <a:ext uri="{9D8B030D-6E8A-4147-A177-3AD203B41FA5}">
                      <a16:colId xmlns:a16="http://schemas.microsoft.com/office/drawing/2014/main" val="2545839624"/>
                    </a:ext>
                  </a:extLst>
                </a:gridCol>
                <a:gridCol w="3173313">
                  <a:extLst>
                    <a:ext uri="{9D8B030D-6E8A-4147-A177-3AD203B41FA5}">
                      <a16:colId xmlns:a16="http://schemas.microsoft.com/office/drawing/2014/main" val="3852894523"/>
                    </a:ext>
                  </a:extLst>
                </a:gridCol>
              </a:tblGrid>
              <a:tr h="373062">
                <a:tc>
                  <a:txBody>
                    <a:bodyPr/>
                    <a:lstStyle/>
                    <a:p>
                      <a:pPr algn="l"/>
                      <a:r>
                        <a:rPr lang="tr-TR" sz="975" b="1" i="0" u="none" dirty="0">
                          <a:solidFill>
                            <a:srgbClr val="FFFFFF"/>
                          </a:solidFill>
                          <a:latin typeface="Merriweather"/>
                        </a:rPr>
                        <a:t>Çalışma</a:t>
                      </a:r>
                      <a:endParaRPr sz="975" b="1" i="0" u="none" dirty="0">
                        <a:solidFill>
                          <a:srgbClr val="FFFFFF"/>
                        </a:solidFill>
                        <a:latin typeface="Merriweather"/>
                      </a:endParaRPr>
                    </a:p>
                  </a:txBody>
                  <a:tcPr marL="63500" marR="63500" marT="25400" marB="25400" anchor="ctr">
                    <a:lnL>
                      <a:noFill/>
                    </a:lnL>
                    <a:lnR>
                      <a:noFill/>
                    </a:lnR>
                    <a:lnT>
                      <a:noFill/>
                    </a:lnT>
                    <a:lnB>
                      <a:noFill/>
                    </a:lnB>
                    <a:solidFill>
                      <a:srgbClr val="0B2C5C"/>
                    </a:solidFill>
                  </a:tcPr>
                </a:tc>
                <a:tc>
                  <a:txBody>
                    <a:bodyPr/>
                    <a:lstStyle/>
                    <a:p>
                      <a:pPr algn="l"/>
                      <a:r>
                        <a:rPr sz="975" b="1" i="0" u="none" dirty="0" err="1">
                          <a:solidFill>
                            <a:srgbClr val="FFFFFF"/>
                          </a:solidFill>
                          <a:latin typeface="Merriweather"/>
                        </a:rPr>
                        <a:t>Yıl</a:t>
                      </a:r>
                      <a:endParaRPr sz="975" b="1" i="0" u="none" dirty="0">
                        <a:solidFill>
                          <a:srgbClr val="FFFFFF"/>
                        </a:solidFill>
                        <a:latin typeface="Merriweather"/>
                      </a:endParaRPr>
                    </a:p>
                  </a:txBody>
                  <a:tcPr marL="63500" marR="63500" marT="25400" marB="25400" anchor="ctr">
                    <a:lnL>
                      <a:noFill/>
                    </a:lnL>
                    <a:lnR>
                      <a:noFill/>
                    </a:lnR>
                    <a:lnT>
                      <a:noFill/>
                    </a:lnT>
                    <a:lnB>
                      <a:noFill/>
                    </a:lnB>
                    <a:solidFill>
                      <a:srgbClr val="0B2C5C"/>
                    </a:solidFill>
                  </a:tcPr>
                </a:tc>
                <a:tc>
                  <a:txBody>
                    <a:bodyPr/>
                    <a:lstStyle/>
                    <a:p>
                      <a:pPr algn="l"/>
                      <a:r>
                        <a:rPr sz="975" b="1" i="0" u="none" dirty="0" err="1">
                          <a:solidFill>
                            <a:srgbClr val="FFFFFF"/>
                          </a:solidFill>
                          <a:latin typeface="Merriweather"/>
                        </a:rPr>
                        <a:t>Kullanılan</a:t>
                      </a:r>
                      <a:r>
                        <a:rPr sz="975" b="1" i="0" u="none" dirty="0">
                          <a:solidFill>
                            <a:srgbClr val="FFFFFF"/>
                          </a:solidFill>
                          <a:latin typeface="Merriweather"/>
                        </a:rPr>
                        <a:t> </a:t>
                      </a:r>
                      <a:r>
                        <a:rPr sz="975" b="1" i="0" u="none" dirty="0" err="1">
                          <a:solidFill>
                            <a:srgbClr val="FFFFFF"/>
                          </a:solidFill>
                          <a:latin typeface="Merriweather"/>
                        </a:rPr>
                        <a:t>Sınıflandırıcı</a:t>
                      </a:r>
                      <a:r>
                        <a:rPr sz="975" b="1" i="0" u="none" dirty="0">
                          <a:solidFill>
                            <a:srgbClr val="FFFFFF"/>
                          </a:solidFill>
                          <a:latin typeface="Merriweather"/>
                        </a:rPr>
                        <a:t> / </a:t>
                      </a:r>
                      <a:r>
                        <a:rPr sz="975" b="1" i="0" u="none" dirty="0" err="1">
                          <a:solidFill>
                            <a:srgbClr val="FFFFFF"/>
                          </a:solidFill>
                          <a:latin typeface="Merriweather"/>
                        </a:rPr>
                        <a:t>Yöntem</a:t>
                      </a:r>
                      <a:endParaRPr sz="975" b="1" i="0" u="none" dirty="0">
                        <a:solidFill>
                          <a:srgbClr val="FFFFFF"/>
                        </a:solidFill>
                        <a:latin typeface="Merriweather"/>
                      </a:endParaRPr>
                    </a:p>
                  </a:txBody>
                  <a:tcPr marL="63500" marR="63500" marT="25400" marB="25400" anchor="ctr">
                    <a:lnL>
                      <a:noFill/>
                    </a:lnL>
                    <a:lnR>
                      <a:noFill/>
                    </a:lnR>
                    <a:lnT>
                      <a:noFill/>
                    </a:lnT>
                    <a:lnB>
                      <a:noFill/>
                    </a:lnB>
                    <a:solidFill>
                      <a:srgbClr val="0B2C5C"/>
                    </a:solidFill>
                  </a:tcPr>
                </a:tc>
                <a:tc>
                  <a:txBody>
                    <a:bodyPr/>
                    <a:lstStyle/>
                    <a:p>
                      <a:pPr algn="l"/>
                      <a:r>
                        <a:rPr sz="975" b="1" i="0" u="none" dirty="0" err="1">
                          <a:solidFill>
                            <a:srgbClr val="FFFFFF"/>
                          </a:solidFill>
                          <a:latin typeface="Merriweather"/>
                        </a:rPr>
                        <a:t>Sınıflandırma</a:t>
                      </a:r>
                      <a:r>
                        <a:rPr sz="975" b="1" i="0" u="none" dirty="0">
                          <a:solidFill>
                            <a:srgbClr val="FFFFFF"/>
                          </a:solidFill>
                          <a:latin typeface="Merriweather"/>
                        </a:rPr>
                        <a:t> </a:t>
                      </a:r>
                      <a:r>
                        <a:rPr sz="975" b="1" i="0" u="none" dirty="0" err="1">
                          <a:solidFill>
                            <a:srgbClr val="FFFFFF"/>
                          </a:solidFill>
                          <a:latin typeface="Merriweather"/>
                        </a:rPr>
                        <a:t>Doğruluk</a:t>
                      </a:r>
                      <a:r>
                        <a:rPr sz="975" b="1" i="0" u="none" dirty="0">
                          <a:solidFill>
                            <a:srgbClr val="FFFFFF"/>
                          </a:solidFill>
                          <a:latin typeface="Merriweather"/>
                        </a:rPr>
                        <a:t> </a:t>
                      </a:r>
                      <a:r>
                        <a:rPr sz="975" b="1" i="0" u="none" dirty="0" err="1">
                          <a:solidFill>
                            <a:srgbClr val="FFFFFF"/>
                          </a:solidFill>
                          <a:latin typeface="Merriweather"/>
                        </a:rPr>
                        <a:t>Başarımı</a:t>
                      </a:r>
                      <a:endParaRPr sz="975" b="1" i="0" u="none" dirty="0">
                        <a:solidFill>
                          <a:srgbClr val="FFFFFF"/>
                        </a:solidFill>
                        <a:latin typeface="Merriweather"/>
                      </a:endParaRPr>
                    </a:p>
                  </a:txBody>
                  <a:tcPr marL="63500" marR="63500" marT="25400" marB="25400" anchor="ctr">
                    <a:lnL>
                      <a:noFill/>
                    </a:lnL>
                    <a:lnR>
                      <a:noFill/>
                    </a:lnR>
                    <a:lnT>
                      <a:noFill/>
                    </a:lnT>
                    <a:lnB>
                      <a:noFill/>
                    </a:lnB>
                    <a:solidFill>
                      <a:srgbClr val="0B2C5C"/>
                    </a:solidFill>
                  </a:tcPr>
                </a:tc>
                <a:extLst>
                  <a:ext uri="{0D108BD9-81ED-4DB2-BD59-A6C34878D82A}">
                    <a16:rowId xmlns:a16="http://schemas.microsoft.com/office/drawing/2014/main" val="4086173002"/>
                  </a:ext>
                </a:extLst>
              </a:tr>
              <a:tr h="373062">
                <a:tc>
                  <a:txBody>
                    <a:bodyPr/>
                    <a:lstStyle/>
                    <a:p>
                      <a:pPr marL="0" algn="l" defTabSz="457200" rtl="0" eaLnBrk="1" latinLnBrk="0" hangingPunct="1"/>
                      <a:r>
                        <a:rPr lang="tr-TR" sz="1200" b="0" i="0" u="none" kern="1200" dirty="0" err="1">
                          <a:solidFill>
                            <a:srgbClr val="334155"/>
                          </a:solidFill>
                          <a:latin typeface="DM Sans"/>
                          <a:ea typeface="+mn-ea"/>
                          <a:cs typeface="+mn-cs"/>
                        </a:rPr>
                        <a:t>Tong</a:t>
                      </a:r>
                      <a:r>
                        <a:rPr lang="tr-TR" sz="1200" b="0" i="0" u="none" kern="1200" dirty="0">
                          <a:solidFill>
                            <a:srgbClr val="334155"/>
                          </a:solidFill>
                          <a:latin typeface="DM Sans"/>
                          <a:ea typeface="+mn-ea"/>
                          <a:cs typeface="+mn-cs"/>
                        </a:rPr>
                        <a:t> et al.</a:t>
                      </a:r>
                    </a:p>
                  </a:txBody>
                  <a:tcPr anchor="ctr">
                    <a:lnL>
                      <a:noFill/>
                    </a:lnL>
                    <a:lnR>
                      <a:noFill/>
                    </a:lnR>
                    <a:lnT>
                      <a:noFill/>
                    </a:lnT>
                    <a:lnB>
                      <a:noFill/>
                    </a:lnB>
                    <a:noFill/>
                  </a:tcPr>
                </a:tc>
                <a:tc>
                  <a:txBody>
                    <a:bodyPr/>
                    <a:lstStyle/>
                    <a:p>
                      <a:pPr marL="0" algn="l" defTabSz="457200" rtl="0" eaLnBrk="1" latinLnBrk="0" hangingPunct="1"/>
                      <a:r>
                        <a:rPr lang="tr-TR" sz="1200" b="0" i="0" u="none" kern="1200">
                          <a:solidFill>
                            <a:srgbClr val="334155"/>
                          </a:solidFill>
                          <a:latin typeface="DM Sans"/>
                          <a:ea typeface="+mn-ea"/>
                          <a:cs typeface="+mn-cs"/>
                        </a:rPr>
                        <a:t>2023</a:t>
                      </a:r>
                    </a:p>
                  </a:txBody>
                  <a:tcPr anchor="ctr">
                    <a:lnL>
                      <a:noFill/>
                    </a:lnL>
                    <a:lnR>
                      <a:noFill/>
                    </a:lnR>
                    <a:lnT>
                      <a:noFill/>
                    </a:lnT>
                    <a:lnB>
                      <a:noFill/>
                    </a:lnB>
                    <a:noFill/>
                  </a:tcPr>
                </a:tc>
                <a:tc>
                  <a:txBody>
                    <a:bodyPr/>
                    <a:lstStyle/>
                    <a:p>
                      <a:pPr marL="0" algn="l" defTabSz="457200" rtl="0" eaLnBrk="1" latinLnBrk="0" hangingPunct="1"/>
                      <a:r>
                        <a:rPr lang="tr-TR" sz="1200" b="0" i="0" u="none" kern="1200">
                          <a:solidFill>
                            <a:srgbClr val="334155"/>
                          </a:solidFill>
                          <a:latin typeface="DM Sans"/>
                          <a:ea typeface="+mn-ea"/>
                          <a:cs typeface="+mn-cs"/>
                        </a:rPr>
                        <a:t>MM-ComBERT-LMS</a:t>
                      </a:r>
                    </a:p>
                  </a:txBody>
                  <a:tcPr anchor="ctr">
                    <a:lnL>
                      <a:noFill/>
                    </a:lnL>
                    <a:lnR>
                      <a:noFill/>
                    </a:lnR>
                    <a:lnT>
                      <a:noFill/>
                    </a:lnT>
                    <a:lnB>
                      <a:noFill/>
                    </a:lnB>
                    <a:noFill/>
                  </a:tcPr>
                </a:tc>
                <a:tc>
                  <a:txBody>
                    <a:bodyPr/>
                    <a:lstStyle/>
                    <a:p>
                      <a:pPr marL="0" algn="l" defTabSz="457200" rtl="0" eaLnBrk="1" latinLnBrk="0" hangingPunct="1"/>
                      <a:r>
                        <a:rPr lang="tr-TR" sz="1200" b="0" i="0" u="none" kern="1200">
                          <a:solidFill>
                            <a:srgbClr val="334155"/>
                          </a:solidFill>
                          <a:latin typeface="DM Sans"/>
                          <a:ea typeface="+mn-ea"/>
                          <a:cs typeface="+mn-cs"/>
                        </a:rPr>
                        <a:t>%98,72</a:t>
                      </a:r>
                    </a:p>
                  </a:txBody>
                  <a:tcPr anchor="ctr">
                    <a:lnL>
                      <a:noFill/>
                    </a:lnL>
                    <a:lnR>
                      <a:noFill/>
                    </a:lnR>
                    <a:lnT>
                      <a:noFill/>
                    </a:lnT>
                    <a:lnB>
                      <a:noFill/>
                    </a:lnB>
                    <a:noFill/>
                  </a:tcPr>
                </a:tc>
                <a:extLst>
                  <a:ext uri="{0D108BD9-81ED-4DB2-BD59-A6C34878D82A}">
                    <a16:rowId xmlns:a16="http://schemas.microsoft.com/office/drawing/2014/main" val="2840748683"/>
                  </a:ext>
                </a:extLst>
              </a:tr>
              <a:tr h="373062">
                <a:tc>
                  <a:txBody>
                    <a:bodyPr/>
                    <a:lstStyle/>
                    <a:p>
                      <a:pPr marL="0" algn="l" defTabSz="457200" rtl="0" eaLnBrk="1" latinLnBrk="0" hangingPunct="1"/>
                      <a:r>
                        <a:rPr lang="tr-TR" sz="1200" b="0" i="0" u="none" kern="1200">
                          <a:solidFill>
                            <a:srgbClr val="334155"/>
                          </a:solidFill>
                          <a:latin typeface="DM Sans"/>
                          <a:ea typeface="+mn-ea"/>
                          <a:cs typeface="+mn-cs"/>
                        </a:rPr>
                        <a:t>Abdul Samad et al.</a:t>
                      </a:r>
                    </a:p>
                  </a:txBody>
                  <a:tcPr anchor="ctr">
                    <a:lnL>
                      <a:noFill/>
                    </a:lnL>
                    <a:lnR>
                      <a:noFill/>
                    </a:lnR>
                    <a:lnT>
                      <a:noFill/>
                    </a:lnT>
                    <a:lnB>
                      <a:noFill/>
                    </a:lnB>
                    <a:noFill/>
                  </a:tcPr>
                </a:tc>
                <a:tc>
                  <a:txBody>
                    <a:bodyPr/>
                    <a:lstStyle/>
                    <a:p>
                      <a:pPr marL="0" algn="l" defTabSz="457200" rtl="0" eaLnBrk="1" latinLnBrk="0" hangingPunct="1"/>
                      <a:r>
                        <a:rPr lang="tr-TR" sz="1200" b="0" i="0" u="none" kern="1200">
                          <a:solidFill>
                            <a:srgbClr val="334155"/>
                          </a:solidFill>
                          <a:latin typeface="DM Sans"/>
                          <a:ea typeface="+mn-ea"/>
                          <a:cs typeface="+mn-cs"/>
                        </a:rPr>
                        <a:t>2023</a:t>
                      </a:r>
                    </a:p>
                  </a:txBody>
                  <a:tcPr anchor="ctr">
                    <a:lnL>
                      <a:noFill/>
                    </a:lnL>
                    <a:lnR>
                      <a:noFill/>
                    </a:lnR>
                    <a:lnT>
                      <a:noFill/>
                    </a:lnT>
                    <a:lnB>
                      <a:noFill/>
                    </a:lnB>
                    <a:noFill/>
                  </a:tcPr>
                </a:tc>
                <a:tc>
                  <a:txBody>
                    <a:bodyPr/>
                    <a:lstStyle/>
                    <a:p>
                      <a:pPr marL="0" algn="l" defTabSz="457200" rtl="0" eaLnBrk="1" latinLnBrk="0" hangingPunct="1"/>
                      <a:r>
                        <a:rPr lang="tr-TR" sz="1200" b="0" i="0" u="none" kern="1200" dirty="0">
                          <a:solidFill>
                            <a:srgbClr val="334155"/>
                          </a:solidFill>
                          <a:latin typeface="DM Sans"/>
                          <a:ea typeface="+mn-ea"/>
                          <a:cs typeface="+mn-cs"/>
                        </a:rPr>
                        <a:t>RF, </a:t>
                      </a:r>
                      <a:r>
                        <a:rPr lang="tr-TR" sz="1200" b="0" i="0" u="none" kern="1200" dirty="0" err="1">
                          <a:solidFill>
                            <a:srgbClr val="334155"/>
                          </a:solidFill>
                          <a:latin typeface="DM Sans"/>
                          <a:ea typeface="+mn-ea"/>
                          <a:cs typeface="+mn-cs"/>
                        </a:rPr>
                        <a:t>Gradient</a:t>
                      </a:r>
                      <a:r>
                        <a:rPr lang="tr-TR" sz="1200" b="0" i="0" u="none" kern="1200" dirty="0">
                          <a:solidFill>
                            <a:srgbClr val="334155"/>
                          </a:solidFill>
                          <a:latin typeface="DM Sans"/>
                          <a:ea typeface="+mn-ea"/>
                          <a:cs typeface="+mn-cs"/>
                        </a:rPr>
                        <a:t> </a:t>
                      </a:r>
                      <a:r>
                        <a:rPr lang="tr-TR" sz="1200" b="0" i="0" u="none" kern="1200" dirty="0" err="1">
                          <a:solidFill>
                            <a:srgbClr val="334155"/>
                          </a:solidFill>
                          <a:latin typeface="DM Sans"/>
                          <a:ea typeface="+mn-ea"/>
                          <a:cs typeface="+mn-cs"/>
                        </a:rPr>
                        <a:t>Boost</a:t>
                      </a:r>
                      <a:r>
                        <a:rPr lang="tr-TR" sz="1200" b="0" i="0" u="none" kern="1200" dirty="0">
                          <a:solidFill>
                            <a:srgbClr val="334155"/>
                          </a:solidFill>
                          <a:latin typeface="DM Sans"/>
                          <a:ea typeface="+mn-ea"/>
                          <a:cs typeface="+mn-cs"/>
                        </a:rPr>
                        <a:t>, </a:t>
                      </a:r>
                      <a:r>
                        <a:rPr lang="tr-TR" sz="1200" b="0" i="0" u="none" kern="1200" dirty="0" err="1">
                          <a:solidFill>
                            <a:srgbClr val="334155"/>
                          </a:solidFill>
                          <a:latin typeface="DM Sans"/>
                          <a:ea typeface="+mn-ea"/>
                          <a:cs typeface="+mn-cs"/>
                        </a:rPr>
                        <a:t>XGBoost</a:t>
                      </a:r>
                      <a:endParaRPr lang="tr-TR" sz="1200" b="0" i="0" u="none" kern="1200" dirty="0">
                        <a:solidFill>
                          <a:srgbClr val="334155"/>
                        </a:solidFill>
                        <a:latin typeface="DM Sans"/>
                        <a:ea typeface="+mn-ea"/>
                        <a:cs typeface="+mn-cs"/>
                      </a:endParaRPr>
                    </a:p>
                  </a:txBody>
                  <a:tcPr anchor="ctr">
                    <a:lnL>
                      <a:noFill/>
                    </a:lnL>
                    <a:lnR>
                      <a:noFill/>
                    </a:lnR>
                    <a:lnT>
                      <a:noFill/>
                    </a:lnT>
                    <a:lnB>
                      <a:noFill/>
                    </a:lnB>
                    <a:noFill/>
                  </a:tcPr>
                </a:tc>
                <a:tc>
                  <a:txBody>
                    <a:bodyPr/>
                    <a:lstStyle/>
                    <a:p>
                      <a:pPr marL="0" algn="l" defTabSz="457200" rtl="0" eaLnBrk="1" latinLnBrk="0" hangingPunct="1"/>
                      <a:r>
                        <a:rPr lang="tr-TR" sz="1200" b="0" i="0" u="none" kern="1200">
                          <a:solidFill>
                            <a:srgbClr val="334155"/>
                          </a:solidFill>
                          <a:latin typeface="DM Sans"/>
                          <a:ea typeface="+mn-ea"/>
                          <a:cs typeface="+mn-cs"/>
                        </a:rPr>
                        <a:t>%98,27</a:t>
                      </a:r>
                    </a:p>
                  </a:txBody>
                  <a:tcPr anchor="ctr">
                    <a:lnL>
                      <a:noFill/>
                    </a:lnL>
                    <a:lnR>
                      <a:noFill/>
                    </a:lnR>
                    <a:lnT>
                      <a:noFill/>
                    </a:lnT>
                    <a:lnB>
                      <a:noFill/>
                    </a:lnB>
                    <a:noFill/>
                  </a:tcPr>
                </a:tc>
                <a:extLst>
                  <a:ext uri="{0D108BD9-81ED-4DB2-BD59-A6C34878D82A}">
                    <a16:rowId xmlns:a16="http://schemas.microsoft.com/office/drawing/2014/main" val="2136417538"/>
                  </a:ext>
                </a:extLst>
              </a:tr>
              <a:tr h="421484">
                <a:tc>
                  <a:txBody>
                    <a:bodyPr/>
                    <a:lstStyle/>
                    <a:p>
                      <a:pPr marL="0" algn="l" defTabSz="457200" rtl="0" eaLnBrk="1" latinLnBrk="0" hangingPunct="1"/>
                      <a:r>
                        <a:rPr lang="tr-TR" sz="1200" b="0" i="0" u="none" kern="1200">
                          <a:solidFill>
                            <a:srgbClr val="334155"/>
                          </a:solidFill>
                          <a:latin typeface="DM Sans"/>
                          <a:ea typeface="+mn-ea"/>
                          <a:cs typeface="+mn-cs"/>
                        </a:rPr>
                        <a:t>Nagy et al.</a:t>
                      </a:r>
                    </a:p>
                  </a:txBody>
                  <a:tcPr anchor="ctr">
                    <a:lnL>
                      <a:noFill/>
                    </a:lnL>
                    <a:lnR>
                      <a:noFill/>
                    </a:lnR>
                    <a:lnT>
                      <a:noFill/>
                    </a:lnT>
                    <a:lnB>
                      <a:noFill/>
                    </a:lnB>
                    <a:noFill/>
                  </a:tcPr>
                </a:tc>
                <a:tc>
                  <a:txBody>
                    <a:bodyPr/>
                    <a:lstStyle/>
                    <a:p>
                      <a:pPr marL="0" algn="l" defTabSz="457200" rtl="0" eaLnBrk="1" latinLnBrk="0" hangingPunct="1"/>
                      <a:r>
                        <a:rPr lang="tr-TR" sz="1200" b="0" i="0" u="none" kern="1200">
                          <a:solidFill>
                            <a:srgbClr val="334155"/>
                          </a:solidFill>
                          <a:latin typeface="DM Sans"/>
                          <a:ea typeface="+mn-ea"/>
                          <a:cs typeface="+mn-cs"/>
                        </a:rPr>
                        <a:t>2023</a:t>
                      </a:r>
                    </a:p>
                  </a:txBody>
                  <a:tcPr anchor="ctr">
                    <a:lnL>
                      <a:noFill/>
                    </a:lnL>
                    <a:lnR>
                      <a:noFill/>
                    </a:lnR>
                    <a:lnT>
                      <a:noFill/>
                    </a:lnT>
                    <a:lnB>
                      <a:noFill/>
                    </a:lnB>
                    <a:noFill/>
                  </a:tcPr>
                </a:tc>
                <a:tc>
                  <a:txBody>
                    <a:bodyPr/>
                    <a:lstStyle/>
                    <a:p>
                      <a:pPr marL="0" algn="l" defTabSz="457200" rtl="0" eaLnBrk="1" latinLnBrk="0" hangingPunct="1"/>
                      <a:r>
                        <a:rPr lang="tr-TR" sz="1200" b="0" i="0" u="none" kern="1200" dirty="0">
                          <a:solidFill>
                            <a:srgbClr val="334155"/>
                          </a:solidFill>
                          <a:latin typeface="DM Sans"/>
                          <a:ea typeface="+mn-ea"/>
                          <a:cs typeface="+mn-cs"/>
                        </a:rPr>
                        <a:t>NB, CNN, RF, LSTM</a:t>
                      </a:r>
                    </a:p>
                  </a:txBody>
                  <a:tcPr anchor="ctr">
                    <a:lnL>
                      <a:noFill/>
                    </a:lnL>
                    <a:lnR>
                      <a:noFill/>
                    </a:lnR>
                    <a:lnT>
                      <a:noFill/>
                    </a:lnT>
                    <a:lnB>
                      <a:noFill/>
                    </a:lnB>
                    <a:noFill/>
                  </a:tcPr>
                </a:tc>
                <a:tc>
                  <a:txBody>
                    <a:bodyPr/>
                    <a:lstStyle/>
                    <a:p>
                      <a:pPr marL="0" algn="l" defTabSz="457200" rtl="0" eaLnBrk="1" latinLnBrk="0" hangingPunct="1"/>
                      <a:r>
                        <a:rPr lang="tr-TR" sz="1200" b="0" i="0" u="none" kern="1200">
                          <a:solidFill>
                            <a:srgbClr val="334155"/>
                          </a:solidFill>
                          <a:latin typeface="DM Sans"/>
                          <a:ea typeface="+mn-ea"/>
                          <a:cs typeface="+mn-cs"/>
                        </a:rPr>
                        <a:t>%96,00</a:t>
                      </a:r>
                    </a:p>
                  </a:txBody>
                  <a:tcPr anchor="ctr">
                    <a:lnL>
                      <a:noFill/>
                    </a:lnL>
                    <a:lnR>
                      <a:noFill/>
                    </a:lnR>
                    <a:lnT>
                      <a:noFill/>
                    </a:lnT>
                    <a:lnB>
                      <a:noFill/>
                    </a:lnB>
                    <a:noFill/>
                  </a:tcPr>
                </a:tc>
                <a:extLst>
                  <a:ext uri="{0D108BD9-81ED-4DB2-BD59-A6C34878D82A}">
                    <a16:rowId xmlns:a16="http://schemas.microsoft.com/office/drawing/2014/main" val="85843424"/>
                  </a:ext>
                </a:extLst>
              </a:tr>
              <a:tr h="373062">
                <a:tc>
                  <a:txBody>
                    <a:bodyPr/>
                    <a:lstStyle/>
                    <a:p>
                      <a:pPr marL="0" algn="l" defTabSz="457200" rtl="0" eaLnBrk="1" latinLnBrk="0" hangingPunct="1"/>
                      <a:r>
                        <a:rPr lang="tr-TR" sz="1200" b="0" i="0" u="none" kern="1200" dirty="0" err="1">
                          <a:solidFill>
                            <a:srgbClr val="334155"/>
                          </a:solidFill>
                          <a:latin typeface="DM Sans"/>
                          <a:ea typeface="+mn-ea"/>
                          <a:cs typeface="+mn-cs"/>
                        </a:rPr>
                        <a:t>Nazeeruddin</a:t>
                      </a:r>
                      <a:r>
                        <a:rPr lang="tr-TR" sz="1200" b="0" i="0" u="none" kern="1200" dirty="0">
                          <a:solidFill>
                            <a:srgbClr val="334155"/>
                          </a:solidFill>
                          <a:latin typeface="DM Sans"/>
                          <a:ea typeface="+mn-ea"/>
                          <a:cs typeface="+mn-cs"/>
                        </a:rPr>
                        <a:t> et al.</a:t>
                      </a:r>
                    </a:p>
                  </a:txBody>
                  <a:tcPr anchor="ctr">
                    <a:lnL>
                      <a:noFill/>
                    </a:lnL>
                    <a:lnR>
                      <a:noFill/>
                    </a:lnR>
                    <a:lnT>
                      <a:noFill/>
                    </a:lnT>
                    <a:lnB>
                      <a:noFill/>
                    </a:lnB>
                    <a:noFill/>
                  </a:tcPr>
                </a:tc>
                <a:tc>
                  <a:txBody>
                    <a:bodyPr/>
                    <a:lstStyle/>
                    <a:p>
                      <a:pPr marL="0" algn="l" defTabSz="457200" rtl="0" eaLnBrk="1" latinLnBrk="0" hangingPunct="1"/>
                      <a:r>
                        <a:rPr lang="tr-TR" sz="1200" b="0" i="0" u="none" kern="1200">
                          <a:solidFill>
                            <a:srgbClr val="334155"/>
                          </a:solidFill>
                          <a:latin typeface="DM Sans"/>
                          <a:ea typeface="+mn-ea"/>
                          <a:cs typeface="+mn-cs"/>
                        </a:rPr>
                        <a:t>2024</a:t>
                      </a:r>
                    </a:p>
                  </a:txBody>
                  <a:tcPr anchor="ctr">
                    <a:lnL>
                      <a:noFill/>
                    </a:lnL>
                    <a:lnR>
                      <a:noFill/>
                    </a:lnR>
                    <a:lnT>
                      <a:noFill/>
                    </a:lnT>
                    <a:lnB>
                      <a:noFill/>
                    </a:lnB>
                    <a:noFill/>
                  </a:tcPr>
                </a:tc>
                <a:tc>
                  <a:txBody>
                    <a:bodyPr/>
                    <a:lstStyle/>
                    <a:p>
                      <a:pPr marL="0" algn="l" defTabSz="457200" rtl="0" eaLnBrk="1" latinLnBrk="0" hangingPunct="1"/>
                      <a:r>
                        <a:rPr lang="tr-TR" sz="1200" b="0" i="0" u="none" kern="1200" dirty="0">
                          <a:solidFill>
                            <a:srgbClr val="334155"/>
                          </a:solidFill>
                          <a:latin typeface="DM Sans"/>
                          <a:ea typeface="+mn-ea"/>
                          <a:cs typeface="+mn-cs"/>
                        </a:rPr>
                        <a:t>RF, CNN, NB, LR</a:t>
                      </a:r>
                    </a:p>
                  </a:txBody>
                  <a:tcPr anchor="ctr">
                    <a:lnL>
                      <a:noFill/>
                    </a:lnL>
                    <a:lnR>
                      <a:noFill/>
                    </a:lnR>
                    <a:lnT>
                      <a:noFill/>
                    </a:lnT>
                    <a:lnB>
                      <a:noFill/>
                    </a:lnB>
                    <a:noFill/>
                  </a:tcPr>
                </a:tc>
                <a:tc>
                  <a:txBody>
                    <a:bodyPr/>
                    <a:lstStyle/>
                    <a:p>
                      <a:pPr marL="0" algn="l" defTabSz="457200" rtl="0" eaLnBrk="1" latinLnBrk="0" hangingPunct="1"/>
                      <a:r>
                        <a:rPr lang="tr-TR" sz="1200" b="0" i="0" u="none" kern="1200" dirty="0">
                          <a:solidFill>
                            <a:srgbClr val="334155"/>
                          </a:solidFill>
                          <a:latin typeface="DM Sans"/>
                          <a:ea typeface="+mn-ea"/>
                          <a:cs typeface="+mn-cs"/>
                        </a:rPr>
                        <a:t>%96,40</a:t>
                      </a:r>
                    </a:p>
                  </a:txBody>
                  <a:tcPr anchor="ctr">
                    <a:lnL>
                      <a:noFill/>
                    </a:lnL>
                    <a:lnR>
                      <a:noFill/>
                    </a:lnR>
                    <a:lnT>
                      <a:noFill/>
                    </a:lnT>
                    <a:lnB>
                      <a:noFill/>
                    </a:lnB>
                    <a:noFill/>
                  </a:tcPr>
                </a:tc>
                <a:extLst>
                  <a:ext uri="{0D108BD9-81ED-4DB2-BD59-A6C34878D82A}">
                    <a16:rowId xmlns:a16="http://schemas.microsoft.com/office/drawing/2014/main" val="3666670535"/>
                  </a:ext>
                </a:extLst>
              </a:tr>
            </a:tbl>
          </a:graphicData>
        </a:graphic>
      </p:graphicFrame>
      <p:graphicFrame>
        <p:nvGraphicFramePr>
          <p:cNvPr id="36" name="Tablo 35">
            <a:extLst>
              <a:ext uri="{FF2B5EF4-FFF2-40B4-BE49-F238E27FC236}">
                <a16:creationId xmlns:a16="http://schemas.microsoft.com/office/drawing/2014/main" id="{0A21CEBE-6B9A-F3F1-F3E0-0EACB7E72195}"/>
              </a:ext>
            </a:extLst>
          </p:cNvPr>
          <p:cNvGraphicFramePr>
            <a:graphicFrameLocks noGrp="1"/>
          </p:cNvGraphicFramePr>
          <p:nvPr>
            <p:extLst>
              <p:ext uri="{D42A27DB-BD31-4B8C-83A1-F6EECF244321}">
                <p14:modId xmlns:p14="http://schemas.microsoft.com/office/powerpoint/2010/main" val="3203460513"/>
              </p:ext>
            </p:extLst>
          </p:nvPr>
        </p:nvGraphicFramePr>
        <p:xfrm>
          <a:off x="666750" y="3341686"/>
          <a:ext cx="10839450" cy="1540670"/>
        </p:xfrm>
        <a:graphic>
          <a:graphicData uri="http://schemas.openxmlformats.org/drawingml/2006/table">
            <a:tbl>
              <a:tblPr firstRow="1" bandRow="1">
                <a:tableStyleId>{5C22544A-7EE6-4342-B048-85BDC9FD1C3A}</a:tableStyleId>
              </a:tblPr>
              <a:tblGrid>
                <a:gridCol w="2347617">
                  <a:extLst>
                    <a:ext uri="{9D8B030D-6E8A-4147-A177-3AD203B41FA5}">
                      <a16:colId xmlns:a16="http://schemas.microsoft.com/office/drawing/2014/main" val="1348160844"/>
                    </a:ext>
                  </a:extLst>
                </a:gridCol>
                <a:gridCol w="845194">
                  <a:extLst>
                    <a:ext uri="{9D8B030D-6E8A-4147-A177-3AD203B41FA5}">
                      <a16:colId xmlns:a16="http://schemas.microsoft.com/office/drawing/2014/main" val="1882331439"/>
                    </a:ext>
                  </a:extLst>
                </a:gridCol>
                <a:gridCol w="4473326">
                  <a:extLst>
                    <a:ext uri="{9D8B030D-6E8A-4147-A177-3AD203B41FA5}">
                      <a16:colId xmlns:a16="http://schemas.microsoft.com/office/drawing/2014/main" val="703671192"/>
                    </a:ext>
                  </a:extLst>
                </a:gridCol>
                <a:gridCol w="3173313">
                  <a:extLst>
                    <a:ext uri="{9D8B030D-6E8A-4147-A177-3AD203B41FA5}">
                      <a16:colId xmlns:a16="http://schemas.microsoft.com/office/drawing/2014/main" val="95878702"/>
                    </a:ext>
                  </a:extLst>
                </a:gridCol>
              </a:tblGrid>
              <a:tr h="373062">
                <a:tc>
                  <a:txBody>
                    <a:bodyPr/>
                    <a:lstStyle/>
                    <a:p>
                      <a:pPr marL="0" algn="l" defTabSz="457200" rtl="0" eaLnBrk="1" latinLnBrk="0" hangingPunct="1"/>
                      <a:r>
                        <a:rPr lang="tr-TR" sz="1200" b="0" i="0" u="none" kern="1200" dirty="0" err="1">
                          <a:solidFill>
                            <a:srgbClr val="334155"/>
                          </a:solidFill>
                          <a:latin typeface="DM Sans"/>
                          <a:ea typeface="+mn-ea"/>
                          <a:cs typeface="+mn-cs"/>
                        </a:rPr>
                        <a:t>Rehman</a:t>
                      </a:r>
                      <a:r>
                        <a:rPr lang="tr-TR" sz="1200" b="0" i="0" u="none" kern="1200" dirty="0">
                          <a:solidFill>
                            <a:srgbClr val="334155"/>
                          </a:solidFill>
                          <a:latin typeface="DM Sans"/>
                          <a:ea typeface="+mn-ea"/>
                          <a:cs typeface="+mn-cs"/>
                        </a:rPr>
                        <a:t> et al.</a:t>
                      </a:r>
                    </a:p>
                  </a:txBody>
                  <a:tcPr anchor="ctr">
                    <a:lnL>
                      <a:noFill/>
                    </a:lnL>
                    <a:lnR>
                      <a:noFill/>
                    </a:lnR>
                    <a:lnT>
                      <a:noFill/>
                    </a:lnT>
                    <a:lnB>
                      <a:noFill/>
                    </a:lnB>
                    <a:noFill/>
                  </a:tcPr>
                </a:tc>
                <a:tc>
                  <a:txBody>
                    <a:bodyPr/>
                    <a:lstStyle/>
                    <a:p>
                      <a:pPr marL="0" algn="l" defTabSz="457200" rtl="0" eaLnBrk="1" latinLnBrk="0" hangingPunct="1"/>
                      <a:r>
                        <a:rPr lang="tr-TR" sz="1200" b="0" i="0" u="none" kern="1200">
                          <a:solidFill>
                            <a:srgbClr val="334155"/>
                          </a:solidFill>
                          <a:latin typeface="DM Sans"/>
                          <a:ea typeface="+mn-ea"/>
                          <a:cs typeface="+mn-cs"/>
                        </a:rPr>
                        <a:t>2025</a:t>
                      </a:r>
                    </a:p>
                  </a:txBody>
                  <a:tcPr anchor="ctr">
                    <a:lnL>
                      <a:noFill/>
                    </a:lnL>
                    <a:lnR>
                      <a:noFill/>
                    </a:lnR>
                    <a:lnT>
                      <a:noFill/>
                    </a:lnT>
                    <a:lnB>
                      <a:noFill/>
                    </a:lnB>
                    <a:noFill/>
                  </a:tcPr>
                </a:tc>
                <a:tc>
                  <a:txBody>
                    <a:bodyPr/>
                    <a:lstStyle/>
                    <a:p>
                      <a:pPr marL="0" algn="l" defTabSz="457200" rtl="0" eaLnBrk="1" latinLnBrk="0" hangingPunct="1"/>
                      <a:r>
                        <a:rPr lang="de-DE" sz="1200" b="0" i="0" u="none" kern="1200">
                          <a:solidFill>
                            <a:srgbClr val="334155"/>
                          </a:solidFill>
                          <a:latin typeface="DM Sans"/>
                          <a:ea typeface="+mn-ea"/>
                          <a:cs typeface="+mn-cs"/>
                        </a:rPr>
                        <a:t>RF, DT, KNN, Naive Bayes</a:t>
                      </a:r>
                    </a:p>
                  </a:txBody>
                  <a:tcPr anchor="ctr">
                    <a:lnL>
                      <a:noFill/>
                    </a:lnL>
                    <a:lnR>
                      <a:noFill/>
                    </a:lnR>
                    <a:lnT>
                      <a:noFill/>
                    </a:lnT>
                    <a:lnB>
                      <a:noFill/>
                    </a:lnB>
                    <a:noFill/>
                  </a:tcPr>
                </a:tc>
                <a:tc>
                  <a:txBody>
                    <a:bodyPr/>
                    <a:lstStyle/>
                    <a:p>
                      <a:pPr marL="0" algn="l" defTabSz="457200" rtl="0" eaLnBrk="1" latinLnBrk="0" hangingPunct="1"/>
                      <a:r>
                        <a:rPr lang="tr-TR" sz="1200" b="0" i="0" u="none" kern="1200">
                          <a:solidFill>
                            <a:srgbClr val="334155"/>
                          </a:solidFill>
                          <a:latin typeface="DM Sans"/>
                          <a:ea typeface="+mn-ea"/>
                          <a:cs typeface="+mn-cs"/>
                        </a:rPr>
                        <a:t>%99,99</a:t>
                      </a:r>
                    </a:p>
                  </a:txBody>
                  <a:tcPr anchor="ctr">
                    <a:lnL>
                      <a:noFill/>
                    </a:lnL>
                    <a:lnR>
                      <a:noFill/>
                    </a:lnR>
                    <a:lnT>
                      <a:noFill/>
                    </a:lnT>
                    <a:lnB>
                      <a:noFill/>
                    </a:lnB>
                    <a:noFill/>
                  </a:tcPr>
                </a:tc>
                <a:extLst>
                  <a:ext uri="{0D108BD9-81ED-4DB2-BD59-A6C34878D82A}">
                    <a16:rowId xmlns:a16="http://schemas.microsoft.com/office/drawing/2014/main" val="4073228933"/>
                  </a:ext>
                </a:extLst>
              </a:tr>
              <a:tr h="373062">
                <a:tc>
                  <a:txBody>
                    <a:bodyPr/>
                    <a:lstStyle/>
                    <a:p>
                      <a:pPr marL="0" algn="l" defTabSz="457200" rtl="0" eaLnBrk="1" latinLnBrk="0" hangingPunct="1"/>
                      <a:r>
                        <a:rPr lang="tr-TR" sz="1200" b="0" i="0" u="none" kern="1200" dirty="0" err="1">
                          <a:solidFill>
                            <a:srgbClr val="334155"/>
                          </a:solidFill>
                          <a:latin typeface="DM Sans"/>
                          <a:ea typeface="+mn-ea"/>
                          <a:cs typeface="+mn-cs"/>
                        </a:rPr>
                        <a:t>Almohaimeed</a:t>
                      </a:r>
                      <a:r>
                        <a:rPr lang="tr-TR" sz="1200" b="0" i="0" u="none" kern="1200" dirty="0">
                          <a:solidFill>
                            <a:srgbClr val="334155"/>
                          </a:solidFill>
                          <a:latin typeface="DM Sans"/>
                          <a:ea typeface="+mn-ea"/>
                          <a:cs typeface="+mn-cs"/>
                        </a:rPr>
                        <a:t> et al.</a:t>
                      </a:r>
                    </a:p>
                  </a:txBody>
                  <a:tcPr anchor="ctr">
                    <a:lnL>
                      <a:noFill/>
                    </a:lnL>
                    <a:lnR>
                      <a:noFill/>
                    </a:lnR>
                    <a:lnT>
                      <a:noFill/>
                    </a:lnT>
                    <a:lnB>
                      <a:noFill/>
                    </a:lnB>
                    <a:noFill/>
                  </a:tcPr>
                </a:tc>
                <a:tc>
                  <a:txBody>
                    <a:bodyPr/>
                    <a:lstStyle/>
                    <a:p>
                      <a:pPr marL="0" algn="l" defTabSz="457200" rtl="0" eaLnBrk="1" latinLnBrk="0" hangingPunct="1"/>
                      <a:r>
                        <a:rPr lang="tr-TR" sz="1200" b="0" i="0" u="none" kern="1200">
                          <a:solidFill>
                            <a:srgbClr val="334155"/>
                          </a:solidFill>
                          <a:latin typeface="DM Sans"/>
                          <a:ea typeface="+mn-ea"/>
                          <a:cs typeface="+mn-cs"/>
                        </a:rPr>
                        <a:t>2025</a:t>
                      </a:r>
                    </a:p>
                  </a:txBody>
                  <a:tcPr anchor="ctr">
                    <a:lnL>
                      <a:noFill/>
                    </a:lnL>
                    <a:lnR>
                      <a:noFill/>
                    </a:lnR>
                    <a:lnT>
                      <a:noFill/>
                    </a:lnT>
                    <a:lnB>
                      <a:noFill/>
                    </a:lnB>
                    <a:noFill/>
                  </a:tcPr>
                </a:tc>
                <a:tc>
                  <a:txBody>
                    <a:bodyPr/>
                    <a:lstStyle/>
                    <a:p>
                      <a:pPr marL="0" algn="l" defTabSz="457200" rtl="0" eaLnBrk="1" latinLnBrk="0" hangingPunct="1"/>
                      <a:r>
                        <a:rPr lang="tr-TR" sz="1200" b="0" i="0" u="none" kern="1200">
                          <a:solidFill>
                            <a:srgbClr val="334155"/>
                          </a:solidFill>
                          <a:latin typeface="DM Sans"/>
                          <a:ea typeface="+mn-ea"/>
                          <a:cs typeface="+mn-cs"/>
                        </a:rPr>
                        <a:t>Paralel CNN + BiGRU</a:t>
                      </a:r>
                    </a:p>
                  </a:txBody>
                  <a:tcPr anchor="ctr">
                    <a:lnL>
                      <a:noFill/>
                    </a:lnL>
                    <a:lnR>
                      <a:noFill/>
                    </a:lnR>
                    <a:lnT>
                      <a:noFill/>
                    </a:lnT>
                    <a:lnB>
                      <a:noFill/>
                    </a:lnB>
                    <a:noFill/>
                  </a:tcPr>
                </a:tc>
                <a:tc>
                  <a:txBody>
                    <a:bodyPr/>
                    <a:lstStyle/>
                    <a:p>
                      <a:pPr marL="0" algn="l" defTabSz="457200" rtl="0" eaLnBrk="1" latinLnBrk="0" hangingPunct="1"/>
                      <a:r>
                        <a:rPr lang="tr-TR" sz="1200" b="0" i="0" u="none" kern="1200">
                          <a:solidFill>
                            <a:srgbClr val="334155"/>
                          </a:solidFill>
                          <a:latin typeface="DM Sans"/>
                          <a:ea typeface="+mn-ea"/>
                          <a:cs typeface="+mn-cs"/>
                        </a:rPr>
                        <a:t>%98,46</a:t>
                      </a:r>
                    </a:p>
                  </a:txBody>
                  <a:tcPr anchor="ctr">
                    <a:lnL>
                      <a:noFill/>
                    </a:lnL>
                    <a:lnR>
                      <a:noFill/>
                    </a:lnR>
                    <a:lnT>
                      <a:noFill/>
                    </a:lnT>
                    <a:lnB>
                      <a:noFill/>
                    </a:lnB>
                    <a:noFill/>
                  </a:tcPr>
                </a:tc>
                <a:extLst>
                  <a:ext uri="{0D108BD9-81ED-4DB2-BD59-A6C34878D82A}">
                    <a16:rowId xmlns:a16="http://schemas.microsoft.com/office/drawing/2014/main" val="2451798105"/>
                  </a:ext>
                </a:extLst>
              </a:tr>
              <a:tr h="421484">
                <a:tc>
                  <a:txBody>
                    <a:bodyPr/>
                    <a:lstStyle/>
                    <a:p>
                      <a:pPr marL="0" algn="l" defTabSz="457200" rtl="0" eaLnBrk="1" latinLnBrk="0" hangingPunct="1"/>
                      <a:r>
                        <a:rPr lang="tr-TR" sz="1200" b="0" i="0" u="none" kern="1200" dirty="0" err="1">
                          <a:solidFill>
                            <a:srgbClr val="334155"/>
                          </a:solidFill>
                          <a:latin typeface="DM Sans"/>
                          <a:ea typeface="+mn-ea"/>
                          <a:cs typeface="+mn-cs"/>
                        </a:rPr>
                        <a:t>Yi</a:t>
                      </a:r>
                      <a:r>
                        <a:rPr lang="tr-TR" sz="1200" b="0" i="0" u="none" kern="1200" dirty="0">
                          <a:solidFill>
                            <a:srgbClr val="334155"/>
                          </a:solidFill>
                          <a:latin typeface="DM Sans"/>
                          <a:ea typeface="+mn-ea"/>
                          <a:cs typeface="+mn-cs"/>
                        </a:rPr>
                        <a:t> et al.</a:t>
                      </a:r>
                    </a:p>
                  </a:txBody>
                  <a:tcPr anchor="ctr">
                    <a:lnL>
                      <a:noFill/>
                    </a:lnL>
                    <a:lnR>
                      <a:noFill/>
                    </a:lnR>
                    <a:lnT>
                      <a:noFill/>
                    </a:lnT>
                    <a:lnB>
                      <a:noFill/>
                    </a:lnB>
                    <a:noFill/>
                  </a:tcPr>
                </a:tc>
                <a:tc>
                  <a:txBody>
                    <a:bodyPr/>
                    <a:lstStyle/>
                    <a:p>
                      <a:pPr marL="0" algn="l" defTabSz="457200" rtl="0" eaLnBrk="1" latinLnBrk="0" hangingPunct="1"/>
                      <a:r>
                        <a:rPr lang="tr-TR" sz="1200" b="0" i="0" u="none" kern="1200" dirty="0">
                          <a:solidFill>
                            <a:srgbClr val="334155"/>
                          </a:solidFill>
                          <a:latin typeface="DM Sans"/>
                          <a:ea typeface="+mn-ea"/>
                          <a:cs typeface="+mn-cs"/>
                        </a:rPr>
                        <a:t>2026</a:t>
                      </a:r>
                    </a:p>
                  </a:txBody>
                  <a:tcPr anchor="ctr">
                    <a:lnL>
                      <a:noFill/>
                    </a:lnL>
                    <a:lnR>
                      <a:noFill/>
                    </a:lnR>
                    <a:lnT>
                      <a:noFill/>
                    </a:lnT>
                    <a:lnB>
                      <a:noFill/>
                    </a:lnB>
                    <a:noFill/>
                  </a:tcPr>
                </a:tc>
                <a:tc>
                  <a:txBody>
                    <a:bodyPr/>
                    <a:lstStyle/>
                    <a:p>
                      <a:pPr marL="0" algn="l" defTabSz="457200" rtl="0" eaLnBrk="1" latinLnBrk="0" hangingPunct="1"/>
                      <a:r>
                        <a:rPr lang="tr-TR" sz="1200" b="0" i="0" u="none" kern="1200" dirty="0">
                          <a:solidFill>
                            <a:srgbClr val="334155"/>
                          </a:solidFill>
                          <a:latin typeface="DM Sans"/>
                          <a:ea typeface="+mn-ea"/>
                          <a:cs typeface="+mn-cs"/>
                        </a:rPr>
                        <a:t>RF, </a:t>
                      </a:r>
                      <a:r>
                        <a:rPr lang="tr-TR" sz="1200" b="0" i="0" u="none" kern="1200" dirty="0" err="1">
                          <a:solidFill>
                            <a:srgbClr val="334155"/>
                          </a:solidFill>
                          <a:latin typeface="DM Sans"/>
                          <a:ea typeface="+mn-ea"/>
                          <a:cs typeface="+mn-cs"/>
                        </a:rPr>
                        <a:t>XGBoost</a:t>
                      </a:r>
                      <a:r>
                        <a:rPr lang="tr-TR" sz="1200" b="0" i="0" u="none" kern="1200" dirty="0">
                          <a:solidFill>
                            <a:srgbClr val="334155"/>
                          </a:solidFill>
                          <a:latin typeface="DM Sans"/>
                          <a:ea typeface="+mn-ea"/>
                          <a:cs typeface="+mn-cs"/>
                        </a:rPr>
                        <a:t>, SVM, LR</a:t>
                      </a:r>
                    </a:p>
                  </a:txBody>
                  <a:tcPr anchor="ctr">
                    <a:lnL>
                      <a:noFill/>
                    </a:lnL>
                    <a:lnR>
                      <a:noFill/>
                    </a:lnR>
                    <a:lnT>
                      <a:noFill/>
                    </a:lnT>
                    <a:lnB>
                      <a:noFill/>
                    </a:lnB>
                    <a:noFill/>
                  </a:tcPr>
                </a:tc>
                <a:tc>
                  <a:txBody>
                    <a:bodyPr/>
                    <a:lstStyle/>
                    <a:p>
                      <a:pPr marL="0" algn="l" defTabSz="457200" rtl="0" eaLnBrk="1" latinLnBrk="0" hangingPunct="1"/>
                      <a:r>
                        <a:rPr lang="tr-TR" sz="1200" b="0" i="0" u="none" kern="1200" dirty="0">
                          <a:solidFill>
                            <a:srgbClr val="334155"/>
                          </a:solidFill>
                          <a:latin typeface="DM Sans"/>
                          <a:ea typeface="+mn-ea"/>
                          <a:cs typeface="+mn-cs"/>
                        </a:rPr>
                        <a:t>%97,00</a:t>
                      </a:r>
                    </a:p>
                  </a:txBody>
                  <a:tcPr anchor="ctr">
                    <a:lnL>
                      <a:noFill/>
                    </a:lnL>
                    <a:lnR>
                      <a:noFill/>
                    </a:lnR>
                    <a:lnT>
                      <a:noFill/>
                    </a:lnT>
                    <a:lnB>
                      <a:noFill/>
                    </a:lnB>
                    <a:noFill/>
                  </a:tcPr>
                </a:tc>
                <a:extLst>
                  <a:ext uri="{0D108BD9-81ED-4DB2-BD59-A6C34878D82A}">
                    <a16:rowId xmlns:a16="http://schemas.microsoft.com/office/drawing/2014/main" val="3178215238"/>
                  </a:ext>
                </a:extLst>
              </a:tr>
              <a:tr h="373062">
                <a:tc>
                  <a:txBody>
                    <a:bodyPr/>
                    <a:lstStyle/>
                    <a:p>
                      <a:pPr marL="0" algn="l" defTabSz="457200" rtl="0" eaLnBrk="1" latinLnBrk="0" hangingPunct="1"/>
                      <a:r>
                        <a:rPr sz="1200" b="1" i="0" u="none" kern="1200" dirty="0">
                          <a:solidFill>
                            <a:srgbClr val="0B2C5C"/>
                          </a:solidFill>
                          <a:latin typeface="DM Sans"/>
                          <a:ea typeface="+mn-ea"/>
                          <a:cs typeface="+mn-cs"/>
                        </a:rPr>
                        <a:t>Bu Tez </a:t>
                      </a:r>
                      <a:r>
                        <a:rPr sz="1200" b="1" i="0" u="none" kern="1200" dirty="0" err="1">
                          <a:solidFill>
                            <a:srgbClr val="0B2C5C"/>
                          </a:solidFill>
                          <a:latin typeface="DM Sans"/>
                          <a:ea typeface="+mn-ea"/>
                          <a:cs typeface="+mn-cs"/>
                        </a:rPr>
                        <a:t>Çalışması</a:t>
                      </a:r>
                      <a:r>
                        <a:rPr sz="1200" b="1" i="0" u="none" kern="1200" dirty="0">
                          <a:solidFill>
                            <a:srgbClr val="0B2C5C"/>
                          </a:solidFill>
                          <a:latin typeface="DM Sans"/>
                          <a:ea typeface="+mn-ea"/>
                          <a:cs typeface="+mn-cs"/>
                        </a:rPr>
                        <a:t> (2026)</a:t>
                      </a:r>
                    </a:p>
                  </a:txBody>
                  <a:tcPr marL="63500" marR="63500" marT="25400" marB="25400" anchor="ctr">
                    <a:lnL>
                      <a:noFill/>
                    </a:lnL>
                    <a:lnR>
                      <a:noFill/>
                    </a:lnR>
                    <a:lnT>
                      <a:noFill/>
                    </a:lnT>
                    <a:lnB>
                      <a:noFill/>
                    </a:lnB>
                    <a:noFill/>
                  </a:tcPr>
                </a:tc>
                <a:tc>
                  <a:txBody>
                    <a:bodyPr/>
                    <a:lstStyle/>
                    <a:p>
                      <a:pPr marL="0" algn="l" defTabSz="457200" rtl="0" eaLnBrk="1" latinLnBrk="0" hangingPunct="1"/>
                      <a:r>
                        <a:rPr sz="1200" b="1" i="0" u="none" kern="1200" dirty="0">
                          <a:solidFill>
                            <a:srgbClr val="0B2C5C"/>
                          </a:solidFill>
                          <a:latin typeface="DM Sans"/>
                          <a:ea typeface="+mn-ea"/>
                          <a:cs typeface="+mn-cs"/>
                        </a:rPr>
                        <a:t>2026</a:t>
                      </a:r>
                    </a:p>
                  </a:txBody>
                  <a:tcPr marL="63500" marR="63500" marT="25400" marB="25400" anchor="ctr">
                    <a:lnL>
                      <a:noFill/>
                    </a:lnL>
                    <a:lnR>
                      <a:noFill/>
                    </a:lnR>
                    <a:lnT>
                      <a:noFill/>
                    </a:lnT>
                    <a:lnB>
                      <a:noFill/>
                    </a:lnB>
                    <a:noFill/>
                  </a:tcPr>
                </a:tc>
                <a:tc>
                  <a:txBody>
                    <a:bodyPr/>
                    <a:lstStyle/>
                    <a:p>
                      <a:pPr marL="0" algn="l" defTabSz="457200" rtl="0" eaLnBrk="1" latinLnBrk="0" hangingPunct="1"/>
                      <a:r>
                        <a:rPr sz="1200" b="1" i="0" u="none" kern="1200" dirty="0" err="1">
                          <a:solidFill>
                            <a:srgbClr val="0B2C5C"/>
                          </a:solidFill>
                          <a:latin typeface="DM Sans"/>
                          <a:ea typeface="+mn-ea"/>
                          <a:cs typeface="+mn-cs"/>
                        </a:rPr>
                        <a:t>XGBoost</a:t>
                      </a:r>
                      <a:r>
                        <a:rPr sz="1200" b="1" i="0" u="none" kern="1200" dirty="0">
                          <a:solidFill>
                            <a:srgbClr val="0B2C5C"/>
                          </a:solidFill>
                          <a:latin typeface="DM Sans"/>
                          <a:ea typeface="+mn-ea"/>
                          <a:cs typeface="+mn-cs"/>
                        </a:rPr>
                        <a:t> (Optimize </a:t>
                      </a:r>
                      <a:r>
                        <a:rPr sz="1200" b="1" i="0" u="none" kern="1200" dirty="0" err="1">
                          <a:solidFill>
                            <a:srgbClr val="0B2C5C"/>
                          </a:solidFill>
                          <a:latin typeface="DM Sans"/>
                          <a:ea typeface="+mn-ea"/>
                          <a:cs typeface="+mn-cs"/>
                        </a:rPr>
                        <a:t>Edilmiş</a:t>
                      </a:r>
                      <a:r>
                        <a:rPr sz="1200" b="1" i="0" u="none" kern="1200" dirty="0">
                          <a:solidFill>
                            <a:srgbClr val="0B2C5C"/>
                          </a:solidFill>
                          <a:latin typeface="DM Sans"/>
                          <a:ea typeface="+mn-ea"/>
                          <a:cs typeface="+mn-cs"/>
                        </a:rPr>
                        <a:t> Lexical </a:t>
                      </a:r>
                      <a:r>
                        <a:rPr sz="1200" b="1" i="0" u="none" kern="1200" dirty="0" err="1">
                          <a:solidFill>
                            <a:srgbClr val="0B2C5C"/>
                          </a:solidFill>
                          <a:latin typeface="DM Sans"/>
                          <a:ea typeface="+mn-ea"/>
                          <a:cs typeface="+mn-cs"/>
                        </a:rPr>
                        <a:t>Özellik</a:t>
                      </a:r>
                      <a:r>
                        <a:rPr sz="1200" b="1" i="0" u="none" kern="1200" dirty="0">
                          <a:solidFill>
                            <a:srgbClr val="0B2C5C"/>
                          </a:solidFill>
                          <a:latin typeface="DM Sans"/>
                          <a:ea typeface="+mn-ea"/>
                          <a:cs typeface="+mn-cs"/>
                        </a:rPr>
                        <a:t> </a:t>
                      </a:r>
                      <a:r>
                        <a:rPr sz="1200" b="1" i="0" u="none" kern="1200" dirty="0" err="1">
                          <a:solidFill>
                            <a:srgbClr val="0B2C5C"/>
                          </a:solidFill>
                          <a:latin typeface="DM Sans"/>
                          <a:ea typeface="+mn-ea"/>
                          <a:cs typeface="+mn-cs"/>
                        </a:rPr>
                        <a:t>Kümesi</a:t>
                      </a:r>
                      <a:r>
                        <a:rPr sz="1200" b="1" i="0" u="none" kern="1200" dirty="0">
                          <a:solidFill>
                            <a:srgbClr val="0B2C5C"/>
                          </a:solidFill>
                          <a:latin typeface="DM Sans"/>
                          <a:ea typeface="+mn-ea"/>
                          <a:cs typeface="+mn-cs"/>
                        </a:rPr>
                        <a:t>)</a:t>
                      </a:r>
                    </a:p>
                  </a:txBody>
                  <a:tcPr marL="63500" marR="63500" marT="25400" marB="25400" anchor="ctr">
                    <a:lnL>
                      <a:noFill/>
                    </a:lnL>
                    <a:lnR>
                      <a:noFill/>
                    </a:lnR>
                    <a:lnT>
                      <a:noFill/>
                    </a:lnT>
                    <a:lnB>
                      <a:noFill/>
                    </a:lnB>
                    <a:noFill/>
                  </a:tcPr>
                </a:tc>
                <a:tc>
                  <a:txBody>
                    <a:bodyPr/>
                    <a:lstStyle/>
                    <a:p>
                      <a:pPr marL="0" algn="l" defTabSz="457200" rtl="0" eaLnBrk="1" latinLnBrk="0" hangingPunct="1"/>
                      <a:r>
                        <a:rPr sz="1200" b="1" i="0" u="none" kern="1200" dirty="0">
                          <a:solidFill>
                            <a:srgbClr val="0B2C5C"/>
                          </a:solidFill>
                          <a:latin typeface="DM Sans"/>
                          <a:ea typeface="+mn-ea"/>
                          <a:cs typeface="+mn-cs"/>
                        </a:rPr>
                        <a:t>%99,76 Lab (Saha </a:t>
                      </a:r>
                      <a:r>
                        <a:rPr sz="1200" b="1" i="0" u="none" kern="1200" dirty="0" err="1">
                          <a:solidFill>
                            <a:srgbClr val="0B2C5C"/>
                          </a:solidFill>
                          <a:latin typeface="DM Sans"/>
                          <a:ea typeface="+mn-ea"/>
                          <a:cs typeface="+mn-cs"/>
                        </a:rPr>
                        <a:t>Testi</a:t>
                      </a:r>
                      <a:r>
                        <a:rPr sz="1200" b="1" i="0" u="none" kern="1200" dirty="0">
                          <a:solidFill>
                            <a:srgbClr val="0B2C5C"/>
                          </a:solidFill>
                          <a:latin typeface="DM Sans"/>
                          <a:ea typeface="+mn-ea"/>
                          <a:cs typeface="+mn-cs"/>
                        </a:rPr>
                        <a:t>: %99,44)</a:t>
                      </a:r>
                    </a:p>
                  </a:txBody>
                  <a:tcPr marL="63500" marR="63500" marT="25400" marB="25400" anchor="ctr">
                    <a:lnL>
                      <a:noFill/>
                    </a:lnL>
                    <a:lnR>
                      <a:noFill/>
                    </a:lnR>
                    <a:lnT>
                      <a:noFill/>
                    </a:lnT>
                    <a:lnB>
                      <a:noFill/>
                    </a:lnB>
                    <a:noFill/>
                  </a:tcPr>
                </a:tc>
                <a:extLst>
                  <a:ext uri="{0D108BD9-81ED-4DB2-BD59-A6C34878D82A}">
                    <a16:rowId xmlns:a16="http://schemas.microsoft.com/office/drawing/2014/main" val="2514575940"/>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2C5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666750" y="6429375"/>
            <a:ext cx="10858500" cy="238125"/>
          </a:xfrm>
          <a:prstGeom prst="rect">
            <a:avLst/>
          </a:prstGeom>
        </p:spPr>
      </p:pic>
      <p:pic>
        <p:nvPicPr>
          <p:cNvPr id="3" name="Picture 2" descr="image.png"/>
          <p:cNvPicPr>
            <a:picLocks noChangeAspect="1"/>
          </p:cNvPicPr>
          <p:nvPr/>
        </p:nvPicPr>
        <p:blipFill>
          <a:blip r:embed="rId3"/>
          <a:stretch>
            <a:fillRect/>
          </a:stretch>
        </p:blipFill>
        <p:spPr>
          <a:xfrm>
            <a:off x="4667250" y="3717577"/>
            <a:ext cx="2857500" cy="171450"/>
          </a:xfrm>
          <a:prstGeom prst="rect">
            <a:avLst/>
          </a:prstGeom>
        </p:spPr>
      </p:pic>
      <p:sp>
        <p:nvSpPr>
          <p:cNvPr id="4" name="TextBox 3"/>
          <p:cNvSpPr txBox="1"/>
          <p:nvPr/>
        </p:nvSpPr>
        <p:spPr>
          <a:xfrm>
            <a:off x="666750" y="476250"/>
            <a:ext cx="1838325" cy="133350"/>
          </a:xfrm>
          <a:prstGeom prst="rect">
            <a:avLst/>
          </a:prstGeom>
          <a:noFill/>
        </p:spPr>
        <p:txBody>
          <a:bodyPr wrap="square" lIns="0" tIns="0" rIns="0" bIns="0" anchor="ctr">
            <a:spAutoFit/>
          </a:bodyPr>
          <a:lstStyle/>
          <a:p>
            <a:pPr algn="l"/>
            <a:r>
              <a:rPr sz="1200" b="1" i="0" u="none" dirty="0">
                <a:solidFill>
                  <a:srgbClr val="FFFFFF"/>
                </a:solidFill>
                <a:latin typeface="DM Sans"/>
              </a:rPr>
              <a:t>SAKARYA ÜNİVERSİTESİ</a:t>
            </a:r>
          </a:p>
        </p:txBody>
      </p:sp>
      <p:sp>
        <p:nvSpPr>
          <p:cNvPr id="5" name="TextBox 4"/>
          <p:cNvSpPr txBox="1"/>
          <p:nvPr/>
        </p:nvSpPr>
        <p:spPr>
          <a:xfrm>
            <a:off x="2095500" y="2572791"/>
            <a:ext cx="8001000" cy="238125"/>
          </a:xfrm>
          <a:prstGeom prst="rect">
            <a:avLst/>
          </a:prstGeom>
          <a:noFill/>
        </p:spPr>
        <p:txBody>
          <a:bodyPr wrap="square" lIns="0" tIns="0" rIns="0" bIns="0" anchor="t">
            <a:spAutoFit/>
          </a:bodyPr>
          <a:lstStyle/>
          <a:p>
            <a:pPr algn="ctr"/>
            <a:r>
              <a:rPr sz="1500" b="1" i="0" u="none">
                <a:solidFill>
                  <a:srgbClr val="C5A059"/>
                </a:solidFill>
                <a:latin typeface="Merriweather"/>
              </a:rPr>
              <a:t>BÖLÜM 03</a:t>
            </a:r>
          </a:p>
        </p:txBody>
      </p:sp>
      <p:sp>
        <p:nvSpPr>
          <p:cNvPr id="6" name="TextBox 5"/>
          <p:cNvSpPr txBox="1"/>
          <p:nvPr/>
        </p:nvSpPr>
        <p:spPr>
          <a:xfrm>
            <a:off x="2095500" y="2963679"/>
            <a:ext cx="8001000" cy="525660"/>
          </a:xfrm>
          <a:prstGeom prst="rect">
            <a:avLst/>
          </a:prstGeom>
          <a:noFill/>
        </p:spPr>
        <p:txBody>
          <a:bodyPr wrap="square" lIns="0" tIns="0" rIns="0" bIns="0" anchor="t">
            <a:spAutoFit/>
          </a:bodyPr>
          <a:lstStyle/>
          <a:p>
            <a:pPr algn="ctr">
              <a:lnSpc>
                <a:spcPts val="4140"/>
              </a:lnSpc>
            </a:pPr>
            <a:r>
              <a:rPr lang="tr-TR" sz="3450" b="1" i="0" u="none" dirty="0">
                <a:solidFill>
                  <a:srgbClr val="FFFFFF"/>
                </a:solidFill>
                <a:latin typeface="Merriweather"/>
              </a:rPr>
              <a:t>VERİ SETİ ve </a:t>
            </a:r>
            <a:r>
              <a:rPr sz="3450" b="1" i="0" u="none" dirty="0">
                <a:solidFill>
                  <a:srgbClr val="FFFFFF"/>
                </a:solidFill>
                <a:latin typeface="Merriweather"/>
              </a:rPr>
              <a:t>METODOLOJİ</a:t>
            </a:r>
          </a:p>
        </p:txBody>
      </p:sp>
      <p:sp>
        <p:nvSpPr>
          <p:cNvPr id="8" name="TextBox 7"/>
          <p:cNvSpPr txBox="1"/>
          <p:nvPr/>
        </p:nvSpPr>
        <p:spPr>
          <a:xfrm>
            <a:off x="666750" y="6534150"/>
            <a:ext cx="2442210" cy="126958"/>
          </a:xfrm>
          <a:prstGeom prst="rect">
            <a:avLst/>
          </a:prstGeom>
          <a:noFill/>
        </p:spPr>
        <p:txBody>
          <a:bodyPr wrap="square" lIns="0" tIns="0" rIns="0" bIns="0" anchor="t">
            <a:spAutoFit/>
          </a:bodyPr>
          <a:lstStyle/>
          <a:p>
            <a:pPr algn="l"/>
            <a:r>
              <a:rPr sz="825" b="0" i="0" u="none" dirty="0">
                <a:solidFill>
                  <a:srgbClr val="94A3B8"/>
                </a:solidFill>
                <a:latin typeface="DM Sans"/>
              </a:rPr>
              <a:t>Mustafa </a:t>
            </a:r>
            <a:r>
              <a:rPr sz="825" b="0" i="0" u="none" dirty="0" err="1">
                <a:solidFill>
                  <a:srgbClr val="94A3B8"/>
                </a:solidFill>
                <a:latin typeface="DM Sans"/>
              </a:rPr>
              <a:t>Melih</a:t>
            </a:r>
            <a:r>
              <a:rPr sz="825" b="0" i="0" u="none" dirty="0">
                <a:solidFill>
                  <a:srgbClr val="94A3B8"/>
                </a:solidFill>
                <a:latin typeface="DM Sans"/>
              </a:rPr>
              <a:t> TÜFEKCİOĞLU • </a:t>
            </a:r>
            <a:r>
              <a:rPr sz="825" b="0" i="0" u="none" dirty="0" err="1">
                <a:solidFill>
                  <a:srgbClr val="94A3B8"/>
                </a:solidFill>
                <a:latin typeface="DM Sans"/>
              </a:rPr>
              <a:t>Yüksek</a:t>
            </a:r>
            <a:r>
              <a:rPr sz="825" b="0" i="0" u="none" dirty="0">
                <a:solidFill>
                  <a:srgbClr val="94A3B8"/>
                </a:solidFill>
                <a:latin typeface="DM Sans"/>
              </a:rPr>
              <a:t> </a:t>
            </a:r>
            <a:r>
              <a:rPr sz="825" b="0" i="0" u="none" dirty="0" err="1">
                <a:solidFill>
                  <a:srgbClr val="94A3B8"/>
                </a:solidFill>
                <a:latin typeface="DM Sans"/>
              </a:rPr>
              <a:t>Lisans</a:t>
            </a:r>
            <a:r>
              <a:rPr sz="825" b="0" i="0" u="none" dirty="0">
                <a:solidFill>
                  <a:srgbClr val="94A3B8"/>
                </a:solidFill>
                <a:latin typeface="DM Sans"/>
              </a:rPr>
              <a:t> </a:t>
            </a:r>
            <a:r>
              <a:rPr sz="825" b="0" i="0" u="none" dirty="0" err="1">
                <a:solidFill>
                  <a:srgbClr val="94A3B8"/>
                </a:solidFill>
                <a:latin typeface="DM Sans"/>
              </a:rPr>
              <a:t>Tezi</a:t>
            </a:r>
            <a:endParaRPr sz="825" b="0" i="0" u="none" dirty="0">
              <a:solidFill>
                <a:srgbClr val="94A3B8"/>
              </a:solidFill>
              <a:latin typeface="DM Sans"/>
            </a:endParaRPr>
          </a:p>
        </p:txBody>
      </p:sp>
      <p:sp>
        <p:nvSpPr>
          <p:cNvPr id="9" name="TextBox 8"/>
          <p:cNvSpPr txBox="1"/>
          <p:nvPr/>
        </p:nvSpPr>
        <p:spPr>
          <a:xfrm>
            <a:off x="11201400" y="6534150"/>
            <a:ext cx="323850" cy="133350"/>
          </a:xfrm>
          <a:prstGeom prst="rect">
            <a:avLst/>
          </a:prstGeom>
          <a:noFill/>
        </p:spPr>
        <p:txBody>
          <a:bodyPr wrap="square" lIns="0" tIns="0" rIns="0" bIns="0" anchor="t">
            <a:spAutoFit/>
          </a:bodyPr>
          <a:lstStyle/>
          <a:p>
            <a:pPr algn="l"/>
            <a:r>
              <a:rPr sz="825" b="0" i="0" u="none">
                <a:solidFill>
                  <a:srgbClr val="94A3B8"/>
                </a:solidFill>
                <a:latin typeface="DM Sans"/>
              </a:rPr>
              <a:t>Slayt 6</a:t>
            </a:r>
          </a:p>
        </p:txBody>
      </p:sp>
      <p:pic>
        <p:nvPicPr>
          <p:cNvPr id="10" name="İçerik Yer Tutucusu 10">
            <a:extLst>
              <a:ext uri="{FF2B5EF4-FFF2-40B4-BE49-F238E27FC236}">
                <a16:creationId xmlns:a16="http://schemas.microsoft.com/office/drawing/2014/main" id="{79EB660B-0578-8D6A-8A66-03DBCA85940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80231" y="300012"/>
            <a:ext cx="2011362"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4">
            <a:extLst>
              <a:ext uri="{FF2B5EF4-FFF2-40B4-BE49-F238E27FC236}">
                <a16:creationId xmlns:a16="http://schemas.microsoft.com/office/drawing/2014/main" id="{F9E7E4B1-E8DA-FF7A-1318-6D7C5E1E67D4}"/>
              </a:ext>
            </a:extLst>
          </p:cNvPr>
          <p:cNvSpPr txBox="1"/>
          <p:nvPr/>
        </p:nvSpPr>
        <p:spPr>
          <a:xfrm>
            <a:off x="2286000" y="3889027"/>
            <a:ext cx="7620000" cy="571500"/>
          </a:xfrm>
          <a:prstGeom prst="rect">
            <a:avLst/>
          </a:prstGeom>
          <a:noFill/>
        </p:spPr>
        <p:txBody>
          <a:bodyPr wrap="square" lIns="0" tIns="0" rIns="0" bIns="0" anchor="t">
            <a:spAutoFit/>
          </a:bodyPr>
          <a:lstStyle/>
          <a:p>
            <a:pPr algn="ctr">
              <a:lnSpc>
                <a:spcPts val="2250"/>
              </a:lnSpc>
            </a:pPr>
            <a:r>
              <a:rPr sz="1500" b="0" i="0" u="none" dirty="0">
                <a:solidFill>
                  <a:srgbClr val="CBD5E1"/>
                </a:solidFill>
                <a:latin typeface="DM Sans"/>
              </a:rPr>
              <a:t>Veri </a:t>
            </a:r>
            <a:r>
              <a:rPr sz="1500" b="0" i="0" u="none" dirty="0" err="1">
                <a:solidFill>
                  <a:srgbClr val="CBD5E1"/>
                </a:solidFill>
                <a:latin typeface="DM Sans"/>
              </a:rPr>
              <a:t>Toplama</a:t>
            </a:r>
            <a:r>
              <a:rPr sz="1500" b="0" i="0" u="none" dirty="0">
                <a:solidFill>
                  <a:srgbClr val="CBD5E1"/>
                </a:solidFill>
                <a:latin typeface="DM Sans"/>
              </a:rPr>
              <a:t>, </a:t>
            </a:r>
            <a:r>
              <a:rPr sz="1500" b="0" i="0" u="none" dirty="0" err="1">
                <a:solidFill>
                  <a:srgbClr val="CBD5E1"/>
                </a:solidFill>
                <a:latin typeface="DM Sans"/>
              </a:rPr>
              <a:t>Ön</a:t>
            </a:r>
            <a:r>
              <a:rPr sz="1500" b="0" i="0" u="none" dirty="0">
                <a:solidFill>
                  <a:srgbClr val="CBD5E1"/>
                </a:solidFill>
                <a:latin typeface="DM Sans"/>
              </a:rPr>
              <a:t> </a:t>
            </a:r>
            <a:r>
              <a:rPr sz="1500" b="0" i="0" u="none" dirty="0" err="1">
                <a:solidFill>
                  <a:srgbClr val="CBD5E1"/>
                </a:solidFill>
                <a:latin typeface="DM Sans"/>
              </a:rPr>
              <a:t>İşleme</a:t>
            </a:r>
            <a:r>
              <a:rPr sz="1500" b="0" i="0" u="none" dirty="0">
                <a:solidFill>
                  <a:srgbClr val="CBD5E1"/>
                </a:solidFill>
                <a:latin typeface="DM Sans"/>
              </a:rPr>
              <a:t> </a:t>
            </a:r>
            <a:r>
              <a:rPr sz="1500" b="0" i="0" u="none" dirty="0" err="1">
                <a:solidFill>
                  <a:srgbClr val="CBD5E1"/>
                </a:solidFill>
                <a:latin typeface="DM Sans"/>
              </a:rPr>
              <a:t>Adımları</a:t>
            </a:r>
            <a:r>
              <a:rPr sz="1500" b="0" i="0" u="none" dirty="0">
                <a:solidFill>
                  <a:srgbClr val="CBD5E1"/>
                </a:solidFill>
                <a:latin typeface="DM Sans"/>
              </a:rPr>
              <a:t>, Lexical </a:t>
            </a:r>
            <a:r>
              <a:rPr sz="1500" b="0" i="0" u="none" dirty="0" err="1">
                <a:solidFill>
                  <a:srgbClr val="CBD5E1"/>
                </a:solidFill>
                <a:latin typeface="DM Sans"/>
              </a:rPr>
              <a:t>Öznitelik</a:t>
            </a:r>
            <a:r>
              <a:rPr sz="1500" b="0" i="0" u="none" dirty="0">
                <a:solidFill>
                  <a:srgbClr val="CBD5E1"/>
                </a:solidFill>
                <a:latin typeface="DM Sans"/>
              </a:rPr>
              <a:t> </a:t>
            </a:r>
            <a:r>
              <a:rPr sz="1500" b="0" i="0" u="none" dirty="0" err="1">
                <a:solidFill>
                  <a:srgbClr val="CBD5E1"/>
                </a:solidFill>
                <a:latin typeface="DM Sans"/>
              </a:rPr>
              <a:t>Mühendisliği</a:t>
            </a:r>
            <a:r>
              <a:rPr sz="1500" b="0" i="0" u="none" dirty="0">
                <a:solidFill>
                  <a:srgbClr val="CBD5E1"/>
                </a:solidFill>
                <a:latin typeface="DM Sans"/>
              </a:rPr>
              <a:t> </a:t>
            </a:r>
            <a:r>
              <a:rPr sz="1500" b="0" i="0" u="none" dirty="0" err="1">
                <a:solidFill>
                  <a:srgbClr val="CBD5E1"/>
                </a:solidFill>
                <a:latin typeface="DM Sans"/>
              </a:rPr>
              <a:t>ve</a:t>
            </a:r>
            <a:r>
              <a:rPr sz="1500" b="0" i="0" u="none" dirty="0">
                <a:solidFill>
                  <a:srgbClr val="CBD5E1"/>
                </a:solidFill>
                <a:latin typeface="DM Sans"/>
              </a:rPr>
              <a:t> </a:t>
            </a:r>
            <a:r>
              <a:rPr sz="1500" b="0" i="0" u="none" dirty="0" err="1">
                <a:solidFill>
                  <a:srgbClr val="CBD5E1"/>
                </a:solidFill>
                <a:latin typeface="DM Sans"/>
              </a:rPr>
              <a:t>Matematiksel</a:t>
            </a:r>
            <a:r>
              <a:rPr sz="1500" b="0" i="0" u="none" dirty="0">
                <a:solidFill>
                  <a:srgbClr val="CBD5E1"/>
                </a:solidFill>
                <a:latin typeface="DM Sans"/>
              </a:rPr>
              <a:t> </a:t>
            </a:r>
            <a:r>
              <a:rPr sz="1500" b="0" i="0" u="none" dirty="0" err="1">
                <a:solidFill>
                  <a:srgbClr val="CBD5E1"/>
                </a:solidFill>
                <a:latin typeface="DM Sans"/>
              </a:rPr>
              <a:t>Seçim</a:t>
            </a:r>
            <a:r>
              <a:rPr sz="1500" b="0" i="0" u="none" dirty="0">
                <a:solidFill>
                  <a:srgbClr val="CBD5E1"/>
                </a:solidFill>
                <a:latin typeface="DM Sans"/>
              </a:rPr>
              <a:t> </a:t>
            </a:r>
            <a:r>
              <a:rPr sz="1500" b="0" i="0" u="none" dirty="0" err="1">
                <a:solidFill>
                  <a:srgbClr val="CBD5E1"/>
                </a:solidFill>
                <a:latin typeface="DM Sans"/>
              </a:rPr>
              <a:t>Algoritmaları</a:t>
            </a:r>
            <a:endParaRPr sz="1500" b="0" i="0" u="none" dirty="0">
              <a:solidFill>
                <a:srgbClr val="CBD5E1"/>
              </a:solidFill>
              <a:latin typeface="DM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png"/>
          <p:cNvPicPr>
            <a:picLocks noChangeAspect="1"/>
          </p:cNvPicPr>
          <p:nvPr/>
        </p:nvPicPr>
        <p:blipFill>
          <a:blip r:embed="rId2"/>
          <a:stretch>
            <a:fillRect/>
          </a:stretch>
        </p:blipFill>
        <p:spPr>
          <a:xfrm>
            <a:off x="571500" y="6391275"/>
            <a:ext cx="11049000" cy="276225"/>
          </a:xfrm>
          <a:prstGeom prst="rect">
            <a:avLst/>
          </a:prstGeom>
        </p:spPr>
      </p:pic>
      <p:pic>
        <p:nvPicPr>
          <p:cNvPr id="4" name="Picture 3" descr="image.png"/>
          <p:cNvPicPr>
            <a:picLocks noChangeAspect="1"/>
          </p:cNvPicPr>
          <p:nvPr/>
        </p:nvPicPr>
        <p:blipFill>
          <a:blip r:embed="rId3"/>
          <a:stretch>
            <a:fillRect/>
          </a:stretch>
        </p:blipFill>
        <p:spPr>
          <a:xfrm>
            <a:off x="571500" y="1633537"/>
            <a:ext cx="5334000" cy="1314450"/>
          </a:xfrm>
          <a:prstGeom prst="rect">
            <a:avLst/>
          </a:prstGeom>
        </p:spPr>
      </p:pic>
      <p:sp>
        <p:nvSpPr>
          <p:cNvPr id="6" name="TextBox 5"/>
          <p:cNvSpPr txBox="1"/>
          <p:nvPr/>
        </p:nvSpPr>
        <p:spPr>
          <a:xfrm>
            <a:off x="571500" y="476250"/>
            <a:ext cx="11601450" cy="423862"/>
          </a:xfrm>
          <a:prstGeom prst="rect">
            <a:avLst/>
          </a:prstGeom>
          <a:noFill/>
        </p:spPr>
        <p:txBody>
          <a:bodyPr wrap="square" lIns="0" tIns="0" rIns="0" bIns="0" anchor="t">
            <a:spAutoFit/>
          </a:bodyPr>
          <a:lstStyle/>
          <a:p>
            <a:pPr algn="l">
              <a:lnSpc>
                <a:spcPts val="3187"/>
              </a:lnSpc>
            </a:pPr>
            <a:r>
              <a:rPr sz="2550" b="1" i="0" u="none">
                <a:solidFill>
                  <a:srgbClr val="005088"/>
                </a:solidFill>
                <a:latin typeface="Merriweather"/>
              </a:rPr>
              <a:t>Veri Seti Hazırlığı ve Ön İşleme (Data Preprocessing)</a:t>
            </a:r>
          </a:p>
        </p:txBody>
      </p:sp>
      <p:sp>
        <p:nvSpPr>
          <p:cNvPr id="7" name="Rectangle 6"/>
          <p:cNvSpPr/>
          <p:nvPr/>
        </p:nvSpPr>
        <p:spPr>
          <a:xfrm>
            <a:off x="571500" y="995362"/>
            <a:ext cx="11049000"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71500" y="6496050"/>
            <a:ext cx="3009900" cy="171450"/>
          </a:xfrm>
          <a:prstGeom prst="rect">
            <a:avLst/>
          </a:prstGeom>
          <a:noFill/>
        </p:spPr>
        <p:txBody>
          <a:bodyPr wrap="square" lIns="0" tIns="0" rIns="0" bIns="0" anchor="t">
            <a:spAutoFit/>
          </a:bodyPr>
          <a:lstStyle/>
          <a:p>
            <a:pPr algn="l">
              <a:lnSpc>
                <a:spcPts val="1350"/>
              </a:lnSpc>
            </a:pPr>
            <a:r>
              <a:rPr sz="900" b="0" i="0" u="none">
                <a:solidFill>
                  <a:srgbClr val="94A3B8"/>
                </a:solidFill>
                <a:latin typeface="DM Sans"/>
              </a:rPr>
              <a:t>SAKARYA ÜNİVERSİTESİ • YÜKSEK LİSANS TEZ SAVUNMASI</a:t>
            </a:r>
          </a:p>
        </p:txBody>
      </p:sp>
      <p:sp>
        <p:nvSpPr>
          <p:cNvPr id="9" name="TextBox 8"/>
          <p:cNvSpPr txBox="1"/>
          <p:nvPr/>
        </p:nvSpPr>
        <p:spPr>
          <a:xfrm>
            <a:off x="11239500" y="6496050"/>
            <a:ext cx="381000" cy="171450"/>
          </a:xfrm>
          <a:prstGeom prst="rect">
            <a:avLst/>
          </a:prstGeom>
          <a:noFill/>
        </p:spPr>
        <p:txBody>
          <a:bodyPr wrap="square" lIns="0" tIns="0" rIns="0" bIns="0" anchor="t">
            <a:spAutoFit/>
          </a:bodyPr>
          <a:lstStyle/>
          <a:p>
            <a:pPr algn="l">
              <a:lnSpc>
                <a:spcPts val="1350"/>
              </a:lnSpc>
            </a:pPr>
            <a:r>
              <a:rPr sz="900" b="0" i="0" u="none">
                <a:solidFill>
                  <a:srgbClr val="94A3B8"/>
                </a:solidFill>
                <a:latin typeface="DM Sans"/>
              </a:rPr>
              <a:t>Slayt 11</a:t>
            </a:r>
          </a:p>
        </p:txBody>
      </p:sp>
      <p:sp>
        <p:nvSpPr>
          <p:cNvPr id="10" name="TextBox 9"/>
          <p:cNvSpPr txBox="1"/>
          <p:nvPr/>
        </p:nvSpPr>
        <p:spPr>
          <a:xfrm>
            <a:off x="571500" y="1252537"/>
            <a:ext cx="5600700" cy="238125"/>
          </a:xfrm>
          <a:prstGeom prst="rect">
            <a:avLst/>
          </a:prstGeom>
          <a:noFill/>
        </p:spPr>
        <p:txBody>
          <a:bodyPr wrap="square" lIns="0" tIns="0" rIns="0" bIns="0" anchor="t">
            <a:spAutoFit/>
          </a:bodyPr>
          <a:lstStyle/>
          <a:p>
            <a:pPr algn="l"/>
            <a:r>
              <a:rPr sz="1500" b="1" i="0" u="none">
                <a:solidFill>
                  <a:srgbClr val="005088"/>
                </a:solidFill>
                <a:latin typeface="Merriweather"/>
              </a:rPr>
              <a:t>Veri Kaynakları ve Dağılımı</a:t>
            </a:r>
          </a:p>
        </p:txBody>
      </p:sp>
      <p:sp>
        <p:nvSpPr>
          <p:cNvPr id="11" name="TextBox 10"/>
          <p:cNvSpPr txBox="1"/>
          <p:nvPr/>
        </p:nvSpPr>
        <p:spPr>
          <a:xfrm>
            <a:off x="6286500" y="1252537"/>
            <a:ext cx="5600700" cy="238125"/>
          </a:xfrm>
          <a:prstGeom prst="rect">
            <a:avLst/>
          </a:prstGeom>
          <a:noFill/>
        </p:spPr>
        <p:txBody>
          <a:bodyPr wrap="square" lIns="0" tIns="0" rIns="0" bIns="0" anchor="t">
            <a:spAutoFit/>
          </a:bodyPr>
          <a:lstStyle/>
          <a:p>
            <a:pPr algn="l"/>
            <a:r>
              <a:rPr sz="1500" b="1" i="0" u="none">
                <a:solidFill>
                  <a:srgbClr val="005088"/>
                </a:solidFill>
                <a:latin typeface="Merriweather"/>
              </a:rPr>
              <a:t>Ön İşleme ve Temizleme Adımları</a:t>
            </a:r>
          </a:p>
        </p:txBody>
      </p:sp>
      <p:sp>
        <p:nvSpPr>
          <p:cNvPr id="12" name="TextBox 11"/>
          <p:cNvSpPr txBox="1"/>
          <p:nvPr/>
        </p:nvSpPr>
        <p:spPr>
          <a:xfrm>
            <a:off x="809625" y="1824037"/>
            <a:ext cx="4905375" cy="422744"/>
          </a:xfrm>
          <a:prstGeom prst="rect">
            <a:avLst/>
          </a:prstGeom>
          <a:noFill/>
        </p:spPr>
        <p:txBody>
          <a:bodyPr wrap="square" lIns="0" tIns="0" rIns="0" bIns="0" anchor="t">
            <a:spAutoFit/>
          </a:bodyPr>
          <a:lstStyle/>
          <a:p>
            <a:pPr algn="l">
              <a:lnSpc>
                <a:spcPts val="1687"/>
              </a:lnSpc>
            </a:pPr>
            <a:r>
              <a:rPr lang="tr-TR" sz="1125" b="0" i="0" u="none" dirty="0">
                <a:solidFill>
                  <a:srgbClr val="475569"/>
                </a:solidFill>
                <a:latin typeface="DM Sans"/>
              </a:rPr>
              <a:t>Bu çalışma kapsamında </a:t>
            </a:r>
            <a:r>
              <a:rPr lang="tr-TR" sz="1125" b="0" i="0" u="none" dirty="0" err="1">
                <a:solidFill>
                  <a:srgbClr val="475569"/>
                </a:solidFill>
                <a:latin typeface="DM Sans"/>
              </a:rPr>
              <a:t>Mendeley</a:t>
            </a:r>
            <a:r>
              <a:rPr lang="tr-TR" sz="1125" b="0" i="0" u="none" dirty="0">
                <a:solidFill>
                  <a:srgbClr val="475569"/>
                </a:solidFill>
                <a:latin typeface="DM Sans"/>
              </a:rPr>
              <a:t> </a:t>
            </a:r>
            <a:r>
              <a:rPr lang="tr-TR" sz="1125" b="0" i="0" u="none" dirty="0" err="1">
                <a:solidFill>
                  <a:srgbClr val="475569"/>
                </a:solidFill>
                <a:latin typeface="DM Sans"/>
              </a:rPr>
              <a:t>Data’da</a:t>
            </a:r>
            <a:r>
              <a:rPr lang="tr-TR" sz="1125" b="0" i="0" u="none" dirty="0">
                <a:solidFill>
                  <a:srgbClr val="475569"/>
                </a:solidFill>
                <a:latin typeface="DM Sans"/>
              </a:rPr>
              <a:t> paylaşılmış güncel bir veri seti kullanılmıştır.</a:t>
            </a:r>
            <a:endParaRPr sz="1125" b="0" i="0" u="none" dirty="0">
              <a:solidFill>
                <a:srgbClr val="475569"/>
              </a:solidFill>
              <a:latin typeface="DM Sans"/>
            </a:endParaRPr>
          </a:p>
        </p:txBody>
      </p:sp>
      <p:sp>
        <p:nvSpPr>
          <p:cNvPr id="13" name="TextBox 12"/>
          <p:cNvSpPr txBox="1"/>
          <p:nvPr/>
        </p:nvSpPr>
        <p:spPr>
          <a:xfrm>
            <a:off x="809625" y="2328862"/>
            <a:ext cx="4905375" cy="422744"/>
          </a:xfrm>
          <a:prstGeom prst="rect">
            <a:avLst/>
          </a:prstGeom>
          <a:noFill/>
        </p:spPr>
        <p:txBody>
          <a:bodyPr wrap="square" lIns="0" tIns="0" rIns="0" bIns="0" anchor="t">
            <a:spAutoFit/>
          </a:bodyPr>
          <a:lstStyle/>
          <a:p>
            <a:pPr algn="l">
              <a:lnSpc>
                <a:spcPts val="1687"/>
              </a:lnSpc>
            </a:pPr>
            <a:r>
              <a:rPr lang="tr-TR" sz="1125" b="0" i="0" u="none" dirty="0">
                <a:solidFill>
                  <a:srgbClr val="475569"/>
                </a:solidFill>
                <a:latin typeface="DM Sans"/>
              </a:rPr>
              <a:t>Bu veri setinde meşru ve zararlı URL’ler dengeli dağılmıştır. Yaklaşık 330 bin URL bilgisi bulunmaktadır.</a:t>
            </a:r>
            <a:endParaRPr sz="1125" b="0" i="0" u="none" dirty="0">
              <a:solidFill>
                <a:srgbClr val="475569"/>
              </a:solidFill>
              <a:latin typeface="DM Sans"/>
            </a:endParaRPr>
          </a:p>
        </p:txBody>
      </p:sp>
      <p:sp>
        <p:nvSpPr>
          <p:cNvPr id="14" name="TextBox 13"/>
          <p:cNvSpPr txBox="1"/>
          <p:nvPr/>
        </p:nvSpPr>
        <p:spPr>
          <a:xfrm>
            <a:off x="6572250" y="1633537"/>
            <a:ext cx="5048250" cy="457200"/>
          </a:xfrm>
          <a:prstGeom prst="rect">
            <a:avLst/>
          </a:prstGeom>
          <a:noFill/>
        </p:spPr>
        <p:txBody>
          <a:bodyPr wrap="square" lIns="0" tIns="0" rIns="0" bIns="0" anchor="t">
            <a:spAutoFit/>
          </a:bodyPr>
          <a:lstStyle/>
          <a:p>
            <a:pPr algn="l">
              <a:lnSpc>
                <a:spcPts val="1800"/>
              </a:lnSpc>
            </a:pPr>
            <a:r>
              <a:rPr sz="1200" b="1" i="0" u="none" dirty="0" err="1">
                <a:solidFill>
                  <a:srgbClr val="334155"/>
                </a:solidFill>
                <a:latin typeface="DM Sans"/>
              </a:rPr>
              <a:t>Yineleyen</a:t>
            </a:r>
            <a:r>
              <a:rPr sz="1200" b="1" i="0" u="none" dirty="0">
                <a:solidFill>
                  <a:srgbClr val="334155"/>
                </a:solidFill>
                <a:latin typeface="DM Sans"/>
              </a:rPr>
              <a:t> </a:t>
            </a:r>
            <a:r>
              <a:rPr sz="1200" b="1" i="0" u="none" dirty="0" err="1">
                <a:solidFill>
                  <a:srgbClr val="334155"/>
                </a:solidFill>
                <a:latin typeface="DM Sans"/>
              </a:rPr>
              <a:t>Kayıtların</a:t>
            </a:r>
            <a:r>
              <a:rPr sz="1200" b="1" i="0" u="none" dirty="0">
                <a:solidFill>
                  <a:srgbClr val="334155"/>
                </a:solidFill>
                <a:latin typeface="DM Sans"/>
              </a:rPr>
              <a:t> </a:t>
            </a:r>
            <a:r>
              <a:rPr sz="1200" b="1" i="0" u="none" dirty="0" err="1">
                <a:solidFill>
                  <a:srgbClr val="334155"/>
                </a:solidFill>
                <a:latin typeface="DM Sans"/>
              </a:rPr>
              <a:t>Temizlenmesi</a:t>
            </a:r>
            <a:r>
              <a:rPr sz="1200" b="1" i="0" u="none" dirty="0">
                <a:solidFill>
                  <a:srgbClr val="334155"/>
                </a:solidFill>
                <a:latin typeface="DM Sans"/>
              </a:rPr>
              <a:t>:</a:t>
            </a:r>
            <a:r>
              <a:rPr sz="1200" b="0" i="0" u="none" dirty="0">
                <a:solidFill>
                  <a:srgbClr val="334155"/>
                </a:solidFill>
                <a:latin typeface="DM Sans"/>
              </a:rPr>
              <a:t> Veri </a:t>
            </a:r>
            <a:r>
              <a:rPr sz="1200" b="0" i="0" u="none" dirty="0" err="1">
                <a:solidFill>
                  <a:srgbClr val="334155"/>
                </a:solidFill>
                <a:latin typeface="DM Sans"/>
              </a:rPr>
              <a:t>kümesinde</a:t>
            </a:r>
            <a:r>
              <a:rPr sz="1200" b="0" i="0" u="none" dirty="0">
                <a:solidFill>
                  <a:srgbClr val="334155"/>
                </a:solidFill>
                <a:latin typeface="DM Sans"/>
              </a:rPr>
              <a:t> </a:t>
            </a:r>
            <a:r>
              <a:rPr sz="1200" b="0" i="0" u="none" dirty="0" err="1">
                <a:solidFill>
                  <a:srgbClr val="334155"/>
                </a:solidFill>
                <a:latin typeface="DM Sans"/>
              </a:rPr>
              <a:t>yer</a:t>
            </a:r>
            <a:r>
              <a:rPr sz="1200" b="0" i="0" u="none" dirty="0">
                <a:solidFill>
                  <a:srgbClr val="334155"/>
                </a:solidFill>
                <a:latin typeface="DM Sans"/>
              </a:rPr>
              <a:t> </a:t>
            </a:r>
            <a:r>
              <a:rPr sz="1200" b="0" i="0" u="none" dirty="0" err="1">
                <a:solidFill>
                  <a:srgbClr val="334155"/>
                </a:solidFill>
                <a:latin typeface="DM Sans"/>
              </a:rPr>
              <a:t>alan</a:t>
            </a:r>
            <a:r>
              <a:rPr sz="1200" b="0" i="0" u="none" dirty="0">
                <a:solidFill>
                  <a:srgbClr val="334155"/>
                </a:solidFill>
                <a:latin typeface="DM Sans"/>
              </a:rPr>
              <a:t> </a:t>
            </a:r>
            <a:r>
              <a:rPr sz="1200" b="0" i="0" u="none" dirty="0" err="1">
                <a:solidFill>
                  <a:srgbClr val="334155"/>
                </a:solidFill>
                <a:latin typeface="DM Sans"/>
              </a:rPr>
              <a:t>mükerrer</a:t>
            </a:r>
            <a:r>
              <a:rPr sz="1200" b="0" i="0" u="none" dirty="0">
                <a:solidFill>
                  <a:srgbClr val="334155"/>
                </a:solidFill>
                <a:latin typeface="DM Sans"/>
              </a:rPr>
              <a:t> </a:t>
            </a:r>
            <a:r>
              <a:rPr sz="1200" b="0" i="0" u="none" dirty="0" err="1">
                <a:solidFill>
                  <a:srgbClr val="334155"/>
                </a:solidFill>
                <a:latin typeface="DM Sans"/>
              </a:rPr>
              <a:t>URL'lerin</a:t>
            </a:r>
            <a:r>
              <a:rPr lang="tr-TR" sz="1200" b="0" i="0" u="none" dirty="0">
                <a:solidFill>
                  <a:srgbClr val="334155"/>
                </a:solidFill>
                <a:latin typeface="DM Sans"/>
              </a:rPr>
              <a:t> kontrol edilmesi</a:t>
            </a:r>
            <a:r>
              <a:rPr sz="1200" b="0" i="0" u="none" dirty="0">
                <a:solidFill>
                  <a:srgbClr val="334155"/>
                </a:solidFill>
                <a:latin typeface="DM Sans"/>
              </a:rPr>
              <a:t>.</a:t>
            </a:r>
          </a:p>
        </p:txBody>
      </p:sp>
      <p:sp>
        <p:nvSpPr>
          <p:cNvPr id="16" name="TextBox 15"/>
          <p:cNvSpPr txBox="1"/>
          <p:nvPr/>
        </p:nvSpPr>
        <p:spPr>
          <a:xfrm>
            <a:off x="6553547" y="2195512"/>
            <a:ext cx="5048250" cy="457200"/>
          </a:xfrm>
          <a:prstGeom prst="rect">
            <a:avLst/>
          </a:prstGeom>
          <a:noFill/>
        </p:spPr>
        <p:txBody>
          <a:bodyPr wrap="square" lIns="0" tIns="0" rIns="0" bIns="0" anchor="t">
            <a:spAutoFit/>
          </a:bodyPr>
          <a:lstStyle/>
          <a:p>
            <a:pPr algn="l">
              <a:lnSpc>
                <a:spcPts val="1800"/>
              </a:lnSpc>
            </a:pPr>
            <a:r>
              <a:rPr sz="1200" b="1" i="0" u="none" dirty="0" err="1">
                <a:solidFill>
                  <a:srgbClr val="334155"/>
                </a:solidFill>
                <a:latin typeface="DM Sans"/>
              </a:rPr>
              <a:t>Ayrıştırma</a:t>
            </a:r>
            <a:r>
              <a:rPr sz="1200" b="1" i="0" u="none" dirty="0">
                <a:solidFill>
                  <a:srgbClr val="334155"/>
                </a:solidFill>
                <a:latin typeface="DM Sans"/>
              </a:rPr>
              <a:t> (Parsing):</a:t>
            </a:r>
            <a:r>
              <a:rPr sz="1200" b="0" i="0" u="none" dirty="0">
                <a:solidFill>
                  <a:srgbClr val="334155"/>
                </a:solidFill>
                <a:latin typeface="DM Sans"/>
              </a:rPr>
              <a:t> URL </a:t>
            </a:r>
            <a:r>
              <a:rPr sz="1200" b="0" i="0" u="none" dirty="0" err="1">
                <a:solidFill>
                  <a:srgbClr val="334155"/>
                </a:solidFill>
                <a:latin typeface="DM Sans"/>
              </a:rPr>
              <a:t>dizesinin</a:t>
            </a:r>
            <a:r>
              <a:rPr sz="1200" b="0" i="0" u="none" dirty="0">
                <a:solidFill>
                  <a:srgbClr val="334155"/>
                </a:solidFill>
                <a:latin typeface="DM Sans"/>
              </a:rPr>
              <a:t> Scheme, Domain, Subdomain, Path </a:t>
            </a:r>
            <a:r>
              <a:rPr sz="1200" b="0" i="0" u="none" dirty="0" err="1">
                <a:solidFill>
                  <a:srgbClr val="334155"/>
                </a:solidFill>
                <a:latin typeface="DM Sans"/>
              </a:rPr>
              <a:t>ve</a:t>
            </a:r>
            <a:r>
              <a:rPr sz="1200" b="0" i="0" u="none" dirty="0">
                <a:solidFill>
                  <a:srgbClr val="334155"/>
                </a:solidFill>
                <a:latin typeface="DM Sans"/>
              </a:rPr>
              <a:t> Query </a:t>
            </a:r>
            <a:r>
              <a:rPr sz="1200" b="0" i="0" u="none" dirty="0" err="1">
                <a:solidFill>
                  <a:srgbClr val="334155"/>
                </a:solidFill>
                <a:latin typeface="DM Sans"/>
              </a:rPr>
              <a:t>bileşenlerine</a:t>
            </a:r>
            <a:r>
              <a:rPr sz="1200" b="0" i="0" u="none" dirty="0">
                <a:solidFill>
                  <a:srgbClr val="334155"/>
                </a:solidFill>
                <a:latin typeface="DM Sans"/>
              </a:rPr>
              <a:t> </a:t>
            </a:r>
            <a:r>
              <a:rPr sz="1200" b="0" i="0" u="none" dirty="0" err="1">
                <a:solidFill>
                  <a:srgbClr val="334155"/>
                </a:solidFill>
                <a:latin typeface="DM Sans"/>
              </a:rPr>
              <a:t>bölünmesi</a:t>
            </a:r>
            <a:r>
              <a:rPr sz="1200" b="0" i="0" u="none" dirty="0">
                <a:solidFill>
                  <a:srgbClr val="334155"/>
                </a:solidFill>
                <a:latin typeface="DM Sans"/>
              </a:rPr>
              <a:t>.</a:t>
            </a:r>
          </a:p>
        </p:txBody>
      </p:sp>
      <p:pic>
        <p:nvPicPr>
          <p:cNvPr id="17" name="Picture 16" descr="image.png"/>
          <p:cNvPicPr>
            <a:picLocks noChangeAspect="1"/>
          </p:cNvPicPr>
          <p:nvPr/>
        </p:nvPicPr>
        <p:blipFill>
          <a:blip r:embed="rId4"/>
          <a:stretch>
            <a:fillRect/>
          </a:stretch>
        </p:blipFill>
        <p:spPr>
          <a:xfrm>
            <a:off x="6286500" y="1657350"/>
            <a:ext cx="190500" cy="180975"/>
          </a:xfrm>
          <a:prstGeom prst="rect">
            <a:avLst/>
          </a:prstGeom>
        </p:spPr>
      </p:pic>
      <p:pic>
        <p:nvPicPr>
          <p:cNvPr id="19" name="Picture 18" descr="image.png"/>
          <p:cNvPicPr>
            <a:picLocks noChangeAspect="1"/>
          </p:cNvPicPr>
          <p:nvPr/>
        </p:nvPicPr>
        <p:blipFill>
          <a:blip r:embed="rId5"/>
          <a:stretch>
            <a:fillRect/>
          </a:stretch>
        </p:blipFill>
        <p:spPr>
          <a:xfrm>
            <a:off x="6272212" y="2238374"/>
            <a:ext cx="219075" cy="180975"/>
          </a:xfrm>
          <a:prstGeom prst="rect">
            <a:avLst/>
          </a:prstGeom>
        </p:spPr>
      </p:pic>
      <p:pic>
        <p:nvPicPr>
          <p:cNvPr id="20" name="Picture 1" descr="image.png">
            <a:extLst>
              <a:ext uri="{FF2B5EF4-FFF2-40B4-BE49-F238E27FC236}">
                <a16:creationId xmlns:a16="http://schemas.microsoft.com/office/drawing/2014/main" id="{77E05A13-86FF-2DB2-3247-F7BA52D4FC23}"/>
              </a:ext>
            </a:extLst>
          </p:cNvPr>
          <p:cNvPicPr>
            <a:picLocks noChangeAspect="1"/>
          </p:cNvPicPr>
          <p:nvPr/>
        </p:nvPicPr>
        <p:blipFill>
          <a:blip r:embed="rId6"/>
          <a:stretch>
            <a:fillRect/>
          </a:stretch>
        </p:blipFill>
        <p:spPr>
          <a:xfrm>
            <a:off x="666750" y="952500"/>
            <a:ext cx="10858500" cy="171450"/>
          </a:xfrm>
          <a:prstGeom prst="rect">
            <a:avLst/>
          </a:prstGeom>
        </p:spPr>
      </p:pic>
      <p:pic>
        <p:nvPicPr>
          <p:cNvPr id="21" name="İçerik Yer Tutucusu 10">
            <a:extLst>
              <a:ext uri="{FF2B5EF4-FFF2-40B4-BE49-F238E27FC236}">
                <a16:creationId xmlns:a16="http://schemas.microsoft.com/office/drawing/2014/main" id="{DE78E194-1D10-EB13-6AE9-20EBD16C40BE}"/>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9590435" y="466725"/>
            <a:ext cx="2011362"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png"/>
          <p:cNvPicPr>
            <a:picLocks noChangeAspect="1"/>
          </p:cNvPicPr>
          <p:nvPr/>
        </p:nvPicPr>
        <p:blipFill>
          <a:blip r:embed="rId2"/>
          <a:stretch>
            <a:fillRect/>
          </a:stretch>
        </p:blipFill>
        <p:spPr>
          <a:xfrm>
            <a:off x="571500" y="6391275"/>
            <a:ext cx="11049000" cy="276225"/>
          </a:xfrm>
          <a:prstGeom prst="rect">
            <a:avLst/>
          </a:prstGeom>
        </p:spPr>
      </p:pic>
      <p:pic>
        <p:nvPicPr>
          <p:cNvPr id="4" name="Picture 3" descr="image.png"/>
          <p:cNvPicPr>
            <a:picLocks noChangeAspect="1"/>
          </p:cNvPicPr>
          <p:nvPr/>
        </p:nvPicPr>
        <p:blipFill>
          <a:blip r:embed="rId3"/>
          <a:stretch>
            <a:fillRect/>
          </a:stretch>
        </p:blipFill>
        <p:spPr>
          <a:xfrm>
            <a:off x="571500" y="1252537"/>
            <a:ext cx="3524250" cy="2886075"/>
          </a:xfrm>
          <a:prstGeom prst="rect">
            <a:avLst/>
          </a:prstGeom>
        </p:spPr>
      </p:pic>
      <p:pic>
        <p:nvPicPr>
          <p:cNvPr id="5" name="Picture 4" descr="image.png"/>
          <p:cNvPicPr>
            <a:picLocks noChangeAspect="1"/>
          </p:cNvPicPr>
          <p:nvPr/>
        </p:nvPicPr>
        <p:blipFill>
          <a:blip r:embed="rId4"/>
          <a:stretch>
            <a:fillRect/>
          </a:stretch>
        </p:blipFill>
        <p:spPr>
          <a:xfrm>
            <a:off x="4333875" y="1252537"/>
            <a:ext cx="3524250" cy="2886075"/>
          </a:xfrm>
          <a:prstGeom prst="rect">
            <a:avLst/>
          </a:prstGeom>
        </p:spPr>
      </p:pic>
      <p:pic>
        <p:nvPicPr>
          <p:cNvPr id="6" name="Picture 5" descr="image.png"/>
          <p:cNvPicPr>
            <a:picLocks noChangeAspect="1"/>
          </p:cNvPicPr>
          <p:nvPr/>
        </p:nvPicPr>
        <p:blipFill>
          <a:blip r:embed="rId4"/>
          <a:stretch>
            <a:fillRect/>
          </a:stretch>
        </p:blipFill>
        <p:spPr>
          <a:xfrm>
            <a:off x="8096250" y="1252537"/>
            <a:ext cx="3524250" cy="2886075"/>
          </a:xfrm>
          <a:prstGeom prst="rect">
            <a:avLst/>
          </a:prstGeom>
        </p:spPr>
      </p:pic>
      <p:sp>
        <p:nvSpPr>
          <p:cNvPr id="7" name="TextBox 6"/>
          <p:cNvSpPr txBox="1"/>
          <p:nvPr/>
        </p:nvSpPr>
        <p:spPr>
          <a:xfrm>
            <a:off x="571500" y="476250"/>
            <a:ext cx="11601450" cy="423862"/>
          </a:xfrm>
          <a:prstGeom prst="rect">
            <a:avLst/>
          </a:prstGeom>
          <a:noFill/>
        </p:spPr>
        <p:txBody>
          <a:bodyPr wrap="square" lIns="0" tIns="0" rIns="0" bIns="0" anchor="t">
            <a:spAutoFit/>
          </a:bodyPr>
          <a:lstStyle/>
          <a:p>
            <a:pPr algn="l">
              <a:lnSpc>
                <a:spcPts val="3187"/>
              </a:lnSpc>
            </a:pPr>
            <a:r>
              <a:rPr sz="2550" b="1" i="0" u="none" dirty="0">
                <a:solidFill>
                  <a:srgbClr val="005088"/>
                </a:solidFill>
                <a:latin typeface="Merriweather"/>
              </a:rPr>
              <a:t>Lexical </a:t>
            </a:r>
            <a:r>
              <a:rPr sz="2550" b="1" i="0" u="none" dirty="0" err="1">
                <a:solidFill>
                  <a:srgbClr val="005088"/>
                </a:solidFill>
                <a:latin typeface="Merriweather"/>
              </a:rPr>
              <a:t>Öznitelik</a:t>
            </a:r>
            <a:r>
              <a:rPr sz="2550" b="1" i="0" u="none" dirty="0">
                <a:solidFill>
                  <a:srgbClr val="005088"/>
                </a:solidFill>
                <a:latin typeface="Merriweather"/>
              </a:rPr>
              <a:t> </a:t>
            </a:r>
            <a:r>
              <a:rPr sz="2550" b="1" i="0" u="none" dirty="0" err="1">
                <a:solidFill>
                  <a:srgbClr val="005088"/>
                </a:solidFill>
                <a:latin typeface="Merriweather"/>
              </a:rPr>
              <a:t>Çıkarımı</a:t>
            </a:r>
            <a:r>
              <a:rPr sz="2550" b="1" i="0" u="none" dirty="0">
                <a:solidFill>
                  <a:srgbClr val="005088"/>
                </a:solidFill>
                <a:latin typeface="Merriweather"/>
              </a:rPr>
              <a:t>: </a:t>
            </a:r>
            <a:r>
              <a:rPr sz="2550" b="1" i="0" u="none" dirty="0" err="1">
                <a:solidFill>
                  <a:srgbClr val="005088"/>
                </a:solidFill>
                <a:latin typeface="Merriweather"/>
              </a:rPr>
              <a:t>Uzunluk</a:t>
            </a:r>
            <a:r>
              <a:rPr sz="2550" b="1" i="0" u="none" dirty="0">
                <a:solidFill>
                  <a:srgbClr val="005088"/>
                </a:solidFill>
                <a:latin typeface="Merriweather"/>
              </a:rPr>
              <a:t> </a:t>
            </a:r>
            <a:r>
              <a:rPr sz="2550" b="1" i="0" u="none" dirty="0" err="1">
                <a:solidFill>
                  <a:srgbClr val="005088"/>
                </a:solidFill>
                <a:latin typeface="Merriweather"/>
              </a:rPr>
              <a:t>ve</a:t>
            </a:r>
            <a:r>
              <a:rPr sz="2550" b="1" i="0" u="none" dirty="0">
                <a:solidFill>
                  <a:srgbClr val="005088"/>
                </a:solidFill>
                <a:latin typeface="Merriweather"/>
              </a:rPr>
              <a:t> </a:t>
            </a:r>
            <a:r>
              <a:rPr sz="2550" b="1" i="0" u="none" dirty="0" err="1">
                <a:solidFill>
                  <a:srgbClr val="005088"/>
                </a:solidFill>
                <a:latin typeface="Merriweather"/>
              </a:rPr>
              <a:t>Sayı</a:t>
            </a:r>
            <a:r>
              <a:rPr sz="2550" b="1" i="0" u="none" dirty="0">
                <a:solidFill>
                  <a:srgbClr val="005088"/>
                </a:solidFill>
                <a:latin typeface="Merriweather"/>
              </a:rPr>
              <a:t> </a:t>
            </a:r>
            <a:r>
              <a:rPr sz="2550" b="1" i="0" u="none" dirty="0" err="1">
                <a:solidFill>
                  <a:srgbClr val="005088"/>
                </a:solidFill>
                <a:latin typeface="Merriweather"/>
              </a:rPr>
              <a:t>Bazlı</a:t>
            </a:r>
            <a:endParaRPr sz="2550" b="1" i="0" u="none" dirty="0">
              <a:solidFill>
                <a:srgbClr val="005088"/>
              </a:solidFill>
              <a:latin typeface="Merriweather"/>
            </a:endParaRPr>
          </a:p>
        </p:txBody>
      </p:sp>
      <p:sp>
        <p:nvSpPr>
          <p:cNvPr id="8" name="Rectangle 7"/>
          <p:cNvSpPr/>
          <p:nvPr/>
        </p:nvSpPr>
        <p:spPr>
          <a:xfrm>
            <a:off x="571500" y="995362"/>
            <a:ext cx="11049000"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71500" y="6496050"/>
            <a:ext cx="3009900" cy="171450"/>
          </a:xfrm>
          <a:prstGeom prst="rect">
            <a:avLst/>
          </a:prstGeom>
          <a:noFill/>
        </p:spPr>
        <p:txBody>
          <a:bodyPr wrap="square" lIns="0" tIns="0" rIns="0" bIns="0" anchor="t">
            <a:spAutoFit/>
          </a:bodyPr>
          <a:lstStyle/>
          <a:p>
            <a:pPr algn="l">
              <a:lnSpc>
                <a:spcPts val="1350"/>
              </a:lnSpc>
            </a:pPr>
            <a:r>
              <a:rPr sz="900" b="0" i="0" u="none">
                <a:solidFill>
                  <a:srgbClr val="94A3B8"/>
                </a:solidFill>
                <a:latin typeface="DM Sans"/>
              </a:rPr>
              <a:t>SAKARYA ÜNİVERSİTESİ • YÜKSEK LİSANS TEZ SAVUNMASI</a:t>
            </a:r>
          </a:p>
        </p:txBody>
      </p:sp>
      <p:sp>
        <p:nvSpPr>
          <p:cNvPr id="10" name="TextBox 9"/>
          <p:cNvSpPr txBox="1"/>
          <p:nvPr/>
        </p:nvSpPr>
        <p:spPr>
          <a:xfrm>
            <a:off x="11210925" y="6496050"/>
            <a:ext cx="409575" cy="171450"/>
          </a:xfrm>
          <a:prstGeom prst="rect">
            <a:avLst/>
          </a:prstGeom>
          <a:noFill/>
        </p:spPr>
        <p:txBody>
          <a:bodyPr wrap="square" lIns="0" tIns="0" rIns="0" bIns="0" anchor="t">
            <a:spAutoFit/>
          </a:bodyPr>
          <a:lstStyle/>
          <a:p>
            <a:pPr algn="l">
              <a:lnSpc>
                <a:spcPts val="1350"/>
              </a:lnSpc>
            </a:pPr>
            <a:r>
              <a:rPr sz="900" b="0" i="0" u="none">
                <a:solidFill>
                  <a:srgbClr val="94A3B8"/>
                </a:solidFill>
                <a:latin typeface="DM Sans"/>
              </a:rPr>
              <a:t>Slayt 12</a:t>
            </a:r>
          </a:p>
        </p:txBody>
      </p:sp>
      <p:sp>
        <p:nvSpPr>
          <p:cNvPr id="11" name="TextBox 10"/>
          <p:cNvSpPr txBox="1"/>
          <p:nvPr/>
        </p:nvSpPr>
        <p:spPr>
          <a:xfrm>
            <a:off x="819150" y="2119312"/>
            <a:ext cx="3180397" cy="238125"/>
          </a:xfrm>
          <a:prstGeom prst="rect">
            <a:avLst/>
          </a:prstGeom>
          <a:noFill/>
        </p:spPr>
        <p:txBody>
          <a:bodyPr wrap="square" lIns="0" tIns="0" rIns="0" bIns="0" anchor="t">
            <a:spAutoFit/>
          </a:bodyPr>
          <a:lstStyle/>
          <a:p>
            <a:pPr algn="l"/>
            <a:r>
              <a:rPr sz="1500" b="1" i="0" u="none" dirty="0" err="1">
                <a:solidFill>
                  <a:srgbClr val="0F172A"/>
                </a:solidFill>
                <a:latin typeface="Merriweather"/>
              </a:rPr>
              <a:t>Uzunl</a:t>
            </a:r>
            <a:r>
              <a:rPr lang="tr-TR" sz="1500" b="1" i="0" u="none" dirty="0">
                <a:solidFill>
                  <a:srgbClr val="0F172A"/>
                </a:solidFill>
                <a:latin typeface="Merriweather"/>
              </a:rPr>
              <a:t>u</a:t>
            </a:r>
            <a:r>
              <a:rPr sz="1500" b="1" i="0" u="none" dirty="0">
                <a:solidFill>
                  <a:srgbClr val="0F172A"/>
                </a:solidFill>
                <a:latin typeface="Merriweather"/>
              </a:rPr>
              <a:t>k </a:t>
            </a:r>
            <a:r>
              <a:rPr sz="1500" b="1" i="0" u="none" dirty="0" err="1">
                <a:solidFill>
                  <a:srgbClr val="0F172A"/>
                </a:solidFill>
                <a:latin typeface="Merriweather"/>
              </a:rPr>
              <a:t>Metrikleri</a:t>
            </a:r>
            <a:endParaRPr sz="1500" b="1" i="0" u="none" dirty="0">
              <a:solidFill>
                <a:srgbClr val="0F172A"/>
              </a:solidFill>
              <a:latin typeface="Merriweather"/>
            </a:endParaRPr>
          </a:p>
        </p:txBody>
      </p:sp>
      <p:sp>
        <p:nvSpPr>
          <p:cNvPr id="12" name="TextBox 11"/>
          <p:cNvSpPr txBox="1"/>
          <p:nvPr/>
        </p:nvSpPr>
        <p:spPr>
          <a:xfrm>
            <a:off x="819150" y="2452687"/>
            <a:ext cx="3028950" cy="428625"/>
          </a:xfrm>
          <a:prstGeom prst="rect">
            <a:avLst/>
          </a:prstGeom>
          <a:noFill/>
        </p:spPr>
        <p:txBody>
          <a:bodyPr wrap="square" lIns="0" tIns="0" rIns="0" bIns="0" anchor="t">
            <a:spAutoFit/>
          </a:bodyPr>
          <a:lstStyle/>
          <a:p>
            <a:pPr algn="l">
              <a:lnSpc>
                <a:spcPts val="1687"/>
              </a:lnSpc>
            </a:pPr>
            <a:r>
              <a:rPr sz="1125" b="0" i="0" u="none">
                <a:solidFill>
                  <a:srgbClr val="64748B"/>
                </a:solidFill>
                <a:latin typeface="DM Sans"/>
              </a:rPr>
              <a:t>Oltalama siteleri karmaşık yönlendirmeler içerdiğinden uzun dizilere sahiptir:</a:t>
            </a:r>
          </a:p>
        </p:txBody>
      </p:sp>
      <p:sp>
        <p:nvSpPr>
          <p:cNvPr id="13" name="TextBox 12"/>
          <p:cNvSpPr txBox="1"/>
          <p:nvPr/>
        </p:nvSpPr>
        <p:spPr>
          <a:xfrm>
            <a:off x="4581525" y="2119312"/>
            <a:ext cx="3180397" cy="238125"/>
          </a:xfrm>
          <a:prstGeom prst="rect">
            <a:avLst/>
          </a:prstGeom>
          <a:noFill/>
        </p:spPr>
        <p:txBody>
          <a:bodyPr wrap="square" lIns="0" tIns="0" rIns="0" bIns="0" anchor="t">
            <a:spAutoFit/>
          </a:bodyPr>
          <a:lstStyle/>
          <a:p>
            <a:pPr algn="l"/>
            <a:r>
              <a:rPr sz="1500" b="1" i="0" u="none">
                <a:solidFill>
                  <a:srgbClr val="0F172A"/>
                </a:solidFill>
                <a:latin typeface="Merriweather"/>
              </a:rPr>
              <a:t>Özel Karakter Sayımları</a:t>
            </a:r>
          </a:p>
        </p:txBody>
      </p:sp>
      <p:sp>
        <p:nvSpPr>
          <p:cNvPr id="14" name="TextBox 13"/>
          <p:cNvSpPr txBox="1"/>
          <p:nvPr/>
        </p:nvSpPr>
        <p:spPr>
          <a:xfrm>
            <a:off x="4581525" y="2452687"/>
            <a:ext cx="3028950" cy="428625"/>
          </a:xfrm>
          <a:prstGeom prst="rect">
            <a:avLst/>
          </a:prstGeom>
          <a:noFill/>
        </p:spPr>
        <p:txBody>
          <a:bodyPr wrap="square" lIns="0" tIns="0" rIns="0" bIns="0" anchor="t">
            <a:spAutoFit/>
          </a:bodyPr>
          <a:lstStyle/>
          <a:p>
            <a:pPr algn="l">
              <a:lnSpc>
                <a:spcPts val="1687"/>
              </a:lnSpc>
            </a:pPr>
            <a:r>
              <a:rPr sz="1125" b="0" i="0" u="none">
                <a:solidFill>
                  <a:srgbClr val="64748B"/>
                </a:solidFill>
                <a:latin typeface="DM Sans"/>
              </a:rPr>
              <a:t>Manipülasyon ve dizin gizleme amacıyla kullanılan sembollerin frekansı:</a:t>
            </a:r>
          </a:p>
        </p:txBody>
      </p:sp>
      <p:sp>
        <p:nvSpPr>
          <p:cNvPr id="15" name="TextBox 14"/>
          <p:cNvSpPr txBox="1"/>
          <p:nvPr/>
        </p:nvSpPr>
        <p:spPr>
          <a:xfrm>
            <a:off x="8343900" y="2119312"/>
            <a:ext cx="3180397" cy="238125"/>
          </a:xfrm>
          <a:prstGeom prst="rect">
            <a:avLst/>
          </a:prstGeom>
          <a:noFill/>
        </p:spPr>
        <p:txBody>
          <a:bodyPr wrap="square" lIns="0" tIns="0" rIns="0" bIns="0" anchor="t">
            <a:spAutoFit/>
          </a:bodyPr>
          <a:lstStyle/>
          <a:p>
            <a:pPr algn="l"/>
            <a:r>
              <a:rPr sz="1500" b="1" i="0" u="none">
                <a:solidFill>
                  <a:srgbClr val="0F172A"/>
                </a:solidFill>
                <a:latin typeface="Merriweather"/>
              </a:rPr>
              <a:t>Yapısal Belirteçler</a:t>
            </a:r>
          </a:p>
        </p:txBody>
      </p:sp>
      <p:sp>
        <p:nvSpPr>
          <p:cNvPr id="16" name="TextBox 15"/>
          <p:cNvSpPr txBox="1"/>
          <p:nvPr/>
        </p:nvSpPr>
        <p:spPr>
          <a:xfrm>
            <a:off x="8343900" y="2452687"/>
            <a:ext cx="3028950" cy="214312"/>
          </a:xfrm>
          <a:prstGeom prst="rect">
            <a:avLst/>
          </a:prstGeom>
          <a:noFill/>
        </p:spPr>
        <p:txBody>
          <a:bodyPr wrap="square" lIns="0" tIns="0" rIns="0" bIns="0" anchor="t">
            <a:spAutoFit/>
          </a:bodyPr>
          <a:lstStyle/>
          <a:p>
            <a:pPr algn="l">
              <a:lnSpc>
                <a:spcPts val="1687"/>
              </a:lnSpc>
            </a:pPr>
            <a:r>
              <a:rPr sz="1125" b="0" i="0" u="none">
                <a:solidFill>
                  <a:srgbClr val="64748B"/>
                </a:solidFill>
                <a:latin typeface="DM Sans"/>
              </a:rPr>
              <a:t>Alan adı katmanları ve protokol usulsüzlükleri:</a:t>
            </a:r>
          </a:p>
        </p:txBody>
      </p:sp>
      <p:pic>
        <p:nvPicPr>
          <p:cNvPr id="17" name="Picture 16" descr="image.png"/>
          <p:cNvPicPr>
            <a:picLocks noChangeAspect="1"/>
          </p:cNvPicPr>
          <p:nvPr/>
        </p:nvPicPr>
        <p:blipFill>
          <a:blip r:embed="rId5"/>
          <a:stretch>
            <a:fillRect/>
          </a:stretch>
        </p:blipFill>
        <p:spPr>
          <a:xfrm>
            <a:off x="819150" y="1576387"/>
            <a:ext cx="428625" cy="342900"/>
          </a:xfrm>
          <a:prstGeom prst="rect">
            <a:avLst/>
          </a:prstGeom>
        </p:spPr>
      </p:pic>
      <p:sp>
        <p:nvSpPr>
          <p:cNvPr id="18" name="TextBox 17"/>
          <p:cNvSpPr txBox="1"/>
          <p:nvPr/>
        </p:nvSpPr>
        <p:spPr>
          <a:xfrm>
            <a:off x="904875" y="2976562"/>
            <a:ext cx="57150" cy="228600"/>
          </a:xfrm>
          <a:prstGeom prst="rect">
            <a:avLst/>
          </a:prstGeom>
          <a:noFill/>
        </p:spPr>
        <p:txBody>
          <a:bodyPr wrap="square" lIns="0" tIns="0" rIns="0" bIns="0" anchor="t">
            <a:spAutoFit/>
          </a:bodyPr>
          <a:lstStyle/>
          <a:p>
            <a:pPr algn="l"/>
            <a:r>
              <a:rPr sz="1200" b="0" i="0" u="none">
                <a:solidFill>
                  <a:srgbClr val="475569"/>
                </a:solidFill>
                <a:latin typeface="DM Sans"/>
              </a:rPr>
              <a:t>•</a:t>
            </a:r>
          </a:p>
        </p:txBody>
      </p:sp>
      <p:sp>
        <p:nvSpPr>
          <p:cNvPr id="19" name="TextBox 18"/>
          <p:cNvSpPr txBox="1"/>
          <p:nvPr/>
        </p:nvSpPr>
        <p:spPr>
          <a:xfrm>
            <a:off x="962025" y="2976562"/>
            <a:ext cx="2886075" cy="217111"/>
          </a:xfrm>
          <a:prstGeom prst="rect">
            <a:avLst/>
          </a:prstGeom>
          <a:noFill/>
        </p:spPr>
        <p:txBody>
          <a:bodyPr wrap="square" lIns="57150" tIns="0" rIns="0" bIns="0" anchor="t">
            <a:spAutoFit/>
          </a:bodyPr>
          <a:lstStyle/>
          <a:p>
            <a:pPr algn="l">
              <a:lnSpc>
                <a:spcPts val="1800"/>
              </a:lnSpc>
            </a:pPr>
            <a:r>
              <a:rPr sz="1200" b="0" i="0" u="none" dirty="0" err="1">
                <a:solidFill>
                  <a:srgbClr val="475569"/>
                </a:solidFill>
                <a:latin typeface="DM Sans"/>
              </a:rPr>
              <a:t>url_length</a:t>
            </a:r>
            <a:r>
              <a:rPr sz="1200" b="0" i="0" u="none" dirty="0">
                <a:solidFill>
                  <a:srgbClr val="475569"/>
                </a:solidFill>
                <a:latin typeface="DM Sans"/>
              </a:rPr>
              <a:t> (</a:t>
            </a:r>
            <a:r>
              <a:rPr sz="1200" b="0" i="0" u="none" dirty="0" err="1">
                <a:solidFill>
                  <a:srgbClr val="475569"/>
                </a:solidFill>
                <a:latin typeface="DM Sans"/>
              </a:rPr>
              <a:t>Toplam</a:t>
            </a:r>
            <a:r>
              <a:rPr sz="1200" b="0" i="0" u="none" dirty="0">
                <a:solidFill>
                  <a:srgbClr val="475569"/>
                </a:solidFill>
                <a:latin typeface="DM Sans"/>
              </a:rPr>
              <a:t> </a:t>
            </a:r>
            <a:r>
              <a:rPr sz="1200" b="0" i="0" u="none" dirty="0" err="1">
                <a:solidFill>
                  <a:srgbClr val="475569"/>
                </a:solidFill>
                <a:latin typeface="DM Sans"/>
              </a:rPr>
              <a:t>Uzunluk</a:t>
            </a:r>
            <a:r>
              <a:rPr sz="1200" b="0" i="0" u="none" dirty="0">
                <a:solidFill>
                  <a:srgbClr val="475569"/>
                </a:solidFill>
                <a:latin typeface="DM Sans"/>
              </a:rPr>
              <a:t>)</a:t>
            </a:r>
          </a:p>
        </p:txBody>
      </p:sp>
      <p:sp>
        <p:nvSpPr>
          <p:cNvPr id="20" name="TextBox 19"/>
          <p:cNvSpPr txBox="1"/>
          <p:nvPr/>
        </p:nvSpPr>
        <p:spPr>
          <a:xfrm>
            <a:off x="904875" y="3205162"/>
            <a:ext cx="57150" cy="228600"/>
          </a:xfrm>
          <a:prstGeom prst="rect">
            <a:avLst/>
          </a:prstGeom>
          <a:noFill/>
        </p:spPr>
        <p:txBody>
          <a:bodyPr wrap="square" lIns="0" tIns="0" rIns="0" bIns="0" anchor="t">
            <a:spAutoFit/>
          </a:bodyPr>
          <a:lstStyle/>
          <a:p>
            <a:pPr algn="l"/>
            <a:r>
              <a:rPr sz="1200" b="0" i="0" u="none">
                <a:solidFill>
                  <a:srgbClr val="475569"/>
                </a:solidFill>
                <a:latin typeface="DM Sans"/>
              </a:rPr>
              <a:t>•</a:t>
            </a:r>
          </a:p>
        </p:txBody>
      </p:sp>
      <p:sp>
        <p:nvSpPr>
          <p:cNvPr id="21" name="TextBox 20"/>
          <p:cNvSpPr txBox="1"/>
          <p:nvPr/>
        </p:nvSpPr>
        <p:spPr>
          <a:xfrm>
            <a:off x="962025" y="3205162"/>
            <a:ext cx="2886075" cy="217111"/>
          </a:xfrm>
          <a:prstGeom prst="rect">
            <a:avLst/>
          </a:prstGeom>
          <a:noFill/>
        </p:spPr>
        <p:txBody>
          <a:bodyPr wrap="square" lIns="57150" tIns="0" rIns="0" bIns="0" anchor="t">
            <a:spAutoFit/>
          </a:bodyPr>
          <a:lstStyle/>
          <a:p>
            <a:pPr algn="l">
              <a:lnSpc>
                <a:spcPts val="1800"/>
              </a:lnSpc>
            </a:pPr>
            <a:r>
              <a:rPr sz="1200" b="0" i="0" u="none" dirty="0" err="1">
                <a:solidFill>
                  <a:srgbClr val="475569"/>
                </a:solidFill>
                <a:latin typeface="DM Sans"/>
              </a:rPr>
              <a:t>hostname_length</a:t>
            </a:r>
            <a:r>
              <a:rPr sz="1200" b="0" i="0" u="none" dirty="0">
                <a:solidFill>
                  <a:srgbClr val="475569"/>
                </a:solidFill>
                <a:latin typeface="DM Sans"/>
              </a:rPr>
              <a:t> (Alan </a:t>
            </a:r>
            <a:r>
              <a:rPr sz="1200" b="0" i="0" u="none" dirty="0" err="1">
                <a:solidFill>
                  <a:srgbClr val="475569"/>
                </a:solidFill>
                <a:latin typeface="DM Sans"/>
              </a:rPr>
              <a:t>Adı</a:t>
            </a:r>
            <a:r>
              <a:rPr sz="1200" b="0" i="0" u="none" dirty="0">
                <a:solidFill>
                  <a:srgbClr val="475569"/>
                </a:solidFill>
                <a:latin typeface="DM Sans"/>
              </a:rPr>
              <a:t>)</a:t>
            </a:r>
          </a:p>
        </p:txBody>
      </p:sp>
      <p:sp>
        <p:nvSpPr>
          <p:cNvPr id="22" name="TextBox 21"/>
          <p:cNvSpPr txBox="1"/>
          <p:nvPr/>
        </p:nvSpPr>
        <p:spPr>
          <a:xfrm>
            <a:off x="904875" y="3433762"/>
            <a:ext cx="57150" cy="228600"/>
          </a:xfrm>
          <a:prstGeom prst="rect">
            <a:avLst/>
          </a:prstGeom>
          <a:noFill/>
        </p:spPr>
        <p:txBody>
          <a:bodyPr wrap="square" lIns="0" tIns="0" rIns="0" bIns="0" anchor="t">
            <a:spAutoFit/>
          </a:bodyPr>
          <a:lstStyle/>
          <a:p>
            <a:pPr algn="l"/>
            <a:r>
              <a:rPr sz="1200" b="0" i="0" u="none">
                <a:solidFill>
                  <a:srgbClr val="475569"/>
                </a:solidFill>
                <a:latin typeface="DM Sans"/>
              </a:rPr>
              <a:t>•</a:t>
            </a:r>
          </a:p>
        </p:txBody>
      </p:sp>
      <p:sp>
        <p:nvSpPr>
          <p:cNvPr id="23" name="TextBox 22"/>
          <p:cNvSpPr txBox="1"/>
          <p:nvPr/>
        </p:nvSpPr>
        <p:spPr>
          <a:xfrm>
            <a:off x="962025" y="3433762"/>
            <a:ext cx="2886075" cy="217111"/>
          </a:xfrm>
          <a:prstGeom prst="rect">
            <a:avLst/>
          </a:prstGeom>
          <a:noFill/>
        </p:spPr>
        <p:txBody>
          <a:bodyPr wrap="square" lIns="57150" tIns="0" rIns="0" bIns="0" anchor="t">
            <a:spAutoFit/>
          </a:bodyPr>
          <a:lstStyle/>
          <a:p>
            <a:pPr algn="l">
              <a:lnSpc>
                <a:spcPts val="1800"/>
              </a:lnSpc>
            </a:pPr>
            <a:r>
              <a:rPr sz="1200" b="0" i="0" u="none" dirty="0" err="1">
                <a:solidFill>
                  <a:srgbClr val="475569"/>
                </a:solidFill>
                <a:latin typeface="DM Sans"/>
              </a:rPr>
              <a:t>path_length</a:t>
            </a:r>
            <a:r>
              <a:rPr sz="1200" b="0" i="0" u="none" dirty="0">
                <a:solidFill>
                  <a:srgbClr val="475569"/>
                </a:solidFill>
                <a:latin typeface="DM Sans"/>
              </a:rPr>
              <a:t> (</a:t>
            </a:r>
            <a:r>
              <a:rPr sz="1200" b="0" i="0" u="none" dirty="0" err="1">
                <a:solidFill>
                  <a:srgbClr val="475569"/>
                </a:solidFill>
                <a:latin typeface="DM Sans"/>
              </a:rPr>
              <a:t>Yol</a:t>
            </a:r>
            <a:r>
              <a:rPr sz="1200" b="0" i="0" u="none" dirty="0">
                <a:solidFill>
                  <a:srgbClr val="475569"/>
                </a:solidFill>
                <a:latin typeface="DM Sans"/>
              </a:rPr>
              <a:t> </a:t>
            </a:r>
            <a:r>
              <a:rPr sz="1200" b="0" i="0" u="none" dirty="0" err="1">
                <a:solidFill>
                  <a:srgbClr val="475569"/>
                </a:solidFill>
                <a:latin typeface="DM Sans"/>
              </a:rPr>
              <a:t>Uzunluğu</a:t>
            </a:r>
            <a:r>
              <a:rPr sz="1200" b="0" i="0" u="none" dirty="0">
                <a:solidFill>
                  <a:srgbClr val="475569"/>
                </a:solidFill>
                <a:latin typeface="DM Sans"/>
              </a:rPr>
              <a:t>)</a:t>
            </a:r>
          </a:p>
        </p:txBody>
      </p:sp>
      <p:sp>
        <p:nvSpPr>
          <p:cNvPr id="24" name="TextBox 23"/>
          <p:cNvSpPr txBox="1"/>
          <p:nvPr/>
        </p:nvSpPr>
        <p:spPr>
          <a:xfrm>
            <a:off x="904875" y="3662362"/>
            <a:ext cx="57150" cy="228600"/>
          </a:xfrm>
          <a:prstGeom prst="rect">
            <a:avLst/>
          </a:prstGeom>
          <a:noFill/>
        </p:spPr>
        <p:txBody>
          <a:bodyPr wrap="square" lIns="0" tIns="0" rIns="0" bIns="0" anchor="t">
            <a:spAutoFit/>
          </a:bodyPr>
          <a:lstStyle/>
          <a:p>
            <a:pPr algn="l"/>
            <a:r>
              <a:rPr sz="1200" b="0" i="0" u="none">
                <a:solidFill>
                  <a:srgbClr val="475569"/>
                </a:solidFill>
                <a:latin typeface="DM Sans"/>
              </a:rPr>
              <a:t>•</a:t>
            </a:r>
          </a:p>
        </p:txBody>
      </p:sp>
      <p:sp>
        <p:nvSpPr>
          <p:cNvPr id="25" name="TextBox 24"/>
          <p:cNvSpPr txBox="1"/>
          <p:nvPr/>
        </p:nvSpPr>
        <p:spPr>
          <a:xfrm>
            <a:off x="962025" y="3662362"/>
            <a:ext cx="2886075" cy="217111"/>
          </a:xfrm>
          <a:prstGeom prst="rect">
            <a:avLst/>
          </a:prstGeom>
          <a:noFill/>
        </p:spPr>
        <p:txBody>
          <a:bodyPr wrap="square" lIns="57150" tIns="0" rIns="0" bIns="0" anchor="t">
            <a:spAutoFit/>
          </a:bodyPr>
          <a:lstStyle/>
          <a:p>
            <a:pPr algn="l">
              <a:lnSpc>
                <a:spcPts val="1800"/>
              </a:lnSpc>
            </a:pPr>
            <a:r>
              <a:rPr sz="1200" b="0" i="0" u="none" dirty="0" err="1">
                <a:solidFill>
                  <a:srgbClr val="475569"/>
                </a:solidFill>
                <a:latin typeface="DM Sans"/>
              </a:rPr>
              <a:t>query_length</a:t>
            </a:r>
            <a:r>
              <a:rPr sz="1200" b="0" i="0" u="none" dirty="0">
                <a:solidFill>
                  <a:srgbClr val="475569"/>
                </a:solidFill>
                <a:latin typeface="DM Sans"/>
              </a:rPr>
              <a:t> (</a:t>
            </a:r>
            <a:r>
              <a:rPr sz="1200" b="0" i="0" u="none" dirty="0" err="1">
                <a:solidFill>
                  <a:srgbClr val="475569"/>
                </a:solidFill>
                <a:latin typeface="DM Sans"/>
              </a:rPr>
              <a:t>Sorgu</a:t>
            </a:r>
            <a:r>
              <a:rPr sz="1200" b="0" i="0" u="none" dirty="0">
                <a:solidFill>
                  <a:srgbClr val="475569"/>
                </a:solidFill>
                <a:latin typeface="DM Sans"/>
              </a:rPr>
              <a:t> </a:t>
            </a:r>
            <a:r>
              <a:rPr sz="1200" b="0" i="0" u="none" dirty="0" err="1">
                <a:solidFill>
                  <a:srgbClr val="475569"/>
                </a:solidFill>
                <a:latin typeface="DM Sans"/>
              </a:rPr>
              <a:t>Parametresi</a:t>
            </a:r>
            <a:r>
              <a:rPr sz="1200" b="0" i="0" u="none" dirty="0">
                <a:solidFill>
                  <a:srgbClr val="475569"/>
                </a:solidFill>
                <a:latin typeface="DM Sans"/>
              </a:rPr>
              <a:t>)</a:t>
            </a:r>
          </a:p>
        </p:txBody>
      </p:sp>
      <p:pic>
        <p:nvPicPr>
          <p:cNvPr id="26" name="Picture 25" descr="image.png"/>
          <p:cNvPicPr>
            <a:picLocks noChangeAspect="1"/>
          </p:cNvPicPr>
          <p:nvPr/>
        </p:nvPicPr>
        <p:blipFill>
          <a:blip r:embed="rId6"/>
          <a:stretch>
            <a:fillRect/>
          </a:stretch>
        </p:blipFill>
        <p:spPr>
          <a:xfrm>
            <a:off x="4581525" y="1576387"/>
            <a:ext cx="295275" cy="342900"/>
          </a:xfrm>
          <a:prstGeom prst="rect">
            <a:avLst/>
          </a:prstGeom>
        </p:spPr>
      </p:pic>
      <p:sp>
        <p:nvSpPr>
          <p:cNvPr id="27" name="TextBox 26"/>
          <p:cNvSpPr txBox="1"/>
          <p:nvPr/>
        </p:nvSpPr>
        <p:spPr>
          <a:xfrm>
            <a:off x="4667250" y="2976562"/>
            <a:ext cx="57150" cy="228600"/>
          </a:xfrm>
          <a:prstGeom prst="rect">
            <a:avLst/>
          </a:prstGeom>
          <a:noFill/>
        </p:spPr>
        <p:txBody>
          <a:bodyPr wrap="square" lIns="0" tIns="0" rIns="0" bIns="0" anchor="t">
            <a:spAutoFit/>
          </a:bodyPr>
          <a:lstStyle/>
          <a:p>
            <a:pPr algn="l"/>
            <a:r>
              <a:rPr sz="1200" b="0" i="0" u="none">
                <a:solidFill>
                  <a:srgbClr val="475569"/>
                </a:solidFill>
                <a:latin typeface="DM Sans"/>
              </a:rPr>
              <a:t>•</a:t>
            </a:r>
          </a:p>
        </p:txBody>
      </p:sp>
      <p:sp>
        <p:nvSpPr>
          <p:cNvPr id="28" name="TextBox 27"/>
          <p:cNvSpPr txBox="1"/>
          <p:nvPr/>
        </p:nvSpPr>
        <p:spPr>
          <a:xfrm>
            <a:off x="4724400" y="2976562"/>
            <a:ext cx="2886075" cy="217111"/>
          </a:xfrm>
          <a:prstGeom prst="rect">
            <a:avLst/>
          </a:prstGeom>
          <a:noFill/>
        </p:spPr>
        <p:txBody>
          <a:bodyPr wrap="square" lIns="57150" tIns="0" rIns="0" bIns="0" anchor="t">
            <a:spAutoFit/>
          </a:bodyPr>
          <a:lstStyle/>
          <a:p>
            <a:pPr algn="l">
              <a:lnSpc>
                <a:spcPts val="1800"/>
              </a:lnSpc>
            </a:pPr>
            <a:r>
              <a:rPr sz="1200" b="0" i="0" u="none" dirty="0" err="1">
                <a:solidFill>
                  <a:srgbClr val="475569"/>
                </a:solidFill>
                <a:latin typeface="DM Sans"/>
              </a:rPr>
              <a:t>Nokta</a:t>
            </a:r>
            <a:r>
              <a:rPr sz="1200" b="0" i="0" u="none" dirty="0">
                <a:solidFill>
                  <a:srgbClr val="475569"/>
                </a:solidFill>
                <a:latin typeface="DM Sans"/>
              </a:rPr>
              <a:t> (.), Tire (-), Alt </a:t>
            </a:r>
            <a:r>
              <a:rPr sz="1200" b="0" i="0" u="none" dirty="0" err="1">
                <a:solidFill>
                  <a:srgbClr val="475569"/>
                </a:solidFill>
                <a:latin typeface="DM Sans"/>
              </a:rPr>
              <a:t>Çizgi</a:t>
            </a:r>
            <a:r>
              <a:rPr sz="1200" b="0" i="0" u="none" dirty="0">
                <a:solidFill>
                  <a:srgbClr val="475569"/>
                </a:solidFill>
                <a:latin typeface="DM Sans"/>
              </a:rPr>
              <a:t> </a:t>
            </a:r>
            <a:r>
              <a:rPr lang="tr-TR" sz="1200" dirty="0">
                <a:solidFill>
                  <a:srgbClr val="475569"/>
                </a:solidFill>
                <a:latin typeface="DM Sans"/>
              </a:rPr>
              <a:t>(</a:t>
            </a:r>
            <a:r>
              <a:rPr sz="1200" b="0" i="0" u="none" dirty="0">
                <a:solidFill>
                  <a:srgbClr val="475569"/>
                </a:solidFill>
                <a:latin typeface="DM Sans"/>
              </a:rPr>
              <a:t>_)</a:t>
            </a:r>
          </a:p>
        </p:txBody>
      </p:sp>
      <p:sp>
        <p:nvSpPr>
          <p:cNvPr id="29" name="TextBox 28"/>
          <p:cNvSpPr txBox="1"/>
          <p:nvPr/>
        </p:nvSpPr>
        <p:spPr>
          <a:xfrm>
            <a:off x="4667250" y="3205162"/>
            <a:ext cx="57150" cy="228600"/>
          </a:xfrm>
          <a:prstGeom prst="rect">
            <a:avLst/>
          </a:prstGeom>
          <a:noFill/>
        </p:spPr>
        <p:txBody>
          <a:bodyPr wrap="square" lIns="0" tIns="0" rIns="0" bIns="0" anchor="t">
            <a:spAutoFit/>
          </a:bodyPr>
          <a:lstStyle/>
          <a:p>
            <a:pPr algn="l"/>
            <a:r>
              <a:rPr sz="1200" b="0" i="0" u="none" dirty="0">
                <a:solidFill>
                  <a:srgbClr val="475569"/>
                </a:solidFill>
                <a:latin typeface="DM Sans"/>
              </a:rPr>
              <a:t>•</a:t>
            </a:r>
          </a:p>
        </p:txBody>
      </p:sp>
      <p:sp>
        <p:nvSpPr>
          <p:cNvPr id="30" name="TextBox 29"/>
          <p:cNvSpPr txBox="1"/>
          <p:nvPr/>
        </p:nvSpPr>
        <p:spPr>
          <a:xfrm>
            <a:off x="4724400" y="3205162"/>
            <a:ext cx="2886075" cy="447943"/>
          </a:xfrm>
          <a:prstGeom prst="rect">
            <a:avLst/>
          </a:prstGeom>
          <a:noFill/>
        </p:spPr>
        <p:txBody>
          <a:bodyPr wrap="square" lIns="57150" tIns="0" rIns="0" bIns="0" anchor="t">
            <a:spAutoFit/>
          </a:bodyPr>
          <a:lstStyle/>
          <a:p>
            <a:pPr algn="l">
              <a:lnSpc>
                <a:spcPts val="1800"/>
              </a:lnSpc>
            </a:pPr>
            <a:r>
              <a:rPr sz="1200" b="0" i="0" u="none" dirty="0">
                <a:solidFill>
                  <a:srgbClr val="475569"/>
                </a:solidFill>
                <a:latin typeface="DM Sans"/>
              </a:rPr>
              <a:t>Soru </a:t>
            </a:r>
            <a:r>
              <a:rPr sz="1200" b="0" i="0" u="none" dirty="0" err="1">
                <a:solidFill>
                  <a:srgbClr val="475569"/>
                </a:solidFill>
                <a:latin typeface="DM Sans"/>
              </a:rPr>
              <a:t>İşareti</a:t>
            </a:r>
            <a:r>
              <a:rPr sz="1200" b="0" i="0" u="none" dirty="0">
                <a:solidFill>
                  <a:srgbClr val="475569"/>
                </a:solidFill>
                <a:latin typeface="DM Sans"/>
              </a:rPr>
              <a:t> (?), </a:t>
            </a:r>
            <a:r>
              <a:rPr lang="tr-TR" sz="1200" b="0" i="0" u="none" dirty="0">
                <a:solidFill>
                  <a:srgbClr val="475569"/>
                </a:solidFill>
                <a:latin typeface="DM Sans"/>
              </a:rPr>
              <a:t>Eğik Çizgi (/)</a:t>
            </a:r>
          </a:p>
          <a:p>
            <a:pPr algn="l">
              <a:lnSpc>
                <a:spcPts val="1800"/>
              </a:lnSpc>
            </a:pPr>
            <a:endParaRPr sz="1200" b="0" i="0" u="none" dirty="0">
              <a:solidFill>
                <a:srgbClr val="475569"/>
              </a:solidFill>
              <a:latin typeface="DM Sans"/>
            </a:endParaRPr>
          </a:p>
        </p:txBody>
      </p:sp>
      <p:pic>
        <p:nvPicPr>
          <p:cNvPr id="35" name="Picture 34" descr="image.png"/>
          <p:cNvPicPr>
            <a:picLocks noChangeAspect="1"/>
          </p:cNvPicPr>
          <p:nvPr/>
        </p:nvPicPr>
        <p:blipFill>
          <a:blip r:embed="rId7"/>
          <a:stretch>
            <a:fillRect/>
          </a:stretch>
        </p:blipFill>
        <p:spPr>
          <a:xfrm>
            <a:off x="8343900" y="1576387"/>
            <a:ext cx="428625" cy="342900"/>
          </a:xfrm>
          <a:prstGeom prst="rect">
            <a:avLst/>
          </a:prstGeom>
        </p:spPr>
      </p:pic>
      <p:sp>
        <p:nvSpPr>
          <p:cNvPr id="36" name="TextBox 35"/>
          <p:cNvSpPr txBox="1"/>
          <p:nvPr/>
        </p:nvSpPr>
        <p:spPr>
          <a:xfrm>
            <a:off x="8429625" y="2762250"/>
            <a:ext cx="57150" cy="228600"/>
          </a:xfrm>
          <a:prstGeom prst="rect">
            <a:avLst/>
          </a:prstGeom>
          <a:noFill/>
        </p:spPr>
        <p:txBody>
          <a:bodyPr wrap="square" lIns="0" tIns="0" rIns="0" bIns="0" anchor="t">
            <a:spAutoFit/>
          </a:bodyPr>
          <a:lstStyle/>
          <a:p>
            <a:pPr algn="l"/>
            <a:r>
              <a:rPr sz="1200" b="0" i="0" u="none">
                <a:solidFill>
                  <a:srgbClr val="475569"/>
                </a:solidFill>
                <a:latin typeface="DM Sans"/>
              </a:rPr>
              <a:t>•</a:t>
            </a:r>
          </a:p>
        </p:txBody>
      </p:sp>
      <p:sp>
        <p:nvSpPr>
          <p:cNvPr id="37" name="TextBox 36"/>
          <p:cNvSpPr txBox="1"/>
          <p:nvPr/>
        </p:nvSpPr>
        <p:spPr>
          <a:xfrm>
            <a:off x="8486775" y="2762250"/>
            <a:ext cx="2886075" cy="217111"/>
          </a:xfrm>
          <a:prstGeom prst="rect">
            <a:avLst/>
          </a:prstGeom>
          <a:noFill/>
        </p:spPr>
        <p:txBody>
          <a:bodyPr wrap="square" lIns="57150" tIns="0" rIns="0" bIns="0" anchor="t">
            <a:spAutoFit/>
          </a:bodyPr>
          <a:lstStyle/>
          <a:p>
            <a:pPr algn="l">
              <a:lnSpc>
                <a:spcPts val="1800"/>
              </a:lnSpc>
            </a:pPr>
            <a:r>
              <a:rPr sz="1200" b="0" i="0" u="none" dirty="0" err="1">
                <a:solidFill>
                  <a:srgbClr val="475569"/>
                </a:solidFill>
                <a:latin typeface="DM Sans"/>
              </a:rPr>
              <a:t>count_subdomains</a:t>
            </a:r>
            <a:r>
              <a:rPr lang="tr-TR" sz="1200" dirty="0">
                <a:solidFill>
                  <a:srgbClr val="475569"/>
                </a:solidFill>
                <a:latin typeface="DM Sans"/>
              </a:rPr>
              <a:t> </a:t>
            </a:r>
            <a:r>
              <a:rPr sz="1200" b="0" i="0" u="none" dirty="0">
                <a:solidFill>
                  <a:srgbClr val="475569"/>
                </a:solidFill>
                <a:latin typeface="DM Sans"/>
              </a:rPr>
              <a:t>(Alt Alan </a:t>
            </a:r>
            <a:r>
              <a:rPr sz="1200" b="0" i="0" u="none" dirty="0" err="1">
                <a:solidFill>
                  <a:srgbClr val="475569"/>
                </a:solidFill>
                <a:latin typeface="DM Sans"/>
              </a:rPr>
              <a:t>Sayısı</a:t>
            </a:r>
            <a:r>
              <a:rPr sz="1200" b="0" i="0" u="none" dirty="0">
                <a:solidFill>
                  <a:srgbClr val="475569"/>
                </a:solidFill>
                <a:latin typeface="DM Sans"/>
              </a:rPr>
              <a:t>)</a:t>
            </a:r>
          </a:p>
        </p:txBody>
      </p:sp>
      <p:sp>
        <p:nvSpPr>
          <p:cNvPr id="38" name="TextBox 37"/>
          <p:cNvSpPr txBox="1"/>
          <p:nvPr/>
        </p:nvSpPr>
        <p:spPr>
          <a:xfrm>
            <a:off x="8429625" y="2990850"/>
            <a:ext cx="57150" cy="228600"/>
          </a:xfrm>
          <a:prstGeom prst="rect">
            <a:avLst/>
          </a:prstGeom>
          <a:noFill/>
        </p:spPr>
        <p:txBody>
          <a:bodyPr wrap="square" lIns="0" tIns="0" rIns="0" bIns="0" anchor="t">
            <a:spAutoFit/>
          </a:bodyPr>
          <a:lstStyle/>
          <a:p>
            <a:pPr algn="l"/>
            <a:r>
              <a:rPr sz="1200" b="0" i="0" u="none">
                <a:solidFill>
                  <a:srgbClr val="475569"/>
                </a:solidFill>
                <a:latin typeface="DM Sans"/>
              </a:rPr>
              <a:t>•</a:t>
            </a:r>
          </a:p>
        </p:txBody>
      </p:sp>
      <p:sp>
        <p:nvSpPr>
          <p:cNvPr id="39" name="TextBox 38"/>
          <p:cNvSpPr txBox="1"/>
          <p:nvPr/>
        </p:nvSpPr>
        <p:spPr>
          <a:xfrm>
            <a:off x="8486775" y="2990850"/>
            <a:ext cx="2886075" cy="217111"/>
          </a:xfrm>
          <a:prstGeom prst="rect">
            <a:avLst/>
          </a:prstGeom>
          <a:noFill/>
        </p:spPr>
        <p:txBody>
          <a:bodyPr wrap="square" lIns="57150" tIns="0" rIns="0" bIns="0" anchor="t">
            <a:spAutoFit/>
          </a:bodyPr>
          <a:lstStyle/>
          <a:p>
            <a:pPr algn="l">
              <a:lnSpc>
                <a:spcPts val="1800"/>
              </a:lnSpc>
            </a:pPr>
            <a:r>
              <a:rPr sz="1200" b="0" i="0" u="none" dirty="0" err="1">
                <a:solidFill>
                  <a:srgbClr val="475569"/>
                </a:solidFill>
                <a:latin typeface="DM Sans"/>
              </a:rPr>
              <a:t>has_ip_address</a:t>
            </a:r>
            <a:r>
              <a:rPr sz="1200" b="0" i="0" u="none" dirty="0">
                <a:solidFill>
                  <a:srgbClr val="475569"/>
                </a:solidFill>
                <a:latin typeface="DM Sans"/>
              </a:rPr>
              <a:t> (IP </a:t>
            </a:r>
            <a:r>
              <a:rPr sz="1200" b="0" i="0" u="none" dirty="0" err="1">
                <a:solidFill>
                  <a:srgbClr val="475569"/>
                </a:solidFill>
                <a:latin typeface="DM Sans"/>
              </a:rPr>
              <a:t>Kullanımı</a:t>
            </a:r>
            <a:r>
              <a:rPr sz="1200" b="0" i="0" u="none" dirty="0">
                <a:solidFill>
                  <a:srgbClr val="475569"/>
                </a:solidFill>
                <a:latin typeface="DM Sans"/>
              </a:rPr>
              <a:t>)</a:t>
            </a:r>
          </a:p>
        </p:txBody>
      </p:sp>
      <p:sp>
        <p:nvSpPr>
          <p:cNvPr id="40" name="TextBox 39"/>
          <p:cNvSpPr txBox="1"/>
          <p:nvPr/>
        </p:nvSpPr>
        <p:spPr>
          <a:xfrm>
            <a:off x="8429625" y="3219450"/>
            <a:ext cx="57150" cy="228600"/>
          </a:xfrm>
          <a:prstGeom prst="rect">
            <a:avLst/>
          </a:prstGeom>
          <a:noFill/>
        </p:spPr>
        <p:txBody>
          <a:bodyPr wrap="square" lIns="0" tIns="0" rIns="0" bIns="0" anchor="t">
            <a:spAutoFit/>
          </a:bodyPr>
          <a:lstStyle/>
          <a:p>
            <a:pPr algn="l"/>
            <a:r>
              <a:rPr sz="1200" b="0" i="0" u="none">
                <a:solidFill>
                  <a:srgbClr val="475569"/>
                </a:solidFill>
                <a:latin typeface="DM Sans"/>
              </a:rPr>
              <a:t>•</a:t>
            </a:r>
          </a:p>
        </p:txBody>
      </p:sp>
      <p:sp>
        <p:nvSpPr>
          <p:cNvPr id="41" name="TextBox 40"/>
          <p:cNvSpPr txBox="1"/>
          <p:nvPr/>
        </p:nvSpPr>
        <p:spPr>
          <a:xfrm>
            <a:off x="8486775" y="3219450"/>
            <a:ext cx="2886075" cy="217111"/>
          </a:xfrm>
          <a:prstGeom prst="rect">
            <a:avLst/>
          </a:prstGeom>
          <a:noFill/>
        </p:spPr>
        <p:txBody>
          <a:bodyPr wrap="square" lIns="57150" tIns="0" rIns="0" bIns="0" anchor="t">
            <a:spAutoFit/>
          </a:bodyPr>
          <a:lstStyle/>
          <a:p>
            <a:pPr algn="l">
              <a:lnSpc>
                <a:spcPts val="1800"/>
              </a:lnSpc>
            </a:pPr>
            <a:r>
              <a:rPr lang="tr-TR" sz="1200" b="0" i="0" u="none" dirty="0" err="1">
                <a:solidFill>
                  <a:srgbClr val="475569"/>
                </a:solidFill>
                <a:latin typeface="DM Sans"/>
              </a:rPr>
              <a:t>Port_number</a:t>
            </a:r>
            <a:r>
              <a:rPr lang="tr-TR" sz="1200" b="0" i="0" u="none" dirty="0">
                <a:solidFill>
                  <a:srgbClr val="475569"/>
                </a:solidFill>
                <a:latin typeface="DM Sans"/>
              </a:rPr>
              <a:t> </a:t>
            </a:r>
            <a:r>
              <a:rPr sz="1200" b="0" i="0" u="none" dirty="0">
                <a:solidFill>
                  <a:srgbClr val="475569"/>
                </a:solidFill>
                <a:latin typeface="DM Sans"/>
              </a:rPr>
              <a:t>(Por</a:t>
            </a:r>
            <a:r>
              <a:rPr lang="tr-TR" sz="1200" b="0" i="0" u="none" dirty="0">
                <a:solidFill>
                  <a:srgbClr val="475569"/>
                </a:solidFill>
                <a:latin typeface="DM Sans"/>
              </a:rPr>
              <a:t>t Numarası</a:t>
            </a:r>
            <a:r>
              <a:rPr sz="1200" b="0" i="0" u="none" dirty="0">
                <a:solidFill>
                  <a:srgbClr val="475569"/>
                </a:solidFill>
                <a:latin typeface="DM Sans"/>
              </a:rPr>
              <a:t>)</a:t>
            </a:r>
          </a:p>
        </p:txBody>
      </p:sp>
      <p:pic>
        <p:nvPicPr>
          <p:cNvPr id="44" name="Picture 1" descr="image.png">
            <a:extLst>
              <a:ext uri="{FF2B5EF4-FFF2-40B4-BE49-F238E27FC236}">
                <a16:creationId xmlns:a16="http://schemas.microsoft.com/office/drawing/2014/main" id="{9C1265D8-B851-C5DA-EA07-F7BD25716F5B}"/>
              </a:ext>
            </a:extLst>
          </p:cNvPr>
          <p:cNvPicPr>
            <a:picLocks noChangeAspect="1"/>
          </p:cNvPicPr>
          <p:nvPr/>
        </p:nvPicPr>
        <p:blipFill>
          <a:blip r:embed="rId8"/>
          <a:stretch>
            <a:fillRect/>
          </a:stretch>
        </p:blipFill>
        <p:spPr>
          <a:xfrm>
            <a:off x="666750" y="952500"/>
            <a:ext cx="10858500" cy="171450"/>
          </a:xfrm>
          <a:prstGeom prst="rect">
            <a:avLst/>
          </a:prstGeom>
        </p:spPr>
      </p:pic>
      <p:pic>
        <p:nvPicPr>
          <p:cNvPr id="45" name="İçerik Yer Tutucusu 10">
            <a:extLst>
              <a:ext uri="{FF2B5EF4-FFF2-40B4-BE49-F238E27FC236}">
                <a16:creationId xmlns:a16="http://schemas.microsoft.com/office/drawing/2014/main" id="{0D892010-9A6C-640C-66C6-8ED23020C21A}"/>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9590435" y="466725"/>
            <a:ext cx="2011362"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 name="Picture 2" descr="image.png"/>
          <p:cNvPicPr>
            <a:picLocks noChangeAspect="1"/>
          </p:cNvPicPr>
          <p:nvPr/>
        </p:nvPicPr>
        <p:blipFill>
          <a:blip r:embed="rId3"/>
          <a:stretch>
            <a:fillRect/>
          </a:stretch>
        </p:blipFill>
        <p:spPr>
          <a:xfrm>
            <a:off x="709613" y="1471465"/>
            <a:ext cx="5238750" cy="1767482"/>
          </a:xfrm>
          <a:prstGeom prst="rect">
            <a:avLst/>
          </a:prstGeom>
        </p:spPr>
      </p:pic>
      <p:pic>
        <p:nvPicPr>
          <p:cNvPr id="4" name="Picture 3" descr="image.png"/>
          <p:cNvPicPr>
            <a:picLocks noChangeAspect="1"/>
          </p:cNvPicPr>
          <p:nvPr/>
        </p:nvPicPr>
        <p:blipFill>
          <a:blip r:embed="rId4"/>
          <a:stretch>
            <a:fillRect/>
          </a:stretch>
        </p:blipFill>
        <p:spPr>
          <a:xfrm>
            <a:off x="666750" y="3347738"/>
            <a:ext cx="5238750" cy="1767482"/>
          </a:xfrm>
          <a:prstGeom prst="rect">
            <a:avLst/>
          </a:prstGeom>
        </p:spPr>
      </p:pic>
      <p:pic>
        <p:nvPicPr>
          <p:cNvPr id="5" name="Picture 4" descr="image.png"/>
          <p:cNvPicPr>
            <a:picLocks noChangeAspect="1"/>
          </p:cNvPicPr>
          <p:nvPr/>
        </p:nvPicPr>
        <p:blipFill>
          <a:blip r:embed="rId5"/>
          <a:stretch>
            <a:fillRect/>
          </a:stretch>
        </p:blipFill>
        <p:spPr>
          <a:xfrm>
            <a:off x="609457" y="5301796"/>
            <a:ext cx="5238750" cy="1318460"/>
          </a:xfrm>
          <a:prstGeom prst="rect">
            <a:avLst/>
          </a:prstGeom>
        </p:spPr>
      </p:pic>
      <p:pic>
        <p:nvPicPr>
          <p:cNvPr id="6" name="Picture 5" descr="image.png"/>
          <p:cNvPicPr>
            <a:picLocks noChangeAspect="1"/>
          </p:cNvPicPr>
          <p:nvPr/>
        </p:nvPicPr>
        <p:blipFill>
          <a:blip r:embed="rId6"/>
          <a:stretch>
            <a:fillRect/>
          </a:stretch>
        </p:blipFill>
        <p:spPr>
          <a:xfrm>
            <a:off x="6286500" y="1471465"/>
            <a:ext cx="5238750" cy="1767482"/>
          </a:xfrm>
          <a:prstGeom prst="rect">
            <a:avLst/>
          </a:prstGeom>
        </p:spPr>
      </p:pic>
      <p:pic>
        <p:nvPicPr>
          <p:cNvPr id="7" name="Picture 6" descr="image.png"/>
          <p:cNvPicPr>
            <a:picLocks noChangeAspect="1"/>
          </p:cNvPicPr>
          <p:nvPr/>
        </p:nvPicPr>
        <p:blipFill>
          <a:blip r:embed="rId7"/>
          <a:stretch>
            <a:fillRect/>
          </a:stretch>
        </p:blipFill>
        <p:spPr>
          <a:xfrm>
            <a:off x="6286500" y="3349752"/>
            <a:ext cx="5238750" cy="1767482"/>
          </a:xfrm>
          <a:prstGeom prst="rect">
            <a:avLst/>
          </a:prstGeom>
        </p:spPr>
      </p:pic>
      <p:sp>
        <p:nvSpPr>
          <p:cNvPr id="9" name="TextBox 8"/>
          <p:cNvSpPr txBox="1"/>
          <p:nvPr/>
        </p:nvSpPr>
        <p:spPr>
          <a:xfrm>
            <a:off x="1471136" y="1641668"/>
            <a:ext cx="4290536" cy="253916"/>
          </a:xfrm>
          <a:prstGeom prst="rect">
            <a:avLst/>
          </a:prstGeom>
          <a:noFill/>
        </p:spPr>
        <p:txBody>
          <a:bodyPr wrap="square" lIns="0" tIns="0" rIns="0" bIns="0" anchor="ctr">
            <a:spAutoFit/>
          </a:bodyPr>
          <a:lstStyle/>
          <a:p>
            <a:pPr algn="l"/>
            <a:r>
              <a:rPr sz="1650" b="1" dirty="0">
                <a:latin typeface="Merriweather"/>
              </a:rPr>
              <a:t>Shannon Entropy</a:t>
            </a:r>
          </a:p>
        </p:txBody>
      </p:sp>
      <p:sp>
        <p:nvSpPr>
          <p:cNvPr id="10" name="TextBox 9"/>
          <p:cNvSpPr txBox="1"/>
          <p:nvPr/>
        </p:nvSpPr>
        <p:spPr>
          <a:xfrm>
            <a:off x="819150" y="2073625"/>
            <a:ext cx="4648200" cy="776882"/>
          </a:xfrm>
          <a:prstGeom prst="rect">
            <a:avLst/>
          </a:prstGeom>
          <a:noFill/>
        </p:spPr>
        <p:txBody>
          <a:bodyPr wrap="square" lIns="0" tIns="0" rIns="0" bIns="0" anchor="t">
            <a:spAutoFit/>
          </a:bodyPr>
          <a:lstStyle/>
          <a:p>
            <a:pPr algn="l">
              <a:lnSpc>
                <a:spcPts val="2039"/>
              </a:lnSpc>
            </a:pPr>
            <a:r>
              <a:rPr sz="1275" b="0" i="0" u="none" dirty="0" err="1">
                <a:solidFill>
                  <a:srgbClr val="334155"/>
                </a:solidFill>
                <a:latin typeface="Inter"/>
              </a:rPr>
              <a:t>Metindeki</a:t>
            </a:r>
            <a:r>
              <a:rPr sz="1275" b="0" i="0" u="none" dirty="0">
                <a:solidFill>
                  <a:srgbClr val="334155"/>
                </a:solidFill>
                <a:latin typeface="Inter"/>
              </a:rPr>
              <a:t> </a:t>
            </a:r>
            <a:r>
              <a:rPr sz="1275" b="0" i="0" u="none" dirty="0" err="1">
                <a:solidFill>
                  <a:srgbClr val="334155"/>
                </a:solidFill>
                <a:latin typeface="Inter"/>
              </a:rPr>
              <a:t>sembollerin</a:t>
            </a:r>
            <a:r>
              <a:rPr sz="1275" b="0" i="0" u="none" dirty="0">
                <a:solidFill>
                  <a:srgbClr val="334155"/>
                </a:solidFill>
                <a:latin typeface="Inter"/>
              </a:rPr>
              <a:t> </a:t>
            </a:r>
            <a:r>
              <a:rPr sz="1275" b="0" i="0" u="none" dirty="0" err="1">
                <a:solidFill>
                  <a:srgbClr val="334155"/>
                </a:solidFill>
                <a:latin typeface="Inter"/>
              </a:rPr>
              <a:t>rastgeleliğini</a:t>
            </a:r>
            <a:r>
              <a:rPr sz="1275" b="0" i="0" u="none" dirty="0">
                <a:solidFill>
                  <a:srgbClr val="334155"/>
                </a:solidFill>
                <a:latin typeface="Inter"/>
              </a:rPr>
              <a:t> </a:t>
            </a:r>
            <a:r>
              <a:rPr sz="1275" b="0" i="0" u="none" dirty="0" err="1">
                <a:solidFill>
                  <a:srgbClr val="334155"/>
                </a:solidFill>
                <a:latin typeface="Inter"/>
              </a:rPr>
              <a:t>ve</a:t>
            </a:r>
            <a:r>
              <a:rPr sz="1275" b="0" i="0" u="none" dirty="0">
                <a:solidFill>
                  <a:srgbClr val="334155"/>
                </a:solidFill>
                <a:latin typeface="Inter"/>
              </a:rPr>
              <a:t> </a:t>
            </a:r>
            <a:r>
              <a:rPr sz="1275" b="0" i="0" u="none" dirty="0" err="1">
                <a:solidFill>
                  <a:srgbClr val="334155"/>
                </a:solidFill>
                <a:latin typeface="Inter"/>
              </a:rPr>
              <a:t>bilgi</a:t>
            </a:r>
            <a:r>
              <a:rPr sz="1275" b="0" i="0" u="none" dirty="0">
                <a:solidFill>
                  <a:srgbClr val="334155"/>
                </a:solidFill>
                <a:latin typeface="Inter"/>
              </a:rPr>
              <a:t> </a:t>
            </a:r>
            <a:r>
              <a:rPr sz="1275" b="0" i="0" u="none" dirty="0" err="1">
                <a:solidFill>
                  <a:srgbClr val="334155"/>
                </a:solidFill>
                <a:latin typeface="Inter"/>
              </a:rPr>
              <a:t>belirsizliğini</a:t>
            </a:r>
            <a:r>
              <a:rPr sz="1275" b="0" i="0" u="none" dirty="0">
                <a:solidFill>
                  <a:srgbClr val="334155"/>
                </a:solidFill>
                <a:latin typeface="Inter"/>
              </a:rPr>
              <a:t> </a:t>
            </a:r>
            <a:r>
              <a:rPr sz="1275" b="0" i="0" u="none" dirty="0" err="1">
                <a:solidFill>
                  <a:srgbClr val="334155"/>
                </a:solidFill>
                <a:latin typeface="Inter"/>
              </a:rPr>
              <a:t>istatistiksel</a:t>
            </a:r>
            <a:r>
              <a:rPr sz="1275" b="0" i="0" u="none" dirty="0">
                <a:solidFill>
                  <a:srgbClr val="334155"/>
                </a:solidFill>
                <a:latin typeface="Inter"/>
              </a:rPr>
              <a:t> </a:t>
            </a:r>
            <a:r>
              <a:rPr sz="1275" b="0" i="0" u="none" dirty="0" err="1">
                <a:solidFill>
                  <a:srgbClr val="334155"/>
                </a:solidFill>
                <a:latin typeface="Inter"/>
              </a:rPr>
              <a:t>olasılık</a:t>
            </a:r>
            <a:r>
              <a:rPr sz="1275" b="0" i="0" u="none" dirty="0">
                <a:solidFill>
                  <a:srgbClr val="334155"/>
                </a:solidFill>
                <a:latin typeface="Inter"/>
              </a:rPr>
              <a:t> </a:t>
            </a:r>
            <a:r>
              <a:rPr sz="1275" b="0" i="0" u="none" dirty="0" err="1">
                <a:solidFill>
                  <a:srgbClr val="334155"/>
                </a:solidFill>
                <a:latin typeface="Inter"/>
              </a:rPr>
              <a:t>dağılımı</a:t>
            </a:r>
            <a:r>
              <a:rPr sz="1275" b="0" i="0" u="none" dirty="0">
                <a:solidFill>
                  <a:srgbClr val="334155"/>
                </a:solidFill>
                <a:latin typeface="Inter"/>
              </a:rPr>
              <a:t> </a:t>
            </a:r>
            <a:r>
              <a:rPr sz="1275" b="0" i="0" u="none" dirty="0" err="1">
                <a:solidFill>
                  <a:srgbClr val="334155"/>
                </a:solidFill>
                <a:latin typeface="Inter"/>
              </a:rPr>
              <a:t>üzerinden</a:t>
            </a:r>
            <a:r>
              <a:rPr sz="1275" b="0" i="0" u="none" dirty="0">
                <a:solidFill>
                  <a:srgbClr val="334155"/>
                </a:solidFill>
                <a:latin typeface="Inter"/>
              </a:rPr>
              <a:t> </a:t>
            </a:r>
            <a:r>
              <a:rPr sz="1275" b="0" i="0" u="none" dirty="0" err="1">
                <a:solidFill>
                  <a:srgbClr val="334155"/>
                </a:solidFill>
                <a:latin typeface="Inter"/>
              </a:rPr>
              <a:t>ölçer</a:t>
            </a:r>
            <a:r>
              <a:rPr sz="1275" b="0" i="0" u="none" dirty="0">
                <a:solidFill>
                  <a:srgbClr val="334155"/>
                </a:solidFill>
                <a:latin typeface="Inter"/>
              </a:rPr>
              <a:t>. </a:t>
            </a:r>
            <a:r>
              <a:rPr sz="1275" b="0" i="0" u="none" dirty="0" err="1">
                <a:solidFill>
                  <a:srgbClr val="334155"/>
                </a:solidFill>
                <a:latin typeface="Inter"/>
              </a:rPr>
              <a:t>Yüksek</a:t>
            </a:r>
            <a:r>
              <a:rPr sz="1275" b="0" i="0" u="none" dirty="0">
                <a:solidFill>
                  <a:srgbClr val="334155"/>
                </a:solidFill>
                <a:latin typeface="Inter"/>
              </a:rPr>
              <a:t> </a:t>
            </a:r>
            <a:r>
              <a:rPr sz="1275" b="0" i="0" u="none" dirty="0" err="1">
                <a:solidFill>
                  <a:srgbClr val="334155"/>
                </a:solidFill>
                <a:latin typeface="Inter"/>
              </a:rPr>
              <a:t>entropi</a:t>
            </a:r>
            <a:r>
              <a:rPr sz="1275" b="0" i="0" u="none" dirty="0">
                <a:solidFill>
                  <a:srgbClr val="334155"/>
                </a:solidFill>
                <a:latin typeface="Inter"/>
              </a:rPr>
              <a:t>, </a:t>
            </a:r>
            <a:r>
              <a:rPr sz="1275" b="0" i="0" u="none" dirty="0" err="1">
                <a:solidFill>
                  <a:srgbClr val="334155"/>
                </a:solidFill>
                <a:latin typeface="Inter"/>
              </a:rPr>
              <a:t>yüksek</a:t>
            </a:r>
            <a:r>
              <a:rPr sz="1275" b="0" i="0" u="none" dirty="0">
                <a:solidFill>
                  <a:srgbClr val="334155"/>
                </a:solidFill>
                <a:latin typeface="Inter"/>
              </a:rPr>
              <a:t> </a:t>
            </a:r>
            <a:r>
              <a:rPr sz="1275" b="0" i="0" u="none" dirty="0" err="1">
                <a:solidFill>
                  <a:srgbClr val="334155"/>
                </a:solidFill>
                <a:latin typeface="Inter"/>
              </a:rPr>
              <a:t>düzensizliği</a:t>
            </a:r>
            <a:r>
              <a:rPr sz="1275" b="0" i="0" u="none" dirty="0">
                <a:solidFill>
                  <a:srgbClr val="334155"/>
                </a:solidFill>
                <a:latin typeface="Inter"/>
              </a:rPr>
              <a:t> </a:t>
            </a:r>
            <a:r>
              <a:rPr sz="1275" b="0" i="0" u="none" dirty="0" err="1">
                <a:solidFill>
                  <a:srgbClr val="334155"/>
                </a:solidFill>
                <a:latin typeface="Inter"/>
              </a:rPr>
              <a:t>ifade</a:t>
            </a:r>
            <a:r>
              <a:rPr sz="1275" b="0" i="0" u="none" dirty="0">
                <a:solidFill>
                  <a:srgbClr val="334155"/>
                </a:solidFill>
                <a:latin typeface="Inter"/>
              </a:rPr>
              <a:t> </a:t>
            </a:r>
            <a:r>
              <a:rPr sz="1275" b="0" i="0" u="none" dirty="0" err="1">
                <a:solidFill>
                  <a:srgbClr val="334155"/>
                </a:solidFill>
                <a:latin typeface="Inter"/>
              </a:rPr>
              <a:t>eder</a:t>
            </a:r>
            <a:r>
              <a:rPr sz="1275" b="0" i="0" u="none" dirty="0">
                <a:solidFill>
                  <a:srgbClr val="334155"/>
                </a:solidFill>
                <a:latin typeface="Inter"/>
              </a:rPr>
              <a:t>.</a:t>
            </a:r>
          </a:p>
        </p:txBody>
      </p:sp>
      <p:sp>
        <p:nvSpPr>
          <p:cNvPr id="11" name="TextBox 10"/>
          <p:cNvSpPr txBox="1"/>
          <p:nvPr/>
        </p:nvSpPr>
        <p:spPr>
          <a:xfrm>
            <a:off x="1381125" y="3588240"/>
            <a:ext cx="4380547" cy="253916"/>
          </a:xfrm>
          <a:prstGeom prst="rect">
            <a:avLst/>
          </a:prstGeom>
          <a:noFill/>
        </p:spPr>
        <p:txBody>
          <a:bodyPr wrap="square" lIns="0" tIns="0" rIns="0" bIns="0" anchor="ctr">
            <a:spAutoFit/>
          </a:bodyPr>
          <a:lstStyle/>
          <a:p>
            <a:r>
              <a:rPr sz="1650" b="1" dirty="0">
                <a:latin typeface="Merriweather"/>
              </a:rPr>
              <a:t>Kolmogorov Complexity</a:t>
            </a:r>
          </a:p>
        </p:txBody>
      </p:sp>
      <p:sp>
        <p:nvSpPr>
          <p:cNvPr id="12" name="TextBox 11"/>
          <p:cNvSpPr txBox="1"/>
          <p:nvPr/>
        </p:nvSpPr>
        <p:spPr>
          <a:xfrm>
            <a:off x="904732" y="4062347"/>
            <a:ext cx="4648200" cy="776882"/>
          </a:xfrm>
          <a:prstGeom prst="rect">
            <a:avLst/>
          </a:prstGeom>
          <a:noFill/>
        </p:spPr>
        <p:txBody>
          <a:bodyPr wrap="square" lIns="0" tIns="0" rIns="0" bIns="0" anchor="t">
            <a:spAutoFit/>
          </a:bodyPr>
          <a:lstStyle/>
          <a:p>
            <a:pPr algn="l">
              <a:lnSpc>
                <a:spcPts val="2039"/>
              </a:lnSpc>
            </a:pPr>
            <a:r>
              <a:rPr sz="1275" b="0" i="0" u="none" dirty="0">
                <a:solidFill>
                  <a:srgbClr val="334155"/>
                </a:solidFill>
                <a:latin typeface="Inter"/>
              </a:rPr>
              <a:t>Bir </a:t>
            </a:r>
            <a:r>
              <a:rPr sz="1275" b="0" i="0" u="none" dirty="0" err="1">
                <a:solidFill>
                  <a:srgbClr val="334155"/>
                </a:solidFill>
                <a:latin typeface="Inter"/>
              </a:rPr>
              <a:t>metni</a:t>
            </a:r>
            <a:r>
              <a:rPr sz="1275" b="0" i="0" u="none" dirty="0">
                <a:solidFill>
                  <a:srgbClr val="334155"/>
                </a:solidFill>
                <a:latin typeface="Inter"/>
              </a:rPr>
              <a:t> </a:t>
            </a:r>
            <a:r>
              <a:rPr sz="1275" b="0" i="0" u="none" dirty="0" err="1">
                <a:solidFill>
                  <a:srgbClr val="334155"/>
                </a:solidFill>
                <a:latin typeface="Inter"/>
              </a:rPr>
              <a:t>üretebilecek</a:t>
            </a:r>
            <a:r>
              <a:rPr sz="1275" b="0" i="0" u="none" dirty="0">
                <a:solidFill>
                  <a:srgbClr val="334155"/>
                </a:solidFill>
                <a:latin typeface="Inter"/>
              </a:rPr>
              <a:t> </a:t>
            </a:r>
            <a:r>
              <a:rPr sz="1275" b="0" i="0" u="none" dirty="0" err="1">
                <a:solidFill>
                  <a:srgbClr val="334155"/>
                </a:solidFill>
                <a:latin typeface="Inter"/>
              </a:rPr>
              <a:t>en</a:t>
            </a:r>
            <a:r>
              <a:rPr sz="1275" b="0" i="0" u="none" dirty="0">
                <a:solidFill>
                  <a:srgbClr val="334155"/>
                </a:solidFill>
                <a:latin typeface="Inter"/>
              </a:rPr>
              <a:t> </a:t>
            </a:r>
            <a:r>
              <a:rPr sz="1275" b="0" i="0" u="none" dirty="0" err="1">
                <a:solidFill>
                  <a:srgbClr val="334155"/>
                </a:solidFill>
                <a:latin typeface="Inter"/>
              </a:rPr>
              <a:t>kısa</a:t>
            </a:r>
            <a:r>
              <a:rPr sz="1275" b="0" i="0" u="none" dirty="0">
                <a:solidFill>
                  <a:srgbClr val="334155"/>
                </a:solidFill>
                <a:latin typeface="Inter"/>
              </a:rPr>
              <a:t> </a:t>
            </a:r>
            <a:r>
              <a:rPr sz="1275" b="0" i="0" u="none" dirty="0" err="1">
                <a:solidFill>
                  <a:srgbClr val="334155"/>
                </a:solidFill>
                <a:latin typeface="Inter"/>
              </a:rPr>
              <a:t>bilgisayar</a:t>
            </a:r>
            <a:r>
              <a:rPr sz="1275" b="0" i="0" u="none" dirty="0">
                <a:solidFill>
                  <a:srgbClr val="334155"/>
                </a:solidFill>
                <a:latin typeface="Inter"/>
              </a:rPr>
              <a:t> </a:t>
            </a:r>
            <a:r>
              <a:rPr sz="1275" b="0" i="0" u="none" dirty="0" err="1">
                <a:solidFill>
                  <a:srgbClr val="334155"/>
                </a:solidFill>
                <a:latin typeface="Inter"/>
              </a:rPr>
              <a:t>algoritmasının</a:t>
            </a:r>
            <a:r>
              <a:rPr sz="1275" b="0" i="0" u="none" dirty="0">
                <a:solidFill>
                  <a:srgbClr val="334155"/>
                </a:solidFill>
                <a:latin typeface="Inter"/>
              </a:rPr>
              <a:t> </a:t>
            </a:r>
            <a:r>
              <a:rPr sz="1275" b="0" i="0" u="none" dirty="0" err="1">
                <a:solidFill>
                  <a:srgbClr val="334155"/>
                </a:solidFill>
                <a:latin typeface="Inter"/>
              </a:rPr>
              <a:t>uzunluğudur</a:t>
            </a:r>
            <a:r>
              <a:rPr sz="1275" b="0" i="0" u="none" dirty="0">
                <a:solidFill>
                  <a:srgbClr val="334155"/>
                </a:solidFill>
                <a:latin typeface="Inter"/>
              </a:rPr>
              <a:t>. </a:t>
            </a:r>
            <a:r>
              <a:rPr sz="1275" b="0" i="0" u="none" dirty="0" err="1">
                <a:solidFill>
                  <a:srgbClr val="334155"/>
                </a:solidFill>
                <a:latin typeface="Inter"/>
              </a:rPr>
              <a:t>Metnin</a:t>
            </a:r>
            <a:r>
              <a:rPr sz="1275" b="0" i="0" u="none" dirty="0">
                <a:solidFill>
                  <a:srgbClr val="334155"/>
                </a:solidFill>
                <a:latin typeface="Inter"/>
              </a:rPr>
              <a:t> </a:t>
            </a:r>
            <a:r>
              <a:rPr sz="1275" b="0" i="0" u="none" dirty="0" err="1">
                <a:solidFill>
                  <a:srgbClr val="334155"/>
                </a:solidFill>
                <a:latin typeface="Inter"/>
              </a:rPr>
              <a:t>verimli</a:t>
            </a:r>
            <a:r>
              <a:rPr sz="1275" b="0" i="0" u="none" dirty="0">
                <a:solidFill>
                  <a:srgbClr val="334155"/>
                </a:solidFill>
                <a:latin typeface="Inter"/>
              </a:rPr>
              <a:t> </a:t>
            </a:r>
            <a:r>
              <a:rPr sz="1275" b="0" i="0" u="none" dirty="0" err="1">
                <a:solidFill>
                  <a:srgbClr val="334155"/>
                </a:solidFill>
                <a:latin typeface="Inter"/>
              </a:rPr>
              <a:t>bir</a:t>
            </a:r>
            <a:r>
              <a:rPr sz="1275" b="0" i="0" u="none" dirty="0">
                <a:solidFill>
                  <a:srgbClr val="334155"/>
                </a:solidFill>
                <a:latin typeface="Inter"/>
              </a:rPr>
              <a:t> </a:t>
            </a:r>
            <a:r>
              <a:rPr sz="1275" b="0" i="0" u="none" dirty="0" err="1">
                <a:solidFill>
                  <a:srgbClr val="334155"/>
                </a:solidFill>
                <a:latin typeface="Inter"/>
              </a:rPr>
              <a:t>şekilde</a:t>
            </a:r>
            <a:r>
              <a:rPr sz="1275" b="0" i="0" u="none" dirty="0">
                <a:solidFill>
                  <a:srgbClr val="334155"/>
                </a:solidFill>
                <a:latin typeface="Inter"/>
              </a:rPr>
              <a:t> </a:t>
            </a:r>
            <a:r>
              <a:rPr sz="1275" b="0" i="0" u="none" dirty="0" err="1">
                <a:solidFill>
                  <a:srgbClr val="334155"/>
                </a:solidFill>
                <a:latin typeface="Inter"/>
              </a:rPr>
              <a:t>sıkıştırılabilirliği</a:t>
            </a:r>
            <a:r>
              <a:rPr sz="1275" b="0" i="0" u="none" dirty="0">
                <a:solidFill>
                  <a:srgbClr val="334155"/>
                </a:solidFill>
                <a:latin typeface="Inter"/>
              </a:rPr>
              <a:t> </a:t>
            </a:r>
            <a:r>
              <a:rPr sz="1275" b="0" i="0" u="none" dirty="0" err="1">
                <a:solidFill>
                  <a:srgbClr val="334155"/>
                </a:solidFill>
                <a:latin typeface="Inter"/>
              </a:rPr>
              <a:t>ile</a:t>
            </a:r>
            <a:r>
              <a:rPr sz="1275" b="0" i="0" u="none" dirty="0">
                <a:solidFill>
                  <a:srgbClr val="334155"/>
                </a:solidFill>
                <a:latin typeface="Inter"/>
              </a:rPr>
              <a:t> </a:t>
            </a:r>
            <a:r>
              <a:rPr sz="1275" b="0" i="0" u="none" dirty="0" err="1">
                <a:solidFill>
                  <a:srgbClr val="334155"/>
                </a:solidFill>
                <a:latin typeface="Inter"/>
              </a:rPr>
              <a:t>doğrudan</a:t>
            </a:r>
            <a:r>
              <a:rPr sz="1275" b="0" i="0" u="none" dirty="0">
                <a:solidFill>
                  <a:srgbClr val="334155"/>
                </a:solidFill>
                <a:latin typeface="Inter"/>
              </a:rPr>
              <a:t> </a:t>
            </a:r>
            <a:r>
              <a:rPr sz="1275" b="0" i="0" u="none" dirty="0" err="1">
                <a:solidFill>
                  <a:srgbClr val="334155"/>
                </a:solidFill>
                <a:latin typeface="Inter"/>
              </a:rPr>
              <a:t>ilişkilidir</a:t>
            </a:r>
            <a:r>
              <a:rPr sz="1275" b="0" i="0" u="none" dirty="0">
                <a:solidFill>
                  <a:srgbClr val="334155"/>
                </a:solidFill>
                <a:latin typeface="Inter"/>
              </a:rPr>
              <a:t>.</a:t>
            </a:r>
          </a:p>
        </p:txBody>
      </p:sp>
      <p:sp>
        <p:nvSpPr>
          <p:cNvPr id="13" name="TextBox 12"/>
          <p:cNvSpPr txBox="1"/>
          <p:nvPr/>
        </p:nvSpPr>
        <p:spPr>
          <a:xfrm>
            <a:off x="1381125" y="5476274"/>
            <a:ext cx="4320540" cy="253916"/>
          </a:xfrm>
          <a:prstGeom prst="rect">
            <a:avLst/>
          </a:prstGeom>
          <a:noFill/>
        </p:spPr>
        <p:txBody>
          <a:bodyPr wrap="square" lIns="0" tIns="0" rIns="0" bIns="0" anchor="ctr">
            <a:spAutoFit/>
          </a:bodyPr>
          <a:lstStyle/>
          <a:p>
            <a:r>
              <a:rPr sz="1650" b="1" dirty="0">
                <a:latin typeface="Merriweather"/>
              </a:rPr>
              <a:t>Fractal Dimension</a:t>
            </a:r>
          </a:p>
        </p:txBody>
      </p:sp>
      <p:sp>
        <p:nvSpPr>
          <p:cNvPr id="14" name="TextBox 13"/>
          <p:cNvSpPr txBox="1"/>
          <p:nvPr/>
        </p:nvSpPr>
        <p:spPr>
          <a:xfrm>
            <a:off x="952500" y="5910290"/>
            <a:ext cx="4648200" cy="491994"/>
          </a:xfrm>
          <a:prstGeom prst="rect">
            <a:avLst/>
          </a:prstGeom>
          <a:noFill/>
        </p:spPr>
        <p:txBody>
          <a:bodyPr wrap="square" lIns="0" tIns="0" rIns="0" bIns="0" anchor="t">
            <a:spAutoFit/>
          </a:bodyPr>
          <a:lstStyle/>
          <a:p>
            <a:pPr algn="l">
              <a:lnSpc>
                <a:spcPts val="2039"/>
              </a:lnSpc>
            </a:pPr>
            <a:r>
              <a:rPr sz="1275" b="0" i="0" u="none" dirty="0" err="1">
                <a:solidFill>
                  <a:srgbClr val="334155"/>
                </a:solidFill>
                <a:latin typeface="Inter"/>
              </a:rPr>
              <a:t>Metnin</a:t>
            </a:r>
            <a:r>
              <a:rPr sz="1275" b="0" i="0" u="none" dirty="0">
                <a:solidFill>
                  <a:srgbClr val="334155"/>
                </a:solidFill>
                <a:latin typeface="Inter"/>
              </a:rPr>
              <a:t> </a:t>
            </a:r>
            <a:r>
              <a:rPr sz="1275" b="0" i="0" u="none" dirty="0" err="1">
                <a:solidFill>
                  <a:srgbClr val="334155"/>
                </a:solidFill>
                <a:latin typeface="Inter"/>
              </a:rPr>
              <a:t>farklı</a:t>
            </a:r>
            <a:r>
              <a:rPr sz="1275" b="0" i="0" u="none" dirty="0">
                <a:solidFill>
                  <a:srgbClr val="334155"/>
                </a:solidFill>
                <a:latin typeface="Inter"/>
              </a:rPr>
              <a:t> </a:t>
            </a:r>
            <a:r>
              <a:rPr sz="1275" b="0" i="0" u="none" dirty="0" err="1">
                <a:solidFill>
                  <a:srgbClr val="334155"/>
                </a:solidFill>
                <a:latin typeface="Inter"/>
              </a:rPr>
              <a:t>ölçeklerde</a:t>
            </a:r>
            <a:r>
              <a:rPr sz="1275" b="0" i="0" u="none" dirty="0">
                <a:solidFill>
                  <a:srgbClr val="334155"/>
                </a:solidFill>
                <a:latin typeface="Inter"/>
              </a:rPr>
              <a:t> </a:t>
            </a:r>
            <a:r>
              <a:rPr sz="1275" b="0" i="0" u="none" dirty="0" err="1">
                <a:solidFill>
                  <a:srgbClr val="334155"/>
                </a:solidFill>
                <a:latin typeface="Inter"/>
              </a:rPr>
              <a:t>gösterdiği</a:t>
            </a:r>
            <a:r>
              <a:rPr sz="1275" b="0" i="0" u="none" dirty="0">
                <a:solidFill>
                  <a:srgbClr val="334155"/>
                </a:solidFill>
                <a:latin typeface="Inter"/>
              </a:rPr>
              <a:t> </a:t>
            </a:r>
            <a:r>
              <a:rPr sz="1275" b="0" i="0" u="none" dirty="0" err="1">
                <a:solidFill>
                  <a:srgbClr val="334155"/>
                </a:solidFill>
                <a:latin typeface="Inter"/>
              </a:rPr>
              <a:t>öz-benzerlik</a:t>
            </a:r>
            <a:r>
              <a:rPr sz="1275" b="0" i="0" u="none" dirty="0">
                <a:solidFill>
                  <a:srgbClr val="334155"/>
                </a:solidFill>
                <a:latin typeface="Inter"/>
              </a:rPr>
              <a:t> </a:t>
            </a:r>
            <a:r>
              <a:rPr sz="1275" b="0" i="0" u="none" dirty="0" err="1">
                <a:solidFill>
                  <a:srgbClr val="334155"/>
                </a:solidFill>
                <a:latin typeface="Inter"/>
              </a:rPr>
              <a:t>ve</a:t>
            </a:r>
            <a:r>
              <a:rPr sz="1275" b="0" i="0" u="none" dirty="0">
                <a:solidFill>
                  <a:srgbClr val="334155"/>
                </a:solidFill>
                <a:latin typeface="Inter"/>
              </a:rPr>
              <a:t> </a:t>
            </a:r>
            <a:r>
              <a:rPr sz="1275" b="0" i="0" u="none" dirty="0" err="1">
                <a:solidFill>
                  <a:srgbClr val="334155"/>
                </a:solidFill>
                <a:latin typeface="Inter"/>
              </a:rPr>
              <a:t>geometrik</a:t>
            </a:r>
            <a:r>
              <a:rPr sz="1275" b="0" i="0" u="none" dirty="0">
                <a:solidFill>
                  <a:srgbClr val="334155"/>
                </a:solidFill>
                <a:latin typeface="Inter"/>
              </a:rPr>
              <a:t> </a:t>
            </a:r>
            <a:r>
              <a:rPr sz="1275" b="0" i="0" u="none" dirty="0" err="1">
                <a:solidFill>
                  <a:srgbClr val="334155"/>
                </a:solidFill>
                <a:latin typeface="Inter"/>
              </a:rPr>
              <a:t>karmaşıklık</a:t>
            </a:r>
            <a:r>
              <a:rPr sz="1275" b="0" i="0" u="none" dirty="0">
                <a:solidFill>
                  <a:srgbClr val="334155"/>
                </a:solidFill>
                <a:latin typeface="Inter"/>
              </a:rPr>
              <a:t> </a:t>
            </a:r>
            <a:r>
              <a:rPr sz="1275" b="0" i="0" u="none" dirty="0" err="1">
                <a:solidFill>
                  <a:srgbClr val="334155"/>
                </a:solidFill>
                <a:latin typeface="Inter"/>
              </a:rPr>
              <a:t>derecesidir</a:t>
            </a:r>
            <a:r>
              <a:rPr sz="1275" b="0" i="0" u="none" dirty="0">
                <a:solidFill>
                  <a:srgbClr val="334155"/>
                </a:solidFill>
                <a:latin typeface="Inter"/>
              </a:rPr>
              <a:t>. </a:t>
            </a:r>
            <a:r>
              <a:rPr sz="1275" b="0" i="0" u="none" dirty="0" err="1">
                <a:solidFill>
                  <a:srgbClr val="334155"/>
                </a:solidFill>
                <a:latin typeface="Inter"/>
              </a:rPr>
              <a:t>Yazar</a:t>
            </a:r>
            <a:r>
              <a:rPr sz="1275" b="0" i="0" u="none" dirty="0">
                <a:solidFill>
                  <a:srgbClr val="334155"/>
                </a:solidFill>
                <a:latin typeface="Inter"/>
              </a:rPr>
              <a:t> </a:t>
            </a:r>
            <a:r>
              <a:rPr sz="1275" b="0" i="0" u="none" dirty="0" err="1">
                <a:solidFill>
                  <a:srgbClr val="334155"/>
                </a:solidFill>
                <a:latin typeface="Inter"/>
              </a:rPr>
              <a:t>üslubunu</a:t>
            </a:r>
            <a:r>
              <a:rPr sz="1275" b="0" i="0" u="none" dirty="0">
                <a:solidFill>
                  <a:srgbClr val="334155"/>
                </a:solidFill>
                <a:latin typeface="Inter"/>
              </a:rPr>
              <a:t> </a:t>
            </a:r>
            <a:r>
              <a:rPr sz="1275" b="0" i="0" u="none" dirty="0" err="1">
                <a:solidFill>
                  <a:srgbClr val="334155"/>
                </a:solidFill>
                <a:latin typeface="Inter"/>
              </a:rPr>
              <a:t>belirlemede</a:t>
            </a:r>
            <a:r>
              <a:rPr sz="1275" b="0" i="0" u="none" dirty="0">
                <a:solidFill>
                  <a:srgbClr val="334155"/>
                </a:solidFill>
                <a:latin typeface="Inter"/>
              </a:rPr>
              <a:t> </a:t>
            </a:r>
            <a:r>
              <a:rPr sz="1275" b="0" i="0" u="none" dirty="0" err="1">
                <a:solidFill>
                  <a:srgbClr val="334155"/>
                </a:solidFill>
                <a:latin typeface="Inter"/>
              </a:rPr>
              <a:t>etkilidir</a:t>
            </a:r>
            <a:r>
              <a:rPr sz="1275" b="0" i="0" u="none" dirty="0">
                <a:solidFill>
                  <a:srgbClr val="334155"/>
                </a:solidFill>
                <a:latin typeface="Inter"/>
              </a:rPr>
              <a:t>.</a:t>
            </a:r>
          </a:p>
        </p:txBody>
      </p:sp>
      <p:sp>
        <p:nvSpPr>
          <p:cNvPr id="15" name="TextBox 14"/>
          <p:cNvSpPr txBox="1"/>
          <p:nvPr/>
        </p:nvSpPr>
        <p:spPr>
          <a:xfrm>
            <a:off x="7125652" y="1679752"/>
            <a:ext cx="4320540" cy="253916"/>
          </a:xfrm>
          <a:prstGeom prst="rect">
            <a:avLst/>
          </a:prstGeom>
          <a:noFill/>
        </p:spPr>
        <p:txBody>
          <a:bodyPr wrap="square" lIns="0" tIns="0" rIns="0" bIns="0" anchor="ctr">
            <a:spAutoFit/>
          </a:bodyPr>
          <a:lstStyle/>
          <a:p>
            <a:r>
              <a:rPr sz="1650" b="1" dirty="0">
                <a:latin typeface="Merriweather"/>
              </a:rPr>
              <a:t>Character Repetition</a:t>
            </a:r>
          </a:p>
        </p:txBody>
      </p:sp>
      <p:sp>
        <p:nvSpPr>
          <p:cNvPr id="16" name="TextBox 15"/>
          <p:cNvSpPr txBox="1"/>
          <p:nvPr/>
        </p:nvSpPr>
        <p:spPr>
          <a:xfrm>
            <a:off x="6581775" y="2021458"/>
            <a:ext cx="4648200" cy="776882"/>
          </a:xfrm>
          <a:prstGeom prst="rect">
            <a:avLst/>
          </a:prstGeom>
          <a:noFill/>
        </p:spPr>
        <p:txBody>
          <a:bodyPr wrap="square" lIns="0" tIns="0" rIns="0" bIns="0" anchor="t">
            <a:spAutoFit/>
          </a:bodyPr>
          <a:lstStyle/>
          <a:p>
            <a:pPr algn="l">
              <a:lnSpc>
                <a:spcPts val="2039"/>
              </a:lnSpc>
            </a:pPr>
            <a:r>
              <a:rPr sz="1275" b="0" i="0" u="none" dirty="0" err="1">
                <a:solidFill>
                  <a:srgbClr val="334155"/>
                </a:solidFill>
                <a:latin typeface="Inter"/>
              </a:rPr>
              <a:t>Metin</a:t>
            </a:r>
            <a:r>
              <a:rPr sz="1275" b="0" i="0" u="none" dirty="0">
                <a:solidFill>
                  <a:srgbClr val="334155"/>
                </a:solidFill>
                <a:latin typeface="Inter"/>
              </a:rPr>
              <a:t> </a:t>
            </a:r>
            <a:r>
              <a:rPr sz="1275" b="0" i="0" u="none" dirty="0" err="1">
                <a:solidFill>
                  <a:srgbClr val="334155"/>
                </a:solidFill>
                <a:latin typeface="Inter"/>
              </a:rPr>
              <a:t>içerisindeki</a:t>
            </a:r>
            <a:r>
              <a:rPr sz="1275" b="0" i="0" u="none" dirty="0">
                <a:solidFill>
                  <a:srgbClr val="334155"/>
                </a:solidFill>
                <a:latin typeface="Inter"/>
              </a:rPr>
              <a:t> </a:t>
            </a:r>
            <a:r>
              <a:rPr sz="1275" b="0" i="0" u="none" dirty="0" err="1">
                <a:solidFill>
                  <a:srgbClr val="334155"/>
                </a:solidFill>
                <a:latin typeface="Inter"/>
              </a:rPr>
              <a:t>ardışık</a:t>
            </a:r>
            <a:r>
              <a:rPr sz="1275" b="0" i="0" u="none" dirty="0">
                <a:solidFill>
                  <a:srgbClr val="334155"/>
                </a:solidFill>
                <a:latin typeface="Inter"/>
              </a:rPr>
              <a:t> </a:t>
            </a:r>
            <a:r>
              <a:rPr sz="1275" b="0" i="0" u="none" dirty="0" err="1">
                <a:solidFill>
                  <a:srgbClr val="334155"/>
                </a:solidFill>
                <a:latin typeface="Inter"/>
              </a:rPr>
              <a:t>veya</a:t>
            </a:r>
            <a:r>
              <a:rPr sz="1275" b="0" i="0" u="none" dirty="0">
                <a:solidFill>
                  <a:srgbClr val="334155"/>
                </a:solidFill>
                <a:latin typeface="Inter"/>
              </a:rPr>
              <a:t> </a:t>
            </a:r>
            <a:r>
              <a:rPr sz="1275" b="0" i="0" u="none" dirty="0" err="1">
                <a:solidFill>
                  <a:srgbClr val="334155"/>
                </a:solidFill>
                <a:latin typeface="Inter"/>
              </a:rPr>
              <a:t>dönemsel</a:t>
            </a:r>
            <a:r>
              <a:rPr sz="1275" b="0" i="0" u="none" dirty="0">
                <a:solidFill>
                  <a:srgbClr val="334155"/>
                </a:solidFill>
                <a:latin typeface="Inter"/>
              </a:rPr>
              <a:t> n-gram </a:t>
            </a:r>
            <a:r>
              <a:rPr sz="1275" b="0" i="0" u="none" dirty="0" err="1">
                <a:solidFill>
                  <a:srgbClr val="334155"/>
                </a:solidFill>
                <a:latin typeface="Inter"/>
              </a:rPr>
              <a:t>tekrarlarının</a:t>
            </a:r>
            <a:r>
              <a:rPr sz="1275" b="0" i="0" u="none" dirty="0">
                <a:solidFill>
                  <a:srgbClr val="334155"/>
                </a:solidFill>
                <a:latin typeface="Inter"/>
              </a:rPr>
              <a:t> </a:t>
            </a:r>
            <a:r>
              <a:rPr sz="1275" b="0" i="0" u="none" dirty="0" err="1">
                <a:solidFill>
                  <a:srgbClr val="334155"/>
                </a:solidFill>
                <a:latin typeface="Inter"/>
              </a:rPr>
              <a:t>yoğunluk</a:t>
            </a:r>
            <a:r>
              <a:rPr sz="1275" b="0" i="0" u="none" dirty="0">
                <a:solidFill>
                  <a:srgbClr val="334155"/>
                </a:solidFill>
                <a:latin typeface="Inter"/>
              </a:rPr>
              <a:t> </a:t>
            </a:r>
            <a:r>
              <a:rPr sz="1275" b="0" i="0" u="none" dirty="0" err="1">
                <a:solidFill>
                  <a:srgbClr val="334155"/>
                </a:solidFill>
                <a:latin typeface="Inter"/>
              </a:rPr>
              <a:t>indeksidir</a:t>
            </a:r>
            <a:r>
              <a:rPr sz="1275" b="0" i="0" u="none" dirty="0">
                <a:solidFill>
                  <a:srgbClr val="334155"/>
                </a:solidFill>
                <a:latin typeface="Inter"/>
              </a:rPr>
              <a:t>. Spam </a:t>
            </a:r>
            <a:r>
              <a:rPr sz="1275" b="0" i="0" u="none" dirty="0" err="1">
                <a:solidFill>
                  <a:srgbClr val="334155"/>
                </a:solidFill>
                <a:latin typeface="Inter"/>
              </a:rPr>
              <a:t>metinler</a:t>
            </a:r>
            <a:r>
              <a:rPr sz="1275" b="0" i="0" u="none" dirty="0">
                <a:solidFill>
                  <a:srgbClr val="334155"/>
                </a:solidFill>
                <a:latin typeface="Inter"/>
              </a:rPr>
              <a:t> </a:t>
            </a:r>
            <a:r>
              <a:rPr sz="1275" b="0" i="0" u="none" dirty="0" err="1">
                <a:solidFill>
                  <a:srgbClr val="334155"/>
                </a:solidFill>
                <a:latin typeface="Inter"/>
              </a:rPr>
              <a:t>ve</a:t>
            </a:r>
            <a:r>
              <a:rPr sz="1275" b="0" i="0" u="none" dirty="0">
                <a:solidFill>
                  <a:srgbClr val="334155"/>
                </a:solidFill>
                <a:latin typeface="Inter"/>
              </a:rPr>
              <a:t> bot </a:t>
            </a:r>
            <a:r>
              <a:rPr sz="1275" b="0" i="0" u="none" dirty="0" err="1">
                <a:solidFill>
                  <a:srgbClr val="334155"/>
                </a:solidFill>
                <a:latin typeface="Inter"/>
              </a:rPr>
              <a:t>içeriklerinin</a:t>
            </a:r>
            <a:r>
              <a:rPr sz="1275" b="0" i="0" u="none" dirty="0">
                <a:solidFill>
                  <a:srgbClr val="334155"/>
                </a:solidFill>
                <a:latin typeface="Inter"/>
              </a:rPr>
              <a:t> </a:t>
            </a:r>
            <a:r>
              <a:rPr sz="1275" b="0" i="0" u="none" dirty="0" err="1">
                <a:solidFill>
                  <a:srgbClr val="334155"/>
                </a:solidFill>
                <a:latin typeface="Inter"/>
              </a:rPr>
              <a:t>tespitinde</a:t>
            </a:r>
            <a:r>
              <a:rPr sz="1275" b="0" i="0" u="none" dirty="0">
                <a:solidFill>
                  <a:srgbClr val="334155"/>
                </a:solidFill>
                <a:latin typeface="Inter"/>
              </a:rPr>
              <a:t> </a:t>
            </a:r>
            <a:r>
              <a:rPr sz="1275" b="0" i="0" u="none" dirty="0" err="1">
                <a:solidFill>
                  <a:srgbClr val="334155"/>
                </a:solidFill>
                <a:latin typeface="Inter"/>
              </a:rPr>
              <a:t>kritik</a:t>
            </a:r>
            <a:r>
              <a:rPr sz="1275" b="0" i="0" u="none" dirty="0">
                <a:solidFill>
                  <a:srgbClr val="334155"/>
                </a:solidFill>
                <a:latin typeface="Inter"/>
              </a:rPr>
              <a:t> </a:t>
            </a:r>
            <a:r>
              <a:rPr sz="1275" b="0" i="0" u="none" dirty="0" err="1">
                <a:solidFill>
                  <a:srgbClr val="334155"/>
                </a:solidFill>
                <a:latin typeface="Inter"/>
              </a:rPr>
              <a:t>rol</a:t>
            </a:r>
            <a:r>
              <a:rPr sz="1275" b="0" i="0" u="none" dirty="0">
                <a:solidFill>
                  <a:srgbClr val="334155"/>
                </a:solidFill>
                <a:latin typeface="Inter"/>
              </a:rPr>
              <a:t> </a:t>
            </a:r>
            <a:r>
              <a:rPr sz="1275" b="0" i="0" u="none" dirty="0" err="1">
                <a:solidFill>
                  <a:srgbClr val="334155"/>
                </a:solidFill>
                <a:latin typeface="Inter"/>
              </a:rPr>
              <a:t>oynar</a:t>
            </a:r>
            <a:r>
              <a:rPr sz="1275" b="0" i="0" u="none" dirty="0">
                <a:solidFill>
                  <a:srgbClr val="334155"/>
                </a:solidFill>
                <a:latin typeface="Inter"/>
              </a:rPr>
              <a:t>.</a:t>
            </a:r>
          </a:p>
        </p:txBody>
      </p:sp>
      <p:sp>
        <p:nvSpPr>
          <p:cNvPr id="17" name="TextBox 16"/>
          <p:cNvSpPr txBox="1"/>
          <p:nvPr/>
        </p:nvSpPr>
        <p:spPr>
          <a:xfrm>
            <a:off x="7073503" y="3564818"/>
            <a:ext cx="4350543" cy="253916"/>
          </a:xfrm>
          <a:prstGeom prst="rect">
            <a:avLst/>
          </a:prstGeom>
          <a:noFill/>
        </p:spPr>
        <p:txBody>
          <a:bodyPr wrap="square" lIns="0" tIns="0" rIns="0" bIns="0" anchor="ctr">
            <a:spAutoFit/>
          </a:bodyPr>
          <a:lstStyle/>
          <a:p>
            <a:r>
              <a:rPr sz="1650" b="1" dirty="0">
                <a:latin typeface="Merriweather"/>
              </a:rPr>
              <a:t>Average Word</a:t>
            </a:r>
          </a:p>
        </p:txBody>
      </p:sp>
      <p:sp>
        <p:nvSpPr>
          <p:cNvPr id="18" name="TextBox 17"/>
          <p:cNvSpPr txBox="1"/>
          <p:nvPr/>
        </p:nvSpPr>
        <p:spPr>
          <a:xfrm>
            <a:off x="6591300" y="4062347"/>
            <a:ext cx="4648200" cy="776882"/>
          </a:xfrm>
          <a:prstGeom prst="rect">
            <a:avLst/>
          </a:prstGeom>
          <a:noFill/>
        </p:spPr>
        <p:txBody>
          <a:bodyPr wrap="square" lIns="0" tIns="0" rIns="0" bIns="0" anchor="t">
            <a:spAutoFit/>
          </a:bodyPr>
          <a:lstStyle/>
          <a:p>
            <a:pPr algn="l">
              <a:lnSpc>
                <a:spcPts val="2039"/>
              </a:lnSpc>
            </a:pPr>
            <a:r>
              <a:rPr sz="1275" b="0" i="0" u="none" dirty="0" err="1">
                <a:solidFill>
                  <a:srgbClr val="334155"/>
                </a:solidFill>
                <a:latin typeface="Inter"/>
              </a:rPr>
              <a:t>Toplam</a:t>
            </a:r>
            <a:r>
              <a:rPr sz="1275" b="0" i="0" u="none" dirty="0">
                <a:solidFill>
                  <a:srgbClr val="334155"/>
                </a:solidFill>
                <a:latin typeface="Inter"/>
              </a:rPr>
              <a:t> </a:t>
            </a:r>
            <a:r>
              <a:rPr sz="1275" b="0" i="0" u="none" dirty="0" err="1">
                <a:solidFill>
                  <a:srgbClr val="334155"/>
                </a:solidFill>
                <a:latin typeface="Inter"/>
              </a:rPr>
              <a:t>karakter</a:t>
            </a:r>
            <a:r>
              <a:rPr sz="1275" b="0" i="0" u="none" dirty="0">
                <a:solidFill>
                  <a:srgbClr val="334155"/>
                </a:solidFill>
                <a:latin typeface="Inter"/>
              </a:rPr>
              <a:t> </a:t>
            </a:r>
            <a:r>
              <a:rPr sz="1275" b="0" i="0" u="none" dirty="0" err="1">
                <a:solidFill>
                  <a:srgbClr val="334155"/>
                </a:solidFill>
                <a:latin typeface="Inter"/>
              </a:rPr>
              <a:t>sayısının</a:t>
            </a:r>
            <a:r>
              <a:rPr sz="1275" b="0" i="0" u="none" dirty="0">
                <a:solidFill>
                  <a:srgbClr val="334155"/>
                </a:solidFill>
                <a:latin typeface="Inter"/>
              </a:rPr>
              <a:t> </a:t>
            </a:r>
            <a:r>
              <a:rPr sz="1275" b="0" i="0" u="none" dirty="0" err="1">
                <a:solidFill>
                  <a:srgbClr val="334155"/>
                </a:solidFill>
                <a:latin typeface="Inter"/>
              </a:rPr>
              <a:t>kelime</a:t>
            </a:r>
            <a:r>
              <a:rPr sz="1275" b="0" i="0" u="none" dirty="0">
                <a:solidFill>
                  <a:srgbClr val="334155"/>
                </a:solidFill>
                <a:latin typeface="Inter"/>
              </a:rPr>
              <a:t> </a:t>
            </a:r>
            <a:r>
              <a:rPr sz="1275" b="0" i="0" u="none" dirty="0" err="1">
                <a:solidFill>
                  <a:srgbClr val="334155"/>
                </a:solidFill>
                <a:latin typeface="Inter"/>
              </a:rPr>
              <a:t>sayısına</a:t>
            </a:r>
            <a:r>
              <a:rPr sz="1275" b="0" i="0" u="none" dirty="0">
                <a:solidFill>
                  <a:srgbClr val="334155"/>
                </a:solidFill>
                <a:latin typeface="Inter"/>
              </a:rPr>
              <a:t> </a:t>
            </a:r>
            <a:r>
              <a:rPr sz="1275" b="0" i="0" u="none" dirty="0" err="1">
                <a:solidFill>
                  <a:srgbClr val="334155"/>
                </a:solidFill>
                <a:latin typeface="Inter"/>
              </a:rPr>
              <a:t>oranıdır</a:t>
            </a:r>
            <a:r>
              <a:rPr sz="1275" b="0" i="0" u="none" dirty="0">
                <a:solidFill>
                  <a:srgbClr val="334155"/>
                </a:solidFill>
                <a:latin typeface="Inter"/>
              </a:rPr>
              <a:t>. </a:t>
            </a:r>
            <a:r>
              <a:rPr sz="1275" b="0" i="0" u="none" dirty="0" err="1">
                <a:solidFill>
                  <a:srgbClr val="334155"/>
                </a:solidFill>
                <a:latin typeface="Inter"/>
              </a:rPr>
              <a:t>Akademik</a:t>
            </a:r>
            <a:r>
              <a:rPr sz="1275" b="0" i="0" u="none" dirty="0">
                <a:solidFill>
                  <a:srgbClr val="334155"/>
                </a:solidFill>
                <a:latin typeface="Inter"/>
              </a:rPr>
              <a:t>, </a:t>
            </a:r>
            <a:r>
              <a:rPr sz="1275" b="0" i="0" u="none" dirty="0" err="1">
                <a:solidFill>
                  <a:srgbClr val="334155"/>
                </a:solidFill>
                <a:latin typeface="Inter"/>
              </a:rPr>
              <a:t>teknik</a:t>
            </a:r>
            <a:r>
              <a:rPr sz="1275" b="0" i="0" u="none" dirty="0">
                <a:solidFill>
                  <a:srgbClr val="334155"/>
                </a:solidFill>
                <a:latin typeface="Inter"/>
              </a:rPr>
              <a:t> </a:t>
            </a:r>
            <a:r>
              <a:rPr sz="1275" b="0" i="0" u="none" dirty="0" err="1">
                <a:solidFill>
                  <a:srgbClr val="334155"/>
                </a:solidFill>
                <a:latin typeface="Inter"/>
              </a:rPr>
              <a:t>ve</a:t>
            </a:r>
            <a:r>
              <a:rPr sz="1275" b="0" i="0" u="none" dirty="0">
                <a:solidFill>
                  <a:srgbClr val="334155"/>
                </a:solidFill>
                <a:latin typeface="Inter"/>
              </a:rPr>
              <a:t> </a:t>
            </a:r>
            <a:r>
              <a:rPr sz="1275" b="0" i="0" u="none" dirty="0" err="1">
                <a:solidFill>
                  <a:srgbClr val="334155"/>
                </a:solidFill>
                <a:latin typeface="Inter"/>
              </a:rPr>
              <a:t>zorlayıcı</a:t>
            </a:r>
            <a:r>
              <a:rPr sz="1275" b="0" i="0" u="none" dirty="0">
                <a:solidFill>
                  <a:srgbClr val="334155"/>
                </a:solidFill>
                <a:latin typeface="Inter"/>
              </a:rPr>
              <a:t> </a:t>
            </a:r>
            <a:r>
              <a:rPr sz="1275" b="0" i="0" u="none" dirty="0" err="1">
                <a:solidFill>
                  <a:srgbClr val="334155"/>
                </a:solidFill>
                <a:latin typeface="Inter"/>
              </a:rPr>
              <a:t>metinlerde</a:t>
            </a:r>
            <a:r>
              <a:rPr sz="1275" b="0" i="0" u="none" dirty="0">
                <a:solidFill>
                  <a:srgbClr val="334155"/>
                </a:solidFill>
                <a:latin typeface="Inter"/>
              </a:rPr>
              <a:t> </a:t>
            </a:r>
            <a:r>
              <a:rPr sz="1275" b="0" i="0" u="none" dirty="0" err="1">
                <a:solidFill>
                  <a:srgbClr val="334155"/>
                </a:solidFill>
                <a:latin typeface="Inter"/>
              </a:rPr>
              <a:t>bu</a:t>
            </a:r>
            <a:r>
              <a:rPr sz="1275" b="0" i="0" u="none" dirty="0">
                <a:solidFill>
                  <a:srgbClr val="334155"/>
                </a:solidFill>
                <a:latin typeface="Inter"/>
              </a:rPr>
              <a:t> </a:t>
            </a:r>
            <a:r>
              <a:rPr sz="1275" b="0" i="0" u="none" dirty="0" err="1">
                <a:solidFill>
                  <a:srgbClr val="334155"/>
                </a:solidFill>
                <a:latin typeface="Inter"/>
              </a:rPr>
              <a:t>değer</a:t>
            </a:r>
            <a:r>
              <a:rPr sz="1275" b="0" i="0" u="none" dirty="0">
                <a:solidFill>
                  <a:srgbClr val="334155"/>
                </a:solidFill>
                <a:latin typeface="Inter"/>
              </a:rPr>
              <a:t> </a:t>
            </a:r>
            <a:r>
              <a:rPr sz="1275" b="0" i="0" u="none" dirty="0" err="1">
                <a:solidFill>
                  <a:srgbClr val="334155"/>
                </a:solidFill>
                <a:latin typeface="Inter"/>
              </a:rPr>
              <a:t>artar</a:t>
            </a:r>
            <a:r>
              <a:rPr sz="1275" b="0" i="0" u="none" dirty="0">
                <a:solidFill>
                  <a:srgbClr val="334155"/>
                </a:solidFill>
                <a:latin typeface="Inter"/>
              </a:rPr>
              <a:t>; </a:t>
            </a:r>
            <a:r>
              <a:rPr sz="1275" b="0" i="0" u="none" dirty="0" err="1">
                <a:solidFill>
                  <a:srgbClr val="334155"/>
                </a:solidFill>
                <a:latin typeface="Inter"/>
              </a:rPr>
              <a:t>doğrudan</a:t>
            </a:r>
            <a:r>
              <a:rPr sz="1275" b="0" i="0" u="none" dirty="0">
                <a:solidFill>
                  <a:srgbClr val="334155"/>
                </a:solidFill>
                <a:latin typeface="Inter"/>
              </a:rPr>
              <a:t> </a:t>
            </a:r>
            <a:r>
              <a:rPr sz="1275" b="0" i="0" u="none" dirty="0" err="1">
                <a:solidFill>
                  <a:srgbClr val="334155"/>
                </a:solidFill>
                <a:latin typeface="Inter"/>
              </a:rPr>
              <a:t>okunabilirlik</a:t>
            </a:r>
            <a:r>
              <a:rPr sz="1275" b="0" i="0" u="none" dirty="0">
                <a:solidFill>
                  <a:srgbClr val="334155"/>
                </a:solidFill>
                <a:latin typeface="Inter"/>
              </a:rPr>
              <a:t> </a:t>
            </a:r>
            <a:r>
              <a:rPr sz="1275" b="0" i="0" u="none" dirty="0" err="1">
                <a:solidFill>
                  <a:srgbClr val="334155"/>
                </a:solidFill>
                <a:latin typeface="Inter"/>
              </a:rPr>
              <a:t>göstergesidir</a:t>
            </a:r>
            <a:r>
              <a:rPr sz="1275" b="0" i="0" u="none" dirty="0">
                <a:solidFill>
                  <a:srgbClr val="334155"/>
                </a:solidFill>
                <a:latin typeface="Inter"/>
              </a:rPr>
              <a:t>.</a:t>
            </a:r>
          </a:p>
        </p:txBody>
      </p:sp>
      <p:pic>
        <p:nvPicPr>
          <p:cNvPr id="21" name="Picture 20" descr="image.png"/>
          <p:cNvPicPr>
            <a:picLocks noChangeAspect="1"/>
          </p:cNvPicPr>
          <p:nvPr/>
        </p:nvPicPr>
        <p:blipFill>
          <a:blip r:embed="rId8"/>
          <a:stretch>
            <a:fillRect/>
          </a:stretch>
        </p:blipFill>
        <p:spPr>
          <a:xfrm>
            <a:off x="971788" y="1580256"/>
            <a:ext cx="447675" cy="419100"/>
          </a:xfrm>
          <a:prstGeom prst="rect">
            <a:avLst/>
          </a:prstGeom>
        </p:spPr>
      </p:pic>
      <p:pic>
        <p:nvPicPr>
          <p:cNvPr id="22" name="Picture 21" descr="image.png"/>
          <p:cNvPicPr>
            <a:picLocks noChangeAspect="1"/>
          </p:cNvPicPr>
          <p:nvPr/>
        </p:nvPicPr>
        <p:blipFill>
          <a:blip r:embed="rId9"/>
          <a:stretch>
            <a:fillRect/>
          </a:stretch>
        </p:blipFill>
        <p:spPr>
          <a:xfrm>
            <a:off x="955358" y="3565698"/>
            <a:ext cx="361950" cy="419100"/>
          </a:xfrm>
          <a:prstGeom prst="rect">
            <a:avLst/>
          </a:prstGeom>
        </p:spPr>
      </p:pic>
      <p:pic>
        <p:nvPicPr>
          <p:cNvPr id="23" name="Picture 22" descr="image.png"/>
          <p:cNvPicPr>
            <a:picLocks noChangeAspect="1"/>
          </p:cNvPicPr>
          <p:nvPr/>
        </p:nvPicPr>
        <p:blipFill>
          <a:blip r:embed="rId10"/>
          <a:stretch>
            <a:fillRect/>
          </a:stretch>
        </p:blipFill>
        <p:spPr>
          <a:xfrm>
            <a:off x="926783" y="5357960"/>
            <a:ext cx="419100" cy="419100"/>
          </a:xfrm>
          <a:prstGeom prst="rect">
            <a:avLst/>
          </a:prstGeom>
        </p:spPr>
      </p:pic>
      <p:pic>
        <p:nvPicPr>
          <p:cNvPr id="24" name="Picture 23" descr="image.png"/>
          <p:cNvPicPr>
            <a:picLocks noChangeAspect="1"/>
          </p:cNvPicPr>
          <p:nvPr/>
        </p:nvPicPr>
        <p:blipFill>
          <a:blip r:embed="rId11"/>
          <a:stretch>
            <a:fillRect/>
          </a:stretch>
        </p:blipFill>
        <p:spPr>
          <a:xfrm>
            <a:off x="6581775" y="1595998"/>
            <a:ext cx="419100" cy="419100"/>
          </a:xfrm>
          <a:prstGeom prst="rect">
            <a:avLst/>
          </a:prstGeom>
        </p:spPr>
      </p:pic>
      <p:pic>
        <p:nvPicPr>
          <p:cNvPr id="25" name="Picture 24" descr="image.png"/>
          <p:cNvPicPr>
            <a:picLocks noChangeAspect="1"/>
          </p:cNvPicPr>
          <p:nvPr/>
        </p:nvPicPr>
        <p:blipFill>
          <a:blip r:embed="rId12"/>
          <a:stretch>
            <a:fillRect/>
          </a:stretch>
        </p:blipFill>
        <p:spPr>
          <a:xfrm>
            <a:off x="6586537" y="3482226"/>
            <a:ext cx="390525" cy="419100"/>
          </a:xfrm>
          <a:prstGeom prst="rect">
            <a:avLst/>
          </a:prstGeom>
        </p:spPr>
      </p:pic>
      <p:sp>
        <p:nvSpPr>
          <p:cNvPr id="27" name="TextBox 26"/>
          <p:cNvSpPr txBox="1"/>
          <p:nvPr/>
        </p:nvSpPr>
        <p:spPr>
          <a:xfrm>
            <a:off x="666750" y="461554"/>
            <a:ext cx="11401425" cy="450701"/>
          </a:xfrm>
          <a:prstGeom prst="rect">
            <a:avLst/>
          </a:prstGeom>
          <a:noFill/>
        </p:spPr>
        <p:txBody>
          <a:bodyPr wrap="square" lIns="0" tIns="0" rIns="0" bIns="0" anchor="t">
            <a:spAutoFit/>
          </a:bodyPr>
          <a:lstStyle/>
          <a:p>
            <a:pPr algn="l">
              <a:lnSpc>
                <a:spcPts val="3779"/>
              </a:lnSpc>
            </a:pPr>
            <a:r>
              <a:rPr sz="2550" b="1" dirty="0" err="1">
                <a:solidFill>
                  <a:srgbClr val="005088"/>
                </a:solidFill>
                <a:latin typeface="Merriweather"/>
              </a:rPr>
              <a:t>Metin</a:t>
            </a:r>
            <a:r>
              <a:rPr sz="2550" b="1" dirty="0">
                <a:solidFill>
                  <a:srgbClr val="005088"/>
                </a:solidFill>
                <a:latin typeface="Merriweather"/>
              </a:rPr>
              <a:t> </a:t>
            </a:r>
            <a:r>
              <a:rPr sz="2550" b="1" dirty="0" err="1">
                <a:solidFill>
                  <a:srgbClr val="005088"/>
                </a:solidFill>
                <a:latin typeface="Merriweather"/>
              </a:rPr>
              <a:t>Karmaşıklığı</a:t>
            </a:r>
            <a:r>
              <a:rPr sz="2550" b="1" dirty="0">
                <a:solidFill>
                  <a:srgbClr val="005088"/>
                </a:solidFill>
                <a:latin typeface="Merriweather"/>
              </a:rPr>
              <a:t> </a:t>
            </a:r>
            <a:r>
              <a:rPr sz="2550" b="1" dirty="0" err="1">
                <a:solidFill>
                  <a:srgbClr val="005088"/>
                </a:solidFill>
                <a:latin typeface="Merriweather"/>
              </a:rPr>
              <a:t>Öznitelikleri</a:t>
            </a:r>
            <a:endParaRPr sz="2550" b="1" dirty="0">
              <a:solidFill>
                <a:srgbClr val="005088"/>
              </a:solidFill>
              <a:latin typeface="Merriweather"/>
            </a:endParaRPr>
          </a:p>
        </p:txBody>
      </p:sp>
      <p:pic>
        <p:nvPicPr>
          <p:cNvPr id="31" name="Picture 1" descr="image.png">
            <a:extLst>
              <a:ext uri="{FF2B5EF4-FFF2-40B4-BE49-F238E27FC236}">
                <a16:creationId xmlns:a16="http://schemas.microsoft.com/office/drawing/2014/main" id="{DD650860-3E93-B12B-297E-9B71E80AF1A2}"/>
              </a:ext>
            </a:extLst>
          </p:cNvPr>
          <p:cNvPicPr>
            <a:picLocks noChangeAspect="1"/>
          </p:cNvPicPr>
          <p:nvPr/>
        </p:nvPicPr>
        <p:blipFill>
          <a:blip r:embed="rId13"/>
          <a:stretch>
            <a:fillRect/>
          </a:stretch>
        </p:blipFill>
        <p:spPr>
          <a:xfrm>
            <a:off x="666750" y="952500"/>
            <a:ext cx="10858500" cy="171450"/>
          </a:xfrm>
          <a:prstGeom prst="rect">
            <a:avLst/>
          </a:prstGeom>
        </p:spPr>
      </p:pic>
      <p:pic>
        <p:nvPicPr>
          <p:cNvPr id="32" name="İçerik Yer Tutucusu 10">
            <a:extLst>
              <a:ext uri="{FF2B5EF4-FFF2-40B4-BE49-F238E27FC236}">
                <a16:creationId xmlns:a16="http://schemas.microsoft.com/office/drawing/2014/main" id="{78FB6D0A-0B3E-79AE-2D6A-F711D39EB4C9}"/>
              </a:ext>
            </a:extLst>
          </p:cNvPr>
          <p:cNvPicPr>
            <a:picLocks noChangeAspect="1"/>
          </p:cNvPicPr>
          <p:nvPr/>
        </p:nvPicPr>
        <p:blipFill>
          <a:blip r:embed="rId14">
            <a:extLst>
              <a:ext uri="{28A0092B-C50C-407E-A947-70E740481C1C}">
                <a14:useLocalDpi xmlns:a14="http://schemas.microsoft.com/office/drawing/2010/main" val="0"/>
              </a:ext>
            </a:extLst>
          </a:blip>
          <a:srcRect/>
          <a:stretch>
            <a:fillRect/>
          </a:stretch>
        </p:blipFill>
        <p:spPr bwMode="auto">
          <a:xfrm>
            <a:off x="9590435" y="466725"/>
            <a:ext cx="2011362"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png"/>
          <p:cNvPicPr>
            <a:picLocks noChangeAspect="1"/>
          </p:cNvPicPr>
          <p:nvPr/>
        </p:nvPicPr>
        <p:blipFill>
          <a:blip r:embed="rId2"/>
          <a:stretch>
            <a:fillRect/>
          </a:stretch>
        </p:blipFill>
        <p:spPr>
          <a:xfrm>
            <a:off x="571500" y="6391275"/>
            <a:ext cx="11049000" cy="276225"/>
          </a:xfrm>
          <a:prstGeom prst="rect">
            <a:avLst/>
          </a:prstGeom>
        </p:spPr>
      </p:pic>
      <p:pic>
        <p:nvPicPr>
          <p:cNvPr id="5" name="Picture 4" descr="image.png"/>
          <p:cNvPicPr>
            <a:picLocks noChangeAspect="1"/>
          </p:cNvPicPr>
          <p:nvPr/>
        </p:nvPicPr>
        <p:blipFill>
          <a:blip r:embed="rId3"/>
          <a:stretch>
            <a:fillRect/>
          </a:stretch>
        </p:blipFill>
        <p:spPr>
          <a:xfrm>
            <a:off x="571500" y="1252537"/>
            <a:ext cx="5334000" cy="1666875"/>
          </a:xfrm>
          <a:prstGeom prst="rect">
            <a:avLst/>
          </a:prstGeom>
        </p:spPr>
      </p:pic>
      <p:pic>
        <p:nvPicPr>
          <p:cNvPr id="6" name="Picture 5" descr="image.png"/>
          <p:cNvPicPr>
            <a:picLocks noChangeAspect="1"/>
          </p:cNvPicPr>
          <p:nvPr/>
        </p:nvPicPr>
        <p:blipFill>
          <a:blip r:embed="rId4"/>
          <a:stretch>
            <a:fillRect/>
          </a:stretch>
        </p:blipFill>
        <p:spPr>
          <a:xfrm>
            <a:off x="6286500" y="1252537"/>
            <a:ext cx="5334000" cy="1666875"/>
          </a:xfrm>
          <a:prstGeom prst="rect">
            <a:avLst/>
          </a:prstGeom>
        </p:spPr>
      </p:pic>
      <p:pic>
        <p:nvPicPr>
          <p:cNvPr id="7" name="Picture 6" descr="image.png"/>
          <p:cNvPicPr>
            <a:picLocks noChangeAspect="1"/>
          </p:cNvPicPr>
          <p:nvPr/>
        </p:nvPicPr>
        <p:blipFill>
          <a:blip r:embed="rId5"/>
          <a:stretch>
            <a:fillRect/>
          </a:stretch>
        </p:blipFill>
        <p:spPr>
          <a:xfrm>
            <a:off x="857250" y="2347912"/>
            <a:ext cx="4810125" cy="333375"/>
          </a:xfrm>
          <a:prstGeom prst="rect">
            <a:avLst/>
          </a:prstGeom>
        </p:spPr>
      </p:pic>
      <p:pic>
        <p:nvPicPr>
          <p:cNvPr id="8" name="Picture 7" descr="image.png"/>
          <p:cNvPicPr>
            <a:picLocks noChangeAspect="1"/>
          </p:cNvPicPr>
          <p:nvPr/>
        </p:nvPicPr>
        <p:blipFill>
          <a:blip r:embed="rId6"/>
          <a:stretch>
            <a:fillRect/>
          </a:stretch>
        </p:blipFill>
        <p:spPr>
          <a:xfrm>
            <a:off x="6572250" y="2347912"/>
            <a:ext cx="4810125" cy="333375"/>
          </a:xfrm>
          <a:prstGeom prst="rect">
            <a:avLst/>
          </a:prstGeom>
        </p:spPr>
      </p:pic>
      <p:sp>
        <p:nvSpPr>
          <p:cNvPr id="9" name="TextBox 8"/>
          <p:cNvSpPr txBox="1"/>
          <p:nvPr/>
        </p:nvSpPr>
        <p:spPr>
          <a:xfrm>
            <a:off x="571500" y="476250"/>
            <a:ext cx="11601450" cy="423862"/>
          </a:xfrm>
          <a:prstGeom prst="rect">
            <a:avLst/>
          </a:prstGeom>
          <a:noFill/>
        </p:spPr>
        <p:txBody>
          <a:bodyPr wrap="square" lIns="0" tIns="0" rIns="0" bIns="0" anchor="t">
            <a:spAutoFit/>
          </a:bodyPr>
          <a:lstStyle/>
          <a:p>
            <a:pPr algn="l">
              <a:lnSpc>
                <a:spcPts val="3187"/>
              </a:lnSpc>
            </a:pPr>
            <a:r>
              <a:rPr sz="2550" b="1" i="0" u="none">
                <a:solidFill>
                  <a:srgbClr val="005088"/>
                </a:solidFill>
                <a:latin typeface="Merriweather"/>
              </a:rPr>
              <a:t>İki Aşamalı Öznitelik Seçimi (Feature Selection)</a:t>
            </a:r>
          </a:p>
        </p:txBody>
      </p:sp>
      <p:sp>
        <p:nvSpPr>
          <p:cNvPr id="10" name="Rectangle 9"/>
          <p:cNvSpPr/>
          <p:nvPr/>
        </p:nvSpPr>
        <p:spPr>
          <a:xfrm>
            <a:off x="571500" y="995362"/>
            <a:ext cx="11049000"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71500" y="6496050"/>
            <a:ext cx="3009900" cy="171450"/>
          </a:xfrm>
          <a:prstGeom prst="rect">
            <a:avLst/>
          </a:prstGeom>
          <a:noFill/>
        </p:spPr>
        <p:txBody>
          <a:bodyPr wrap="square" lIns="0" tIns="0" rIns="0" bIns="0" anchor="t">
            <a:spAutoFit/>
          </a:bodyPr>
          <a:lstStyle/>
          <a:p>
            <a:pPr algn="l">
              <a:lnSpc>
                <a:spcPts val="1350"/>
              </a:lnSpc>
            </a:pPr>
            <a:r>
              <a:rPr sz="900" b="0" i="0" u="none">
                <a:solidFill>
                  <a:srgbClr val="94A3B8"/>
                </a:solidFill>
                <a:latin typeface="DM Sans"/>
              </a:rPr>
              <a:t>SAKARYA ÜNİVERSİTESİ • YÜKSEK LİSANS TEZ SAVUNMASI</a:t>
            </a:r>
          </a:p>
        </p:txBody>
      </p:sp>
      <p:sp>
        <p:nvSpPr>
          <p:cNvPr id="12" name="TextBox 11"/>
          <p:cNvSpPr txBox="1"/>
          <p:nvPr/>
        </p:nvSpPr>
        <p:spPr>
          <a:xfrm>
            <a:off x="11210925" y="6496050"/>
            <a:ext cx="409575" cy="171450"/>
          </a:xfrm>
          <a:prstGeom prst="rect">
            <a:avLst/>
          </a:prstGeom>
          <a:noFill/>
        </p:spPr>
        <p:txBody>
          <a:bodyPr wrap="square" lIns="0" tIns="0" rIns="0" bIns="0" anchor="t">
            <a:spAutoFit/>
          </a:bodyPr>
          <a:lstStyle/>
          <a:p>
            <a:pPr algn="l">
              <a:lnSpc>
                <a:spcPts val="1350"/>
              </a:lnSpc>
            </a:pPr>
            <a:r>
              <a:rPr sz="900" b="0" i="0" u="none">
                <a:solidFill>
                  <a:srgbClr val="94A3B8"/>
                </a:solidFill>
                <a:latin typeface="DM Sans"/>
              </a:rPr>
              <a:t>Slayt 14</a:t>
            </a:r>
          </a:p>
        </p:txBody>
      </p:sp>
      <p:sp>
        <p:nvSpPr>
          <p:cNvPr id="14" name="TextBox 13"/>
          <p:cNvSpPr txBox="1"/>
          <p:nvPr/>
        </p:nvSpPr>
        <p:spPr>
          <a:xfrm>
            <a:off x="857250" y="1490662"/>
            <a:ext cx="5050631" cy="238125"/>
          </a:xfrm>
          <a:prstGeom prst="rect">
            <a:avLst/>
          </a:prstGeom>
          <a:noFill/>
        </p:spPr>
        <p:txBody>
          <a:bodyPr wrap="square" lIns="0" tIns="0" rIns="0" bIns="0" anchor="t">
            <a:spAutoFit/>
          </a:bodyPr>
          <a:lstStyle/>
          <a:p>
            <a:pPr algn="l"/>
            <a:r>
              <a:rPr sz="1500" b="1" i="0" u="none">
                <a:solidFill>
                  <a:srgbClr val="005088"/>
                </a:solidFill>
                <a:latin typeface="Merriweather"/>
              </a:rPr>
              <a:t>1. Karşılıklı Bilgi (Mutual Information)</a:t>
            </a:r>
          </a:p>
        </p:txBody>
      </p:sp>
      <p:sp>
        <p:nvSpPr>
          <p:cNvPr id="15" name="TextBox 14"/>
          <p:cNvSpPr txBox="1"/>
          <p:nvPr/>
        </p:nvSpPr>
        <p:spPr>
          <a:xfrm>
            <a:off x="857250" y="1824037"/>
            <a:ext cx="4810125" cy="428625"/>
          </a:xfrm>
          <a:prstGeom prst="rect">
            <a:avLst/>
          </a:prstGeom>
          <a:noFill/>
        </p:spPr>
        <p:txBody>
          <a:bodyPr wrap="square" lIns="0" tIns="0" rIns="0" bIns="0" anchor="t">
            <a:spAutoFit/>
          </a:bodyPr>
          <a:lstStyle/>
          <a:p>
            <a:pPr algn="l">
              <a:lnSpc>
                <a:spcPts val="1687"/>
              </a:lnSpc>
            </a:pPr>
            <a:r>
              <a:rPr sz="1125" b="0" i="0" u="none">
                <a:solidFill>
                  <a:srgbClr val="475569"/>
                </a:solidFill>
                <a:latin typeface="DM Sans"/>
              </a:rPr>
              <a:t>Özniteliklerin hedef sınıf değişkeni (Zararlı / Meşru) üzerindeki bağımlılık derecesini ölçer. Lineer olmayan ilişkileri yakalar.</a:t>
            </a:r>
          </a:p>
        </p:txBody>
      </p:sp>
      <p:sp>
        <p:nvSpPr>
          <p:cNvPr id="16" name="TextBox 15"/>
          <p:cNvSpPr txBox="1"/>
          <p:nvPr/>
        </p:nvSpPr>
        <p:spPr>
          <a:xfrm>
            <a:off x="6572250" y="1490662"/>
            <a:ext cx="5050631" cy="238125"/>
          </a:xfrm>
          <a:prstGeom prst="rect">
            <a:avLst/>
          </a:prstGeom>
          <a:noFill/>
        </p:spPr>
        <p:txBody>
          <a:bodyPr wrap="square" lIns="0" tIns="0" rIns="0" bIns="0" anchor="t">
            <a:spAutoFit/>
          </a:bodyPr>
          <a:lstStyle/>
          <a:p>
            <a:pPr algn="l"/>
            <a:r>
              <a:rPr sz="1500" b="1" i="0" u="none">
                <a:solidFill>
                  <a:srgbClr val="065F46"/>
                </a:solidFill>
                <a:latin typeface="Merriweather"/>
              </a:rPr>
              <a:t>2. Pearson Korelasyon Analizi</a:t>
            </a:r>
          </a:p>
        </p:txBody>
      </p:sp>
      <p:sp>
        <p:nvSpPr>
          <p:cNvPr id="17" name="TextBox 16"/>
          <p:cNvSpPr txBox="1"/>
          <p:nvPr/>
        </p:nvSpPr>
        <p:spPr>
          <a:xfrm>
            <a:off x="6572250" y="1824037"/>
            <a:ext cx="4810125" cy="428625"/>
          </a:xfrm>
          <a:prstGeom prst="rect">
            <a:avLst/>
          </a:prstGeom>
          <a:noFill/>
        </p:spPr>
        <p:txBody>
          <a:bodyPr wrap="square" lIns="0" tIns="0" rIns="0" bIns="0" anchor="t">
            <a:spAutoFit/>
          </a:bodyPr>
          <a:lstStyle/>
          <a:p>
            <a:pPr algn="l">
              <a:lnSpc>
                <a:spcPts val="1687"/>
              </a:lnSpc>
            </a:pPr>
            <a:r>
              <a:rPr sz="1125" b="0" i="0" u="none">
                <a:solidFill>
                  <a:srgbClr val="475569"/>
                </a:solidFill>
                <a:latin typeface="DM Sans"/>
              </a:rPr>
              <a:t>Yüksek derecede birbiriyle ilişkili (çoklu doğrusallık gösteren, r &gt; 0.85) öznitelik çiftleri elenerek modelin boyutsallığı düşürülmüştür.</a:t>
            </a:r>
          </a:p>
        </p:txBody>
      </p:sp>
      <p:pic>
        <p:nvPicPr>
          <p:cNvPr id="18" name="Picture 1" descr="image.png">
            <a:extLst>
              <a:ext uri="{FF2B5EF4-FFF2-40B4-BE49-F238E27FC236}">
                <a16:creationId xmlns:a16="http://schemas.microsoft.com/office/drawing/2014/main" id="{EB674CD2-0A2D-DBAF-A6B6-6A5723A7709B}"/>
              </a:ext>
            </a:extLst>
          </p:cNvPr>
          <p:cNvPicPr>
            <a:picLocks noChangeAspect="1"/>
          </p:cNvPicPr>
          <p:nvPr/>
        </p:nvPicPr>
        <p:blipFill>
          <a:blip r:embed="rId7"/>
          <a:stretch>
            <a:fillRect/>
          </a:stretch>
        </p:blipFill>
        <p:spPr>
          <a:xfrm>
            <a:off x="666750" y="952500"/>
            <a:ext cx="10858500" cy="171450"/>
          </a:xfrm>
          <a:prstGeom prst="rect">
            <a:avLst/>
          </a:prstGeom>
        </p:spPr>
      </p:pic>
      <p:pic>
        <p:nvPicPr>
          <p:cNvPr id="19" name="İçerik Yer Tutucusu 10">
            <a:extLst>
              <a:ext uri="{FF2B5EF4-FFF2-40B4-BE49-F238E27FC236}">
                <a16:creationId xmlns:a16="http://schemas.microsoft.com/office/drawing/2014/main" id="{1207C079-E5F0-B37F-559C-1EE79886DE18}"/>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9590435" y="466725"/>
            <a:ext cx="2011362"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B2C5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666750" y="6429375"/>
            <a:ext cx="10858500" cy="238125"/>
          </a:xfrm>
          <a:prstGeom prst="rect">
            <a:avLst/>
          </a:prstGeom>
        </p:spPr>
      </p:pic>
      <p:pic>
        <p:nvPicPr>
          <p:cNvPr id="3" name="Picture 2" descr="image.png"/>
          <p:cNvPicPr>
            <a:picLocks noChangeAspect="1"/>
          </p:cNvPicPr>
          <p:nvPr/>
        </p:nvPicPr>
        <p:blipFill>
          <a:blip r:embed="rId3"/>
          <a:stretch>
            <a:fillRect/>
          </a:stretch>
        </p:blipFill>
        <p:spPr>
          <a:xfrm>
            <a:off x="4667250" y="3980408"/>
            <a:ext cx="2857500" cy="171450"/>
          </a:xfrm>
          <a:prstGeom prst="rect">
            <a:avLst/>
          </a:prstGeom>
        </p:spPr>
      </p:pic>
      <p:sp>
        <p:nvSpPr>
          <p:cNvPr id="4" name="TextBox 3"/>
          <p:cNvSpPr txBox="1"/>
          <p:nvPr/>
        </p:nvSpPr>
        <p:spPr>
          <a:xfrm>
            <a:off x="666750" y="476250"/>
            <a:ext cx="1838325" cy="133350"/>
          </a:xfrm>
          <a:prstGeom prst="rect">
            <a:avLst/>
          </a:prstGeom>
          <a:noFill/>
        </p:spPr>
        <p:txBody>
          <a:bodyPr wrap="square" lIns="0" tIns="0" rIns="0" bIns="0" anchor="ctr">
            <a:spAutoFit/>
          </a:bodyPr>
          <a:lstStyle/>
          <a:p>
            <a:pPr algn="l"/>
            <a:r>
              <a:rPr sz="1200" b="1" i="0" u="none">
                <a:solidFill>
                  <a:srgbClr val="FFFFFF"/>
                </a:solidFill>
                <a:latin typeface="DM Sans"/>
              </a:rPr>
              <a:t>SAKARYA ÜNİVERSİTESİ</a:t>
            </a:r>
          </a:p>
        </p:txBody>
      </p:sp>
      <p:sp>
        <p:nvSpPr>
          <p:cNvPr id="5" name="TextBox 4"/>
          <p:cNvSpPr txBox="1"/>
          <p:nvPr/>
        </p:nvSpPr>
        <p:spPr>
          <a:xfrm>
            <a:off x="2095500" y="2309961"/>
            <a:ext cx="8001000" cy="238125"/>
          </a:xfrm>
          <a:prstGeom prst="rect">
            <a:avLst/>
          </a:prstGeom>
          <a:noFill/>
        </p:spPr>
        <p:txBody>
          <a:bodyPr wrap="square" lIns="0" tIns="0" rIns="0" bIns="0" anchor="t">
            <a:spAutoFit/>
          </a:bodyPr>
          <a:lstStyle/>
          <a:p>
            <a:pPr algn="ctr"/>
            <a:r>
              <a:rPr sz="1500" b="1" i="0" u="none">
                <a:solidFill>
                  <a:srgbClr val="C5A059"/>
                </a:solidFill>
                <a:latin typeface="Merriweather"/>
              </a:rPr>
              <a:t>BÖLÜM 04</a:t>
            </a:r>
          </a:p>
        </p:txBody>
      </p:sp>
      <p:sp>
        <p:nvSpPr>
          <p:cNvPr id="8" name="TextBox 7"/>
          <p:cNvSpPr txBox="1"/>
          <p:nvPr/>
        </p:nvSpPr>
        <p:spPr>
          <a:xfrm>
            <a:off x="666750" y="6534150"/>
            <a:ext cx="2460498" cy="126958"/>
          </a:xfrm>
          <a:prstGeom prst="rect">
            <a:avLst/>
          </a:prstGeom>
          <a:noFill/>
        </p:spPr>
        <p:txBody>
          <a:bodyPr wrap="square" lIns="0" tIns="0" rIns="0" bIns="0" anchor="t">
            <a:spAutoFit/>
          </a:bodyPr>
          <a:lstStyle/>
          <a:p>
            <a:pPr algn="l"/>
            <a:r>
              <a:rPr sz="825" b="0" i="0" u="none" dirty="0">
                <a:solidFill>
                  <a:srgbClr val="94A3B8"/>
                </a:solidFill>
                <a:latin typeface="DM Sans"/>
              </a:rPr>
              <a:t>Mustafa </a:t>
            </a:r>
            <a:r>
              <a:rPr sz="825" b="0" i="0" u="none" dirty="0" err="1">
                <a:solidFill>
                  <a:srgbClr val="94A3B8"/>
                </a:solidFill>
                <a:latin typeface="DM Sans"/>
              </a:rPr>
              <a:t>Melih</a:t>
            </a:r>
            <a:r>
              <a:rPr sz="825" b="0" i="0" u="none" dirty="0">
                <a:solidFill>
                  <a:srgbClr val="94A3B8"/>
                </a:solidFill>
                <a:latin typeface="DM Sans"/>
              </a:rPr>
              <a:t> TÜFEKCİOĞLU • </a:t>
            </a:r>
            <a:r>
              <a:rPr sz="825" b="0" i="0" u="none" dirty="0" err="1">
                <a:solidFill>
                  <a:srgbClr val="94A3B8"/>
                </a:solidFill>
                <a:latin typeface="DM Sans"/>
              </a:rPr>
              <a:t>Yüksek</a:t>
            </a:r>
            <a:r>
              <a:rPr sz="825" b="0" i="0" u="none" dirty="0">
                <a:solidFill>
                  <a:srgbClr val="94A3B8"/>
                </a:solidFill>
                <a:latin typeface="DM Sans"/>
              </a:rPr>
              <a:t> </a:t>
            </a:r>
            <a:r>
              <a:rPr sz="825" b="0" i="0" u="none" dirty="0" err="1">
                <a:solidFill>
                  <a:srgbClr val="94A3B8"/>
                </a:solidFill>
                <a:latin typeface="DM Sans"/>
              </a:rPr>
              <a:t>Lisans</a:t>
            </a:r>
            <a:r>
              <a:rPr sz="825" b="0" i="0" u="none" dirty="0">
                <a:solidFill>
                  <a:srgbClr val="94A3B8"/>
                </a:solidFill>
                <a:latin typeface="DM Sans"/>
              </a:rPr>
              <a:t> </a:t>
            </a:r>
            <a:r>
              <a:rPr sz="825" b="0" i="0" u="none" dirty="0" err="1">
                <a:solidFill>
                  <a:srgbClr val="94A3B8"/>
                </a:solidFill>
                <a:latin typeface="DM Sans"/>
              </a:rPr>
              <a:t>Tezi</a:t>
            </a:r>
            <a:endParaRPr sz="825" b="0" i="0" u="none" dirty="0">
              <a:solidFill>
                <a:srgbClr val="94A3B8"/>
              </a:solidFill>
              <a:latin typeface="DM Sans"/>
            </a:endParaRPr>
          </a:p>
        </p:txBody>
      </p:sp>
      <p:sp>
        <p:nvSpPr>
          <p:cNvPr id="9" name="TextBox 8"/>
          <p:cNvSpPr txBox="1"/>
          <p:nvPr/>
        </p:nvSpPr>
        <p:spPr>
          <a:xfrm>
            <a:off x="11201400" y="6534150"/>
            <a:ext cx="323850" cy="133350"/>
          </a:xfrm>
          <a:prstGeom prst="rect">
            <a:avLst/>
          </a:prstGeom>
          <a:noFill/>
        </p:spPr>
        <p:txBody>
          <a:bodyPr wrap="square" lIns="0" tIns="0" rIns="0" bIns="0" anchor="t">
            <a:spAutoFit/>
          </a:bodyPr>
          <a:lstStyle/>
          <a:p>
            <a:pPr algn="l"/>
            <a:r>
              <a:rPr sz="825" b="0" i="0" u="none">
                <a:solidFill>
                  <a:srgbClr val="94A3B8"/>
                </a:solidFill>
                <a:latin typeface="DM Sans"/>
              </a:rPr>
              <a:t>Slayt 8</a:t>
            </a:r>
          </a:p>
        </p:txBody>
      </p:sp>
      <p:pic>
        <p:nvPicPr>
          <p:cNvPr id="10" name="İçerik Yer Tutucusu 10">
            <a:extLst>
              <a:ext uri="{FF2B5EF4-FFF2-40B4-BE49-F238E27FC236}">
                <a16:creationId xmlns:a16="http://schemas.microsoft.com/office/drawing/2014/main" id="{B37786D2-57C1-72F5-BBAE-597F6ED3EF8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93713" y="286767"/>
            <a:ext cx="2011362"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3">
            <a:extLst>
              <a:ext uri="{FF2B5EF4-FFF2-40B4-BE49-F238E27FC236}">
                <a16:creationId xmlns:a16="http://schemas.microsoft.com/office/drawing/2014/main" id="{56DF2EE7-ACCD-5D48-5151-2C940968B18B}"/>
              </a:ext>
            </a:extLst>
          </p:cNvPr>
          <p:cNvSpPr txBox="1"/>
          <p:nvPr/>
        </p:nvSpPr>
        <p:spPr>
          <a:xfrm>
            <a:off x="295275" y="2638425"/>
            <a:ext cx="11601450" cy="1143000"/>
          </a:xfrm>
          <a:prstGeom prst="rect">
            <a:avLst/>
          </a:prstGeom>
          <a:noFill/>
        </p:spPr>
        <p:txBody>
          <a:bodyPr wrap="square" lIns="0" tIns="0" rIns="0" bIns="0" anchor="t">
            <a:spAutoFit/>
          </a:bodyPr>
          <a:lstStyle/>
          <a:p>
            <a:pPr algn="ctr"/>
            <a:r>
              <a:rPr sz="3600" b="1" i="0" u="none" dirty="0">
                <a:solidFill>
                  <a:srgbClr val="FFFFFF"/>
                </a:solidFill>
                <a:latin typeface="Merriweather"/>
              </a:rPr>
              <a:t>MAKİNE ÖĞRENMESİ ALGORİTMALARI VE MODELLEME</a:t>
            </a:r>
          </a:p>
        </p:txBody>
      </p:sp>
      <p:sp>
        <p:nvSpPr>
          <p:cNvPr id="12" name="TextBox 4">
            <a:extLst>
              <a:ext uri="{FF2B5EF4-FFF2-40B4-BE49-F238E27FC236}">
                <a16:creationId xmlns:a16="http://schemas.microsoft.com/office/drawing/2014/main" id="{DF65916F-B89C-9397-84BC-DE2FB69D63D8}"/>
              </a:ext>
            </a:extLst>
          </p:cNvPr>
          <p:cNvSpPr txBox="1"/>
          <p:nvPr/>
        </p:nvSpPr>
        <p:spPr>
          <a:xfrm>
            <a:off x="2286000" y="4187214"/>
            <a:ext cx="7620000" cy="571500"/>
          </a:xfrm>
          <a:prstGeom prst="rect">
            <a:avLst/>
          </a:prstGeom>
          <a:noFill/>
        </p:spPr>
        <p:txBody>
          <a:bodyPr wrap="square" lIns="0" tIns="0" rIns="0" bIns="0" anchor="t">
            <a:spAutoFit/>
          </a:bodyPr>
          <a:lstStyle/>
          <a:p>
            <a:pPr algn="ctr">
              <a:lnSpc>
                <a:spcPts val="2250"/>
              </a:lnSpc>
            </a:pPr>
            <a:r>
              <a:rPr sz="1500" b="0" i="0" u="none" dirty="0" err="1">
                <a:solidFill>
                  <a:srgbClr val="CBD5E1"/>
                </a:solidFill>
                <a:latin typeface="DM Sans"/>
              </a:rPr>
              <a:t>Sınıflandırma</a:t>
            </a:r>
            <a:r>
              <a:rPr sz="1500" b="0" i="0" u="none" dirty="0">
                <a:solidFill>
                  <a:srgbClr val="CBD5E1"/>
                </a:solidFill>
                <a:latin typeface="DM Sans"/>
              </a:rPr>
              <a:t> </a:t>
            </a:r>
            <a:r>
              <a:rPr sz="1500" b="0" i="0" u="none" dirty="0" err="1">
                <a:solidFill>
                  <a:srgbClr val="CBD5E1"/>
                </a:solidFill>
                <a:latin typeface="DM Sans"/>
              </a:rPr>
              <a:t>Algoritmalarının</a:t>
            </a:r>
            <a:r>
              <a:rPr sz="1500" b="0" i="0" u="none" dirty="0">
                <a:solidFill>
                  <a:srgbClr val="CBD5E1"/>
                </a:solidFill>
                <a:latin typeface="DM Sans"/>
              </a:rPr>
              <a:t> </a:t>
            </a:r>
            <a:r>
              <a:rPr sz="1500" b="0" i="0" u="none" dirty="0" err="1">
                <a:solidFill>
                  <a:srgbClr val="CBD5E1"/>
                </a:solidFill>
                <a:latin typeface="DM Sans"/>
              </a:rPr>
              <a:t>Kuramsal</a:t>
            </a:r>
            <a:r>
              <a:rPr sz="1500" b="0" i="0" u="none" dirty="0">
                <a:solidFill>
                  <a:srgbClr val="CBD5E1"/>
                </a:solidFill>
                <a:latin typeface="DM Sans"/>
              </a:rPr>
              <a:t> </a:t>
            </a:r>
            <a:r>
              <a:rPr sz="1500" b="0" i="0" u="none" dirty="0" err="1">
                <a:solidFill>
                  <a:srgbClr val="CBD5E1"/>
                </a:solidFill>
                <a:latin typeface="DM Sans"/>
              </a:rPr>
              <a:t>Altyapısı</a:t>
            </a:r>
            <a:r>
              <a:rPr sz="1500" b="0" i="0" u="none" dirty="0">
                <a:solidFill>
                  <a:srgbClr val="CBD5E1"/>
                </a:solidFill>
                <a:latin typeface="DM Sans"/>
              </a:rPr>
              <a:t>, </a:t>
            </a:r>
            <a:r>
              <a:rPr sz="1500" b="0" i="0" u="none" dirty="0" err="1">
                <a:solidFill>
                  <a:srgbClr val="CBD5E1"/>
                </a:solidFill>
                <a:latin typeface="DM Sans"/>
              </a:rPr>
              <a:t>Hiperparametre</a:t>
            </a:r>
            <a:r>
              <a:rPr sz="1500" b="0" i="0" u="none" dirty="0">
                <a:solidFill>
                  <a:srgbClr val="CBD5E1"/>
                </a:solidFill>
                <a:latin typeface="DM Sans"/>
              </a:rPr>
              <a:t> </a:t>
            </a:r>
            <a:r>
              <a:rPr sz="1500" b="0" i="0" u="none" dirty="0" err="1">
                <a:solidFill>
                  <a:srgbClr val="CBD5E1"/>
                </a:solidFill>
                <a:latin typeface="DM Sans"/>
              </a:rPr>
              <a:t>Optimizasyonu</a:t>
            </a:r>
            <a:r>
              <a:rPr sz="1500" b="0" i="0" u="none" dirty="0">
                <a:solidFill>
                  <a:srgbClr val="CBD5E1"/>
                </a:solidFill>
                <a:latin typeface="DM Sans"/>
              </a:rPr>
              <a:t> </a:t>
            </a:r>
            <a:r>
              <a:rPr sz="1500" b="0" i="0" u="none" dirty="0" err="1">
                <a:solidFill>
                  <a:srgbClr val="CBD5E1"/>
                </a:solidFill>
                <a:latin typeface="DM Sans"/>
              </a:rPr>
              <a:t>ve</a:t>
            </a:r>
            <a:r>
              <a:rPr sz="1500" b="0" i="0" u="none" dirty="0">
                <a:solidFill>
                  <a:srgbClr val="CBD5E1"/>
                </a:solidFill>
                <a:latin typeface="DM Sans"/>
              </a:rPr>
              <a:t> Model </a:t>
            </a:r>
            <a:r>
              <a:rPr sz="1500" b="0" i="0" u="none" dirty="0" err="1">
                <a:solidFill>
                  <a:srgbClr val="CBD5E1"/>
                </a:solidFill>
                <a:latin typeface="DM Sans"/>
              </a:rPr>
              <a:t>Mimarileri</a:t>
            </a:r>
            <a:endParaRPr sz="1500" b="0" i="0" u="none" dirty="0">
              <a:solidFill>
                <a:srgbClr val="CBD5E1"/>
              </a:solidFill>
              <a:latin typeface="DM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png"/>
          <p:cNvPicPr>
            <a:picLocks noChangeAspect="1"/>
          </p:cNvPicPr>
          <p:nvPr/>
        </p:nvPicPr>
        <p:blipFill>
          <a:blip r:embed="rId2"/>
          <a:stretch>
            <a:fillRect/>
          </a:stretch>
        </p:blipFill>
        <p:spPr>
          <a:xfrm>
            <a:off x="571500" y="6391275"/>
            <a:ext cx="11049000" cy="276225"/>
          </a:xfrm>
          <a:prstGeom prst="rect">
            <a:avLst/>
          </a:prstGeom>
        </p:spPr>
      </p:pic>
      <p:pic>
        <p:nvPicPr>
          <p:cNvPr id="4" name="Picture 3" descr="image.png"/>
          <p:cNvPicPr>
            <a:picLocks noChangeAspect="1"/>
          </p:cNvPicPr>
          <p:nvPr/>
        </p:nvPicPr>
        <p:blipFill>
          <a:blip r:embed="rId3"/>
          <a:stretch>
            <a:fillRect/>
          </a:stretch>
        </p:blipFill>
        <p:spPr>
          <a:xfrm>
            <a:off x="571500" y="1252537"/>
            <a:ext cx="2655093" cy="1728787"/>
          </a:xfrm>
          <a:prstGeom prst="rect">
            <a:avLst/>
          </a:prstGeom>
        </p:spPr>
      </p:pic>
      <p:pic>
        <p:nvPicPr>
          <p:cNvPr id="5" name="Picture 4" descr="image.png"/>
          <p:cNvPicPr>
            <a:picLocks noChangeAspect="1"/>
          </p:cNvPicPr>
          <p:nvPr/>
        </p:nvPicPr>
        <p:blipFill>
          <a:blip r:embed="rId4"/>
          <a:stretch>
            <a:fillRect/>
          </a:stretch>
        </p:blipFill>
        <p:spPr>
          <a:xfrm>
            <a:off x="3369468" y="1252537"/>
            <a:ext cx="2655093" cy="1728787"/>
          </a:xfrm>
          <a:prstGeom prst="rect">
            <a:avLst/>
          </a:prstGeom>
        </p:spPr>
      </p:pic>
      <p:pic>
        <p:nvPicPr>
          <p:cNvPr id="6" name="Picture 5" descr="image.png"/>
          <p:cNvPicPr>
            <a:picLocks noChangeAspect="1"/>
          </p:cNvPicPr>
          <p:nvPr/>
        </p:nvPicPr>
        <p:blipFill>
          <a:blip r:embed="rId5"/>
          <a:stretch>
            <a:fillRect/>
          </a:stretch>
        </p:blipFill>
        <p:spPr>
          <a:xfrm>
            <a:off x="6167437" y="1252537"/>
            <a:ext cx="2655093" cy="1728787"/>
          </a:xfrm>
          <a:prstGeom prst="rect">
            <a:avLst/>
          </a:prstGeom>
        </p:spPr>
      </p:pic>
      <p:pic>
        <p:nvPicPr>
          <p:cNvPr id="7" name="Picture 6" descr="image.png"/>
          <p:cNvPicPr>
            <a:picLocks noChangeAspect="1"/>
          </p:cNvPicPr>
          <p:nvPr/>
        </p:nvPicPr>
        <p:blipFill>
          <a:blip r:embed="rId6"/>
          <a:stretch>
            <a:fillRect/>
          </a:stretch>
        </p:blipFill>
        <p:spPr>
          <a:xfrm>
            <a:off x="8965406" y="1252537"/>
            <a:ext cx="2655093" cy="1728787"/>
          </a:xfrm>
          <a:prstGeom prst="rect">
            <a:avLst/>
          </a:prstGeom>
        </p:spPr>
      </p:pic>
      <p:sp>
        <p:nvSpPr>
          <p:cNvPr id="8" name="TextBox 7"/>
          <p:cNvSpPr txBox="1"/>
          <p:nvPr/>
        </p:nvSpPr>
        <p:spPr>
          <a:xfrm>
            <a:off x="571500" y="476250"/>
            <a:ext cx="11601450" cy="423862"/>
          </a:xfrm>
          <a:prstGeom prst="rect">
            <a:avLst/>
          </a:prstGeom>
          <a:noFill/>
        </p:spPr>
        <p:txBody>
          <a:bodyPr wrap="square" lIns="0" tIns="0" rIns="0" bIns="0" anchor="t">
            <a:spAutoFit/>
          </a:bodyPr>
          <a:lstStyle/>
          <a:p>
            <a:pPr algn="l">
              <a:lnSpc>
                <a:spcPts val="3187"/>
              </a:lnSpc>
            </a:pPr>
            <a:r>
              <a:rPr sz="2550" b="1" i="0" u="none">
                <a:solidFill>
                  <a:srgbClr val="005088"/>
                </a:solidFill>
                <a:latin typeface="Merriweather"/>
              </a:rPr>
              <a:t>Karşılaştırmalı Diğer Yöntemler ve Modellere Bakış</a:t>
            </a:r>
          </a:p>
        </p:txBody>
      </p:sp>
      <p:sp>
        <p:nvSpPr>
          <p:cNvPr id="9" name="Rectangle 8"/>
          <p:cNvSpPr/>
          <p:nvPr/>
        </p:nvSpPr>
        <p:spPr>
          <a:xfrm>
            <a:off x="571500" y="995362"/>
            <a:ext cx="11049000"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71500" y="6496050"/>
            <a:ext cx="3009900" cy="171450"/>
          </a:xfrm>
          <a:prstGeom prst="rect">
            <a:avLst/>
          </a:prstGeom>
          <a:noFill/>
        </p:spPr>
        <p:txBody>
          <a:bodyPr wrap="square" lIns="0" tIns="0" rIns="0" bIns="0" anchor="t">
            <a:spAutoFit/>
          </a:bodyPr>
          <a:lstStyle/>
          <a:p>
            <a:pPr algn="l">
              <a:lnSpc>
                <a:spcPts val="1350"/>
              </a:lnSpc>
            </a:pPr>
            <a:r>
              <a:rPr sz="900" b="0" i="0" u="none">
                <a:solidFill>
                  <a:srgbClr val="94A3B8"/>
                </a:solidFill>
                <a:latin typeface="DM Sans"/>
              </a:rPr>
              <a:t>SAKARYA ÜNİVERSİTESİ • YÜKSEK LİSANS TEZ SAVUNMASI</a:t>
            </a:r>
          </a:p>
        </p:txBody>
      </p:sp>
      <p:sp>
        <p:nvSpPr>
          <p:cNvPr id="11" name="TextBox 10"/>
          <p:cNvSpPr txBox="1"/>
          <p:nvPr/>
        </p:nvSpPr>
        <p:spPr>
          <a:xfrm>
            <a:off x="11210925" y="6496050"/>
            <a:ext cx="409575" cy="171450"/>
          </a:xfrm>
          <a:prstGeom prst="rect">
            <a:avLst/>
          </a:prstGeom>
          <a:noFill/>
        </p:spPr>
        <p:txBody>
          <a:bodyPr wrap="square" lIns="0" tIns="0" rIns="0" bIns="0" anchor="t">
            <a:spAutoFit/>
          </a:bodyPr>
          <a:lstStyle/>
          <a:p>
            <a:pPr algn="l">
              <a:lnSpc>
                <a:spcPts val="1350"/>
              </a:lnSpc>
            </a:pPr>
            <a:r>
              <a:rPr sz="900" b="0" i="0" u="none">
                <a:solidFill>
                  <a:srgbClr val="94A3B8"/>
                </a:solidFill>
                <a:latin typeface="DM Sans"/>
              </a:rPr>
              <a:t>Slayt 18</a:t>
            </a:r>
          </a:p>
        </p:txBody>
      </p:sp>
      <p:sp>
        <p:nvSpPr>
          <p:cNvPr id="12" name="TextBox 11"/>
          <p:cNvSpPr txBox="1"/>
          <p:nvPr/>
        </p:nvSpPr>
        <p:spPr>
          <a:xfrm>
            <a:off x="752475" y="1957387"/>
            <a:ext cx="2407800" cy="190500"/>
          </a:xfrm>
          <a:prstGeom prst="rect">
            <a:avLst/>
          </a:prstGeom>
          <a:noFill/>
        </p:spPr>
        <p:txBody>
          <a:bodyPr wrap="square" lIns="0" tIns="0" rIns="0" bIns="0" anchor="t">
            <a:spAutoFit/>
          </a:bodyPr>
          <a:lstStyle/>
          <a:p>
            <a:pPr algn="l"/>
            <a:r>
              <a:rPr sz="1200" b="1" i="0" u="none" dirty="0" err="1">
                <a:solidFill>
                  <a:srgbClr val="0F172A"/>
                </a:solidFill>
                <a:latin typeface="Merriweather"/>
              </a:rPr>
              <a:t>Lojistik</a:t>
            </a:r>
            <a:r>
              <a:rPr sz="1200" b="1" i="0" u="none" dirty="0">
                <a:solidFill>
                  <a:srgbClr val="0F172A"/>
                </a:solidFill>
                <a:latin typeface="Merriweather"/>
              </a:rPr>
              <a:t> </a:t>
            </a:r>
            <a:r>
              <a:rPr sz="1200" b="1" i="0" u="none" dirty="0" err="1">
                <a:solidFill>
                  <a:srgbClr val="0F172A"/>
                </a:solidFill>
                <a:latin typeface="Merriweather"/>
              </a:rPr>
              <a:t>Regresyon</a:t>
            </a:r>
            <a:endParaRPr sz="1200" b="1" i="0" u="none" dirty="0">
              <a:solidFill>
                <a:srgbClr val="0F172A"/>
              </a:solidFill>
              <a:latin typeface="Merriweather"/>
            </a:endParaRPr>
          </a:p>
        </p:txBody>
      </p:sp>
      <p:sp>
        <p:nvSpPr>
          <p:cNvPr id="13" name="TextBox 12"/>
          <p:cNvSpPr txBox="1"/>
          <p:nvPr/>
        </p:nvSpPr>
        <p:spPr>
          <a:xfrm>
            <a:off x="752475" y="2243137"/>
            <a:ext cx="2293143" cy="557212"/>
          </a:xfrm>
          <a:prstGeom prst="rect">
            <a:avLst/>
          </a:prstGeom>
          <a:noFill/>
        </p:spPr>
        <p:txBody>
          <a:bodyPr wrap="square" lIns="0" tIns="0" rIns="0" bIns="0" anchor="t">
            <a:spAutoFit/>
          </a:bodyPr>
          <a:lstStyle/>
          <a:p>
            <a:pPr algn="l">
              <a:lnSpc>
                <a:spcPts val="1462"/>
              </a:lnSpc>
            </a:pPr>
            <a:r>
              <a:rPr sz="975" b="0" i="0" u="none" dirty="0" err="1">
                <a:solidFill>
                  <a:srgbClr val="64748B"/>
                </a:solidFill>
                <a:latin typeface="DM Sans"/>
              </a:rPr>
              <a:t>Lineer</a:t>
            </a:r>
            <a:r>
              <a:rPr sz="975" b="0" i="0" u="none" dirty="0">
                <a:solidFill>
                  <a:srgbClr val="64748B"/>
                </a:solidFill>
                <a:latin typeface="DM Sans"/>
              </a:rPr>
              <a:t> </a:t>
            </a:r>
            <a:r>
              <a:rPr sz="975" b="0" i="0" u="none" dirty="0" err="1">
                <a:solidFill>
                  <a:srgbClr val="64748B"/>
                </a:solidFill>
                <a:latin typeface="DM Sans"/>
              </a:rPr>
              <a:t>doğrultuda</a:t>
            </a:r>
            <a:r>
              <a:rPr sz="975" b="0" i="0" u="none" dirty="0">
                <a:solidFill>
                  <a:srgbClr val="64748B"/>
                </a:solidFill>
                <a:latin typeface="DM Sans"/>
              </a:rPr>
              <a:t> Sigmoid </a:t>
            </a:r>
            <a:r>
              <a:rPr sz="975" b="0" i="0" u="none" dirty="0" err="1">
                <a:solidFill>
                  <a:srgbClr val="64748B"/>
                </a:solidFill>
                <a:latin typeface="DM Sans"/>
              </a:rPr>
              <a:t>fonksiyonuyla</a:t>
            </a:r>
            <a:r>
              <a:rPr sz="975" b="0" i="0" u="none" dirty="0">
                <a:solidFill>
                  <a:srgbClr val="64748B"/>
                </a:solidFill>
                <a:latin typeface="DM Sans"/>
              </a:rPr>
              <a:t> </a:t>
            </a:r>
            <a:r>
              <a:rPr sz="975" b="0" i="0" u="none" dirty="0" err="1">
                <a:solidFill>
                  <a:srgbClr val="64748B"/>
                </a:solidFill>
                <a:latin typeface="DM Sans"/>
              </a:rPr>
              <a:t>olasılıksal</a:t>
            </a:r>
            <a:r>
              <a:rPr sz="975" b="0" i="0" u="none" dirty="0">
                <a:solidFill>
                  <a:srgbClr val="64748B"/>
                </a:solidFill>
                <a:latin typeface="DM Sans"/>
              </a:rPr>
              <a:t> </a:t>
            </a:r>
            <a:r>
              <a:rPr sz="975" b="0" i="0" u="none" dirty="0" err="1">
                <a:solidFill>
                  <a:srgbClr val="64748B"/>
                </a:solidFill>
                <a:latin typeface="DM Sans"/>
              </a:rPr>
              <a:t>sınır</a:t>
            </a:r>
            <a:r>
              <a:rPr sz="975" b="0" i="0" u="none" dirty="0">
                <a:solidFill>
                  <a:srgbClr val="64748B"/>
                </a:solidFill>
                <a:latin typeface="DM Sans"/>
              </a:rPr>
              <a:t> </a:t>
            </a:r>
            <a:r>
              <a:rPr sz="975" b="0" i="0" u="none" dirty="0" err="1">
                <a:solidFill>
                  <a:srgbClr val="64748B"/>
                </a:solidFill>
                <a:latin typeface="DM Sans"/>
              </a:rPr>
              <a:t>çizer</a:t>
            </a:r>
            <a:r>
              <a:rPr sz="975" b="0" i="0" u="none" dirty="0">
                <a:solidFill>
                  <a:srgbClr val="64748B"/>
                </a:solidFill>
                <a:latin typeface="DM Sans"/>
              </a:rPr>
              <a:t>. </a:t>
            </a:r>
            <a:r>
              <a:rPr sz="975" b="0" i="0" u="none" dirty="0" err="1">
                <a:solidFill>
                  <a:srgbClr val="64748B"/>
                </a:solidFill>
                <a:latin typeface="DM Sans"/>
              </a:rPr>
              <a:t>Hızlıdır</a:t>
            </a:r>
            <a:r>
              <a:rPr sz="975" b="0" i="0" u="none" dirty="0">
                <a:solidFill>
                  <a:srgbClr val="64748B"/>
                </a:solidFill>
                <a:latin typeface="DM Sans"/>
              </a:rPr>
              <a:t> </a:t>
            </a:r>
            <a:r>
              <a:rPr sz="975" b="0" i="0" u="none" dirty="0" err="1">
                <a:solidFill>
                  <a:srgbClr val="64748B"/>
                </a:solidFill>
                <a:latin typeface="DM Sans"/>
              </a:rPr>
              <a:t>ancak</a:t>
            </a:r>
            <a:r>
              <a:rPr sz="975" b="0" i="0" u="none" dirty="0">
                <a:solidFill>
                  <a:srgbClr val="64748B"/>
                </a:solidFill>
                <a:latin typeface="DM Sans"/>
              </a:rPr>
              <a:t> </a:t>
            </a:r>
            <a:r>
              <a:rPr sz="975" b="0" i="0" u="none" dirty="0" err="1">
                <a:solidFill>
                  <a:srgbClr val="64748B"/>
                </a:solidFill>
                <a:latin typeface="DM Sans"/>
              </a:rPr>
              <a:t>karmaşık</a:t>
            </a:r>
            <a:r>
              <a:rPr sz="975" b="0" i="0" u="none" dirty="0">
                <a:solidFill>
                  <a:srgbClr val="64748B"/>
                </a:solidFill>
                <a:latin typeface="DM Sans"/>
              </a:rPr>
              <a:t> </a:t>
            </a:r>
            <a:r>
              <a:rPr sz="975" b="0" i="0" u="none" dirty="0" err="1">
                <a:solidFill>
                  <a:srgbClr val="64748B"/>
                </a:solidFill>
                <a:latin typeface="DM Sans"/>
              </a:rPr>
              <a:t>ilişkilerde</a:t>
            </a:r>
            <a:r>
              <a:rPr sz="975" b="0" i="0" u="none" dirty="0">
                <a:solidFill>
                  <a:srgbClr val="64748B"/>
                </a:solidFill>
                <a:latin typeface="DM Sans"/>
              </a:rPr>
              <a:t> </a:t>
            </a:r>
            <a:r>
              <a:rPr sz="975" b="0" i="0" u="none" dirty="0" err="1">
                <a:solidFill>
                  <a:srgbClr val="64748B"/>
                </a:solidFill>
                <a:latin typeface="DM Sans"/>
              </a:rPr>
              <a:t>zayıf</a:t>
            </a:r>
            <a:r>
              <a:rPr sz="975" b="0" i="0" u="none" dirty="0">
                <a:solidFill>
                  <a:srgbClr val="64748B"/>
                </a:solidFill>
                <a:latin typeface="DM Sans"/>
              </a:rPr>
              <a:t> </a:t>
            </a:r>
            <a:r>
              <a:rPr sz="975" b="0" i="0" u="none" dirty="0" err="1">
                <a:solidFill>
                  <a:srgbClr val="64748B"/>
                </a:solidFill>
                <a:latin typeface="DM Sans"/>
              </a:rPr>
              <a:t>kalır</a:t>
            </a:r>
            <a:r>
              <a:rPr sz="975" b="0" i="0" u="none" dirty="0">
                <a:solidFill>
                  <a:srgbClr val="64748B"/>
                </a:solidFill>
                <a:latin typeface="DM Sans"/>
              </a:rPr>
              <a:t>.</a:t>
            </a:r>
          </a:p>
        </p:txBody>
      </p:sp>
      <p:sp>
        <p:nvSpPr>
          <p:cNvPr id="14" name="TextBox 13"/>
          <p:cNvSpPr txBox="1"/>
          <p:nvPr/>
        </p:nvSpPr>
        <p:spPr>
          <a:xfrm>
            <a:off x="3550443" y="1957387"/>
            <a:ext cx="2407800" cy="190500"/>
          </a:xfrm>
          <a:prstGeom prst="rect">
            <a:avLst/>
          </a:prstGeom>
          <a:noFill/>
        </p:spPr>
        <p:txBody>
          <a:bodyPr wrap="square" lIns="0" tIns="0" rIns="0" bIns="0" anchor="t">
            <a:spAutoFit/>
          </a:bodyPr>
          <a:lstStyle/>
          <a:p>
            <a:pPr algn="l"/>
            <a:r>
              <a:rPr sz="1200" b="1" i="0" u="none" dirty="0">
                <a:solidFill>
                  <a:srgbClr val="0F172A"/>
                </a:solidFill>
                <a:latin typeface="Merriweather"/>
              </a:rPr>
              <a:t>SVM (</a:t>
            </a:r>
            <a:r>
              <a:rPr sz="1200" b="1" i="0" u="none" dirty="0" err="1">
                <a:solidFill>
                  <a:srgbClr val="0F172A"/>
                </a:solidFill>
                <a:latin typeface="Merriweather"/>
              </a:rPr>
              <a:t>Destek</a:t>
            </a:r>
            <a:r>
              <a:rPr sz="1200" b="1" i="0" u="none" dirty="0">
                <a:solidFill>
                  <a:srgbClr val="0F172A"/>
                </a:solidFill>
                <a:latin typeface="Merriweather"/>
              </a:rPr>
              <a:t> </a:t>
            </a:r>
            <a:r>
              <a:rPr sz="1200" b="1" i="0" u="none" dirty="0" err="1">
                <a:solidFill>
                  <a:srgbClr val="0F172A"/>
                </a:solidFill>
                <a:latin typeface="Merriweather"/>
              </a:rPr>
              <a:t>Vektör</a:t>
            </a:r>
            <a:r>
              <a:rPr sz="1200" b="1" i="0" u="none" dirty="0">
                <a:solidFill>
                  <a:srgbClr val="0F172A"/>
                </a:solidFill>
                <a:latin typeface="Merriweather"/>
              </a:rPr>
              <a:t>)</a:t>
            </a:r>
          </a:p>
        </p:txBody>
      </p:sp>
      <p:sp>
        <p:nvSpPr>
          <p:cNvPr id="15" name="TextBox 14"/>
          <p:cNvSpPr txBox="1"/>
          <p:nvPr/>
        </p:nvSpPr>
        <p:spPr>
          <a:xfrm>
            <a:off x="3550443" y="2243137"/>
            <a:ext cx="2293143" cy="557212"/>
          </a:xfrm>
          <a:prstGeom prst="rect">
            <a:avLst/>
          </a:prstGeom>
          <a:noFill/>
        </p:spPr>
        <p:txBody>
          <a:bodyPr wrap="square" lIns="0" tIns="0" rIns="0" bIns="0" anchor="t">
            <a:spAutoFit/>
          </a:bodyPr>
          <a:lstStyle/>
          <a:p>
            <a:pPr algn="l">
              <a:lnSpc>
                <a:spcPts val="1462"/>
              </a:lnSpc>
            </a:pPr>
            <a:r>
              <a:rPr sz="975" b="0" i="0" u="none" dirty="0">
                <a:solidFill>
                  <a:srgbClr val="64748B"/>
                </a:solidFill>
                <a:latin typeface="DM Sans"/>
              </a:rPr>
              <a:t>RBF </a:t>
            </a:r>
            <a:r>
              <a:rPr sz="975" b="0" i="0" u="none" dirty="0" err="1">
                <a:solidFill>
                  <a:srgbClr val="64748B"/>
                </a:solidFill>
                <a:latin typeface="DM Sans"/>
              </a:rPr>
              <a:t>çekirdeği</a:t>
            </a:r>
            <a:r>
              <a:rPr sz="975" b="0" i="0" u="none" dirty="0">
                <a:solidFill>
                  <a:srgbClr val="64748B"/>
                </a:solidFill>
                <a:latin typeface="DM Sans"/>
              </a:rPr>
              <a:t> </a:t>
            </a:r>
            <a:r>
              <a:rPr sz="975" b="0" i="0" u="none" dirty="0" err="1">
                <a:solidFill>
                  <a:srgbClr val="64748B"/>
                </a:solidFill>
                <a:latin typeface="DM Sans"/>
              </a:rPr>
              <a:t>ile</a:t>
            </a:r>
            <a:r>
              <a:rPr sz="975" b="0" i="0" u="none" dirty="0">
                <a:solidFill>
                  <a:srgbClr val="64748B"/>
                </a:solidFill>
                <a:latin typeface="DM Sans"/>
              </a:rPr>
              <a:t> </a:t>
            </a:r>
            <a:r>
              <a:rPr sz="975" b="0" i="0" u="none" dirty="0" err="1">
                <a:solidFill>
                  <a:srgbClr val="64748B"/>
                </a:solidFill>
                <a:latin typeface="DM Sans"/>
              </a:rPr>
              <a:t>hiper</a:t>
            </a:r>
            <a:r>
              <a:rPr sz="975" b="0" i="0" u="none" dirty="0">
                <a:solidFill>
                  <a:srgbClr val="64748B"/>
                </a:solidFill>
                <a:latin typeface="DM Sans"/>
              </a:rPr>
              <a:t> </a:t>
            </a:r>
            <a:r>
              <a:rPr sz="975" b="0" i="0" u="none" dirty="0" err="1">
                <a:solidFill>
                  <a:srgbClr val="64748B"/>
                </a:solidFill>
                <a:latin typeface="DM Sans"/>
              </a:rPr>
              <a:t>düzlem</a:t>
            </a:r>
            <a:r>
              <a:rPr sz="975" b="0" i="0" u="none" dirty="0">
                <a:solidFill>
                  <a:srgbClr val="64748B"/>
                </a:solidFill>
                <a:latin typeface="DM Sans"/>
              </a:rPr>
              <a:t> </a:t>
            </a:r>
            <a:r>
              <a:rPr sz="975" b="0" i="0" u="none" dirty="0" err="1">
                <a:solidFill>
                  <a:srgbClr val="64748B"/>
                </a:solidFill>
                <a:latin typeface="DM Sans"/>
              </a:rPr>
              <a:t>belirler</a:t>
            </a:r>
            <a:r>
              <a:rPr sz="975" b="0" i="0" u="none" dirty="0">
                <a:solidFill>
                  <a:srgbClr val="64748B"/>
                </a:solidFill>
                <a:latin typeface="DM Sans"/>
              </a:rPr>
              <a:t>. </a:t>
            </a:r>
            <a:r>
              <a:rPr sz="975" b="0" i="0" u="none" dirty="0" err="1">
                <a:solidFill>
                  <a:srgbClr val="64748B"/>
                </a:solidFill>
                <a:latin typeface="DM Sans"/>
              </a:rPr>
              <a:t>Yüksek</a:t>
            </a:r>
            <a:r>
              <a:rPr sz="975" b="0" i="0" u="none" dirty="0">
                <a:solidFill>
                  <a:srgbClr val="64748B"/>
                </a:solidFill>
                <a:latin typeface="DM Sans"/>
              </a:rPr>
              <a:t> </a:t>
            </a:r>
            <a:r>
              <a:rPr sz="975" b="0" i="0" u="none" dirty="0" err="1">
                <a:solidFill>
                  <a:srgbClr val="64748B"/>
                </a:solidFill>
                <a:latin typeface="DM Sans"/>
              </a:rPr>
              <a:t>boyutlarda</a:t>
            </a:r>
            <a:r>
              <a:rPr sz="975" b="0" i="0" u="none" dirty="0">
                <a:solidFill>
                  <a:srgbClr val="64748B"/>
                </a:solidFill>
                <a:latin typeface="DM Sans"/>
              </a:rPr>
              <a:t> </a:t>
            </a:r>
            <a:r>
              <a:rPr sz="975" b="0" i="0" u="none" dirty="0" err="1">
                <a:solidFill>
                  <a:srgbClr val="64748B"/>
                </a:solidFill>
                <a:latin typeface="DM Sans"/>
              </a:rPr>
              <a:t>başarılıdır</a:t>
            </a:r>
            <a:r>
              <a:rPr sz="975" b="0" i="0" u="none" dirty="0">
                <a:solidFill>
                  <a:srgbClr val="64748B"/>
                </a:solidFill>
                <a:latin typeface="DM Sans"/>
              </a:rPr>
              <a:t> </a:t>
            </a:r>
            <a:r>
              <a:rPr sz="975" b="0" i="0" u="none" dirty="0" err="1">
                <a:solidFill>
                  <a:srgbClr val="64748B"/>
                </a:solidFill>
                <a:latin typeface="DM Sans"/>
              </a:rPr>
              <a:t>fakat</a:t>
            </a:r>
            <a:r>
              <a:rPr sz="975" b="0" i="0" u="none" dirty="0">
                <a:solidFill>
                  <a:srgbClr val="64748B"/>
                </a:solidFill>
                <a:latin typeface="DM Sans"/>
              </a:rPr>
              <a:t> </a:t>
            </a:r>
            <a:r>
              <a:rPr sz="975" b="0" i="0" u="none" dirty="0" err="1">
                <a:solidFill>
                  <a:srgbClr val="64748B"/>
                </a:solidFill>
                <a:latin typeface="DM Sans"/>
              </a:rPr>
              <a:t>veri</a:t>
            </a:r>
            <a:r>
              <a:rPr sz="975" b="0" i="0" u="none" dirty="0">
                <a:solidFill>
                  <a:srgbClr val="64748B"/>
                </a:solidFill>
                <a:latin typeface="DM Sans"/>
              </a:rPr>
              <a:t> </a:t>
            </a:r>
            <a:r>
              <a:rPr sz="975" b="0" i="0" u="none" dirty="0" err="1">
                <a:solidFill>
                  <a:srgbClr val="64748B"/>
                </a:solidFill>
                <a:latin typeface="DM Sans"/>
              </a:rPr>
              <a:t>kümesi</a:t>
            </a:r>
            <a:r>
              <a:rPr sz="975" b="0" i="0" u="none" dirty="0">
                <a:solidFill>
                  <a:srgbClr val="64748B"/>
                </a:solidFill>
                <a:latin typeface="DM Sans"/>
              </a:rPr>
              <a:t> </a:t>
            </a:r>
            <a:r>
              <a:rPr sz="975" b="0" i="0" u="none" dirty="0" err="1">
                <a:solidFill>
                  <a:srgbClr val="64748B"/>
                </a:solidFill>
                <a:latin typeface="DM Sans"/>
              </a:rPr>
              <a:t>büyüdükçe</a:t>
            </a:r>
            <a:r>
              <a:rPr sz="975" b="0" i="0" u="none" dirty="0">
                <a:solidFill>
                  <a:srgbClr val="64748B"/>
                </a:solidFill>
                <a:latin typeface="DM Sans"/>
              </a:rPr>
              <a:t> </a:t>
            </a:r>
            <a:r>
              <a:rPr sz="975" b="0" i="0" u="none" dirty="0" err="1">
                <a:solidFill>
                  <a:srgbClr val="64748B"/>
                </a:solidFill>
                <a:latin typeface="DM Sans"/>
              </a:rPr>
              <a:t>yavaşlar</a:t>
            </a:r>
            <a:r>
              <a:rPr sz="975" b="0" i="0" u="none" dirty="0">
                <a:solidFill>
                  <a:srgbClr val="64748B"/>
                </a:solidFill>
                <a:latin typeface="DM Sans"/>
              </a:rPr>
              <a:t>.</a:t>
            </a:r>
          </a:p>
        </p:txBody>
      </p:sp>
      <p:sp>
        <p:nvSpPr>
          <p:cNvPr id="16" name="TextBox 15"/>
          <p:cNvSpPr txBox="1"/>
          <p:nvPr/>
        </p:nvSpPr>
        <p:spPr>
          <a:xfrm>
            <a:off x="6348412" y="1957387"/>
            <a:ext cx="2407800" cy="190500"/>
          </a:xfrm>
          <a:prstGeom prst="rect">
            <a:avLst/>
          </a:prstGeom>
          <a:noFill/>
        </p:spPr>
        <p:txBody>
          <a:bodyPr wrap="square" lIns="0" tIns="0" rIns="0" bIns="0" anchor="t">
            <a:spAutoFit/>
          </a:bodyPr>
          <a:lstStyle/>
          <a:p>
            <a:pPr algn="l"/>
            <a:r>
              <a:rPr sz="1200" b="1" i="0" u="none">
                <a:solidFill>
                  <a:srgbClr val="0F172A"/>
                </a:solidFill>
                <a:latin typeface="Merriweather"/>
              </a:rPr>
              <a:t>k-NN (Komşuluk)</a:t>
            </a:r>
          </a:p>
        </p:txBody>
      </p:sp>
      <p:sp>
        <p:nvSpPr>
          <p:cNvPr id="17" name="TextBox 16"/>
          <p:cNvSpPr txBox="1"/>
          <p:nvPr/>
        </p:nvSpPr>
        <p:spPr>
          <a:xfrm>
            <a:off x="6348412" y="2243137"/>
            <a:ext cx="2293143" cy="557212"/>
          </a:xfrm>
          <a:prstGeom prst="rect">
            <a:avLst/>
          </a:prstGeom>
          <a:noFill/>
        </p:spPr>
        <p:txBody>
          <a:bodyPr wrap="square" lIns="0" tIns="0" rIns="0" bIns="0" anchor="t">
            <a:spAutoFit/>
          </a:bodyPr>
          <a:lstStyle/>
          <a:p>
            <a:pPr algn="l">
              <a:lnSpc>
                <a:spcPts val="1462"/>
              </a:lnSpc>
            </a:pPr>
            <a:r>
              <a:rPr sz="975" b="0" i="0" u="none">
                <a:solidFill>
                  <a:srgbClr val="64748B"/>
                </a:solidFill>
                <a:latin typeface="DM Sans"/>
              </a:rPr>
              <a:t>Öklid mesafesiyle en yakın k komşuyu sorgular. Test aşamasında bellek ve zaman karmaşıklığı yüksektir.</a:t>
            </a:r>
          </a:p>
        </p:txBody>
      </p:sp>
      <p:sp>
        <p:nvSpPr>
          <p:cNvPr id="18" name="TextBox 17"/>
          <p:cNvSpPr txBox="1"/>
          <p:nvPr/>
        </p:nvSpPr>
        <p:spPr>
          <a:xfrm>
            <a:off x="9146381" y="1957387"/>
            <a:ext cx="2407800" cy="190500"/>
          </a:xfrm>
          <a:prstGeom prst="rect">
            <a:avLst/>
          </a:prstGeom>
          <a:noFill/>
        </p:spPr>
        <p:txBody>
          <a:bodyPr wrap="square" lIns="0" tIns="0" rIns="0" bIns="0" anchor="t">
            <a:spAutoFit/>
          </a:bodyPr>
          <a:lstStyle/>
          <a:p>
            <a:pPr algn="l"/>
            <a:r>
              <a:rPr sz="1200" b="1" i="0" u="none">
                <a:solidFill>
                  <a:srgbClr val="0F172A"/>
                </a:solidFill>
                <a:latin typeface="Merriweather"/>
              </a:rPr>
              <a:t>MLP (Yapay Sinir)</a:t>
            </a:r>
          </a:p>
        </p:txBody>
      </p:sp>
      <p:sp>
        <p:nvSpPr>
          <p:cNvPr id="19" name="TextBox 18"/>
          <p:cNvSpPr txBox="1"/>
          <p:nvPr/>
        </p:nvSpPr>
        <p:spPr>
          <a:xfrm>
            <a:off x="9146381" y="2243137"/>
            <a:ext cx="2293143" cy="557212"/>
          </a:xfrm>
          <a:prstGeom prst="rect">
            <a:avLst/>
          </a:prstGeom>
          <a:noFill/>
        </p:spPr>
        <p:txBody>
          <a:bodyPr wrap="square" lIns="0" tIns="0" rIns="0" bIns="0" anchor="t">
            <a:spAutoFit/>
          </a:bodyPr>
          <a:lstStyle/>
          <a:p>
            <a:pPr algn="l">
              <a:lnSpc>
                <a:spcPts val="1462"/>
              </a:lnSpc>
            </a:pPr>
            <a:r>
              <a:rPr sz="975" b="0" i="0" u="none" dirty="0" err="1">
                <a:solidFill>
                  <a:srgbClr val="64748B"/>
                </a:solidFill>
                <a:latin typeface="DM Sans"/>
              </a:rPr>
              <a:t>Çok</a:t>
            </a:r>
            <a:r>
              <a:rPr sz="975" b="0" i="0" u="none" dirty="0">
                <a:solidFill>
                  <a:srgbClr val="64748B"/>
                </a:solidFill>
                <a:latin typeface="DM Sans"/>
              </a:rPr>
              <a:t> </a:t>
            </a:r>
            <a:r>
              <a:rPr sz="975" b="0" i="0" u="none" dirty="0" err="1">
                <a:solidFill>
                  <a:srgbClr val="64748B"/>
                </a:solidFill>
                <a:latin typeface="DM Sans"/>
              </a:rPr>
              <a:t>katmanlı</a:t>
            </a:r>
            <a:r>
              <a:rPr sz="975" b="0" i="0" u="none" dirty="0">
                <a:solidFill>
                  <a:srgbClr val="64748B"/>
                </a:solidFill>
                <a:latin typeface="DM Sans"/>
              </a:rPr>
              <a:t> </a:t>
            </a:r>
            <a:r>
              <a:rPr sz="975" b="0" i="0" u="none" dirty="0" err="1">
                <a:solidFill>
                  <a:srgbClr val="64748B"/>
                </a:solidFill>
                <a:latin typeface="DM Sans"/>
              </a:rPr>
              <a:t>duyarga</a:t>
            </a:r>
            <a:r>
              <a:rPr sz="975" b="0" i="0" u="none" dirty="0">
                <a:solidFill>
                  <a:srgbClr val="64748B"/>
                </a:solidFill>
                <a:latin typeface="DM Sans"/>
              </a:rPr>
              <a:t>. </a:t>
            </a:r>
            <a:r>
              <a:rPr sz="975" b="0" i="0" u="none" dirty="0" err="1">
                <a:solidFill>
                  <a:srgbClr val="64748B"/>
                </a:solidFill>
                <a:latin typeface="DM Sans"/>
              </a:rPr>
              <a:t>İki</a:t>
            </a:r>
            <a:r>
              <a:rPr sz="975" b="0" i="0" u="none" dirty="0">
                <a:solidFill>
                  <a:srgbClr val="64748B"/>
                </a:solidFill>
                <a:latin typeface="DM Sans"/>
              </a:rPr>
              <a:t> </a:t>
            </a:r>
            <a:r>
              <a:rPr sz="975" b="0" i="0" u="none" dirty="0" err="1">
                <a:solidFill>
                  <a:srgbClr val="64748B"/>
                </a:solidFill>
                <a:latin typeface="DM Sans"/>
              </a:rPr>
              <a:t>gizli</a:t>
            </a:r>
            <a:r>
              <a:rPr sz="975" b="0" i="0" u="none" dirty="0">
                <a:solidFill>
                  <a:srgbClr val="64748B"/>
                </a:solidFill>
                <a:latin typeface="DM Sans"/>
              </a:rPr>
              <a:t> </a:t>
            </a:r>
            <a:r>
              <a:rPr sz="975" b="0" i="0" u="none" dirty="0" err="1">
                <a:solidFill>
                  <a:srgbClr val="64748B"/>
                </a:solidFill>
                <a:latin typeface="DM Sans"/>
              </a:rPr>
              <a:t>katman</a:t>
            </a:r>
            <a:r>
              <a:rPr sz="975" b="0" i="0" u="none" dirty="0">
                <a:solidFill>
                  <a:srgbClr val="64748B"/>
                </a:solidFill>
                <a:latin typeface="DM Sans"/>
              </a:rPr>
              <a:t> (64x32) </a:t>
            </a:r>
            <a:r>
              <a:rPr sz="975" b="0" i="0" u="none" dirty="0" err="1">
                <a:solidFill>
                  <a:srgbClr val="64748B"/>
                </a:solidFill>
                <a:latin typeface="DM Sans"/>
              </a:rPr>
              <a:t>ve</a:t>
            </a:r>
            <a:r>
              <a:rPr sz="975" b="0" i="0" u="none" dirty="0">
                <a:solidFill>
                  <a:srgbClr val="64748B"/>
                </a:solidFill>
                <a:latin typeface="DM Sans"/>
              </a:rPr>
              <a:t> Adam </a:t>
            </a:r>
            <a:r>
              <a:rPr sz="975" b="0" i="0" u="none" dirty="0" err="1">
                <a:solidFill>
                  <a:srgbClr val="64748B"/>
                </a:solidFill>
                <a:latin typeface="DM Sans"/>
              </a:rPr>
              <a:t>optimizasyonu</a:t>
            </a:r>
            <a:r>
              <a:rPr sz="975" b="0" i="0" u="none" dirty="0">
                <a:solidFill>
                  <a:srgbClr val="64748B"/>
                </a:solidFill>
                <a:latin typeface="DM Sans"/>
              </a:rPr>
              <a:t> </a:t>
            </a:r>
            <a:r>
              <a:rPr sz="975" b="0" i="0" u="none" dirty="0" err="1">
                <a:solidFill>
                  <a:srgbClr val="64748B"/>
                </a:solidFill>
                <a:latin typeface="DM Sans"/>
              </a:rPr>
              <a:t>ile</a:t>
            </a:r>
            <a:r>
              <a:rPr sz="975" b="0" i="0" u="none" dirty="0">
                <a:solidFill>
                  <a:srgbClr val="64748B"/>
                </a:solidFill>
                <a:latin typeface="DM Sans"/>
              </a:rPr>
              <a:t> </a:t>
            </a:r>
            <a:r>
              <a:rPr sz="975" b="0" i="0" u="none" dirty="0" err="1">
                <a:solidFill>
                  <a:srgbClr val="64748B"/>
                </a:solidFill>
                <a:latin typeface="DM Sans"/>
              </a:rPr>
              <a:t>eğitilmiştir</a:t>
            </a:r>
            <a:r>
              <a:rPr sz="975" b="0" i="0" u="none" dirty="0">
                <a:solidFill>
                  <a:srgbClr val="64748B"/>
                </a:solidFill>
                <a:latin typeface="DM Sans"/>
              </a:rPr>
              <a:t>.</a:t>
            </a:r>
          </a:p>
        </p:txBody>
      </p:sp>
      <p:pic>
        <p:nvPicPr>
          <p:cNvPr id="20" name="Picture 19" descr="image.png"/>
          <p:cNvPicPr>
            <a:picLocks noChangeAspect="1"/>
          </p:cNvPicPr>
          <p:nvPr/>
        </p:nvPicPr>
        <p:blipFill>
          <a:blip r:embed="rId7"/>
          <a:stretch>
            <a:fillRect/>
          </a:stretch>
        </p:blipFill>
        <p:spPr>
          <a:xfrm>
            <a:off x="752475" y="1500187"/>
            <a:ext cx="266700" cy="266700"/>
          </a:xfrm>
          <a:prstGeom prst="rect">
            <a:avLst/>
          </a:prstGeom>
        </p:spPr>
      </p:pic>
      <p:pic>
        <p:nvPicPr>
          <p:cNvPr id="21" name="Picture 20" descr="image.png"/>
          <p:cNvPicPr>
            <a:picLocks noChangeAspect="1"/>
          </p:cNvPicPr>
          <p:nvPr/>
        </p:nvPicPr>
        <p:blipFill>
          <a:blip r:embed="rId8"/>
          <a:stretch>
            <a:fillRect/>
          </a:stretch>
        </p:blipFill>
        <p:spPr>
          <a:xfrm>
            <a:off x="3550443" y="1500187"/>
            <a:ext cx="238125" cy="266700"/>
          </a:xfrm>
          <a:prstGeom prst="rect">
            <a:avLst/>
          </a:prstGeom>
        </p:spPr>
      </p:pic>
      <p:pic>
        <p:nvPicPr>
          <p:cNvPr id="22" name="Picture 21" descr="image.png"/>
          <p:cNvPicPr>
            <a:picLocks noChangeAspect="1"/>
          </p:cNvPicPr>
          <p:nvPr/>
        </p:nvPicPr>
        <p:blipFill>
          <a:blip r:embed="rId9"/>
          <a:stretch>
            <a:fillRect/>
          </a:stretch>
        </p:blipFill>
        <p:spPr>
          <a:xfrm>
            <a:off x="6348412" y="1500187"/>
            <a:ext cx="333375" cy="266700"/>
          </a:xfrm>
          <a:prstGeom prst="rect">
            <a:avLst/>
          </a:prstGeom>
        </p:spPr>
      </p:pic>
      <p:pic>
        <p:nvPicPr>
          <p:cNvPr id="23" name="Picture 22" descr="image.png"/>
          <p:cNvPicPr>
            <a:picLocks noChangeAspect="1"/>
          </p:cNvPicPr>
          <p:nvPr/>
        </p:nvPicPr>
        <p:blipFill>
          <a:blip r:embed="rId10"/>
          <a:stretch>
            <a:fillRect/>
          </a:stretch>
        </p:blipFill>
        <p:spPr>
          <a:xfrm>
            <a:off x="9146381" y="1500187"/>
            <a:ext cx="266700" cy="266700"/>
          </a:xfrm>
          <a:prstGeom prst="rect">
            <a:avLst/>
          </a:prstGeom>
        </p:spPr>
      </p:pic>
      <p:pic>
        <p:nvPicPr>
          <p:cNvPr id="24" name="Picture 1" descr="image.png">
            <a:extLst>
              <a:ext uri="{FF2B5EF4-FFF2-40B4-BE49-F238E27FC236}">
                <a16:creationId xmlns:a16="http://schemas.microsoft.com/office/drawing/2014/main" id="{C17FBD28-52A7-E276-6EF2-CA579B5D0AB3}"/>
              </a:ext>
            </a:extLst>
          </p:cNvPr>
          <p:cNvPicPr>
            <a:picLocks noChangeAspect="1"/>
          </p:cNvPicPr>
          <p:nvPr/>
        </p:nvPicPr>
        <p:blipFill>
          <a:blip r:embed="rId11"/>
          <a:stretch>
            <a:fillRect/>
          </a:stretch>
        </p:blipFill>
        <p:spPr>
          <a:xfrm>
            <a:off x="666750" y="952500"/>
            <a:ext cx="10858500" cy="171450"/>
          </a:xfrm>
          <a:prstGeom prst="rect">
            <a:avLst/>
          </a:prstGeom>
        </p:spPr>
      </p:pic>
      <p:pic>
        <p:nvPicPr>
          <p:cNvPr id="25" name="İçerik Yer Tutucusu 10">
            <a:extLst>
              <a:ext uri="{FF2B5EF4-FFF2-40B4-BE49-F238E27FC236}">
                <a16:creationId xmlns:a16="http://schemas.microsoft.com/office/drawing/2014/main" id="{BA81AAE4-93CA-8269-320E-AC8543D6DEB7}"/>
              </a:ext>
            </a:extLst>
          </p:cNvPr>
          <p:cNvPicPr>
            <a:picLocks noChangeAspect="1"/>
          </p:cNvPicPr>
          <p:nvPr/>
        </p:nvPicPr>
        <p:blipFill>
          <a:blip r:embed="rId12">
            <a:extLst>
              <a:ext uri="{28A0092B-C50C-407E-A947-70E740481C1C}">
                <a14:useLocalDpi xmlns:a14="http://schemas.microsoft.com/office/drawing/2010/main" val="0"/>
              </a:ext>
            </a:extLst>
          </a:blip>
          <a:srcRect/>
          <a:stretch>
            <a:fillRect/>
          </a:stretch>
        </p:blipFill>
        <p:spPr bwMode="auto">
          <a:xfrm>
            <a:off x="9590435" y="466725"/>
            <a:ext cx="2011362"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3" descr="image.png">
            <a:extLst>
              <a:ext uri="{FF2B5EF4-FFF2-40B4-BE49-F238E27FC236}">
                <a16:creationId xmlns:a16="http://schemas.microsoft.com/office/drawing/2014/main" id="{ED03A37A-39F5-FEDC-D339-584FC40F85DD}"/>
              </a:ext>
            </a:extLst>
          </p:cNvPr>
          <p:cNvPicPr>
            <a:picLocks noChangeAspect="1"/>
          </p:cNvPicPr>
          <p:nvPr/>
        </p:nvPicPr>
        <p:blipFill>
          <a:blip r:embed="rId3"/>
          <a:stretch>
            <a:fillRect/>
          </a:stretch>
        </p:blipFill>
        <p:spPr>
          <a:xfrm>
            <a:off x="571500" y="3330832"/>
            <a:ext cx="2588776" cy="1728787"/>
          </a:xfrm>
          <a:prstGeom prst="rect">
            <a:avLst/>
          </a:prstGeom>
        </p:spPr>
      </p:pic>
      <p:pic>
        <p:nvPicPr>
          <p:cNvPr id="26" name="Picture 3" descr="image.png">
            <a:extLst>
              <a:ext uri="{FF2B5EF4-FFF2-40B4-BE49-F238E27FC236}">
                <a16:creationId xmlns:a16="http://schemas.microsoft.com/office/drawing/2014/main" id="{09CE42CE-3D9E-EC05-0408-6804368CD9D6}"/>
              </a:ext>
            </a:extLst>
          </p:cNvPr>
          <p:cNvPicPr>
            <a:picLocks noChangeAspect="1"/>
          </p:cNvPicPr>
          <p:nvPr/>
        </p:nvPicPr>
        <p:blipFill>
          <a:blip r:embed="rId3"/>
          <a:stretch>
            <a:fillRect/>
          </a:stretch>
        </p:blipFill>
        <p:spPr>
          <a:xfrm>
            <a:off x="6144077" y="3330831"/>
            <a:ext cx="2655093" cy="1728787"/>
          </a:xfrm>
          <a:prstGeom prst="rect">
            <a:avLst/>
          </a:prstGeom>
        </p:spPr>
      </p:pic>
      <p:sp>
        <p:nvSpPr>
          <p:cNvPr id="28" name="TextBox 11">
            <a:extLst>
              <a:ext uri="{FF2B5EF4-FFF2-40B4-BE49-F238E27FC236}">
                <a16:creationId xmlns:a16="http://schemas.microsoft.com/office/drawing/2014/main" id="{D55B5B90-A057-8C5C-1120-9B0186D11392}"/>
              </a:ext>
            </a:extLst>
          </p:cNvPr>
          <p:cNvSpPr txBox="1"/>
          <p:nvPr/>
        </p:nvSpPr>
        <p:spPr>
          <a:xfrm>
            <a:off x="661988" y="3664614"/>
            <a:ext cx="2407800" cy="190500"/>
          </a:xfrm>
          <a:prstGeom prst="rect">
            <a:avLst/>
          </a:prstGeom>
          <a:noFill/>
        </p:spPr>
        <p:txBody>
          <a:bodyPr wrap="square" lIns="0" tIns="0" rIns="0" bIns="0" anchor="t">
            <a:spAutoFit/>
          </a:bodyPr>
          <a:lstStyle/>
          <a:p>
            <a:r>
              <a:rPr lang="tr-TR" sz="1200" b="1" dirty="0">
                <a:solidFill>
                  <a:srgbClr val="0F172A"/>
                </a:solidFill>
                <a:latin typeface="Merriweather"/>
              </a:rPr>
              <a:t>Karar Ağacı (</a:t>
            </a:r>
            <a:r>
              <a:rPr lang="tr-TR" sz="1200" b="1" dirty="0" err="1">
                <a:solidFill>
                  <a:srgbClr val="0F172A"/>
                </a:solidFill>
                <a:latin typeface="Merriweather"/>
              </a:rPr>
              <a:t>Decision</a:t>
            </a:r>
            <a:r>
              <a:rPr lang="tr-TR" sz="1200" b="1" dirty="0">
                <a:solidFill>
                  <a:srgbClr val="0F172A"/>
                </a:solidFill>
                <a:latin typeface="Merriweather"/>
              </a:rPr>
              <a:t> </a:t>
            </a:r>
            <a:r>
              <a:rPr lang="tr-TR" sz="1200" b="1" dirty="0" err="1">
                <a:solidFill>
                  <a:srgbClr val="0F172A"/>
                </a:solidFill>
                <a:latin typeface="Merriweather"/>
              </a:rPr>
              <a:t>Tree</a:t>
            </a:r>
            <a:r>
              <a:rPr lang="tr-TR" sz="1200" b="1" dirty="0">
                <a:solidFill>
                  <a:srgbClr val="0F172A"/>
                </a:solidFill>
                <a:latin typeface="Merriweather"/>
              </a:rPr>
              <a:t>)</a:t>
            </a:r>
            <a:endParaRPr sz="1200" b="1" dirty="0">
              <a:solidFill>
                <a:srgbClr val="0F172A"/>
              </a:solidFill>
              <a:latin typeface="Merriweather"/>
            </a:endParaRPr>
          </a:p>
        </p:txBody>
      </p:sp>
      <p:sp>
        <p:nvSpPr>
          <p:cNvPr id="29" name="TextBox 11">
            <a:extLst>
              <a:ext uri="{FF2B5EF4-FFF2-40B4-BE49-F238E27FC236}">
                <a16:creationId xmlns:a16="http://schemas.microsoft.com/office/drawing/2014/main" id="{5FCAD350-0ED4-C25B-EE00-ECABC798EEBA}"/>
              </a:ext>
            </a:extLst>
          </p:cNvPr>
          <p:cNvSpPr txBox="1"/>
          <p:nvPr/>
        </p:nvSpPr>
        <p:spPr>
          <a:xfrm>
            <a:off x="6284735" y="3521991"/>
            <a:ext cx="2407800" cy="184666"/>
          </a:xfrm>
          <a:prstGeom prst="rect">
            <a:avLst/>
          </a:prstGeom>
          <a:noFill/>
        </p:spPr>
        <p:txBody>
          <a:bodyPr wrap="square" lIns="0" tIns="0" rIns="0" bIns="0" anchor="t">
            <a:spAutoFit/>
          </a:bodyPr>
          <a:lstStyle/>
          <a:p>
            <a:r>
              <a:rPr lang="tr-TR" sz="1200" b="1" dirty="0" err="1">
                <a:solidFill>
                  <a:srgbClr val="0F172A"/>
                </a:solidFill>
                <a:latin typeface="Merriweather"/>
              </a:rPr>
              <a:t>Random</a:t>
            </a:r>
            <a:r>
              <a:rPr lang="tr-TR" sz="1200" b="1" dirty="0">
                <a:solidFill>
                  <a:srgbClr val="0F172A"/>
                </a:solidFill>
                <a:latin typeface="Merriweather"/>
              </a:rPr>
              <a:t> </a:t>
            </a:r>
            <a:r>
              <a:rPr lang="tr-TR" sz="1200" b="1" dirty="0" err="1">
                <a:solidFill>
                  <a:srgbClr val="0F172A"/>
                </a:solidFill>
                <a:latin typeface="Merriweather"/>
              </a:rPr>
              <a:t>Forest</a:t>
            </a:r>
            <a:endParaRPr sz="1200" b="1" dirty="0">
              <a:solidFill>
                <a:srgbClr val="0F172A"/>
              </a:solidFill>
              <a:latin typeface="Merriweather"/>
            </a:endParaRPr>
          </a:p>
        </p:txBody>
      </p:sp>
      <p:sp>
        <p:nvSpPr>
          <p:cNvPr id="32" name="Metin kutusu 31">
            <a:extLst>
              <a:ext uri="{FF2B5EF4-FFF2-40B4-BE49-F238E27FC236}">
                <a16:creationId xmlns:a16="http://schemas.microsoft.com/office/drawing/2014/main" id="{F04384C2-3EB7-7D3D-66B5-49B3B4A4FF3E}"/>
              </a:ext>
            </a:extLst>
          </p:cNvPr>
          <p:cNvSpPr txBox="1"/>
          <p:nvPr/>
        </p:nvSpPr>
        <p:spPr>
          <a:xfrm>
            <a:off x="571500" y="3819467"/>
            <a:ext cx="2883693" cy="657103"/>
          </a:xfrm>
          <a:prstGeom prst="rect">
            <a:avLst/>
          </a:prstGeom>
          <a:noFill/>
        </p:spPr>
        <p:txBody>
          <a:bodyPr wrap="square">
            <a:spAutoFit/>
          </a:bodyPr>
          <a:lstStyle/>
          <a:p>
            <a:pPr>
              <a:lnSpc>
                <a:spcPts val="1462"/>
              </a:lnSpc>
            </a:pPr>
            <a:r>
              <a:rPr lang="tr-TR" sz="975" dirty="0">
                <a:solidFill>
                  <a:srgbClr val="64748B"/>
                </a:solidFill>
                <a:latin typeface="DM Sans"/>
              </a:rPr>
              <a:t>Veriyi kural tabanlı düğümlere bölerek sınıflandırma yapar. Bölünme kalitesi </a:t>
            </a:r>
          </a:p>
          <a:p>
            <a:pPr>
              <a:lnSpc>
                <a:spcPts val="1462"/>
              </a:lnSpc>
            </a:pPr>
            <a:r>
              <a:rPr lang="tr-TR" sz="975" dirty="0" err="1">
                <a:solidFill>
                  <a:srgbClr val="64748B"/>
                </a:solidFill>
                <a:latin typeface="DM Sans"/>
              </a:rPr>
              <a:t>Gini</a:t>
            </a:r>
            <a:r>
              <a:rPr lang="tr-TR" sz="975" dirty="0">
                <a:solidFill>
                  <a:srgbClr val="64748B"/>
                </a:solidFill>
                <a:latin typeface="DM Sans"/>
              </a:rPr>
              <a:t> İndeksi veya Entropi kriterleri ile ölçülür.</a:t>
            </a:r>
          </a:p>
        </p:txBody>
      </p:sp>
      <p:sp>
        <p:nvSpPr>
          <p:cNvPr id="34" name="Metin kutusu 33">
            <a:extLst>
              <a:ext uri="{FF2B5EF4-FFF2-40B4-BE49-F238E27FC236}">
                <a16:creationId xmlns:a16="http://schemas.microsoft.com/office/drawing/2014/main" id="{E71DCF5B-2272-0798-3EE7-ADE1BEA6F46A}"/>
              </a:ext>
            </a:extLst>
          </p:cNvPr>
          <p:cNvSpPr txBox="1"/>
          <p:nvPr/>
        </p:nvSpPr>
        <p:spPr>
          <a:xfrm>
            <a:off x="6167526" y="3703920"/>
            <a:ext cx="2407800" cy="849463"/>
          </a:xfrm>
          <a:prstGeom prst="rect">
            <a:avLst/>
          </a:prstGeom>
          <a:noFill/>
        </p:spPr>
        <p:txBody>
          <a:bodyPr wrap="square">
            <a:spAutoFit/>
          </a:bodyPr>
          <a:lstStyle/>
          <a:p>
            <a:pPr>
              <a:lnSpc>
                <a:spcPts val="1462"/>
              </a:lnSpc>
            </a:pPr>
            <a:r>
              <a:rPr lang="tr-TR" sz="975" dirty="0">
                <a:solidFill>
                  <a:srgbClr val="64748B"/>
                </a:solidFill>
                <a:latin typeface="DM Sans"/>
              </a:rPr>
              <a:t>Çok sayıda karar ağacının kolektif oylamasıyla (</a:t>
            </a:r>
            <a:r>
              <a:rPr lang="tr-TR" sz="975" dirty="0" err="1">
                <a:solidFill>
                  <a:srgbClr val="64748B"/>
                </a:solidFill>
                <a:latin typeface="DM Sans"/>
              </a:rPr>
              <a:t>Bagging</a:t>
            </a:r>
            <a:r>
              <a:rPr lang="tr-TR" sz="975" dirty="0">
                <a:solidFill>
                  <a:srgbClr val="64748B"/>
                </a:solidFill>
                <a:latin typeface="DM Sans"/>
              </a:rPr>
              <a:t> / </a:t>
            </a:r>
            <a:r>
              <a:rPr lang="tr-TR" sz="975" dirty="0" err="1">
                <a:solidFill>
                  <a:srgbClr val="64748B"/>
                </a:solidFill>
                <a:latin typeface="DM Sans"/>
              </a:rPr>
              <a:t>Bootstrap</a:t>
            </a:r>
            <a:r>
              <a:rPr lang="tr-TR" sz="975" dirty="0">
                <a:solidFill>
                  <a:srgbClr val="64748B"/>
                </a:solidFill>
                <a:latin typeface="DM Sans"/>
              </a:rPr>
              <a:t> </a:t>
            </a:r>
            <a:r>
              <a:rPr lang="tr-TR" sz="975" dirty="0" err="1">
                <a:solidFill>
                  <a:srgbClr val="64748B"/>
                </a:solidFill>
                <a:latin typeface="DM Sans"/>
              </a:rPr>
              <a:t>Aggregating</a:t>
            </a:r>
            <a:r>
              <a:rPr lang="tr-TR" sz="975" dirty="0">
                <a:solidFill>
                  <a:srgbClr val="64748B"/>
                </a:solidFill>
                <a:latin typeface="DM Sans"/>
              </a:rPr>
              <a:t>) çalışan topluluk (</a:t>
            </a:r>
            <a:r>
              <a:rPr lang="tr-TR" sz="975" dirty="0" err="1">
                <a:solidFill>
                  <a:srgbClr val="64748B"/>
                </a:solidFill>
                <a:latin typeface="DM Sans"/>
              </a:rPr>
              <a:t>ensemble</a:t>
            </a:r>
            <a:r>
              <a:rPr lang="tr-TR" sz="975" dirty="0">
                <a:solidFill>
                  <a:srgbClr val="64748B"/>
                </a:solidFill>
                <a:latin typeface="DM Sans"/>
              </a:rPr>
              <a:t>) öğrenme algoritmasıdır.</a:t>
            </a:r>
          </a:p>
        </p:txBody>
      </p:sp>
      <p:pic>
        <p:nvPicPr>
          <p:cNvPr id="35" name="Picture 3" descr="image.png">
            <a:extLst>
              <a:ext uri="{FF2B5EF4-FFF2-40B4-BE49-F238E27FC236}">
                <a16:creationId xmlns:a16="http://schemas.microsoft.com/office/drawing/2014/main" id="{869A62F0-DEB5-4CE8-50A3-9A771A6C44D1}"/>
              </a:ext>
            </a:extLst>
          </p:cNvPr>
          <p:cNvPicPr>
            <a:picLocks noChangeAspect="1"/>
          </p:cNvPicPr>
          <p:nvPr/>
        </p:nvPicPr>
        <p:blipFill>
          <a:blip r:embed="rId3"/>
          <a:stretch>
            <a:fillRect/>
          </a:stretch>
        </p:blipFill>
        <p:spPr>
          <a:xfrm>
            <a:off x="3369466" y="3330832"/>
            <a:ext cx="2726533" cy="1829798"/>
          </a:xfrm>
          <a:prstGeom prst="rect">
            <a:avLst/>
          </a:prstGeom>
        </p:spPr>
      </p:pic>
      <p:sp>
        <p:nvSpPr>
          <p:cNvPr id="37" name="TextBox 11">
            <a:extLst>
              <a:ext uri="{FF2B5EF4-FFF2-40B4-BE49-F238E27FC236}">
                <a16:creationId xmlns:a16="http://schemas.microsoft.com/office/drawing/2014/main" id="{CEEA1BAF-EB9D-483D-00DE-8BD5E5D50F14}"/>
              </a:ext>
            </a:extLst>
          </p:cNvPr>
          <p:cNvSpPr txBox="1"/>
          <p:nvPr/>
        </p:nvSpPr>
        <p:spPr>
          <a:xfrm>
            <a:off x="3455193" y="3491092"/>
            <a:ext cx="2407800" cy="190500"/>
          </a:xfrm>
          <a:prstGeom prst="rect">
            <a:avLst/>
          </a:prstGeom>
          <a:noFill/>
        </p:spPr>
        <p:txBody>
          <a:bodyPr wrap="square" lIns="0" tIns="0" rIns="0" bIns="0" anchor="t">
            <a:spAutoFit/>
          </a:bodyPr>
          <a:lstStyle/>
          <a:p>
            <a:r>
              <a:rPr lang="tr-TR" sz="1200" b="1" dirty="0" err="1">
                <a:solidFill>
                  <a:srgbClr val="0F172A"/>
                </a:solidFill>
                <a:latin typeface="Merriweather"/>
              </a:rPr>
              <a:t>Naive</a:t>
            </a:r>
            <a:r>
              <a:rPr lang="tr-TR" sz="1200" b="1" dirty="0">
                <a:solidFill>
                  <a:srgbClr val="0F172A"/>
                </a:solidFill>
                <a:latin typeface="Merriweather"/>
              </a:rPr>
              <a:t> </a:t>
            </a:r>
            <a:r>
              <a:rPr lang="tr-TR" sz="1200" b="1" dirty="0" err="1">
                <a:solidFill>
                  <a:srgbClr val="0F172A"/>
                </a:solidFill>
                <a:latin typeface="Merriweather"/>
              </a:rPr>
              <a:t>Bayes</a:t>
            </a:r>
            <a:endParaRPr sz="1200" b="1" dirty="0">
              <a:solidFill>
                <a:srgbClr val="0F172A"/>
              </a:solidFill>
              <a:latin typeface="Merriweather"/>
            </a:endParaRPr>
          </a:p>
        </p:txBody>
      </p:sp>
      <p:sp>
        <p:nvSpPr>
          <p:cNvPr id="38" name="Metin kutusu 37">
            <a:extLst>
              <a:ext uri="{FF2B5EF4-FFF2-40B4-BE49-F238E27FC236}">
                <a16:creationId xmlns:a16="http://schemas.microsoft.com/office/drawing/2014/main" id="{542BD1D9-63E0-EE3B-9C33-71E4330CEF38}"/>
              </a:ext>
            </a:extLst>
          </p:cNvPr>
          <p:cNvSpPr txBox="1"/>
          <p:nvPr/>
        </p:nvSpPr>
        <p:spPr>
          <a:xfrm>
            <a:off x="3333750" y="3689593"/>
            <a:ext cx="2883693" cy="1426544"/>
          </a:xfrm>
          <a:prstGeom prst="rect">
            <a:avLst/>
          </a:prstGeom>
          <a:noFill/>
        </p:spPr>
        <p:txBody>
          <a:bodyPr wrap="square">
            <a:spAutoFit/>
          </a:bodyPr>
          <a:lstStyle/>
          <a:p>
            <a:pPr>
              <a:lnSpc>
                <a:spcPts val="1462"/>
              </a:lnSpc>
            </a:pPr>
            <a:r>
              <a:rPr lang="tr-TR" sz="975" dirty="0" err="1">
                <a:solidFill>
                  <a:srgbClr val="64748B"/>
                </a:solidFill>
                <a:latin typeface="DM Sans"/>
              </a:rPr>
              <a:t>Naive</a:t>
            </a:r>
            <a:r>
              <a:rPr lang="tr-TR" sz="975" dirty="0">
                <a:solidFill>
                  <a:srgbClr val="64748B"/>
                </a:solidFill>
                <a:latin typeface="DM Sans"/>
              </a:rPr>
              <a:t> </a:t>
            </a:r>
            <a:r>
              <a:rPr lang="tr-TR" sz="975" dirty="0" err="1">
                <a:solidFill>
                  <a:srgbClr val="64748B"/>
                </a:solidFill>
                <a:latin typeface="DM Sans"/>
              </a:rPr>
              <a:t>Bayes</a:t>
            </a:r>
            <a:r>
              <a:rPr lang="tr-TR" sz="975" dirty="0">
                <a:solidFill>
                  <a:srgbClr val="64748B"/>
                </a:solidFill>
                <a:latin typeface="DM Sans"/>
              </a:rPr>
              <a:t>, özelliklerin birbirinden bağımsız olduğu varsayımına dayanarak </a:t>
            </a:r>
            <a:r>
              <a:rPr lang="tr-TR" sz="975" dirty="0" err="1">
                <a:solidFill>
                  <a:srgbClr val="64748B"/>
                </a:solidFill>
                <a:latin typeface="DM Sans"/>
              </a:rPr>
              <a:t>Bayes</a:t>
            </a:r>
            <a:r>
              <a:rPr lang="tr-TR" sz="975" dirty="0">
                <a:solidFill>
                  <a:srgbClr val="64748B"/>
                </a:solidFill>
                <a:latin typeface="DM Sans"/>
              </a:rPr>
              <a:t> Teoremi ile olasılık hesabı yapan hızlı bir sınıflandırma algoritmasıdır. Yüksek boyutlu ve metin bazlı verilerde çok efektif çalışsa da gerçek hayatta özelliklerin tamamen bağımsız olmaması en büyük sınırlılığıdır</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png"/>
          <p:cNvPicPr>
            <a:picLocks noChangeAspect="1"/>
          </p:cNvPicPr>
          <p:nvPr/>
        </p:nvPicPr>
        <p:blipFill>
          <a:blip r:embed="rId2"/>
          <a:stretch>
            <a:fillRect/>
          </a:stretch>
        </p:blipFill>
        <p:spPr>
          <a:xfrm>
            <a:off x="571500" y="6391275"/>
            <a:ext cx="11049000" cy="276225"/>
          </a:xfrm>
          <a:prstGeom prst="rect">
            <a:avLst/>
          </a:prstGeom>
        </p:spPr>
      </p:pic>
      <p:pic>
        <p:nvPicPr>
          <p:cNvPr id="4" name="Picture 3" descr="image.png"/>
          <p:cNvPicPr>
            <a:picLocks noChangeAspect="1"/>
          </p:cNvPicPr>
          <p:nvPr/>
        </p:nvPicPr>
        <p:blipFill>
          <a:blip r:embed="rId3"/>
          <a:stretch>
            <a:fillRect/>
          </a:stretch>
        </p:blipFill>
        <p:spPr>
          <a:xfrm>
            <a:off x="571500" y="2176462"/>
            <a:ext cx="5334000" cy="1057275"/>
          </a:xfrm>
          <a:prstGeom prst="rect">
            <a:avLst/>
          </a:prstGeom>
        </p:spPr>
      </p:pic>
      <p:sp>
        <p:nvSpPr>
          <p:cNvPr id="5" name="TextBox 4"/>
          <p:cNvSpPr txBox="1"/>
          <p:nvPr/>
        </p:nvSpPr>
        <p:spPr>
          <a:xfrm>
            <a:off x="571500" y="476250"/>
            <a:ext cx="11601450" cy="423862"/>
          </a:xfrm>
          <a:prstGeom prst="rect">
            <a:avLst/>
          </a:prstGeom>
          <a:noFill/>
        </p:spPr>
        <p:txBody>
          <a:bodyPr wrap="square" lIns="0" tIns="0" rIns="0" bIns="0" anchor="t">
            <a:spAutoFit/>
          </a:bodyPr>
          <a:lstStyle/>
          <a:p>
            <a:pPr algn="l">
              <a:lnSpc>
                <a:spcPts val="3187"/>
              </a:lnSpc>
            </a:pPr>
            <a:r>
              <a:rPr sz="2550" b="1" i="0" u="none">
                <a:solidFill>
                  <a:srgbClr val="005088"/>
                </a:solidFill>
                <a:latin typeface="Merriweather"/>
              </a:rPr>
              <a:t>XGBoost (Extreme Gradient Boosting) Mimarisi</a:t>
            </a:r>
          </a:p>
        </p:txBody>
      </p:sp>
      <p:sp>
        <p:nvSpPr>
          <p:cNvPr id="6" name="Rectangle 5"/>
          <p:cNvSpPr/>
          <p:nvPr/>
        </p:nvSpPr>
        <p:spPr>
          <a:xfrm>
            <a:off x="571500" y="995362"/>
            <a:ext cx="11049000"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71500" y="6496050"/>
            <a:ext cx="3009900" cy="171450"/>
          </a:xfrm>
          <a:prstGeom prst="rect">
            <a:avLst/>
          </a:prstGeom>
          <a:noFill/>
        </p:spPr>
        <p:txBody>
          <a:bodyPr wrap="square" lIns="0" tIns="0" rIns="0" bIns="0" anchor="t">
            <a:spAutoFit/>
          </a:bodyPr>
          <a:lstStyle/>
          <a:p>
            <a:pPr algn="l">
              <a:lnSpc>
                <a:spcPts val="1350"/>
              </a:lnSpc>
            </a:pPr>
            <a:r>
              <a:rPr sz="900" b="0" i="0" u="none">
                <a:solidFill>
                  <a:srgbClr val="94A3B8"/>
                </a:solidFill>
                <a:latin typeface="DM Sans"/>
              </a:rPr>
              <a:t>SAKARYA ÜNİVERSİTESİ • YÜKSEK LİSANS TEZ SAVUNMASI</a:t>
            </a:r>
          </a:p>
        </p:txBody>
      </p:sp>
      <p:sp>
        <p:nvSpPr>
          <p:cNvPr id="8" name="TextBox 7"/>
          <p:cNvSpPr txBox="1"/>
          <p:nvPr/>
        </p:nvSpPr>
        <p:spPr>
          <a:xfrm>
            <a:off x="11220450" y="6496050"/>
            <a:ext cx="400050" cy="171450"/>
          </a:xfrm>
          <a:prstGeom prst="rect">
            <a:avLst/>
          </a:prstGeom>
          <a:noFill/>
        </p:spPr>
        <p:txBody>
          <a:bodyPr wrap="square" lIns="0" tIns="0" rIns="0" bIns="0" anchor="t">
            <a:spAutoFit/>
          </a:bodyPr>
          <a:lstStyle/>
          <a:p>
            <a:pPr algn="l">
              <a:lnSpc>
                <a:spcPts val="1350"/>
              </a:lnSpc>
            </a:pPr>
            <a:r>
              <a:rPr sz="900" b="0" i="0" u="none">
                <a:solidFill>
                  <a:srgbClr val="94A3B8"/>
                </a:solidFill>
                <a:latin typeface="DM Sans"/>
              </a:rPr>
              <a:t>Slayt 17</a:t>
            </a:r>
          </a:p>
        </p:txBody>
      </p:sp>
      <p:sp>
        <p:nvSpPr>
          <p:cNvPr id="9" name="TextBox 8"/>
          <p:cNvSpPr txBox="1"/>
          <p:nvPr/>
        </p:nvSpPr>
        <p:spPr>
          <a:xfrm>
            <a:off x="571500" y="1252537"/>
            <a:ext cx="5600700" cy="238125"/>
          </a:xfrm>
          <a:prstGeom prst="rect">
            <a:avLst/>
          </a:prstGeom>
          <a:noFill/>
        </p:spPr>
        <p:txBody>
          <a:bodyPr wrap="square" lIns="0" tIns="0" rIns="0" bIns="0" anchor="t">
            <a:spAutoFit/>
          </a:bodyPr>
          <a:lstStyle/>
          <a:p>
            <a:pPr algn="l"/>
            <a:r>
              <a:rPr sz="1500" b="1" i="0" u="none">
                <a:solidFill>
                  <a:srgbClr val="005088"/>
                </a:solidFill>
                <a:latin typeface="Merriweather"/>
              </a:rPr>
              <a:t>Neden XGBoost Tercih Edildi?</a:t>
            </a:r>
          </a:p>
        </p:txBody>
      </p:sp>
      <p:sp>
        <p:nvSpPr>
          <p:cNvPr id="10" name="TextBox 9"/>
          <p:cNvSpPr txBox="1"/>
          <p:nvPr/>
        </p:nvSpPr>
        <p:spPr>
          <a:xfrm>
            <a:off x="571500" y="1604962"/>
            <a:ext cx="10648950" cy="422744"/>
          </a:xfrm>
          <a:prstGeom prst="rect">
            <a:avLst/>
          </a:prstGeom>
          <a:noFill/>
        </p:spPr>
        <p:txBody>
          <a:bodyPr wrap="square" lIns="0" tIns="0" rIns="0" bIns="0" anchor="t">
            <a:spAutoFit/>
          </a:bodyPr>
          <a:lstStyle/>
          <a:p>
            <a:pPr algn="l">
              <a:lnSpc>
                <a:spcPts val="1687"/>
              </a:lnSpc>
            </a:pPr>
            <a:r>
              <a:rPr sz="1125" b="0" i="0" u="none" dirty="0">
                <a:solidFill>
                  <a:srgbClr val="475569"/>
                </a:solidFill>
                <a:latin typeface="DM Sans"/>
              </a:rPr>
              <a:t>Gradient Boosting </a:t>
            </a:r>
            <a:r>
              <a:rPr sz="1125" b="0" i="0" u="none" dirty="0" err="1">
                <a:solidFill>
                  <a:srgbClr val="475569"/>
                </a:solidFill>
                <a:latin typeface="DM Sans"/>
              </a:rPr>
              <a:t>algoritmasının</a:t>
            </a:r>
            <a:r>
              <a:rPr sz="1125" b="0" i="0" u="none" dirty="0">
                <a:solidFill>
                  <a:srgbClr val="475569"/>
                </a:solidFill>
                <a:latin typeface="DM Sans"/>
              </a:rPr>
              <a:t> optimize </a:t>
            </a:r>
            <a:r>
              <a:rPr sz="1125" b="0" i="0" u="none" dirty="0" err="1">
                <a:solidFill>
                  <a:srgbClr val="475569"/>
                </a:solidFill>
                <a:latin typeface="DM Sans"/>
              </a:rPr>
              <a:t>edilmiş</a:t>
            </a:r>
            <a:r>
              <a:rPr sz="1125" b="0" i="0" u="none" dirty="0">
                <a:solidFill>
                  <a:srgbClr val="475569"/>
                </a:solidFill>
                <a:latin typeface="DM Sans"/>
              </a:rPr>
              <a:t>, </a:t>
            </a:r>
            <a:r>
              <a:rPr sz="1125" b="0" i="0" u="none" dirty="0" err="1">
                <a:solidFill>
                  <a:srgbClr val="475569"/>
                </a:solidFill>
                <a:latin typeface="DM Sans"/>
              </a:rPr>
              <a:t>aşırı</a:t>
            </a:r>
            <a:r>
              <a:rPr sz="1125" b="0" i="0" u="none" dirty="0">
                <a:solidFill>
                  <a:srgbClr val="475569"/>
                </a:solidFill>
                <a:latin typeface="DM Sans"/>
              </a:rPr>
              <a:t> </a:t>
            </a:r>
            <a:r>
              <a:rPr sz="1125" b="0" i="0" u="none" dirty="0" err="1">
                <a:solidFill>
                  <a:srgbClr val="475569"/>
                </a:solidFill>
                <a:latin typeface="DM Sans"/>
              </a:rPr>
              <a:t>öğrenmeye</a:t>
            </a:r>
            <a:r>
              <a:rPr sz="1125" b="0" i="0" u="none" dirty="0">
                <a:solidFill>
                  <a:srgbClr val="475569"/>
                </a:solidFill>
                <a:latin typeface="DM Sans"/>
              </a:rPr>
              <a:t> </a:t>
            </a:r>
            <a:r>
              <a:rPr sz="1125" b="0" i="0" u="none" dirty="0" err="1">
                <a:solidFill>
                  <a:srgbClr val="475569"/>
                </a:solidFill>
                <a:latin typeface="DM Sans"/>
              </a:rPr>
              <a:t>dirençli</a:t>
            </a:r>
            <a:r>
              <a:rPr sz="1125" b="0" i="0" u="none" dirty="0">
                <a:solidFill>
                  <a:srgbClr val="475569"/>
                </a:solidFill>
                <a:latin typeface="DM Sans"/>
              </a:rPr>
              <a:t> </a:t>
            </a:r>
            <a:r>
              <a:rPr sz="1125" b="0" i="0" u="none" dirty="0" err="1">
                <a:solidFill>
                  <a:srgbClr val="475569"/>
                </a:solidFill>
                <a:latin typeface="DM Sans"/>
              </a:rPr>
              <a:t>ve</a:t>
            </a:r>
            <a:r>
              <a:rPr sz="1125" b="0" i="0" u="none" dirty="0">
                <a:solidFill>
                  <a:srgbClr val="475569"/>
                </a:solidFill>
                <a:latin typeface="DM Sans"/>
              </a:rPr>
              <a:t> </a:t>
            </a:r>
            <a:r>
              <a:rPr sz="1125" b="0" i="0" u="none" dirty="0" err="1">
                <a:solidFill>
                  <a:srgbClr val="475569"/>
                </a:solidFill>
                <a:latin typeface="DM Sans"/>
              </a:rPr>
              <a:t>önbellek</a:t>
            </a:r>
            <a:r>
              <a:rPr sz="1125" b="0" i="0" u="none" dirty="0">
                <a:solidFill>
                  <a:srgbClr val="475569"/>
                </a:solidFill>
                <a:latin typeface="DM Sans"/>
              </a:rPr>
              <a:t> </a:t>
            </a:r>
            <a:r>
              <a:rPr sz="1125" b="0" i="0" u="none" dirty="0" err="1">
                <a:solidFill>
                  <a:srgbClr val="475569"/>
                </a:solidFill>
                <a:latin typeface="DM Sans"/>
              </a:rPr>
              <a:t>farkındalığına</a:t>
            </a:r>
            <a:r>
              <a:rPr sz="1125" b="0" i="0" u="none" dirty="0">
                <a:solidFill>
                  <a:srgbClr val="475569"/>
                </a:solidFill>
                <a:latin typeface="DM Sans"/>
              </a:rPr>
              <a:t> </a:t>
            </a:r>
            <a:r>
              <a:rPr sz="1125" b="0" i="0" u="none" dirty="0" err="1">
                <a:solidFill>
                  <a:srgbClr val="475569"/>
                </a:solidFill>
                <a:latin typeface="DM Sans"/>
              </a:rPr>
              <a:t>sahip</a:t>
            </a:r>
            <a:r>
              <a:rPr sz="1125" b="0" i="0" u="none" dirty="0">
                <a:solidFill>
                  <a:srgbClr val="475569"/>
                </a:solidFill>
                <a:latin typeface="DM Sans"/>
              </a:rPr>
              <a:t> </a:t>
            </a:r>
            <a:r>
              <a:rPr sz="1125" b="0" i="0" u="none" dirty="0" err="1">
                <a:solidFill>
                  <a:srgbClr val="475569"/>
                </a:solidFill>
                <a:latin typeface="DM Sans"/>
              </a:rPr>
              <a:t>yüksek</a:t>
            </a:r>
            <a:r>
              <a:rPr sz="1125" b="0" i="0" u="none" dirty="0">
                <a:solidFill>
                  <a:srgbClr val="475569"/>
                </a:solidFill>
                <a:latin typeface="DM Sans"/>
              </a:rPr>
              <a:t> </a:t>
            </a:r>
            <a:r>
              <a:rPr sz="1125" b="0" i="0" u="none" dirty="0" err="1">
                <a:solidFill>
                  <a:srgbClr val="475569"/>
                </a:solidFill>
                <a:latin typeface="DM Sans"/>
              </a:rPr>
              <a:t>performanslı</a:t>
            </a:r>
            <a:r>
              <a:rPr sz="1125" b="0" i="0" u="none" dirty="0">
                <a:solidFill>
                  <a:srgbClr val="475569"/>
                </a:solidFill>
                <a:latin typeface="DM Sans"/>
              </a:rPr>
              <a:t> </a:t>
            </a:r>
            <a:r>
              <a:rPr sz="1125" b="0" i="0" u="none" dirty="0" err="1">
                <a:solidFill>
                  <a:srgbClr val="475569"/>
                </a:solidFill>
                <a:latin typeface="DM Sans"/>
              </a:rPr>
              <a:t>kütüphanesidir</a:t>
            </a:r>
            <a:r>
              <a:rPr sz="1125" b="0" i="0" u="none" dirty="0">
                <a:solidFill>
                  <a:srgbClr val="475569"/>
                </a:solidFill>
                <a:latin typeface="DM Sans"/>
              </a:rPr>
              <a:t>.</a:t>
            </a:r>
            <a:r>
              <a:rPr lang="tr-TR" sz="1125" b="0" i="0" u="none" dirty="0">
                <a:solidFill>
                  <a:srgbClr val="475569"/>
                </a:solidFill>
                <a:latin typeface="DM Sans"/>
              </a:rPr>
              <a:t> Diğer algoritmalar göre daha performanslı ve doğruluk oranı yüksek olduğu için tercih edilmiştir.</a:t>
            </a:r>
            <a:endParaRPr sz="1125" b="0" i="0" u="none" dirty="0">
              <a:solidFill>
                <a:srgbClr val="475569"/>
              </a:solidFill>
              <a:latin typeface="DM Sans"/>
            </a:endParaRPr>
          </a:p>
        </p:txBody>
      </p:sp>
      <p:sp>
        <p:nvSpPr>
          <p:cNvPr id="13" name="TextBox 12"/>
          <p:cNvSpPr txBox="1"/>
          <p:nvPr/>
        </p:nvSpPr>
        <p:spPr>
          <a:xfrm>
            <a:off x="809625" y="2366962"/>
            <a:ext cx="5150643" cy="219075"/>
          </a:xfrm>
          <a:prstGeom prst="rect">
            <a:avLst/>
          </a:prstGeom>
          <a:noFill/>
        </p:spPr>
        <p:txBody>
          <a:bodyPr wrap="square" lIns="209550" tIns="0" rIns="0" bIns="0" anchor="t">
            <a:spAutoFit/>
          </a:bodyPr>
          <a:lstStyle/>
          <a:p>
            <a:pPr algn="l"/>
            <a:r>
              <a:rPr sz="1350" b="1" i="0" u="none">
                <a:solidFill>
                  <a:srgbClr val="065F46"/>
                </a:solidFill>
                <a:latin typeface="Merriweather"/>
              </a:rPr>
              <a:t>Sistem Seviyesinde Hız</a:t>
            </a:r>
          </a:p>
        </p:txBody>
      </p:sp>
      <p:sp>
        <p:nvSpPr>
          <p:cNvPr id="14" name="TextBox 13"/>
          <p:cNvSpPr txBox="1"/>
          <p:nvPr/>
        </p:nvSpPr>
        <p:spPr>
          <a:xfrm>
            <a:off x="809625" y="2643187"/>
            <a:ext cx="4905375" cy="400050"/>
          </a:xfrm>
          <a:prstGeom prst="rect">
            <a:avLst/>
          </a:prstGeom>
          <a:noFill/>
        </p:spPr>
        <p:txBody>
          <a:bodyPr wrap="square" lIns="0" tIns="0" rIns="0" bIns="0" anchor="t">
            <a:spAutoFit/>
          </a:bodyPr>
          <a:lstStyle/>
          <a:p>
            <a:pPr algn="l">
              <a:lnSpc>
                <a:spcPts val="1575"/>
              </a:lnSpc>
            </a:pPr>
            <a:r>
              <a:rPr sz="1050" b="0" i="0" u="none">
                <a:solidFill>
                  <a:srgbClr val="475569"/>
                </a:solidFill>
                <a:latin typeface="DM Sans"/>
              </a:rPr>
              <a:t>Paralel ağaç yapısı ve blok mimarisi sayesinde milisaniyeler bazında tahmin üretir.</a:t>
            </a:r>
          </a:p>
        </p:txBody>
      </p:sp>
      <p:pic>
        <p:nvPicPr>
          <p:cNvPr id="18" name="Picture 17" descr="image.png"/>
          <p:cNvPicPr>
            <a:picLocks noChangeAspect="1"/>
          </p:cNvPicPr>
          <p:nvPr/>
        </p:nvPicPr>
        <p:blipFill>
          <a:blip r:embed="rId4"/>
          <a:stretch>
            <a:fillRect/>
          </a:stretch>
        </p:blipFill>
        <p:spPr>
          <a:xfrm>
            <a:off x="809625" y="2395537"/>
            <a:ext cx="152400" cy="171450"/>
          </a:xfrm>
          <a:prstGeom prst="rect">
            <a:avLst/>
          </a:prstGeom>
        </p:spPr>
      </p:pic>
      <p:pic>
        <p:nvPicPr>
          <p:cNvPr id="20" name="Picture 1" descr="image.png">
            <a:extLst>
              <a:ext uri="{FF2B5EF4-FFF2-40B4-BE49-F238E27FC236}">
                <a16:creationId xmlns:a16="http://schemas.microsoft.com/office/drawing/2014/main" id="{62BEBCF4-3903-4C6B-2DCA-D347F9DCD6A5}"/>
              </a:ext>
            </a:extLst>
          </p:cNvPr>
          <p:cNvPicPr>
            <a:picLocks noChangeAspect="1"/>
          </p:cNvPicPr>
          <p:nvPr/>
        </p:nvPicPr>
        <p:blipFill>
          <a:blip r:embed="rId5"/>
          <a:stretch>
            <a:fillRect/>
          </a:stretch>
        </p:blipFill>
        <p:spPr>
          <a:xfrm>
            <a:off x="666750" y="952500"/>
            <a:ext cx="10858500" cy="171450"/>
          </a:xfrm>
          <a:prstGeom prst="rect">
            <a:avLst/>
          </a:prstGeom>
        </p:spPr>
      </p:pic>
      <p:pic>
        <p:nvPicPr>
          <p:cNvPr id="21" name="İçerik Yer Tutucusu 10">
            <a:extLst>
              <a:ext uri="{FF2B5EF4-FFF2-40B4-BE49-F238E27FC236}">
                <a16:creationId xmlns:a16="http://schemas.microsoft.com/office/drawing/2014/main" id="{87CFE41E-33EF-D167-C0C2-01116F397DFD}"/>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9590435" y="466725"/>
            <a:ext cx="2011362"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B2C5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666750" y="6429375"/>
            <a:ext cx="10858500" cy="238125"/>
          </a:xfrm>
          <a:prstGeom prst="rect">
            <a:avLst/>
          </a:prstGeom>
        </p:spPr>
      </p:pic>
      <p:pic>
        <p:nvPicPr>
          <p:cNvPr id="3" name="Picture 2" descr="image.png"/>
          <p:cNvPicPr>
            <a:picLocks noChangeAspect="1"/>
          </p:cNvPicPr>
          <p:nvPr/>
        </p:nvPicPr>
        <p:blipFill>
          <a:blip r:embed="rId3"/>
          <a:stretch>
            <a:fillRect/>
          </a:stretch>
        </p:blipFill>
        <p:spPr>
          <a:xfrm>
            <a:off x="4667250" y="3343275"/>
            <a:ext cx="2857500" cy="171450"/>
          </a:xfrm>
          <a:prstGeom prst="rect">
            <a:avLst/>
          </a:prstGeom>
        </p:spPr>
      </p:pic>
      <p:sp>
        <p:nvSpPr>
          <p:cNvPr id="4" name="TextBox 3"/>
          <p:cNvSpPr txBox="1"/>
          <p:nvPr/>
        </p:nvSpPr>
        <p:spPr>
          <a:xfrm>
            <a:off x="666750" y="476250"/>
            <a:ext cx="1838325" cy="133350"/>
          </a:xfrm>
          <a:prstGeom prst="rect">
            <a:avLst/>
          </a:prstGeom>
          <a:noFill/>
        </p:spPr>
        <p:txBody>
          <a:bodyPr wrap="square" lIns="0" tIns="0" rIns="0" bIns="0" anchor="ctr">
            <a:spAutoFit/>
          </a:bodyPr>
          <a:lstStyle/>
          <a:p>
            <a:pPr algn="l"/>
            <a:r>
              <a:rPr sz="1200" b="1" i="0" u="none">
                <a:solidFill>
                  <a:srgbClr val="FFFFFF"/>
                </a:solidFill>
                <a:latin typeface="DM Sans"/>
              </a:rPr>
              <a:t>SAKARYA ÜNİVERSİTESİ</a:t>
            </a:r>
          </a:p>
        </p:txBody>
      </p:sp>
      <p:sp>
        <p:nvSpPr>
          <p:cNvPr id="5" name="TextBox 4"/>
          <p:cNvSpPr txBox="1"/>
          <p:nvPr/>
        </p:nvSpPr>
        <p:spPr>
          <a:xfrm>
            <a:off x="2095500" y="2309961"/>
            <a:ext cx="8001000" cy="238125"/>
          </a:xfrm>
          <a:prstGeom prst="rect">
            <a:avLst/>
          </a:prstGeom>
          <a:noFill/>
        </p:spPr>
        <p:txBody>
          <a:bodyPr wrap="square" lIns="0" tIns="0" rIns="0" bIns="0" anchor="t">
            <a:spAutoFit/>
          </a:bodyPr>
          <a:lstStyle/>
          <a:p>
            <a:pPr algn="ctr"/>
            <a:r>
              <a:rPr sz="1500" b="1" i="0" u="none" dirty="0">
                <a:solidFill>
                  <a:srgbClr val="C5A059"/>
                </a:solidFill>
                <a:latin typeface="Merriweather"/>
              </a:rPr>
              <a:t>BÖLÜM 0</a:t>
            </a:r>
            <a:r>
              <a:rPr lang="tr-TR" sz="1500" b="1" i="0" u="none" dirty="0">
                <a:solidFill>
                  <a:srgbClr val="C5A059"/>
                </a:solidFill>
                <a:latin typeface="Merriweather"/>
              </a:rPr>
              <a:t>5</a:t>
            </a:r>
            <a:endParaRPr sz="1500" b="1" i="0" u="none" dirty="0">
              <a:solidFill>
                <a:srgbClr val="C5A059"/>
              </a:solidFill>
              <a:latin typeface="Merriweather"/>
            </a:endParaRPr>
          </a:p>
        </p:txBody>
      </p:sp>
      <p:sp>
        <p:nvSpPr>
          <p:cNvPr id="8" name="TextBox 7"/>
          <p:cNvSpPr txBox="1"/>
          <p:nvPr/>
        </p:nvSpPr>
        <p:spPr>
          <a:xfrm>
            <a:off x="666750" y="6534150"/>
            <a:ext cx="2460498" cy="126958"/>
          </a:xfrm>
          <a:prstGeom prst="rect">
            <a:avLst/>
          </a:prstGeom>
          <a:noFill/>
        </p:spPr>
        <p:txBody>
          <a:bodyPr wrap="square" lIns="0" tIns="0" rIns="0" bIns="0" anchor="t">
            <a:spAutoFit/>
          </a:bodyPr>
          <a:lstStyle/>
          <a:p>
            <a:pPr algn="l"/>
            <a:r>
              <a:rPr sz="825" b="0" i="0" u="none" dirty="0">
                <a:solidFill>
                  <a:srgbClr val="94A3B8"/>
                </a:solidFill>
                <a:latin typeface="DM Sans"/>
              </a:rPr>
              <a:t>Mustafa </a:t>
            </a:r>
            <a:r>
              <a:rPr sz="825" b="0" i="0" u="none" dirty="0" err="1">
                <a:solidFill>
                  <a:srgbClr val="94A3B8"/>
                </a:solidFill>
                <a:latin typeface="DM Sans"/>
              </a:rPr>
              <a:t>Melih</a:t>
            </a:r>
            <a:r>
              <a:rPr sz="825" b="0" i="0" u="none" dirty="0">
                <a:solidFill>
                  <a:srgbClr val="94A3B8"/>
                </a:solidFill>
                <a:latin typeface="DM Sans"/>
              </a:rPr>
              <a:t> TÜFEKCİOĞLU • </a:t>
            </a:r>
            <a:r>
              <a:rPr sz="825" b="0" i="0" u="none" dirty="0" err="1">
                <a:solidFill>
                  <a:srgbClr val="94A3B8"/>
                </a:solidFill>
                <a:latin typeface="DM Sans"/>
              </a:rPr>
              <a:t>Yüksek</a:t>
            </a:r>
            <a:r>
              <a:rPr sz="825" b="0" i="0" u="none" dirty="0">
                <a:solidFill>
                  <a:srgbClr val="94A3B8"/>
                </a:solidFill>
                <a:latin typeface="DM Sans"/>
              </a:rPr>
              <a:t> </a:t>
            </a:r>
            <a:r>
              <a:rPr sz="825" b="0" i="0" u="none" dirty="0" err="1">
                <a:solidFill>
                  <a:srgbClr val="94A3B8"/>
                </a:solidFill>
                <a:latin typeface="DM Sans"/>
              </a:rPr>
              <a:t>Lisans</a:t>
            </a:r>
            <a:r>
              <a:rPr sz="825" b="0" i="0" u="none" dirty="0">
                <a:solidFill>
                  <a:srgbClr val="94A3B8"/>
                </a:solidFill>
                <a:latin typeface="DM Sans"/>
              </a:rPr>
              <a:t> </a:t>
            </a:r>
            <a:r>
              <a:rPr sz="825" b="0" i="0" u="none" dirty="0" err="1">
                <a:solidFill>
                  <a:srgbClr val="94A3B8"/>
                </a:solidFill>
                <a:latin typeface="DM Sans"/>
              </a:rPr>
              <a:t>Tezi</a:t>
            </a:r>
            <a:endParaRPr sz="825" b="0" i="0" u="none" dirty="0">
              <a:solidFill>
                <a:srgbClr val="94A3B8"/>
              </a:solidFill>
              <a:latin typeface="DM Sans"/>
            </a:endParaRPr>
          </a:p>
        </p:txBody>
      </p:sp>
      <p:sp>
        <p:nvSpPr>
          <p:cNvPr id="9" name="TextBox 8"/>
          <p:cNvSpPr txBox="1"/>
          <p:nvPr/>
        </p:nvSpPr>
        <p:spPr>
          <a:xfrm>
            <a:off x="11201400" y="6534150"/>
            <a:ext cx="323850" cy="133350"/>
          </a:xfrm>
          <a:prstGeom prst="rect">
            <a:avLst/>
          </a:prstGeom>
          <a:noFill/>
        </p:spPr>
        <p:txBody>
          <a:bodyPr wrap="square" lIns="0" tIns="0" rIns="0" bIns="0" anchor="t">
            <a:spAutoFit/>
          </a:bodyPr>
          <a:lstStyle/>
          <a:p>
            <a:pPr algn="l"/>
            <a:r>
              <a:rPr sz="825" b="0" i="0" u="none">
                <a:solidFill>
                  <a:srgbClr val="94A3B8"/>
                </a:solidFill>
                <a:latin typeface="DM Sans"/>
              </a:rPr>
              <a:t>Slayt 8</a:t>
            </a:r>
          </a:p>
        </p:txBody>
      </p:sp>
      <p:pic>
        <p:nvPicPr>
          <p:cNvPr id="10" name="İçerik Yer Tutucusu 10">
            <a:extLst>
              <a:ext uri="{FF2B5EF4-FFF2-40B4-BE49-F238E27FC236}">
                <a16:creationId xmlns:a16="http://schemas.microsoft.com/office/drawing/2014/main" id="{B37786D2-57C1-72F5-BBAE-597F6ED3EF8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93713" y="286767"/>
            <a:ext cx="2011362"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3">
            <a:extLst>
              <a:ext uri="{FF2B5EF4-FFF2-40B4-BE49-F238E27FC236}">
                <a16:creationId xmlns:a16="http://schemas.microsoft.com/office/drawing/2014/main" id="{56DF2EE7-ACCD-5D48-5151-2C940968B18B}"/>
              </a:ext>
            </a:extLst>
          </p:cNvPr>
          <p:cNvSpPr txBox="1"/>
          <p:nvPr/>
        </p:nvSpPr>
        <p:spPr>
          <a:xfrm>
            <a:off x="295275" y="2638425"/>
            <a:ext cx="11601450" cy="553998"/>
          </a:xfrm>
          <a:prstGeom prst="rect">
            <a:avLst/>
          </a:prstGeom>
          <a:noFill/>
        </p:spPr>
        <p:txBody>
          <a:bodyPr wrap="square" lIns="0" tIns="0" rIns="0" bIns="0" anchor="t">
            <a:spAutoFit/>
          </a:bodyPr>
          <a:lstStyle/>
          <a:p>
            <a:pPr algn="ctr"/>
            <a:r>
              <a:rPr lang="tr-TR" sz="3600" b="1" i="0" u="none" dirty="0">
                <a:solidFill>
                  <a:srgbClr val="FFFFFF"/>
                </a:solidFill>
                <a:latin typeface="Merriweather"/>
              </a:rPr>
              <a:t>DENEYSEL SONUÇLAR VE DENETİM</a:t>
            </a:r>
          </a:p>
        </p:txBody>
      </p:sp>
      <p:sp>
        <p:nvSpPr>
          <p:cNvPr id="12" name="TextBox 4">
            <a:extLst>
              <a:ext uri="{FF2B5EF4-FFF2-40B4-BE49-F238E27FC236}">
                <a16:creationId xmlns:a16="http://schemas.microsoft.com/office/drawing/2014/main" id="{DF65916F-B89C-9397-84BC-DE2FB69D63D8}"/>
              </a:ext>
            </a:extLst>
          </p:cNvPr>
          <p:cNvSpPr txBox="1"/>
          <p:nvPr/>
        </p:nvSpPr>
        <p:spPr>
          <a:xfrm>
            <a:off x="2286000" y="3701519"/>
            <a:ext cx="7620000" cy="571500"/>
          </a:xfrm>
          <a:prstGeom prst="rect">
            <a:avLst/>
          </a:prstGeom>
          <a:noFill/>
        </p:spPr>
        <p:txBody>
          <a:bodyPr wrap="square" lIns="0" tIns="0" rIns="0" bIns="0" anchor="t">
            <a:spAutoFit/>
          </a:bodyPr>
          <a:lstStyle/>
          <a:p>
            <a:pPr algn="ctr">
              <a:lnSpc>
                <a:spcPts val="2250"/>
              </a:lnSpc>
            </a:pPr>
            <a:r>
              <a:rPr lang="tr-TR" sz="1500" b="0" i="0" u="none" dirty="0">
                <a:solidFill>
                  <a:srgbClr val="CBD5E1"/>
                </a:solidFill>
                <a:latin typeface="DM Sans"/>
              </a:rPr>
              <a:t>Sınıflandırma Performansı, Model Karşılaştırma Tabloları, Öznitelik Önem Düzeyleri ve Metrik Analizleri</a:t>
            </a:r>
          </a:p>
        </p:txBody>
      </p:sp>
    </p:spTree>
    <p:extLst>
      <p:ext uri="{BB962C8B-B14F-4D97-AF65-F5344CB8AC3E}">
        <p14:creationId xmlns:p14="http://schemas.microsoft.com/office/powerpoint/2010/main" val="24641691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png"/>
          <p:cNvPicPr>
            <a:picLocks noChangeAspect="1"/>
          </p:cNvPicPr>
          <p:nvPr/>
        </p:nvPicPr>
        <p:blipFill>
          <a:blip r:embed="rId2"/>
          <a:stretch>
            <a:fillRect/>
          </a:stretch>
        </p:blipFill>
        <p:spPr>
          <a:xfrm>
            <a:off x="571500" y="6391275"/>
            <a:ext cx="11049000" cy="276225"/>
          </a:xfrm>
          <a:prstGeom prst="rect">
            <a:avLst/>
          </a:prstGeom>
        </p:spPr>
      </p:pic>
      <p:sp>
        <p:nvSpPr>
          <p:cNvPr id="4" name="TextBox 3"/>
          <p:cNvSpPr txBox="1"/>
          <p:nvPr/>
        </p:nvSpPr>
        <p:spPr>
          <a:xfrm>
            <a:off x="571500" y="476250"/>
            <a:ext cx="11601450" cy="392993"/>
          </a:xfrm>
          <a:prstGeom prst="rect">
            <a:avLst/>
          </a:prstGeom>
          <a:noFill/>
        </p:spPr>
        <p:txBody>
          <a:bodyPr wrap="square" lIns="0" tIns="0" rIns="0" bIns="0" anchor="t">
            <a:spAutoFit/>
          </a:bodyPr>
          <a:lstStyle/>
          <a:p>
            <a:pPr algn="l">
              <a:lnSpc>
                <a:spcPts val="3187"/>
              </a:lnSpc>
            </a:pPr>
            <a:r>
              <a:rPr sz="2550" b="1" i="0" u="none" dirty="0">
                <a:solidFill>
                  <a:srgbClr val="005088"/>
                </a:solidFill>
                <a:latin typeface="Merriweather"/>
              </a:rPr>
              <a:t>Model </a:t>
            </a:r>
            <a:r>
              <a:rPr sz="2550" b="1" i="0" u="none" dirty="0" err="1">
                <a:solidFill>
                  <a:srgbClr val="005088"/>
                </a:solidFill>
                <a:latin typeface="Merriweather"/>
              </a:rPr>
              <a:t>Performans</a:t>
            </a:r>
            <a:r>
              <a:rPr sz="2550" b="1" i="0" u="none" dirty="0">
                <a:solidFill>
                  <a:srgbClr val="005088"/>
                </a:solidFill>
                <a:latin typeface="Merriweather"/>
              </a:rPr>
              <a:t> </a:t>
            </a:r>
            <a:r>
              <a:rPr sz="2550" b="1" i="0" u="none" dirty="0" err="1">
                <a:solidFill>
                  <a:srgbClr val="005088"/>
                </a:solidFill>
                <a:latin typeface="Merriweather"/>
              </a:rPr>
              <a:t>Tablosu</a:t>
            </a:r>
            <a:r>
              <a:rPr lang="tr-TR" sz="2550" b="1" i="0" u="none" dirty="0">
                <a:solidFill>
                  <a:srgbClr val="005088"/>
                </a:solidFill>
                <a:latin typeface="Merriweather"/>
              </a:rPr>
              <a:t>(Azaltılmış)</a:t>
            </a:r>
            <a:endParaRPr sz="2550" b="1" i="0" u="none" dirty="0">
              <a:solidFill>
                <a:srgbClr val="005088"/>
              </a:solidFill>
              <a:latin typeface="Merriweather"/>
            </a:endParaRPr>
          </a:p>
        </p:txBody>
      </p:sp>
      <p:sp>
        <p:nvSpPr>
          <p:cNvPr id="5" name="Rectangle 4"/>
          <p:cNvSpPr/>
          <p:nvPr/>
        </p:nvSpPr>
        <p:spPr>
          <a:xfrm>
            <a:off x="571500" y="995362"/>
            <a:ext cx="11049000"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71500" y="6496050"/>
            <a:ext cx="3009900" cy="171450"/>
          </a:xfrm>
          <a:prstGeom prst="rect">
            <a:avLst/>
          </a:prstGeom>
          <a:noFill/>
        </p:spPr>
        <p:txBody>
          <a:bodyPr wrap="square" lIns="0" tIns="0" rIns="0" bIns="0" anchor="t">
            <a:spAutoFit/>
          </a:bodyPr>
          <a:lstStyle/>
          <a:p>
            <a:pPr algn="l">
              <a:lnSpc>
                <a:spcPts val="1350"/>
              </a:lnSpc>
            </a:pPr>
            <a:r>
              <a:rPr sz="900" b="0" i="0" u="none" dirty="0">
                <a:solidFill>
                  <a:srgbClr val="94A3B8"/>
                </a:solidFill>
                <a:latin typeface="DM Sans"/>
              </a:rPr>
              <a:t>SAKARYA ÜNİVERSİTESİ • YÜKSEK LİSANS TEZ SAVUNMASI</a:t>
            </a:r>
          </a:p>
        </p:txBody>
      </p:sp>
      <p:sp>
        <p:nvSpPr>
          <p:cNvPr id="7" name="TextBox 6"/>
          <p:cNvSpPr txBox="1"/>
          <p:nvPr/>
        </p:nvSpPr>
        <p:spPr>
          <a:xfrm>
            <a:off x="11172825" y="6496050"/>
            <a:ext cx="447675" cy="171450"/>
          </a:xfrm>
          <a:prstGeom prst="rect">
            <a:avLst/>
          </a:prstGeom>
          <a:noFill/>
        </p:spPr>
        <p:txBody>
          <a:bodyPr wrap="square" lIns="0" tIns="0" rIns="0" bIns="0" anchor="t">
            <a:spAutoFit/>
          </a:bodyPr>
          <a:lstStyle/>
          <a:p>
            <a:pPr algn="l">
              <a:lnSpc>
                <a:spcPts val="1350"/>
              </a:lnSpc>
            </a:pPr>
            <a:r>
              <a:rPr sz="900" b="0" i="0" u="none">
                <a:solidFill>
                  <a:srgbClr val="94A3B8"/>
                </a:solidFill>
                <a:latin typeface="DM Sans"/>
              </a:rPr>
              <a:t>Slayt 20</a:t>
            </a:r>
          </a:p>
        </p:txBody>
      </p:sp>
      <p:graphicFrame>
        <p:nvGraphicFramePr>
          <p:cNvPr id="8" name="Table 7"/>
          <p:cNvGraphicFramePr>
            <a:graphicFrameLocks noGrp="1"/>
          </p:cNvGraphicFramePr>
          <p:nvPr>
            <p:extLst>
              <p:ext uri="{D42A27DB-BD31-4B8C-83A1-F6EECF244321}">
                <p14:modId xmlns:p14="http://schemas.microsoft.com/office/powerpoint/2010/main" val="2254073739"/>
              </p:ext>
            </p:extLst>
          </p:nvPr>
        </p:nvGraphicFramePr>
        <p:xfrm>
          <a:off x="566928" y="1252537"/>
          <a:ext cx="11053569" cy="3590925"/>
        </p:xfrm>
        <a:graphic>
          <a:graphicData uri="http://schemas.openxmlformats.org/drawingml/2006/table">
            <a:tbl>
              <a:tblPr firstRow="1" bandRow="1">
                <a:tableStyleId>{5C22544A-7EE6-4342-B048-85BDC9FD1C3A}</a:tableStyleId>
              </a:tblPr>
              <a:tblGrid>
                <a:gridCol w="2038605">
                  <a:extLst>
                    <a:ext uri="{9D8B030D-6E8A-4147-A177-3AD203B41FA5}">
                      <a16:colId xmlns:a16="http://schemas.microsoft.com/office/drawing/2014/main" val="20000"/>
                    </a:ext>
                  </a:extLst>
                </a:gridCol>
                <a:gridCol w="2134195">
                  <a:extLst>
                    <a:ext uri="{9D8B030D-6E8A-4147-A177-3AD203B41FA5}">
                      <a16:colId xmlns:a16="http://schemas.microsoft.com/office/drawing/2014/main" val="20001"/>
                    </a:ext>
                  </a:extLst>
                </a:gridCol>
                <a:gridCol w="2264576">
                  <a:extLst>
                    <a:ext uri="{9D8B030D-6E8A-4147-A177-3AD203B41FA5}">
                      <a16:colId xmlns:a16="http://schemas.microsoft.com/office/drawing/2014/main" val="20002"/>
                    </a:ext>
                  </a:extLst>
                </a:gridCol>
                <a:gridCol w="1803640">
                  <a:extLst>
                    <a:ext uri="{9D8B030D-6E8A-4147-A177-3AD203B41FA5}">
                      <a16:colId xmlns:a16="http://schemas.microsoft.com/office/drawing/2014/main" val="20003"/>
                    </a:ext>
                  </a:extLst>
                </a:gridCol>
                <a:gridCol w="966936">
                  <a:extLst>
                    <a:ext uri="{9D8B030D-6E8A-4147-A177-3AD203B41FA5}">
                      <a16:colId xmlns:a16="http://schemas.microsoft.com/office/drawing/2014/main" val="20004"/>
                    </a:ext>
                  </a:extLst>
                </a:gridCol>
                <a:gridCol w="1845617">
                  <a:extLst>
                    <a:ext uri="{9D8B030D-6E8A-4147-A177-3AD203B41FA5}">
                      <a16:colId xmlns:a16="http://schemas.microsoft.com/office/drawing/2014/main" val="20005"/>
                    </a:ext>
                  </a:extLst>
                </a:gridCol>
              </a:tblGrid>
              <a:tr h="448865">
                <a:tc>
                  <a:txBody>
                    <a:bodyPr/>
                    <a:lstStyle/>
                    <a:p>
                      <a:pPr algn="l"/>
                      <a:r>
                        <a:rPr sz="1200" b="0" i="0" u="none" dirty="0">
                          <a:solidFill>
                            <a:srgbClr val="FFFFFF"/>
                          </a:solidFill>
                          <a:latin typeface="DM Sans SemiBold"/>
                        </a:rPr>
                        <a:t>Model </a:t>
                      </a:r>
                      <a:r>
                        <a:rPr sz="1200" b="0" i="0" u="none" dirty="0" err="1">
                          <a:solidFill>
                            <a:srgbClr val="FFFFFF"/>
                          </a:solidFill>
                          <a:latin typeface="DM Sans SemiBold"/>
                        </a:rPr>
                        <a:t>Algoritması</a:t>
                      </a:r>
                      <a:endParaRPr sz="1200" b="0" i="0" u="none" dirty="0">
                        <a:solidFill>
                          <a:srgbClr val="FFFFFF"/>
                        </a:solidFill>
                        <a:latin typeface="DM Sans SemiBold"/>
                      </a:endParaRPr>
                    </a:p>
                  </a:txBody>
                  <a:tcPr marL="63500" marR="63500" marT="25400" marB="25400" anchor="ctr">
                    <a:lnL>
                      <a:noFill/>
                    </a:lnL>
                    <a:lnR>
                      <a:noFill/>
                    </a:lnR>
                    <a:lnT>
                      <a:noFill/>
                    </a:lnT>
                    <a:lnB>
                      <a:noFill/>
                    </a:lnB>
                    <a:solidFill>
                      <a:srgbClr val="005088"/>
                    </a:solidFill>
                  </a:tcPr>
                </a:tc>
                <a:tc>
                  <a:txBody>
                    <a:bodyPr/>
                    <a:lstStyle/>
                    <a:p>
                      <a:pPr algn="l"/>
                      <a:r>
                        <a:rPr sz="1200" b="0" i="0" u="none">
                          <a:solidFill>
                            <a:srgbClr val="FFFFFF"/>
                          </a:solidFill>
                          <a:latin typeface="DM Sans SemiBold"/>
                        </a:rPr>
                        <a:t>Doğruluk (Accuracy)</a:t>
                      </a:r>
                    </a:p>
                  </a:txBody>
                  <a:tcPr marL="63500" marR="63500" marT="25400" marB="25400" anchor="ctr">
                    <a:lnL>
                      <a:noFill/>
                    </a:lnL>
                    <a:lnR>
                      <a:noFill/>
                    </a:lnR>
                    <a:lnT>
                      <a:noFill/>
                    </a:lnT>
                    <a:lnB>
                      <a:noFill/>
                    </a:lnB>
                    <a:solidFill>
                      <a:srgbClr val="005088"/>
                    </a:solidFill>
                  </a:tcPr>
                </a:tc>
                <a:tc>
                  <a:txBody>
                    <a:bodyPr/>
                    <a:lstStyle/>
                    <a:p>
                      <a:pPr algn="l"/>
                      <a:r>
                        <a:rPr sz="1200" b="0" i="0" u="none">
                          <a:solidFill>
                            <a:srgbClr val="FFFFFF"/>
                          </a:solidFill>
                          <a:latin typeface="DM Sans SemiBold"/>
                        </a:rPr>
                        <a:t>Hassasiyet (Precision)</a:t>
                      </a:r>
                    </a:p>
                  </a:txBody>
                  <a:tcPr marL="63500" marR="63500" marT="25400" marB="25400" anchor="ctr">
                    <a:lnL>
                      <a:noFill/>
                    </a:lnL>
                    <a:lnR>
                      <a:noFill/>
                    </a:lnR>
                    <a:lnT>
                      <a:noFill/>
                    </a:lnT>
                    <a:lnB>
                      <a:noFill/>
                    </a:lnB>
                    <a:solidFill>
                      <a:srgbClr val="005088"/>
                    </a:solidFill>
                  </a:tcPr>
                </a:tc>
                <a:tc>
                  <a:txBody>
                    <a:bodyPr/>
                    <a:lstStyle/>
                    <a:p>
                      <a:pPr algn="l"/>
                      <a:r>
                        <a:rPr sz="1200" b="0" i="0" u="none">
                          <a:solidFill>
                            <a:srgbClr val="FFFFFF"/>
                          </a:solidFill>
                          <a:latin typeface="DM Sans SemiBold"/>
                        </a:rPr>
                        <a:t>Duyarlılık (Recall)</a:t>
                      </a:r>
                    </a:p>
                  </a:txBody>
                  <a:tcPr marL="63500" marR="63500" marT="25400" marB="25400" anchor="ctr">
                    <a:lnL>
                      <a:noFill/>
                    </a:lnL>
                    <a:lnR>
                      <a:noFill/>
                    </a:lnR>
                    <a:lnT>
                      <a:noFill/>
                    </a:lnT>
                    <a:lnB>
                      <a:noFill/>
                    </a:lnB>
                    <a:solidFill>
                      <a:srgbClr val="005088"/>
                    </a:solidFill>
                  </a:tcPr>
                </a:tc>
                <a:tc>
                  <a:txBody>
                    <a:bodyPr/>
                    <a:lstStyle/>
                    <a:p>
                      <a:pPr algn="l"/>
                      <a:r>
                        <a:rPr sz="1200" b="0" i="0" u="none">
                          <a:solidFill>
                            <a:srgbClr val="FFFFFF"/>
                          </a:solidFill>
                          <a:latin typeface="DM Sans SemiBold"/>
                        </a:rPr>
                        <a:t>F1-Skor</a:t>
                      </a:r>
                    </a:p>
                  </a:txBody>
                  <a:tcPr marL="63500" marR="63500" marT="25400" marB="25400" anchor="ctr">
                    <a:lnL>
                      <a:noFill/>
                    </a:lnL>
                    <a:lnR>
                      <a:noFill/>
                    </a:lnR>
                    <a:lnT>
                      <a:noFill/>
                    </a:lnT>
                    <a:lnB>
                      <a:noFill/>
                    </a:lnB>
                    <a:solidFill>
                      <a:srgbClr val="005088"/>
                    </a:solidFill>
                  </a:tcPr>
                </a:tc>
                <a:tc>
                  <a:txBody>
                    <a:bodyPr/>
                    <a:lstStyle/>
                    <a:p>
                      <a:pPr algn="l"/>
                      <a:r>
                        <a:rPr sz="1200" b="0" i="0" u="none" dirty="0" err="1">
                          <a:solidFill>
                            <a:srgbClr val="FFFFFF"/>
                          </a:solidFill>
                          <a:latin typeface="DM Sans SemiBold"/>
                        </a:rPr>
                        <a:t>Eğitim</a:t>
                      </a:r>
                      <a:r>
                        <a:rPr sz="1200" b="0" i="0" u="none" dirty="0">
                          <a:solidFill>
                            <a:srgbClr val="FFFFFF"/>
                          </a:solidFill>
                          <a:latin typeface="DM Sans SemiBold"/>
                        </a:rPr>
                        <a:t> </a:t>
                      </a:r>
                      <a:r>
                        <a:rPr sz="1200" b="0" i="0" u="none" dirty="0" err="1">
                          <a:solidFill>
                            <a:srgbClr val="FFFFFF"/>
                          </a:solidFill>
                          <a:latin typeface="DM Sans SemiBold"/>
                        </a:rPr>
                        <a:t>Süresi</a:t>
                      </a:r>
                      <a:r>
                        <a:rPr sz="1200" b="0" i="0" u="none" dirty="0">
                          <a:solidFill>
                            <a:srgbClr val="FFFFFF"/>
                          </a:solidFill>
                          <a:latin typeface="DM Sans SemiBold"/>
                        </a:rPr>
                        <a:t> (</a:t>
                      </a:r>
                      <a:r>
                        <a:rPr sz="1200" b="0" i="0" u="none" dirty="0" err="1">
                          <a:solidFill>
                            <a:srgbClr val="FFFFFF"/>
                          </a:solidFill>
                          <a:latin typeface="DM Sans SemiBold"/>
                        </a:rPr>
                        <a:t>sn</a:t>
                      </a:r>
                      <a:r>
                        <a:rPr sz="1200" b="0" i="0" u="none" dirty="0">
                          <a:solidFill>
                            <a:srgbClr val="FFFFFF"/>
                          </a:solidFill>
                          <a:latin typeface="DM Sans SemiBold"/>
                        </a:rPr>
                        <a:t>)</a:t>
                      </a:r>
                    </a:p>
                  </a:txBody>
                  <a:tcPr marL="63500" marR="63500" marT="25400" marB="25400" anchor="ctr">
                    <a:lnL>
                      <a:noFill/>
                    </a:lnL>
                    <a:lnR>
                      <a:noFill/>
                    </a:lnR>
                    <a:lnT>
                      <a:noFill/>
                    </a:lnT>
                    <a:lnB>
                      <a:noFill/>
                    </a:lnB>
                    <a:solidFill>
                      <a:srgbClr val="005088"/>
                    </a:solidFill>
                  </a:tcPr>
                </a:tc>
                <a:extLst>
                  <a:ext uri="{0D108BD9-81ED-4DB2-BD59-A6C34878D82A}">
                    <a16:rowId xmlns:a16="http://schemas.microsoft.com/office/drawing/2014/main" val="10000"/>
                  </a:ext>
                </a:extLst>
              </a:tr>
              <a:tr h="448865">
                <a:tc>
                  <a:txBody>
                    <a:bodyPr/>
                    <a:lstStyle/>
                    <a:p>
                      <a:pPr algn="l"/>
                      <a:r>
                        <a:rPr sz="1200" b="1" i="0" u="none" dirty="0" err="1">
                          <a:solidFill>
                            <a:srgbClr val="064E3B"/>
                          </a:solidFill>
                          <a:latin typeface="DM Sans"/>
                        </a:rPr>
                        <a:t>XGBoost</a:t>
                      </a:r>
                      <a:endParaRPr sz="1200" b="1" i="0" u="none" dirty="0">
                        <a:solidFill>
                          <a:srgbClr val="064E3B"/>
                        </a:solidFill>
                        <a:latin typeface="DM Sans"/>
                      </a:endParaRPr>
                    </a:p>
                  </a:txBody>
                  <a:tcPr marL="63500" marR="63500" marT="25400" marB="25400" anchor="ctr">
                    <a:lnL>
                      <a:noFill/>
                    </a:lnL>
                    <a:lnR>
                      <a:noFill/>
                    </a:lnR>
                    <a:lnT>
                      <a:noFill/>
                    </a:lnT>
                    <a:lnB>
                      <a:noFill/>
                    </a:lnB>
                    <a:solidFill>
                      <a:srgbClr val="F0FDF4"/>
                    </a:solidFill>
                  </a:tcPr>
                </a:tc>
                <a:tc>
                  <a:txBody>
                    <a:bodyPr/>
                    <a:lstStyle/>
                    <a:p>
                      <a:pPr algn="l"/>
                      <a:r>
                        <a:rPr sz="1200" b="1" i="0" u="none" dirty="0">
                          <a:solidFill>
                            <a:srgbClr val="064E3B"/>
                          </a:solidFill>
                          <a:latin typeface="DM Sans"/>
                        </a:rPr>
                        <a:t>%99.</a:t>
                      </a:r>
                      <a:r>
                        <a:rPr lang="tr-TR" sz="1200" b="1" i="0" u="none" dirty="0">
                          <a:solidFill>
                            <a:srgbClr val="064E3B"/>
                          </a:solidFill>
                          <a:latin typeface="DM Sans"/>
                        </a:rPr>
                        <a:t>76</a:t>
                      </a:r>
                      <a:endParaRPr sz="1200" b="1" i="0" u="none" dirty="0">
                        <a:solidFill>
                          <a:srgbClr val="064E3B"/>
                        </a:solidFill>
                        <a:latin typeface="DM Sans"/>
                      </a:endParaRPr>
                    </a:p>
                  </a:txBody>
                  <a:tcPr marL="63500" marR="63500" marT="25400" marB="25400" anchor="ctr">
                    <a:lnL>
                      <a:noFill/>
                    </a:lnL>
                    <a:lnR>
                      <a:noFill/>
                    </a:lnR>
                    <a:lnT>
                      <a:noFill/>
                    </a:lnT>
                    <a:lnB>
                      <a:noFill/>
                    </a:lnB>
                    <a:solidFill>
                      <a:srgbClr val="F0FDF4"/>
                    </a:solidFill>
                  </a:tcPr>
                </a:tc>
                <a:tc>
                  <a:txBody>
                    <a:bodyPr/>
                    <a:lstStyle/>
                    <a:p>
                      <a:pPr algn="l"/>
                      <a:r>
                        <a:rPr sz="1200" b="1" i="0" u="none" dirty="0">
                          <a:solidFill>
                            <a:srgbClr val="064E3B"/>
                          </a:solidFill>
                          <a:latin typeface="DM Sans"/>
                        </a:rPr>
                        <a:t>%99.</a:t>
                      </a:r>
                      <a:r>
                        <a:rPr lang="tr-TR" sz="1200" b="1" i="0" u="none" dirty="0">
                          <a:solidFill>
                            <a:srgbClr val="064E3B"/>
                          </a:solidFill>
                          <a:latin typeface="DM Sans"/>
                        </a:rPr>
                        <a:t>95</a:t>
                      </a:r>
                      <a:endParaRPr sz="1200" b="1" i="0" u="none" dirty="0">
                        <a:solidFill>
                          <a:srgbClr val="064E3B"/>
                        </a:solidFill>
                        <a:latin typeface="DM Sans"/>
                      </a:endParaRPr>
                    </a:p>
                  </a:txBody>
                  <a:tcPr marL="63500" marR="63500" marT="25400" marB="25400" anchor="ctr">
                    <a:lnL>
                      <a:noFill/>
                    </a:lnL>
                    <a:lnR>
                      <a:noFill/>
                    </a:lnR>
                    <a:lnT>
                      <a:noFill/>
                    </a:lnT>
                    <a:lnB>
                      <a:noFill/>
                    </a:lnB>
                    <a:solidFill>
                      <a:srgbClr val="F0FDF4"/>
                    </a:solidFill>
                  </a:tcPr>
                </a:tc>
                <a:tc>
                  <a:txBody>
                    <a:bodyPr/>
                    <a:lstStyle/>
                    <a:p>
                      <a:pPr marL="0" algn="l" defTabSz="457200" rtl="0" eaLnBrk="1" latinLnBrk="0" hangingPunct="1"/>
                      <a:r>
                        <a:rPr lang="tr-TR" sz="1200" b="1" i="0" u="none" kern="1200" dirty="0">
                          <a:solidFill>
                            <a:srgbClr val="064E3B"/>
                          </a:solidFill>
                          <a:latin typeface="DM Sans"/>
                          <a:ea typeface="+mn-ea"/>
                          <a:cs typeface="+mn-cs"/>
                        </a:rPr>
                        <a:t>%99,58</a:t>
                      </a:r>
                    </a:p>
                  </a:txBody>
                  <a:tcPr anchor="ctr">
                    <a:lnL>
                      <a:noFill/>
                    </a:lnL>
                    <a:lnR>
                      <a:noFill/>
                    </a:lnR>
                    <a:lnT>
                      <a:noFill/>
                    </a:lnT>
                    <a:lnB>
                      <a:noFill/>
                    </a:lnB>
                    <a:solidFill>
                      <a:srgbClr val="F0FDF4"/>
                    </a:solidFill>
                  </a:tcPr>
                </a:tc>
                <a:tc>
                  <a:txBody>
                    <a:bodyPr/>
                    <a:lstStyle/>
                    <a:p>
                      <a:pPr marL="0" algn="l" defTabSz="457200" rtl="0" eaLnBrk="1" latinLnBrk="0" hangingPunct="1"/>
                      <a:r>
                        <a:rPr lang="tr-TR" sz="1200" b="1" i="0" u="none" kern="1200" dirty="0">
                          <a:solidFill>
                            <a:srgbClr val="064E3B"/>
                          </a:solidFill>
                          <a:latin typeface="DM Sans"/>
                          <a:ea typeface="+mn-ea"/>
                          <a:cs typeface="+mn-cs"/>
                        </a:rPr>
                        <a:t>%99,77</a:t>
                      </a:r>
                    </a:p>
                  </a:txBody>
                  <a:tcPr anchor="ctr">
                    <a:lnL>
                      <a:noFill/>
                    </a:lnL>
                    <a:lnR>
                      <a:noFill/>
                    </a:lnR>
                    <a:lnT>
                      <a:noFill/>
                    </a:lnT>
                    <a:lnB>
                      <a:noFill/>
                    </a:lnB>
                    <a:solidFill>
                      <a:srgbClr val="F0FDF4"/>
                    </a:solidFill>
                  </a:tcPr>
                </a:tc>
                <a:tc>
                  <a:txBody>
                    <a:bodyPr/>
                    <a:lstStyle/>
                    <a:p>
                      <a:pPr marL="0" algn="l" defTabSz="457200" rtl="0" eaLnBrk="1" latinLnBrk="0" hangingPunct="1"/>
                      <a:r>
                        <a:rPr lang="tr-TR" sz="1200" b="1" i="0" u="none" kern="1200" dirty="0">
                          <a:solidFill>
                            <a:srgbClr val="064E3B"/>
                          </a:solidFill>
                          <a:latin typeface="DM Sans"/>
                          <a:ea typeface="+mn-ea"/>
                          <a:cs typeface="+mn-cs"/>
                        </a:rPr>
                        <a:t>0,8595 </a:t>
                      </a:r>
                    </a:p>
                  </a:txBody>
                  <a:tcPr anchor="ctr">
                    <a:lnL>
                      <a:noFill/>
                    </a:lnL>
                    <a:lnR>
                      <a:noFill/>
                    </a:lnR>
                    <a:lnT>
                      <a:noFill/>
                    </a:lnT>
                    <a:lnB>
                      <a:noFill/>
                    </a:lnB>
                    <a:solidFill>
                      <a:srgbClr val="F0FDF4"/>
                    </a:solidFill>
                  </a:tcPr>
                </a:tc>
                <a:extLst>
                  <a:ext uri="{0D108BD9-81ED-4DB2-BD59-A6C34878D82A}">
                    <a16:rowId xmlns:a16="http://schemas.microsoft.com/office/drawing/2014/main" val="10001"/>
                  </a:ext>
                </a:extLst>
              </a:tr>
              <a:tr h="448865">
                <a:tc>
                  <a:txBody>
                    <a:bodyPr/>
                    <a:lstStyle/>
                    <a:p>
                      <a:pPr marL="0" algn="l" defTabSz="457200" rtl="0" eaLnBrk="1" latinLnBrk="0" hangingPunct="1"/>
                      <a:r>
                        <a:rPr lang="tr-TR" sz="1200" b="0" i="0" u="none" kern="1200" dirty="0" err="1">
                          <a:solidFill>
                            <a:srgbClr val="334155"/>
                          </a:solidFill>
                          <a:latin typeface="DM Sans"/>
                          <a:ea typeface="+mn-ea"/>
                          <a:cs typeface="+mn-cs"/>
                        </a:rPr>
                        <a:t>Random</a:t>
                      </a:r>
                      <a:r>
                        <a:rPr lang="tr-TR" sz="1200" b="0" i="0" u="none" kern="1200" dirty="0">
                          <a:solidFill>
                            <a:srgbClr val="334155"/>
                          </a:solidFill>
                          <a:latin typeface="DM Sans"/>
                          <a:ea typeface="+mn-ea"/>
                          <a:cs typeface="+mn-cs"/>
                        </a:rPr>
                        <a:t> </a:t>
                      </a:r>
                      <a:r>
                        <a:rPr lang="tr-TR" sz="1200" b="0" i="0" u="none" kern="1200" dirty="0" err="1">
                          <a:solidFill>
                            <a:srgbClr val="334155"/>
                          </a:solidFill>
                          <a:latin typeface="DM Sans"/>
                          <a:ea typeface="+mn-ea"/>
                          <a:cs typeface="+mn-cs"/>
                        </a:rPr>
                        <a:t>Forest</a:t>
                      </a:r>
                      <a:endParaRPr lang="tr-TR" sz="1200" b="0" i="0" u="none" kern="1200" dirty="0">
                        <a:solidFill>
                          <a:srgbClr val="334155"/>
                        </a:solidFill>
                        <a:latin typeface="DM Sans"/>
                        <a:ea typeface="+mn-ea"/>
                        <a:cs typeface="+mn-cs"/>
                      </a:endParaRPr>
                    </a:p>
                  </a:txBody>
                  <a:tcPr anchor="ctr">
                    <a:lnL>
                      <a:noFill/>
                    </a:lnL>
                    <a:lnR>
                      <a:noFill/>
                    </a:lnR>
                    <a:lnT>
                      <a:noFill/>
                    </a:lnT>
                    <a:lnB>
                      <a:noFill/>
                    </a:lnB>
                    <a:solidFill>
                      <a:srgbClr val="F8FAFC"/>
                    </a:solidFill>
                  </a:tcPr>
                </a:tc>
                <a:tc>
                  <a:txBody>
                    <a:bodyPr/>
                    <a:lstStyle/>
                    <a:p>
                      <a:r>
                        <a:rPr lang="tr-TR" sz="1200" b="0" i="0" u="none" kern="1200" dirty="0">
                          <a:solidFill>
                            <a:srgbClr val="334155"/>
                          </a:solidFill>
                          <a:latin typeface="DM Sans"/>
                          <a:ea typeface="+mn-ea"/>
                          <a:cs typeface="+mn-cs"/>
                        </a:rPr>
                        <a:t>%99,72</a:t>
                      </a:r>
                    </a:p>
                  </a:txBody>
                  <a:tcPr anchor="ctr">
                    <a:lnL>
                      <a:noFill/>
                    </a:lnL>
                    <a:lnR>
                      <a:noFill/>
                    </a:lnR>
                    <a:lnT>
                      <a:noFill/>
                    </a:lnT>
                    <a:lnB>
                      <a:noFill/>
                    </a:lnB>
                    <a:solidFill>
                      <a:srgbClr val="F8FAFC"/>
                    </a:solidFill>
                  </a:tcPr>
                </a:tc>
                <a:tc>
                  <a:txBody>
                    <a:bodyPr/>
                    <a:lstStyle/>
                    <a:p>
                      <a:r>
                        <a:rPr lang="tr-TR" sz="1200" b="0" i="0" u="none" kern="1200" dirty="0">
                          <a:solidFill>
                            <a:srgbClr val="334155"/>
                          </a:solidFill>
                          <a:latin typeface="DM Sans"/>
                          <a:ea typeface="+mn-ea"/>
                          <a:cs typeface="+mn-cs"/>
                        </a:rPr>
                        <a:t>%99,92</a:t>
                      </a:r>
                    </a:p>
                  </a:txBody>
                  <a:tcPr anchor="ctr">
                    <a:lnL>
                      <a:noFill/>
                    </a:lnL>
                    <a:lnR>
                      <a:noFill/>
                    </a:lnR>
                    <a:lnT>
                      <a:noFill/>
                    </a:lnT>
                    <a:lnB>
                      <a:noFill/>
                    </a:lnB>
                    <a:solidFill>
                      <a:srgbClr val="F8FAFC"/>
                    </a:solidFill>
                  </a:tcPr>
                </a:tc>
                <a:tc>
                  <a:txBody>
                    <a:bodyPr/>
                    <a:lstStyle/>
                    <a:p>
                      <a:r>
                        <a:rPr lang="tr-TR" sz="1200" b="0" i="0" u="none" kern="1200" dirty="0">
                          <a:solidFill>
                            <a:srgbClr val="334155"/>
                          </a:solidFill>
                          <a:latin typeface="DM Sans"/>
                          <a:ea typeface="+mn-ea"/>
                          <a:cs typeface="+mn-cs"/>
                        </a:rPr>
                        <a:t>%99,54</a:t>
                      </a:r>
                    </a:p>
                  </a:txBody>
                  <a:tcPr anchor="ctr">
                    <a:lnL>
                      <a:noFill/>
                    </a:lnL>
                    <a:lnR>
                      <a:noFill/>
                    </a:lnR>
                    <a:lnT>
                      <a:noFill/>
                    </a:lnT>
                    <a:lnB>
                      <a:noFill/>
                    </a:lnB>
                    <a:solidFill>
                      <a:srgbClr val="F8FAFC"/>
                    </a:solidFill>
                  </a:tcPr>
                </a:tc>
                <a:tc>
                  <a:txBody>
                    <a:bodyPr/>
                    <a:lstStyle/>
                    <a:p>
                      <a:r>
                        <a:rPr lang="tr-TR" sz="1200" b="0" i="0" u="none" kern="1200">
                          <a:solidFill>
                            <a:srgbClr val="334155"/>
                          </a:solidFill>
                          <a:latin typeface="DM Sans"/>
                          <a:ea typeface="+mn-ea"/>
                          <a:cs typeface="+mn-cs"/>
                        </a:rPr>
                        <a:t>%99,73</a:t>
                      </a:r>
                    </a:p>
                  </a:txBody>
                  <a:tcPr anchor="ctr">
                    <a:lnL>
                      <a:noFill/>
                    </a:lnL>
                    <a:lnR>
                      <a:noFill/>
                    </a:lnR>
                    <a:lnT>
                      <a:noFill/>
                    </a:lnT>
                    <a:lnB>
                      <a:noFill/>
                    </a:lnB>
                    <a:solidFill>
                      <a:srgbClr val="F8FAFC"/>
                    </a:solidFill>
                  </a:tcPr>
                </a:tc>
                <a:tc>
                  <a:txBody>
                    <a:bodyPr/>
                    <a:lstStyle/>
                    <a:p>
                      <a:r>
                        <a:rPr lang="tr-TR" sz="1200" b="0" i="0" u="none" kern="1200" dirty="0">
                          <a:solidFill>
                            <a:srgbClr val="334155"/>
                          </a:solidFill>
                          <a:latin typeface="DM Sans"/>
                          <a:ea typeface="+mn-ea"/>
                          <a:cs typeface="+mn-cs"/>
                        </a:rPr>
                        <a:t>16,3054 </a:t>
                      </a:r>
                    </a:p>
                  </a:txBody>
                  <a:tcPr anchor="ctr">
                    <a:lnL>
                      <a:noFill/>
                    </a:lnL>
                    <a:lnR>
                      <a:noFill/>
                    </a:lnR>
                    <a:lnT>
                      <a:noFill/>
                    </a:lnT>
                    <a:lnB>
                      <a:noFill/>
                    </a:lnB>
                    <a:solidFill>
                      <a:srgbClr val="F8FAFC"/>
                    </a:solidFill>
                  </a:tcPr>
                </a:tc>
                <a:extLst>
                  <a:ext uri="{0D108BD9-81ED-4DB2-BD59-A6C34878D82A}">
                    <a16:rowId xmlns:a16="http://schemas.microsoft.com/office/drawing/2014/main" val="10002"/>
                  </a:ext>
                </a:extLst>
              </a:tr>
              <a:tr h="448865">
                <a:tc>
                  <a:txBody>
                    <a:bodyPr/>
                    <a:lstStyle/>
                    <a:p>
                      <a:pPr marL="0" algn="l" defTabSz="457200" rtl="0" eaLnBrk="1" latinLnBrk="0" hangingPunct="1"/>
                      <a:r>
                        <a:rPr lang="tr-TR" sz="1200" b="0" i="0" u="none" kern="1200" dirty="0">
                          <a:solidFill>
                            <a:srgbClr val="334155"/>
                          </a:solidFill>
                          <a:latin typeface="DM Sans"/>
                          <a:ea typeface="+mn-ea"/>
                          <a:cs typeface="+mn-cs"/>
                        </a:rPr>
                        <a:t>Lojistik Regresyon</a:t>
                      </a:r>
                    </a:p>
                  </a:txBody>
                  <a:tcPr anchor="ctr">
                    <a:lnL>
                      <a:noFill/>
                    </a:lnL>
                    <a:lnR>
                      <a:noFill/>
                    </a:lnR>
                    <a:lnT>
                      <a:noFill/>
                    </a:lnT>
                    <a:lnB>
                      <a:noFill/>
                    </a:lnB>
                    <a:noFill/>
                  </a:tcPr>
                </a:tc>
                <a:tc>
                  <a:txBody>
                    <a:bodyPr/>
                    <a:lstStyle/>
                    <a:p>
                      <a:pPr marL="0" algn="l" defTabSz="457200" rtl="0" eaLnBrk="1" latinLnBrk="0" hangingPunct="1"/>
                      <a:r>
                        <a:rPr lang="tr-TR" sz="1200" b="0" i="0" u="none" kern="1200">
                          <a:solidFill>
                            <a:srgbClr val="334155"/>
                          </a:solidFill>
                          <a:latin typeface="DM Sans"/>
                          <a:ea typeface="+mn-ea"/>
                          <a:cs typeface="+mn-cs"/>
                        </a:rPr>
                        <a:t>%99,66</a:t>
                      </a:r>
                    </a:p>
                  </a:txBody>
                  <a:tcPr anchor="ctr">
                    <a:lnL>
                      <a:noFill/>
                    </a:lnL>
                    <a:lnR>
                      <a:noFill/>
                    </a:lnR>
                    <a:lnT>
                      <a:noFill/>
                    </a:lnT>
                    <a:lnB>
                      <a:noFill/>
                    </a:lnB>
                    <a:noFill/>
                  </a:tcPr>
                </a:tc>
                <a:tc>
                  <a:txBody>
                    <a:bodyPr/>
                    <a:lstStyle/>
                    <a:p>
                      <a:pPr marL="0" algn="l" defTabSz="457200" rtl="0" eaLnBrk="1" latinLnBrk="0" hangingPunct="1"/>
                      <a:r>
                        <a:rPr lang="tr-TR" sz="1200" b="0" i="0" u="none" kern="1200">
                          <a:solidFill>
                            <a:srgbClr val="334155"/>
                          </a:solidFill>
                          <a:latin typeface="DM Sans"/>
                          <a:ea typeface="+mn-ea"/>
                          <a:cs typeface="+mn-cs"/>
                        </a:rPr>
                        <a:t>%99,96</a:t>
                      </a:r>
                    </a:p>
                  </a:txBody>
                  <a:tcPr anchor="ctr">
                    <a:lnL>
                      <a:noFill/>
                    </a:lnL>
                    <a:lnR>
                      <a:noFill/>
                    </a:lnR>
                    <a:lnT>
                      <a:noFill/>
                    </a:lnT>
                    <a:lnB>
                      <a:noFill/>
                    </a:lnB>
                    <a:noFill/>
                  </a:tcPr>
                </a:tc>
                <a:tc>
                  <a:txBody>
                    <a:bodyPr/>
                    <a:lstStyle/>
                    <a:p>
                      <a:pPr marL="0" algn="l" defTabSz="457200" rtl="0" eaLnBrk="1" latinLnBrk="0" hangingPunct="1"/>
                      <a:r>
                        <a:rPr lang="tr-TR" sz="1200" b="0" i="0" u="none" kern="1200">
                          <a:solidFill>
                            <a:srgbClr val="334155"/>
                          </a:solidFill>
                          <a:latin typeface="DM Sans"/>
                          <a:ea typeface="+mn-ea"/>
                          <a:cs typeface="+mn-cs"/>
                        </a:rPr>
                        <a:t>%99,39</a:t>
                      </a:r>
                    </a:p>
                  </a:txBody>
                  <a:tcPr anchor="ctr">
                    <a:lnL>
                      <a:noFill/>
                    </a:lnL>
                    <a:lnR>
                      <a:noFill/>
                    </a:lnR>
                    <a:lnT>
                      <a:noFill/>
                    </a:lnT>
                    <a:lnB>
                      <a:noFill/>
                    </a:lnB>
                    <a:noFill/>
                  </a:tcPr>
                </a:tc>
                <a:tc>
                  <a:txBody>
                    <a:bodyPr/>
                    <a:lstStyle/>
                    <a:p>
                      <a:pPr marL="0" algn="l" defTabSz="457200" rtl="0" eaLnBrk="1" latinLnBrk="0" hangingPunct="1"/>
                      <a:r>
                        <a:rPr lang="tr-TR" sz="1200" b="0" i="0" u="none" kern="1200">
                          <a:solidFill>
                            <a:srgbClr val="334155"/>
                          </a:solidFill>
                          <a:latin typeface="DM Sans"/>
                          <a:ea typeface="+mn-ea"/>
                          <a:cs typeface="+mn-cs"/>
                        </a:rPr>
                        <a:t>%99,67</a:t>
                      </a:r>
                    </a:p>
                  </a:txBody>
                  <a:tcPr anchor="ctr">
                    <a:lnL>
                      <a:noFill/>
                    </a:lnL>
                    <a:lnR>
                      <a:noFill/>
                    </a:lnR>
                    <a:lnT>
                      <a:noFill/>
                    </a:lnT>
                    <a:lnB>
                      <a:noFill/>
                    </a:lnB>
                    <a:noFill/>
                  </a:tcPr>
                </a:tc>
                <a:tc>
                  <a:txBody>
                    <a:bodyPr/>
                    <a:lstStyle/>
                    <a:p>
                      <a:pPr marL="0" algn="l" defTabSz="457200" rtl="0" eaLnBrk="1" latinLnBrk="0" hangingPunct="1"/>
                      <a:r>
                        <a:rPr lang="tr-TR" sz="1200" b="0" i="0" u="none" kern="1200" dirty="0">
                          <a:solidFill>
                            <a:srgbClr val="334155"/>
                          </a:solidFill>
                          <a:latin typeface="DM Sans"/>
                          <a:ea typeface="+mn-ea"/>
                          <a:cs typeface="+mn-cs"/>
                        </a:rPr>
                        <a:t>6,2479 </a:t>
                      </a:r>
                    </a:p>
                  </a:txBody>
                  <a:tcPr anchor="ctr">
                    <a:lnL>
                      <a:noFill/>
                    </a:lnL>
                    <a:lnR>
                      <a:noFill/>
                    </a:lnR>
                    <a:lnT>
                      <a:noFill/>
                    </a:lnT>
                    <a:lnB>
                      <a:noFill/>
                    </a:lnB>
                    <a:noFill/>
                  </a:tcPr>
                </a:tc>
                <a:extLst>
                  <a:ext uri="{0D108BD9-81ED-4DB2-BD59-A6C34878D82A}">
                    <a16:rowId xmlns:a16="http://schemas.microsoft.com/office/drawing/2014/main" val="10003"/>
                  </a:ext>
                </a:extLst>
              </a:tr>
              <a:tr h="448865">
                <a:tc>
                  <a:txBody>
                    <a:bodyPr/>
                    <a:lstStyle/>
                    <a:p>
                      <a:pPr marL="0" algn="l" defTabSz="457200" rtl="0" eaLnBrk="1" latinLnBrk="0" hangingPunct="1"/>
                      <a:r>
                        <a:rPr lang="tr-TR" sz="1200" b="0" i="0" u="none" kern="1200" dirty="0" err="1">
                          <a:solidFill>
                            <a:srgbClr val="334155"/>
                          </a:solidFill>
                          <a:latin typeface="DM Sans"/>
                          <a:ea typeface="+mn-ea"/>
                          <a:cs typeface="+mn-cs"/>
                        </a:rPr>
                        <a:t>Linear</a:t>
                      </a:r>
                      <a:r>
                        <a:rPr lang="tr-TR" sz="1200" b="0" i="0" u="none" kern="1200" dirty="0">
                          <a:solidFill>
                            <a:srgbClr val="334155"/>
                          </a:solidFill>
                          <a:latin typeface="DM Sans"/>
                          <a:ea typeface="+mn-ea"/>
                          <a:cs typeface="+mn-cs"/>
                        </a:rPr>
                        <a:t> SVM</a:t>
                      </a:r>
                    </a:p>
                  </a:txBody>
                  <a:tcPr anchor="ctr">
                    <a:lnL>
                      <a:noFill/>
                    </a:lnL>
                    <a:lnR>
                      <a:noFill/>
                    </a:lnR>
                    <a:lnT>
                      <a:noFill/>
                    </a:lnT>
                    <a:lnB>
                      <a:noFill/>
                    </a:lnB>
                    <a:solidFill>
                      <a:srgbClr val="F8FAFC"/>
                    </a:solidFill>
                  </a:tcPr>
                </a:tc>
                <a:tc>
                  <a:txBody>
                    <a:bodyPr/>
                    <a:lstStyle/>
                    <a:p>
                      <a:pPr marL="0" algn="l" defTabSz="457200" rtl="0" eaLnBrk="1" latinLnBrk="0" hangingPunct="1"/>
                      <a:r>
                        <a:rPr lang="tr-TR" sz="1200" b="0" i="0" u="none" kern="1200" dirty="0">
                          <a:solidFill>
                            <a:srgbClr val="334155"/>
                          </a:solidFill>
                          <a:latin typeface="DM Sans"/>
                          <a:ea typeface="+mn-ea"/>
                          <a:cs typeface="+mn-cs"/>
                        </a:rPr>
                        <a:t>%99,66</a:t>
                      </a:r>
                    </a:p>
                  </a:txBody>
                  <a:tcPr anchor="ctr">
                    <a:lnL>
                      <a:noFill/>
                    </a:lnL>
                    <a:lnR>
                      <a:noFill/>
                    </a:lnR>
                    <a:lnT>
                      <a:noFill/>
                    </a:lnT>
                    <a:lnB>
                      <a:noFill/>
                    </a:lnB>
                    <a:solidFill>
                      <a:srgbClr val="F8FAFC"/>
                    </a:solidFill>
                  </a:tcPr>
                </a:tc>
                <a:tc>
                  <a:txBody>
                    <a:bodyPr/>
                    <a:lstStyle/>
                    <a:p>
                      <a:pPr marL="0" algn="l" defTabSz="457200" rtl="0" eaLnBrk="1" latinLnBrk="0" hangingPunct="1"/>
                      <a:r>
                        <a:rPr lang="tr-TR" sz="1200" b="0" i="0" u="none" kern="1200">
                          <a:solidFill>
                            <a:srgbClr val="334155"/>
                          </a:solidFill>
                          <a:latin typeface="DM Sans"/>
                          <a:ea typeface="+mn-ea"/>
                          <a:cs typeface="+mn-cs"/>
                        </a:rPr>
                        <a:t>%99,98</a:t>
                      </a:r>
                    </a:p>
                  </a:txBody>
                  <a:tcPr anchor="ctr">
                    <a:lnL>
                      <a:noFill/>
                    </a:lnL>
                    <a:lnR>
                      <a:noFill/>
                    </a:lnR>
                    <a:lnT>
                      <a:noFill/>
                    </a:lnT>
                    <a:lnB>
                      <a:noFill/>
                    </a:lnB>
                    <a:solidFill>
                      <a:srgbClr val="F8FAFC"/>
                    </a:solidFill>
                  </a:tcPr>
                </a:tc>
                <a:tc>
                  <a:txBody>
                    <a:bodyPr/>
                    <a:lstStyle/>
                    <a:p>
                      <a:pPr marL="0" algn="l" defTabSz="457200" rtl="0" eaLnBrk="1" latinLnBrk="0" hangingPunct="1"/>
                      <a:r>
                        <a:rPr lang="tr-TR" sz="1200" b="0" i="0" u="none" kern="1200">
                          <a:solidFill>
                            <a:srgbClr val="334155"/>
                          </a:solidFill>
                          <a:latin typeface="DM Sans"/>
                          <a:ea typeface="+mn-ea"/>
                          <a:cs typeface="+mn-cs"/>
                        </a:rPr>
                        <a:t>%99,37</a:t>
                      </a:r>
                    </a:p>
                  </a:txBody>
                  <a:tcPr anchor="ctr">
                    <a:lnL>
                      <a:noFill/>
                    </a:lnL>
                    <a:lnR>
                      <a:noFill/>
                    </a:lnR>
                    <a:lnT>
                      <a:noFill/>
                    </a:lnT>
                    <a:lnB>
                      <a:noFill/>
                    </a:lnB>
                    <a:solidFill>
                      <a:srgbClr val="F8FAFC"/>
                    </a:solidFill>
                  </a:tcPr>
                </a:tc>
                <a:tc>
                  <a:txBody>
                    <a:bodyPr/>
                    <a:lstStyle/>
                    <a:p>
                      <a:pPr marL="0" algn="l" defTabSz="457200" rtl="0" eaLnBrk="1" latinLnBrk="0" hangingPunct="1"/>
                      <a:r>
                        <a:rPr lang="tr-TR" sz="1200" b="0" i="0" u="none" kern="1200">
                          <a:solidFill>
                            <a:srgbClr val="334155"/>
                          </a:solidFill>
                          <a:latin typeface="DM Sans"/>
                          <a:ea typeface="+mn-ea"/>
                          <a:cs typeface="+mn-cs"/>
                        </a:rPr>
                        <a:t>%99,67</a:t>
                      </a:r>
                    </a:p>
                  </a:txBody>
                  <a:tcPr anchor="ctr">
                    <a:lnL>
                      <a:noFill/>
                    </a:lnL>
                    <a:lnR>
                      <a:noFill/>
                    </a:lnR>
                    <a:lnT>
                      <a:noFill/>
                    </a:lnT>
                    <a:lnB>
                      <a:noFill/>
                    </a:lnB>
                    <a:solidFill>
                      <a:srgbClr val="F8FAFC"/>
                    </a:solidFill>
                  </a:tcPr>
                </a:tc>
                <a:tc>
                  <a:txBody>
                    <a:bodyPr/>
                    <a:lstStyle/>
                    <a:p>
                      <a:pPr marL="0" algn="l" defTabSz="457200" rtl="0" eaLnBrk="1" latinLnBrk="0" hangingPunct="1"/>
                      <a:r>
                        <a:rPr lang="tr-TR" sz="1200" b="0" i="0" u="none" kern="1200" dirty="0">
                          <a:solidFill>
                            <a:srgbClr val="334155"/>
                          </a:solidFill>
                          <a:latin typeface="DM Sans"/>
                          <a:ea typeface="+mn-ea"/>
                          <a:cs typeface="+mn-cs"/>
                        </a:rPr>
                        <a:t>3,4926 </a:t>
                      </a:r>
                    </a:p>
                  </a:txBody>
                  <a:tcPr anchor="ctr">
                    <a:lnL>
                      <a:noFill/>
                    </a:lnL>
                    <a:lnR>
                      <a:noFill/>
                    </a:lnR>
                    <a:lnT>
                      <a:noFill/>
                    </a:lnT>
                    <a:lnB>
                      <a:noFill/>
                    </a:lnB>
                    <a:solidFill>
                      <a:srgbClr val="F8FAFC"/>
                    </a:solidFill>
                  </a:tcPr>
                </a:tc>
                <a:extLst>
                  <a:ext uri="{0D108BD9-81ED-4DB2-BD59-A6C34878D82A}">
                    <a16:rowId xmlns:a16="http://schemas.microsoft.com/office/drawing/2014/main" val="10004"/>
                  </a:ext>
                </a:extLst>
              </a:tr>
              <a:tr h="448865">
                <a:tc>
                  <a:txBody>
                    <a:bodyPr/>
                    <a:lstStyle/>
                    <a:p>
                      <a:pPr marL="0" algn="l" defTabSz="457200" rtl="0" eaLnBrk="1" latinLnBrk="0" hangingPunct="1"/>
                      <a:r>
                        <a:rPr lang="tr-TR" sz="1200" b="0" i="0" u="none" kern="1200" dirty="0" err="1">
                          <a:solidFill>
                            <a:srgbClr val="334155"/>
                          </a:solidFill>
                          <a:latin typeface="DM Sans"/>
                          <a:ea typeface="+mn-ea"/>
                          <a:cs typeface="+mn-cs"/>
                        </a:rPr>
                        <a:t>Decision</a:t>
                      </a:r>
                      <a:r>
                        <a:rPr lang="tr-TR" sz="1200" b="0" i="0" u="none" kern="1200" dirty="0">
                          <a:solidFill>
                            <a:srgbClr val="334155"/>
                          </a:solidFill>
                          <a:latin typeface="DM Sans"/>
                          <a:ea typeface="+mn-ea"/>
                          <a:cs typeface="+mn-cs"/>
                        </a:rPr>
                        <a:t> </a:t>
                      </a:r>
                      <a:r>
                        <a:rPr lang="tr-TR" sz="1200" b="0" i="0" u="none" kern="1200" dirty="0" err="1">
                          <a:solidFill>
                            <a:srgbClr val="334155"/>
                          </a:solidFill>
                          <a:latin typeface="DM Sans"/>
                          <a:ea typeface="+mn-ea"/>
                          <a:cs typeface="+mn-cs"/>
                        </a:rPr>
                        <a:t>Tree</a:t>
                      </a:r>
                      <a:endParaRPr lang="tr-TR" sz="1200" b="0" i="0" u="none" kern="1200" dirty="0">
                        <a:solidFill>
                          <a:srgbClr val="334155"/>
                        </a:solidFill>
                        <a:latin typeface="DM Sans"/>
                        <a:ea typeface="+mn-ea"/>
                        <a:cs typeface="+mn-cs"/>
                      </a:endParaRPr>
                    </a:p>
                  </a:txBody>
                  <a:tcPr anchor="ctr">
                    <a:lnL>
                      <a:noFill/>
                    </a:lnL>
                    <a:lnR>
                      <a:noFill/>
                    </a:lnR>
                    <a:lnT>
                      <a:noFill/>
                    </a:lnT>
                    <a:lnB>
                      <a:noFill/>
                    </a:lnB>
                    <a:noFill/>
                  </a:tcPr>
                </a:tc>
                <a:tc>
                  <a:txBody>
                    <a:bodyPr/>
                    <a:lstStyle/>
                    <a:p>
                      <a:pPr marL="0" algn="l" defTabSz="457200" rtl="0" eaLnBrk="1" latinLnBrk="0" hangingPunct="1"/>
                      <a:r>
                        <a:rPr lang="tr-TR" sz="1200" b="0" i="0" u="none" kern="1200" dirty="0">
                          <a:solidFill>
                            <a:srgbClr val="334155"/>
                          </a:solidFill>
                          <a:latin typeface="DM Sans"/>
                          <a:ea typeface="+mn-ea"/>
                          <a:cs typeface="+mn-cs"/>
                        </a:rPr>
                        <a:t>%99,64</a:t>
                      </a:r>
                    </a:p>
                  </a:txBody>
                  <a:tcPr anchor="ctr">
                    <a:lnL>
                      <a:noFill/>
                    </a:lnL>
                    <a:lnR>
                      <a:noFill/>
                    </a:lnR>
                    <a:lnT>
                      <a:noFill/>
                    </a:lnT>
                    <a:lnB>
                      <a:noFill/>
                    </a:lnB>
                    <a:noFill/>
                  </a:tcPr>
                </a:tc>
                <a:tc>
                  <a:txBody>
                    <a:bodyPr/>
                    <a:lstStyle/>
                    <a:p>
                      <a:pPr marL="0" algn="l" defTabSz="457200" rtl="0" eaLnBrk="1" latinLnBrk="0" hangingPunct="1"/>
                      <a:r>
                        <a:rPr lang="tr-TR" sz="1200" b="0" i="0" u="none" kern="1200" dirty="0">
                          <a:solidFill>
                            <a:srgbClr val="334155"/>
                          </a:solidFill>
                          <a:latin typeface="DM Sans"/>
                          <a:ea typeface="+mn-ea"/>
                          <a:cs typeface="+mn-cs"/>
                        </a:rPr>
                        <a:t>%99,76</a:t>
                      </a:r>
                    </a:p>
                  </a:txBody>
                  <a:tcPr anchor="ctr">
                    <a:lnL>
                      <a:noFill/>
                    </a:lnL>
                    <a:lnR>
                      <a:noFill/>
                    </a:lnR>
                    <a:lnT>
                      <a:noFill/>
                    </a:lnT>
                    <a:lnB>
                      <a:noFill/>
                    </a:lnB>
                    <a:noFill/>
                  </a:tcPr>
                </a:tc>
                <a:tc>
                  <a:txBody>
                    <a:bodyPr/>
                    <a:lstStyle/>
                    <a:p>
                      <a:pPr marL="0" algn="l" defTabSz="457200" rtl="0" eaLnBrk="1" latinLnBrk="0" hangingPunct="1"/>
                      <a:r>
                        <a:rPr lang="tr-TR" sz="1200" b="0" i="0" u="none" kern="1200">
                          <a:solidFill>
                            <a:srgbClr val="334155"/>
                          </a:solidFill>
                          <a:latin typeface="DM Sans"/>
                          <a:ea typeface="+mn-ea"/>
                          <a:cs typeface="+mn-cs"/>
                        </a:rPr>
                        <a:t>%99,56</a:t>
                      </a:r>
                    </a:p>
                  </a:txBody>
                  <a:tcPr anchor="ctr">
                    <a:lnL>
                      <a:noFill/>
                    </a:lnL>
                    <a:lnR>
                      <a:noFill/>
                    </a:lnR>
                    <a:lnT>
                      <a:noFill/>
                    </a:lnT>
                    <a:lnB>
                      <a:noFill/>
                    </a:lnB>
                    <a:noFill/>
                  </a:tcPr>
                </a:tc>
                <a:tc>
                  <a:txBody>
                    <a:bodyPr/>
                    <a:lstStyle/>
                    <a:p>
                      <a:pPr marL="0" algn="l" defTabSz="457200" rtl="0" eaLnBrk="1" latinLnBrk="0" hangingPunct="1"/>
                      <a:r>
                        <a:rPr lang="tr-TR" sz="1200" b="0" i="0" u="none" kern="1200">
                          <a:solidFill>
                            <a:srgbClr val="334155"/>
                          </a:solidFill>
                          <a:latin typeface="DM Sans"/>
                          <a:ea typeface="+mn-ea"/>
                          <a:cs typeface="+mn-cs"/>
                        </a:rPr>
                        <a:t>%99,66</a:t>
                      </a:r>
                    </a:p>
                  </a:txBody>
                  <a:tcPr anchor="ctr">
                    <a:lnL>
                      <a:noFill/>
                    </a:lnL>
                    <a:lnR>
                      <a:noFill/>
                    </a:lnR>
                    <a:lnT>
                      <a:noFill/>
                    </a:lnT>
                    <a:lnB>
                      <a:noFill/>
                    </a:lnB>
                    <a:noFill/>
                  </a:tcPr>
                </a:tc>
                <a:tc>
                  <a:txBody>
                    <a:bodyPr/>
                    <a:lstStyle/>
                    <a:p>
                      <a:pPr marL="0" algn="l" defTabSz="457200" rtl="0" eaLnBrk="1" latinLnBrk="0" hangingPunct="1"/>
                      <a:r>
                        <a:rPr lang="tr-TR" sz="1200" b="0" i="0" u="none" kern="1200" dirty="0">
                          <a:solidFill>
                            <a:srgbClr val="334155"/>
                          </a:solidFill>
                          <a:latin typeface="DM Sans"/>
                          <a:ea typeface="+mn-ea"/>
                          <a:cs typeface="+mn-cs"/>
                        </a:rPr>
                        <a:t>1,4830 </a:t>
                      </a:r>
                    </a:p>
                  </a:txBody>
                  <a:tcPr anchor="ctr">
                    <a:lnL>
                      <a:noFill/>
                    </a:lnL>
                    <a:lnR>
                      <a:noFill/>
                    </a:lnR>
                    <a:lnT>
                      <a:noFill/>
                    </a:lnT>
                    <a:lnB>
                      <a:noFill/>
                    </a:lnB>
                    <a:noFill/>
                  </a:tcPr>
                </a:tc>
                <a:extLst>
                  <a:ext uri="{0D108BD9-81ED-4DB2-BD59-A6C34878D82A}">
                    <a16:rowId xmlns:a16="http://schemas.microsoft.com/office/drawing/2014/main" val="10005"/>
                  </a:ext>
                </a:extLst>
              </a:tr>
              <a:tr h="448865">
                <a:tc>
                  <a:txBody>
                    <a:bodyPr/>
                    <a:lstStyle/>
                    <a:p>
                      <a:pPr marL="0" algn="l" defTabSz="457200" rtl="0" eaLnBrk="1" latinLnBrk="0" hangingPunct="1"/>
                      <a:r>
                        <a:rPr lang="tr-TR" sz="1200" b="0" i="0" u="none" kern="1200" dirty="0" err="1">
                          <a:solidFill>
                            <a:srgbClr val="334155"/>
                          </a:solidFill>
                          <a:latin typeface="DM Sans"/>
                          <a:ea typeface="+mn-ea"/>
                          <a:cs typeface="+mn-cs"/>
                        </a:rPr>
                        <a:t>Naive</a:t>
                      </a:r>
                      <a:r>
                        <a:rPr lang="tr-TR" sz="1200" b="0" i="0" u="none" kern="1200" dirty="0">
                          <a:solidFill>
                            <a:srgbClr val="334155"/>
                          </a:solidFill>
                          <a:latin typeface="DM Sans"/>
                          <a:ea typeface="+mn-ea"/>
                          <a:cs typeface="+mn-cs"/>
                        </a:rPr>
                        <a:t> </a:t>
                      </a:r>
                      <a:r>
                        <a:rPr lang="tr-TR" sz="1200" b="0" i="0" u="none" kern="1200" dirty="0" err="1">
                          <a:solidFill>
                            <a:srgbClr val="334155"/>
                          </a:solidFill>
                          <a:latin typeface="DM Sans"/>
                          <a:ea typeface="+mn-ea"/>
                          <a:cs typeface="+mn-cs"/>
                        </a:rPr>
                        <a:t>Bayes</a:t>
                      </a:r>
                      <a:endParaRPr lang="tr-TR" sz="1200" b="0" i="0" u="none" kern="1200" dirty="0">
                        <a:solidFill>
                          <a:srgbClr val="334155"/>
                        </a:solidFill>
                        <a:latin typeface="DM Sans"/>
                        <a:ea typeface="+mn-ea"/>
                        <a:cs typeface="+mn-cs"/>
                      </a:endParaRPr>
                    </a:p>
                  </a:txBody>
                  <a:tcPr anchor="ctr">
                    <a:lnL>
                      <a:noFill/>
                    </a:lnL>
                    <a:lnR>
                      <a:noFill/>
                    </a:lnR>
                    <a:lnT>
                      <a:noFill/>
                    </a:lnT>
                    <a:lnB>
                      <a:noFill/>
                    </a:lnB>
                    <a:solidFill>
                      <a:srgbClr val="F8FAFC"/>
                    </a:solidFill>
                  </a:tcPr>
                </a:tc>
                <a:tc>
                  <a:txBody>
                    <a:bodyPr/>
                    <a:lstStyle/>
                    <a:p>
                      <a:pPr marL="0" algn="l" defTabSz="457200" rtl="0" eaLnBrk="1" latinLnBrk="0" hangingPunct="1"/>
                      <a:r>
                        <a:rPr lang="tr-TR" sz="1200" b="0" i="0" u="none" kern="1200">
                          <a:solidFill>
                            <a:srgbClr val="334155"/>
                          </a:solidFill>
                          <a:latin typeface="DM Sans"/>
                          <a:ea typeface="+mn-ea"/>
                          <a:cs typeface="+mn-cs"/>
                        </a:rPr>
                        <a:t>%99,51</a:t>
                      </a:r>
                    </a:p>
                  </a:txBody>
                  <a:tcPr anchor="ctr">
                    <a:lnL>
                      <a:noFill/>
                    </a:lnL>
                    <a:lnR>
                      <a:noFill/>
                    </a:lnR>
                    <a:lnT>
                      <a:noFill/>
                    </a:lnT>
                    <a:lnB>
                      <a:noFill/>
                    </a:lnB>
                    <a:solidFill>
                      <a:srgbClr val="F8FAFC"/>
                    </a:solidFill>
                  </a:tcPr>
                </a:tc>
                <a:tc>
                  <a:txBody>
                    <a:bodyPr/>
                    <a:lstStyle/>
                    <a:p>
                      <a:pPr marL="0" algn="l" defTabSz="457200" rtl="0" eaLnBrk="1" latinLnBrk="0" hangingPunct="1"/>
                      <a:r>
                        <a:rPr lang="tr-TR" sz="1200" b="0" i="0" u="none" kern="1200" dirty="0">
                          <a:solidFill>
                            <a:srgbClr val="334155"/>
                          </a:solidFill>
                          <a:latin typeface="DM Sans"/>
                          <a:ea typeface="+mn-ea"/>
                          <a:cs typeface="+mn-cs"/>
                        </a:rPr>
                        <a:t>%99,63</a:t>
                      </a:r>
                    </a:p>
                  </a:txBody>
                  <a:tcPr anchor="ctr">
                    <a:lnL>
                      <a:noFill/>
                    </a:lnL>
                    <a:lnR>
                      <a:noFill/>
                    </a:lnR>
                    <a:lnT>
                      <a:noFill/>
                    </a:lnT>
                    <a:lnB>
                      <a:noFill/>
                    </a:lnB>
                    <a:solidFill>
                      <a:srgbClr val="F8FAFC"/>
                    </a:solidFill>
                  </a:tcPr>
                </a:tc>
                <a:tc>
                  <a:txBody>
                    <a:bodyPr/>
                    <a:lstStyle/>
                    <a:p>
                      <a:pPr marL="0" algn="l" defTabSz="457200" rtl="0" eaLnBrk="1" latinLnBrk="0" hangingPunct="1"/>
                      <a:r>
                        <a:rPr lang="tr-TR" sz="1200" b="0" i="0" u="none" kern="1200" dirty="0">
                          <a:solidFill>
                            <a:srgbClr val="334155"/>
                          </a:solidFill>
                          <a:latin typeface="DM Sans"/>
                          <a:ea typeface="+mn-ea"/>
                          <a:cs typeface="+mn-cs"/>
                        </a:rPr>
                        <a:t>%99,44</a:t>
                      </a:r>
                    </a:p>
                  </a:txBody>
                  <a:tcPr anchor="ctr">
                    <a:lnL>
                      <a:noFill/>
                    </a:lnL>
                    <a:lnR>
                      <a:noFill/>
                    </a:lnR>
                    <a:lnT>
                      <a:noFill/>
                    </a:lnT>
                    <a:lnB>
                      <a:noFill/>
                    </a:lnB>
                    <a:solidFill>
                      <a:srgbClr val="F8FAFC"/>
                    </a:solidFill>
                  </a:tcPr>
                </a:tc>
                <a:tc>
                  <a:txBody>
                    <a:bodyPr/>
                    <a:lstStyle/>
                    <a:p>
                      <a:pPr marL="0" algn="l" defTabSz="457200" rtl="0" eaLnBrk="1" latinLnBrk="0" hangingPunct="1"/>
                      <a:r>
                        <a:rPr lang="tr-TR" sz="1200" b="0" i="0" u="none" kern="1200">
                          <a:solidFill>
                            <a:srgbClr val="334155"/>
                          </a:solidFill>
                          <a:latin typeface="DM Sans"/>
                          <a:ea typeface="+mn-ea"/>
                          <a:cs typeface="+mn-cs"/>
                        </a:rPr>
                        <a:t>%99,53</a:t>
                      </a:r>
                    </a:p>
                  </a:txBody>
                  <a:tcPr anchor="ctr">
                    <a:lnL>
                      <a:noFill/>
                    </a:lnL>
                    <a:lnR>
                      <a:noFill/>
                    </a:lnR>
                    <a:lnT>
                      <a:noFill/>
                    </a:lnT>
                    <a:lnB>
                      <a:noFill/>
                    </a:lnB>
                    <a:solidFill>
                      <a:srgbClr val="F8FAFC"/>
                    </a:solidFill>
                  </a:tcPr>
                </a:tc>
                <a:tc>
                  <a:txBody>
                    <a:bodyPr/>
                    <a:lstStyle/>
                    <a:p>
                      <a:pPr marL="0" algn="l" defTabSz="457200" rtl="0" eaLnBrk="1" latinLnBrk="0" hangingPunct="1"/>
                      <a:r>
                        <a:rPr lang="tr-TR" sz="1200" b="0" i="0" u="none" kern="1200" dirty="0">
                          <a:solidFill>
                            <a:srgbClr val="334155"/>
                          </a:solidFill>
                          <a:latin typeface="DM Sans"/>
                          <a:ea typeface="+mn-ea"/>
                          <a:cs typeface="+mn-cs"/>
                        </a:rPr>
                        <a:t>0,1600 </a:t>
                      </a:r>
                    </a:p>
                  </a:txBody>
                  <a:tcPr anchor="ctr">
                    <a:lnL>
                      <a:noFill/>
                    </a:lnL>
                    <a:lnR>
                      <a:noFill/>
                    </a:lnR>
                    <a:lnT>
                      <a:noFill/>
                    </a:lnT>
                    <a:lnB>
                      <a:noFill/>
                    </a:lnB>
                    <a:solidFill>
                      <a:srgbClr val="F8FAFC"/>
                    </a:solidFill>
                  </a:tcPr>
                </a:tc>
                <a:extLst>
                  <a:ext uri="{0D108BD9-81ED-4DB2-BD59-A6C34878D82A}">
                    <a16:rowId xmlns:a16="http://schemas.microsoft.com/office/drawing/2014/main" val="10006"/>
                  </a:ext>
                </a:extLst>
              </a:tr>
              <a:tr h="448870">
                <a:tc>
                  <a:txBody>
                    <a:bodyPr/>
                    <a:lstStyle/>
                    <a:p>
                      <a:pPr marL="0" algn="l" defTabSz="457200" rtl="0" eaLnBrk="1" latinLnBrk="0" hangingPunct="1"/>
                      <a:r>
                        <a:rPr lang="tr-TR" sz="1200" b="0" i="0" u="none" kern="1200" dirty="0">
                          <a:solidFill>
                            <a:srgbClr val="334155"/>
                          </a:solidFill>
                          <a:latin typeface="DM Sans"/>
                          <a:ea typeface="+mn-ea"/>
                          <a:cs typeface="+mn-cs"/>
                        </a:rPr>
                        <a:t>KNN</a:t>
                      </a:r>
                    </a:p>
                  </a:txBody>
                  <a:tcPr anchor="ctr">
                    <a:lnL>
                      <a:noFill/>
                    </a:lnL>
                    <a:lnR>
                      <a:noFill/>
                    </a:lnR>
                    <a:lnT>
                      <a:noFill/>
                    </a:lnT>
                    <a:lnB>
                      <a:noFill/>
                    </a:lnB>
                    <a:noFill/>
                  </a:tcPr>
                </a:tc>
                <a:tc>
                  <a:txBody>
                    <a:bodyPr/>
                    <a:lstStyle/>
                    <a:p>
                      <a:pPr marL="0" algn="l" defTabSz="457200" rtl="0" eaLnBrk="1" latinLnBrk="0" hangingPunct="1"/>
                      <a:r>
                        <a:rPr lang="tr-TR" sz="1200" b="0" i="0" u="none" kern="1200" dirty="0">
                          <a:solidFill>
                            <a:srgbClr val="334155"/>
                          </a:solidFill>
                          <a:latin typeface="DM Sans"/>
                          <a:ea typeface="+mn-ea"/>
                          <a:cs typeface="+mn-cs"/>
                        </a:rPr>
                        <a:t>%99,40</a:t>
                      </a:r>
                    </a:p>
                  </a:txBody>
                  <a:tcPr anchor="ctr">
                    <a:lnL>
                      <a:noFill/>
                    </a:lnL>
                    <a:lnR>
                      <a:noFill/>
                    </a:lnR>
                    <a:lnT>
                      <a:noFill/>
                    </a:lnT>
                    <a:lnB>
                      <a:noFill/>
                    </a:lnB>
                    <a:noFill/>
                  </a:tcPr>
                </a:tc>
                <a:tc>
                  <a:txBody>
                    <a:bodyPr/>
                    <a:lstStyle/>
                    <a:p>
                      <a:pPr marL="0" algn="l" defTabSz="457200" rtl="0" eaLnBrk="1" latinLnBrk="0" hangingPunct="1"/>
                      <a:r>
                        <a:rPr lang="tr-TR" sz="1200" b="0" i="0" u="none" kern="1200" dirty="0">
                          <a:solidFill>
                            <a:srgbClr val="334155"/>
                          </a:solidFill>
                          <a:latin typeface="DM Sans"/>
                          <a:ea typeface="+mn-ea"/>
                          <a:cs typeface="+mn-cs"/>
                        </a:rPr>
                        <a:t>%99,79</a:t>
                      </a:r>
                    </a:p>
                  </a:txBody>
                  <a:tcPr anchor="ctr">
                    <a:lnL>
                      <a:noFill/>
                    </a:lnL>
                    <a:lnR>
                      <a:noFill/>
                    </a:lnR>
                    <a:lnT>
                      <a:noFill/>
                    </a:lnT>
                    <a:lnB>
                      <a:noFill/>
                    </a:lnB>
                    <a:noFill/>
                  </a:tcPr>
                </a:tc>
                <a:tc>
                  <a:txBody>
                    <a:bodyPr/>
                    <a:lstStyle/>
                    <a:p>
                      <a:pPr marL="0" algn="l" defTabSz="457200" rtl="0" eaLnBrk="1" latinLnBrk="0" hangingPunct="1"/>
                      <a:r>
                        <a:rPr lang="tr-TR" sz="1200" b="0" i="0" u="none" kern="1200" dirty="0">
                          <a:solidFill>
                            <a:srgbClr val="334155"/>
                          </a:solidFill>
                          <a:latin typeface="DM Sans"/>
                          <a:ea typeface="+mn-ea"/>
                          <a:cs typeface="+mn-cs"/>
                        </a:rPr>
                        <a:t>%99,06</a:t>
                      </a:r>
                    </a:p>
                  </a:txBody>
                  <a:tcPr anchor="ctr">
                    <a:lnL>
                      <a:noFill/>
                    </a:lnL>
                    <a:lnR>
                      <a:noFill/>
                    </a:lnR>
                    <a:lnT>
                      <a:noFill/>
                    </a:lnT>
                    <a:lnB>
                      <a:noFill/>
                    </a:lnB>
                    <a:noFill/>
                  </a:tcPr>
                </a:tc>
                <a:tc>
                  <a:txBody>
                    <a:bodyPr/>
                    <a:lstStyle/>
                    <a:p>
                      <a:pPr marL="0" algn="l" defTabSz="457200" rtl="0" eaLnBrk="1" latinLnBrk="0" hangingPunct="1"/>
                      <a:r>
                        <a:rPr lang="tr-TR" sz="1200" b="0" i="0" u="none" kern="1200" dirty="0">
                          <a:solidFill>
                            <a:srgbClr val="334155"/>
                          </a:solidFill>
                          <a:latin typeface="DM Sans"/>
                          <a:ea typeface="+mn-ea"/>
                          <a:cs typeface="+mn-cs"/>
                        </a:rPr>
                        <a:t>%99,42</a:t>
                      </a:r>
                    </a:p>
                  </a:txBody>
                  <a:tcPr anchor="ctr">
                    <a:lnL>
                      <a:noFill/>
                    </a:lnL>
                    <a:lnR>
                      <a:noFill/>
                    </a:lnR>
                    <a:lnT>
                      <a:noFill/>
                    </a:lnT>
                    <a:lnB>
                      <a:noFill/>
                    </a:lnB>
                    <a:noFill/>
                  </a:tcPr>
                </a:tc>
                <a:tc>
                  <a:txBody>
                    <a:bodyPr/>
                    <a:lstStyle/>
                    <a:p>
                      <a:pPr marL="0" algn="l" defTabSz="457200" rtl="0" eaLnBrk="1" latinLnBrk="0" hangingPunct="1"/>
                      <a:r>
                        <a:rPr lang="tr-TR" sz="1200" b="0" i="0" u="none" kern="1200" dirty="0">
                          <a:solidFill>
                            <a:srgbClr val="334155"/>
                          </a:solidFill>
                          <a:latin typeface="DM Sans"/>
                          <a:ea typeface="+mn-ea"/>
                          <a:cs typeface="+mn-cs"/>
                        </a:rPr>
                        <a:t>0,0601 </a:t>
                      </a:r>
                    </a:p>
                  </a:txBody>
                  <a:tcPr anchor="ctr">
                    <a:lnL>
                      <a:noFill/>
                    </a:lnL>
                    <a:lnR>
                      <a:noFill/>
                    </a:lnR>
                    <a:lnT>
                      <a:noFill/>
                    </a:lnT>
                    <a:lnB>
                      <a:noFill/>
                    </a:lnB>
                    <a:noFill/>
                  </a:tcPr>
                </a:tc>
                <a:extLst>
                  <a:ext uri="{0D108BD9-81ED-4DB2-BD59-A6C34878D82A}">
                    <a16:rowId xmlns:a16="http://schemas.microsoft.com/office/drawing/2014/main" val="10007"/>
                  </a:ext>
                </a:extLst>
              </a:tr>
            </a:tbl>
          </a:graphicData>
        </a:graphic>
      </p:graphicFrame>
      <p:sp>
        <p:nvSpPr>
          <p:cNvPr id="9" name="Rectangle 8"/>
          <p:cNvSpPr/>
          <p:nvPr/>
        </p:nvSpPr>
        <p:spPr>
          <a:xfrm>
            <a:off x="571500" y="2143125"/>
            <a:ext cx="203403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605533" y="2143125"/>
            <a:ext cx="213419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739729" y="2143125"/>
            <a:ext cx="226754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007274" y="2143125"/>
            <a:ext cx="180067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807946" y="2143125"/>
            <a:ext cx="96693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9774882" y="2143125"/>
            <a:ext cx="184561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71500" y="2590800"/>
            <a:ext cx="203403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605533" y="2590800"/>
            <a:ext cx="213419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739729" y="2590800"/>
            <a:ext cx="226754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007274" y="2590800"/>
            <a:ext cx="180067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807946" y="2590800"/>
            <a:ext cx="96693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9774882" y="2590800"/>
            <a:ext cx="184561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71500" y="3038475"/>
            <a:ext cx="203403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2605533" y="3038475"/>
            <a:ext cx="213419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739729" y="3038475"/>
            <a:ext cx="226754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7007274" y="3038475"/>
            <a:ext cx="180067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807946" y="3038475"/>
            <a:ext cx="96693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9774882" y="3038475"/>
            <a:ext cx="184561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71500" y="3486150"/>
            <a:ext cx="203403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2605533" y="3486150"/>
            <a:ext cx="213419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4739729" y="3486150"/>
            <a:ext cx="226754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7007274" y="3486150"/>
            <a:ext cx="180067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8807946" y="3486150"/>
            <a:ext cx="96693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9774882" y="3486150"/>
            <a:ext cx="184561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571500" y="3933825"/>
            <a:ext cx="203403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2605533" y="3933825"/>
            <a:ext cx="213419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4739729" y="3933825"/>
            <a:ext cx="226754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7007274" y="3933825"/>
            <a:ext cx="180067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8807946" y="3933825"/>
            <a:ext cx="96693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9774882" y="3933825"/>
            <a:ext cx="184561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571500" y="4381500"/>
            <a:ext cx="203403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2605533" y="4381500"/>
            <a:ext cx="213419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4739729" y="4381500"/>
            <a:ext cx="226754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7007274" y="4381500"/>
            <a:ext cx="180067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8807946" y="4381500"/>
            <a:ext cx="96693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9774882" y="4381500"/>
            <a:ext cx="184561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571500" y="4829175"/>
            <a:ext cx="203403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2605533" y="4829175"/>
            <a:ext cx="213419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4739729" y="4829175"/>
            <a:ext cx="226754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7007274" y="4829175"/>
            <a:ext cx="180067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8807946" y="4829175"/>
            <a:ext cx="96693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9774882" y="4829175"/>
            <a:ext cx="184561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1" name="Picture 1" descr="image.png">
            <a:extLst>
              <a:ext uri="{FF2B5EF4-FFF2-40B4-BE49-F238E27FC236}">
                <a16:creationId xmlns:a16="http://schemas.microsoft.com/office/drawing/2014/main" id="{CC1ACD1F-41DF-9D71-C093-2BF8C70F0142}"/>
              </a:ext>
            </a:extLst>
          </p:cNvPr>
          <p:cNvPicPr>
            <a:picLocks noChangeAspect="1"/>
          </p:cNvPicPr>
          <p:nvPr/>
        </p:nvPicPr>
        <p:blipFill>
          <a:blip r:embed="rId3"/>
          <a:stretch>
            <a:fillRect/>
          </a:stretch>
        </p:blipFill>
        <p:spPr>
          <a:xfrm>
            <a:off x="666750" y="952500"/>
            <a:ext cx="10858500" cy="171450"/>
          </a:xfrm>
          <a:prstGeom prst="rect">
            <a:avLst/>
          </a:prstGeom>
        </p:spPr>
      </p:pic>
      <p:pic>
        <p:nvPicPr>
          <p:cNvPr id="52" name="İçerik Yer Tutucusu 10">
            <a:extLst>
              <a:ext uri="{FF2B5EF4-FFF2-40B4-BE49-F238E27FC236}">
                <a16:creationId xmlns:a16="http://schemas.microsoft.com/office/drawing/2014/main" id="{79D056F0-AEA7-2ED0-6629-9A868221A7BE}"/>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9590435" y="466725"/>
            <a:ext cx="2011362"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 name="Tablo 1">
            <a:extLst>
              <a:ext uri="{FF2B5EF4-FFF2-40B4-BE49-F238E27FC236}">
                <a16:creationId xmlns:a16="http://schemas.microsoft.com/office/drawing/2014/main" id="{473114BD-2797-10E2-BB18-BCEE13D02E72}"/>
              </a:ext>
            </a:extLst>
          </p:cNvPr>
          <p:cNvGraphicFramePr>
            <a:graphicFrameLocks noGrp="1"/>
          </p:cNvGraphicFramePr>
          <p:nvPr>
            <p:extLst>
              <p:ext uri="{D42A27DB-BD31-4B8C-83A1-F6EECF244321}">
                <p14:modId xmlns:p14="http://schemas.microsoft.com/office/powerpoint/2010/main" val="3167145008"/>
              </p:ext>
            </p:extLst>
          </p:nvPr>
        </p:nvGraphicFramePr>
        <p:xfrm>
          <a:off x="571500" y="4827980"/>
          <a:ext cx="11053569" cy="448870"/>
        </p:xfrm>
        <a:graphic>
          <a:graphicData uri="http://schemas.openxmlformats.org/drawingml/2006/table">
            <a:tbl>
              <a:tblPr firstRow="1" bandRow="1">
                <a:tableStyleId>{5C22544A-7EE6-4342-B048-85BDC9FD1C3A}</a:tableStyleId>
              </a:tblPr>
              <a:tblGrid>
                <a:gridCol w="2038605">
                  <a:extLst>
                    <a:ext uri="{9D8B030D-6E8A-4147-A177-3AD203B41FA5}">
                      <a16:colId xmlns:a16="http://schemas.microsoft.com/office/drawing/2014/main" val="1278664145"/>
                    </a:ext>
                  </a:extLst>
                </a:gridCol>
                <a:gridCol w="2134195">
                  <a:extLst>
                    <a:ext uri="{9D8B030D-6E8A-4147-A177-3AD203B41FA5}">
                      <a16:colId xmlns:a16="http://schemas.microsoft.com/office/drawing/2014/main" val="247307070"/>
                    </a:ext>
                  </a:extLst>
                </a:gridCol>
                <a:gridCol w="2264576">
                  <a:extLst>
                    <a:ext uri="{9D8B030D-6E8A-4147-A177-3AD203B41FA5}">
                      <a16:colId xmlns:a16="http://schemas.microsoft.com/office/drawing/2014/main" val="288419211"/>
                    </a:ext>
                  </a:extLst>
                </a:gridCol>
                <a:gridCol w="1803640">
                  <a:extLst>
                    <a:ext uri="{9D8B030D-6E8A-4147-A177-3AD203B41FA5}">
                      <a16:colId xmlns:a16="http://schemas.microsoft.com/office/drawing/2014/main" val="2418785676"/>
                    </a:ext>
                  </a:extLst>
                </a:gridCol>
                <a:gridCol w="966936">
                  <a:extLst>
                    <a:ext uri="{9D8B030D-6E8A-4147-A177-3AD203B41FA5}">
                      <a16:colId xmlns:a16="http://schemas.microsoft.com/office/drawing/2014/main" val="4238022796"/>
                    </a:ext>
                  </a:extLst>
                </a:gridCol>
                <a:gridCol w="1845617">
                  <a:extLst>
                    <a:ext uri="{9D8B030D-6E8A-4147-A177-3AD203B41FA5}">
                      <a16:colId xmlns:a16="http://schemas.microsoft.com/office/drawing/2014/main" val="1287164020"/>
                    </a:ext>
                  </a:extLst>
                </a:gridCol>
              </a:tblGrid>
              <a:tr h="448870">
                <a:tc>
                  <a:txBody>
                    <a:bodyPr/>
                    <a:lstStyle/>
                    <a:p>
                      <a:pPr marL="0" algn="l" defTabSz="457200" rtl="0" eaLnBrk="1" latinLnBrk="0" hangingPunct="1"/>
                      <a:r>
                        <a:rPr lang="tr-TR" sz="1200" b="0" i="0" u="none" kern="1200" dirty="0" err="1">
                          <a:solidFill>
                            <a:srgbClr val="334155"/>
                          </a:solidFill>
                          <a:latin typeface="DM Sans"/>
                          <a:ea typeface="+mn-ea"/>
                          <a:cs typeface="+mn-cs"/>
                        </a:rPr>
                        <a:t>Gradient</a:t>
                      </a:r>
                      <a:r>
                        <a:rPr lang="tr-TR" sz="1200" b="0" i="0" u="none" kern="1200" dirty="0">
                          <a:solidFill>
                            <a:srgbClr val="334155"/>
                          </a:solidFill>
                          <a:latin typeface="DM Sans"/>
                          <a:ea typeface="+mn-ea"/>
                          <a:cs typeface="+mn-cs"/>
                        </a:rPr>
                        <a:t> </a:t>
                      </a:r>
                      <a:r>
                        <a:rPr lang="tr-TR" sz="1200" b="0" i="0" u="none" kern="1200" dirty="0" err="1">
                          <a:solidFill>
                            <a:srgbClr val="334155"/>
                          </a:solidFill>
                          <a:latin typeface="DM Sans"/>
                          <a:ea typeface="+mn-ea"/>
                          <a:cs typeface="+mn-cs"/>
                        </a:rPr>
                        <a:t>Boosting</a:t>
                      </a:r>
                      <a:endParaRPr lang="tr-TR" sz="1200" b="0" i="0" u="none" kern="1200" dirty="0">
                        <a:solidFill>
                          <a:srgbClr val="334155"/>
                        </a:solidFill>
                        <a:latin typeface="DM Sans"/>
                        <a:ea typeface="+mn-ea"/>
                        <a:cs typeface="+mn-cs"/>
                      </a:endParaRPr>
                    </a:p>
                  </a:txBody>
                  <a:tcPr anchor="ctr">
                    <a:lnL>
                      <a:noFill/>
                    </a:lnL>
                    <a:lnR>
                      <a:noFill/>
                    </a:lnR>
                    <a:lnT>
                      <a:noFill/>
                    </a:lnT>
                    <a:lnB>
                      <a:noFill/>
                    </a:lnB>
                    <a:noFill/>
                  </a:tcPr>
                </a:tc>
                <a:tc>
                  <a:txBody>
                    <a:bodyPr/>
                    <a:lstStyle/>
                    <a:p>
                      <a:pPr marL="0" algn="l" defTabSz="457200" rtl="0" eaLnBrk="1" latinLnBrk="0" hangingPunct="1"/>
                      <a:r>
                        <a:rPr lang="tr-TR" sz="1200" b="0" i="0" u="none" kern="1200" dirty="0">
                          <a:solidFill>
                            <a:srgbClr val="334155"/>
                          </a:solidFill>
                          <a:latin typeface="DM Sans"/>
                          <a:ea typeface="+mn-ea"/>
                          <a:cs typeface="+mn-cs"/>
                        </a:rPr>
                        <a:t>%99,70</a:t>
                      </a:r>
                    </a:p>
                  </a:txBody>
                  <a:tcPr anchor="ctr">
                    <a:lnL>
                      <a:noFill/>
                    </a:lnL>
                    <a:lnR>
                      <a:noFill/>
                    </a:lnR>
                    <a:lnT>
                      <a:noFill/>
                    </a:lnT>
                    <a:lnB>
                      <a:noFill/>
                    </a:lnB>
                    <a:noFill/>
                  </a:tcPr>
                </a:tc>
                <a:tc>
                  <a:txBody>
                    <a:bodyPr/>
                    <a:lstStyle/>
                    <a:p>
                      <a:pPr marL="0" algn="l" defTabSz="457200" rtl="0" eaLnBrk="1" latinLnBrk="0" hangingPunct="1"/>
                      <a:r>
                        <a:rPr lang="tr-TR" sz="1200" b="0" i="0" u="none" kern="1200" dirty="0">
                          <a:solidFill>
                            <a:srgbClr val="334155"/>
                          </a:solidFill>
                          <a:latin typeface="DM Sans"/>
                          <a:ea typeface="+mn-ea"/>
                          <a:cs typeface="+mn-cs"/>
                        </a:rPr>
                        <a:t>%99,98</a:t>
                      </a:r>
                    </a:p>
                  </a:txBody>
                  <a:tcPr anchor="ctr">
                    <a:lnL>
                      <a:noFill/>
                    </a:lnL>
                    <a:lnR>
                      <a:noFill/>
                    </a:lnR>
                    <a:lnT>
                      <a:noFill/>
                    </a:lnT>
                    <a:lnB>
                      <a:noFill/>
                    </a:lnB>
                    <a:noFill/>
                  </a:tcPr>
                </a:tc>
                <a:tc>
                  <a:txBody>
                    <a:bodyPr/>
                    <a:lstStyle/>
                    <a:p>
                      <a:pPr marL="0" algn="l" defTabSz="457200" rtl="0" eaLnBrk="1" latinLnBrk="0" hangingPunct="1"/>
                      <a:r>
                        <a:rPr lang="tr-TR" sz="1200" b="0" i="0" u="none" kern="1200" dirty="0">
                          <a:solidFill>
                            <a:srgbClr val="334155"/>
                          </a:solidFill>
                          <a:latin typeface="DM Sans"/>
                          <a:ea typeface="+mn-ea"/>
                          <a:cs typeface="+mn-cs"/>
                        </a:rPr>
                        <a:t>%99,46</a:t>
                      </a:r>
                    </a:p>
                  </a:txBody>
                  <a:tcPr anchor="ctr">
                    <a:lnL>
                      <a:noFill/>
                    </a:lnL>
                    <a:lnR>
                      <a:noFill/>
                    </a:lnR>
                    <a:lnT>
                      <a:noFill/>
                    </a:lnT>
                    <a:lnB>
                      <a:noFill/>
                    </a:lnB>
                    <a:noFill/>
                  </a:tcPr>
                </a:tc>
                <a:tc>
                  <a:txBody>
                    <a:bodyPr/>
                    <a:lstStyle/>
                    <a:p>
                      <a:pPr marL="0" algn="l" defTabSz="457200" rtl="0" eaLnBrk="1" latinLnBrk="0" hangingPunct="1"/>
                      <a:r>
                        <a:rPr lang="tr-TR" sz="1200" b="0" i="0" u="none" kern="1200" dirty="0">
                          <a:solidFill>
                            <a:srgbClr val="334155"/>
                          </a:solidFill>
                          <a:latin typeface="DM Sans"/>
                          <a:ea typeface="+mn-ea"/>
                          <a:cs typeface="+mn-cs"/>
                        </a:rPr>
                        <a:t>%99,72</a:t>
                      </a:r>
                    </a:p>
                  </a:txBody>
                  <a:tcPr anchor="ctr">
                    <a:lnL>
                      <a:noFill/>
                    </a:lnL>
                    <a:lnR>
                      <a:noFill/>
                    </a:lnR>
                    <a:lnT>
                      <a:noFill/>
                    </a:lnT>
                    <a:lnB>
                      <a:noFill/>
                    </a:lnB>
                    <a:noFill/>
                  </a:tcPr>
                </a:tc>
                <a:tc>
                  <a:txBody>
                    <a:bodyPr/>
                    <a:lstStyle/>
                    <a:p>
                      <a:pPr marL="0" algn="l" defTabSz="457200" rtl="0" eaLnBrk="1" latinLnBrk="0" hangingPunct="1"/>
                      <a:r>
                        <a:rPr lang="tr-TR" sz="1200" b="0" i="0" u="none" kern="1200" dirty="0">
                          <a:solidFill>
                            <a:srgbClr val="334155"/>
                          </a:solidFill>
                          <a:latin typeface="DM Sans"/>
                          <a:ea typeface="+mn-ea"/>
                          <a:cs typeface="+mn-cs"/>
                        </a:rPr>
                        <a:t>40,72</a:t>
                      </a:r>
                    </a:p>
                  </a:txBody>
                  <a:tcPr anchor="ctr">
                    <a:lnL>
                      <a:noFill/>
                    </a:lnL>
                    <a:lnR>
                      <a:noFill/>
                    </a:lnR>
                    <a:lnT>
                      <a:noFill/>
                    </a:lnT>
                    <a:lnB>
                      <a:noFill/>
                    </a:lnB>
                    <a:noFill/>
                  </a:tcPr>
                </a:tc>
                <a:extLst>
                  <a:ext uri="{0D108BD9-81ED-4DB2-BD59-A6C34878D82A}">
                    <a16:rowId xmlns:a16="http://schemas.microsoft.com/office/drawing/2014/main" val="702274730"/>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png"/>
          <p:cNvPicPr>
            <a:picLocks noChangeAspect="1"/>
          </p:cNvPicPr>
          <p:nvPr/>
        </p:nvPicPr>
        <p:blipFill>
          <a:blip r:embed="rId2"/>
          <a:stretch>
            <a:fillRect/>
          </a:stretch>
        </p:blipFill>
        <p:spPr>
          <a:xfrm>
            <a:off x="571500" y="6391275"/>
            <a:ext cx="11049000" cy="276225"/>
          </a:xfrm>
          <a:prstGeom prst="rect">
            <a:avLst/>
          </a:prstGeom>
        </p:spPr>
      </p:pic>
      <p:sp>
        <p:nvSpPr>
          <p:cNvPr id="4" name="TextBox 3"/>
          <p:cNvSpPr txBox="1"/>
          <p:nvPr/>
        </p:nvSpPr>
        <p:spPr>
          <a:xfrm>
            <a:off x="571500" y="476250"/>
            <a:ext cx="11601450" cy="392993"/>
          </a:xfrm>
          <a:prstGeom prst="rect">
            <a:avLst/>
          </a:prstGeom>
          <a:noFill/>
        </p:spPr>
        <p:txBody>
          <a:bodyPr wrap="square" lIns="0" tIns="0" rIns="0" bIns="0" anchor="t">
            <a:spAutoFit/>
          </a:bodyPr>
          <a:lstStyle/>
          <a:p>
            <a:pPr algn="l">
              <a:lnSpc>
                <a:spcPts val="3187"/>
              </a:lnSpc>
            </a:pPr>
            <a:r>
              <a:rPr sz="2550" b="1" i="0" u="none" dirty="0">
                <a:solidFill>
                  <a:srgbClr val="005088"/>
                </a:solidFill>
                <a:latin typeface="Merriweather"/>
              </a:rPr>
              <a:t>Model </a:t>
            </a:r>
            <a:r>
              <a:rPr sz="2550" b="1" i="0" u="none" dirty="0" err="1">
                <a:solidFill>
                  <a:srgbClr val="005088"/>
                </a:solidFill>
                <a:latin typeface="Merriweather"/>
              </a:rPr>
              <a:t>Performans</a:t>
            </a:r>
            <a:r>
              <a:rPr lang="tr-TR" sz="2550" b="1" dirty="0">
                <a:solidFill>
                  <a:srgbClr val="005088"/>
                </a:solidFill>
                <a:latin typeface="Merriweather"/>
              </a:rPr>
              <a:t> </a:t>
            </a:r>
            <a:r>
              <a:rPr sz="2550" b="1" i="0" u="none" dirty="0" err="1">
                <a:solidFill>
                  <a:srgbClr val="005088"/>
                </a:solidFill>
                <a:latin typeface="Merriweather"/>
              </a:rPr>
              <a:t>Tablosu</a:t>
            </a:r>
            <a:r>
              <a:rPr lang="tr-TR" sz="2550" b="1" i="0" u="none" dirty="0">
                <a:solidFill>
                  <a:srgbClr val="005088"/>
                </a:solidFill>
                <a:latin typeface="Merriweather"/>
              </a:rPr>
              <a:t>(Azaltılmamış)</a:t>
            </a:r>
            <a:endParaRPr sz="2550" b="1" i="0" u="none" dirty="0">
              <a:solidFill>
                <a:srgbClr val="005088"/>
              </a:solidFill>
              <a:latin typeface="Merriweather"/>
            </a:endParaRPr>
          </a:p>
        </p:txBody>
      </p:sp>
      <p:sp>
        <p:nvSpPr>
          <p:cNvPr id="5" name="Rectangle 4"/>
          <p:cNvSpPr/>
          <p:nvPr/>
        </p:nvSpPr>
        <p:spPr>
          <a:xfrm>
            <a:off x="571500" y="995362"/>
            <a:ext cx="11049000"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71500" y="6496050"/>
            <a:ext cx="3009900" cy="171450"/>
          </a:xfrm>
          <a:prstGeom prst="rect">
            <a:avLst/>
          </a:prstGeom>
          <a:noFill/>
        </p:spPr>
        <p:txBody>
          <a:bodyPr wrap="square" lIns="0" tIns="0" rIns="0" bIns="0" anchor="t">
            <a:spAutoFit/>
          </a:bodyPr>
          <a:lstStyle/>
          <a:p>
            <a:pPr algn="l">
              <a:lnSpc>
                <a:spcPts val="1350"/>
              </a:lnSpc>
            </a:pPr>
            <a:r>
              <a:rPr sz="900" b="0" i="0" u="none">
                <a:solidFill>
                  <a:srgbClr val="94A3B8"/>
                </a:solidFill>
                <a:latin typeface="DM Sans"/>
              </a:rPr>
              <a:t>SAKARYA ÜNİVERSİTESİ • YÜKSEK LİSANS TEZ SAVUNMASI</a:t>
            </a:r>
          </a:p>
        </p:txBody>
      </p:sp>
      <p:sp>
        <p:nvSpPr>
          <p:cNvPr id="7" name="TextBox 6"/>
          <p:cNvSpPr txBox="1"/>
          <p:nvPr/>
        </p:nvSpPr>
        <p:spPr>
          <a:xfrm>
            <a:off x="11172825" y="6496050"/>
            <a:ext cx="447675" cy="171450"/>
          </a:xfrm>
          <a:prstGeom prst="rect">
            <a:avLst/>
          </a:prstGeom>
          <a:noFill/>
        </p:spPr>
        <p:txBody>
          <a:bodyPr wrap="square" lIns="0" tIns="0" rIns="0" bIns="0" anchor="t">
            <a:spAutoFit/>
          </a:bodyPr>
          <a:lstStyle/>
          <a:p>
            <a:pPr algn="l">
              <a:lnSpc>
                <a:spcPts val="1350"/>
              </a:lnSpc>
            </a:pPr>
            <a:r>
              <a:rPr sz="900" b="0" i="0" u="none">
                <a:solidFill>
                  <a:srgbClr val="94A3B8"/>
                </a:solidFill>
                <a:latin typeface="DM Sans"/>
              </a:rPr>
              <a:t>Slayt 20</a:t>
            </a:r>
          </a:p>
        </p:txBody>
      </p:sp>
      <p:graphicFrame>
        <p:nvGraphicFramePr>
          <p:cNvPr id="8" name="Table 7"/>
          <p:cNvGraphicFramePr>
            <a:graphicFrameLocks noGrp="1"/>
          </p:cNvGraphicFramePr>
          <p:nvPr>
            <p:extLst>
              <p:ext uri="{D42A27DB-BD31-4B8C-83A1-F6EECF244321}">
                <p14:modId xmlns:p14="http://schemas.microsoft.com/office/powerpoint/2010/main" val="2541852209"/>
              </p:ext>
            </p:extLst>
          </p:nvPr>
        </p:nvGraphicFramePr>
        <p:xfrm>
          <a:off x="603504" y="1252537"/>
          <a:ext cx="11016993" cy="3590925"/>
        </p:xfrm>
        <a:graphic>
          <a:graphicData uri="http://schemas.openxmlformats.org/drawingml/2006/table">
            <a:tbl>
              <a:tblPr firstRow="1" bandRow="1">
                <a:tableStyleId>{5C22544A-7EE6-4342-B048-85BDC9FD1C3A}</a:tableStyleId>
              </a:tblPr>
              <a:tblGrid>
                <a:gridCol w="2002029">
                  <a:extLst>
                    <a:ext uri="{9D8B030D-6E8A-4147-A177-3AD203B41FA5}">
                      <a16:colId xmlns:a16="http://schemas.microsoft.com/office/drawing/2014/main" val="20000"/>
                    </a:ext>
                  </a:extLst>
                </a:gridCol>
                <a:gridCol w="2134195">
                  <a:extLst>
                    <a:ext uri="{9D8B030D-6E8A-4147-A177-3AD203B41FA5}">
                      <a16:colId xmlns:a16="http://schemas.microsoft.com/office/drawing/2014/main" val="20001"/>
                    </a:ext>
                  </a:extLst>
                </a:gridCol>
                <a:gridCol w="2264576">
                  <a:extLst>
                    <a:ext uri="{9D8B030D-6E8A-4147-A177-3AD203B41FA5}">
                      <a16:colId xmlns:a16="http://schemas.microsoft.com/office/drawing/2014/main" val="20002"/>
                    </a:ext>
                  </a:extLst>
                </a:gridCol>
                <a:gridCol w="1803640">
                  <a:extLst>
                    <a:ext uri="{9D8B030D-6E8A-4147-A177-3AD203B41FA5}">
                      <a16:colId xmlns:a16="http://schemas.microsoft.com/office/drawing/2014/main" val="20003"/>
                    </a:ext>
                  </a:extLst>
                </a:gridCol>
                <a:gridCol w="966936">
                  <a:extLst>
                    <a:ext uri="{9D8B030D-6E8A-4147-A177-3AD203B41FA5}">
                      <a16:colId xmlns:a16="http://schemas.microsoft.com/office/drawing/2014/main" val="20004"/>
                    </a:ext>
                  </a:extLst>
                </a:gridCol>
                <a:gridCol w="1845617">
                  <a:extLst>
                    <a:ext uri="{9D8B030D-6E8A-4147-A177-3AD203B41FA5}">
                      <a16:colId xmlns:a16="http://schemas.microsoft.com/office/drawing/2014/main" val="20005"/>
                    </a:ext>
                  </a:extLst>
                </a:gridCol>
              </a:tblGrid>
              <a:tr h="448865">
                <a:tc>
                  <a:txBody>
                    <a:bodyPr/>
                    <a:lstStyle/>
                    <a:p>
                      <a:pPr algn="l"/>
                      <a:r>
                        <a:rPr sz="1200" b="0" i="0" u="none" dirty="0">
                          <a:solidFill>
                            <a:srgbClr val="FFFFFF"/>
                          </a:solidFill>
                          <a:latin typeface="DM Sans SemiBold"/>
                        </a:rPr>
                        <a:t>Model </a:t>
                      </a:r>
                      <a:r>
                        <a:rPr sz="1200" b="0" i="0" u="none" dirty="0" err="1">
                          <a:solidFill>
                            <a:srgbClr val="FFFFFF"/>
                          </a:solidFill>
                          <a:latin typeface="DM Sans SemiBold"/>
                        </a:rPr>
                        <a:t>Algoritması</a:t>
                      </a:r>
                      <a:endParaRPr sz="1200" b="0" i="0" u="none" dirty="0">
                        <a:solidFill>
                          <a:srgbClr val="FFFFFF"/>
                        </a:solidFill>
                        <a:latin typeface="DM Sans SemiBold"/>
                      </a:endParaRPr>
                    </a:p>
                  </a:txBody>
                  <a:tcPr marL="63500" marR="63500" marT="25400" marB="25400" anchor="ctr">
                    <a:lnL>
                      <a:noFill/>
                    </a:lnL>
                    <a:lnR>
                      <a:noFill/>
                    </a:lnR>
                    <a:lnT>
                      <a:noFill/>
                    </a:lnT>
                    <a:lnB>
                      <a:noFill/>
                    </a:lnB>
                    <a:solidFill>
                      <a:srgbClr val="005088"/>
                    </a:solidFill>
                  </a:tcPr>
                </a:tc>
                <a:tc>
                  <a:txBody>
                    <a:bodyPr/>
                    <a:lstStyle/>
                    <a:p>
                      <a:pPr algn="l"/>
                      <a:r>
                        <a:rPr sz="1200" b="0" i="0" u="none">
                          <a:solidFill>
                            <a:srgbClr val="FFFFFF"/>
                          </a:solidFill>
                          <a:latin typeface="DM Sans SemiBold"/>
                        </a:rPr>
                        <a:t>Doğruluk (Accuracy)</a:t>
                      </a:r>
                    </a:p>
                  </a:txBody>
                  <a:tcPr marL="63500" marR="63500" marT="25400" marB="25400" anchor="ctr">
                    <a:lnL>
                      <a:noFill/>
                    </a:lnL>
                    <a:lnR>
                      <a:noFill/>
                    </a:lnR>
                    <a:lnT>
                      <a:noFill/>
                    </a:lnT>
                    <a:lnB>
                      <a:noFill/>
                    </a:lnB>
                    <a:solidFill>
                      <a:srgbClr val="005088"/>
                    </a:solidFill>
                  </a:tcPr>
                </a:tc>
                <a:tc>
                  <a:txBody>
                    <a:bodyPr/>
                    <a:lstStyle/>
                    <a:p>
                      <a:pPr algn="l"/>
                      <a:r>
                        <a:rPr sz="1200" b="0" i="0" u="none">
                          <a:solidFill>
                            <a:srgbClr val="FFFFFF"/>
                          </a:solidFill>
                          <a:latin typeface="DM Sans SemiBold"/>
                        </a:rPr>
                        <a:t>Hassasiyet (Precision)</a:t>
                      </a:r>
                    </a:p>
                  </a:txBody>
                  <a:tcPr marL="63500" marR="63500" marT="25400" marB="25400" anchor="ctr">
                    <a:lnL>
                      <a:noFill/>
                    </a:lnL>
                    <a:lnR>
                      <a:noFill/>
                    </a:lnR>
                    <a:lnT>
                      <a:noFill/>
                    </a:lnT>
                    <a:lnB>
                      <a:noFill/>
                    </a:lnB>
                    <a:solidFill>
                      <a:srgbClr val="005088"/>
                    </a:solidFill>
                  </a:tcPr>
                </a:tc>
                <a:tc>
                  <a:txBody>
                    <a:bodyPr/>
                    <a:lstStyle/>
                    <a:p>
                      <a:pPr algn="l"/>
                      <a:r>
                        <a:rPr sz="1200" b="0" i="0" u="none">
                          <a:solidFill>
                            <a:srgbClr val="FFFFFF"/>
                          </a:solidFill>
                          <a:latin typeface="DM Sans SemiBold"/>
                        </a:rPr>
                        <a:t>Duyarlılık (Recall)</a:t>
                      </a:r>
                    </a:p>
                  </a:txBody>
                  <a:tcPr marL="63500" marR="63500" marT="25400" marB="25400" anchor="ctr">
                    <a:lnL>
                      <a:noFill/>
                    </a:lnL>
                    <a:lnR>
                      <a:noFill/>
                    </a:lnR>
                    <a:lnT>
                      <a:noFill/>
                    </a:lnT>
                    <a:lnB>
                      <a:noFill/>
                    </a:lnB>
                    <a:solidFill>
                      <a:srgbClr val="005088"/>
                    </a:solidFill>
                  </a:tcPr>
                </a:tc>
                <a:tc>
                  <a:txBody>
                    <a:bodyPr/>
                    <a:lstStyle/>
                    <a:p>
                      <a:pPr algn="l"/>
                      <a:r>
                        <a:rPr sz="1200" b="0" i="0" u="none">
                          <a:solidFill>
                            <a:srgbClr val="FFFFFF"/>
                          </a:solidFill>
                          <a:latin typeface="DM Sans SemiBold"/>
                        </a:rPr>
                        <a:t>F1-Skor</a:t>
                      </a:r>
                    </a:p>
                  </a:txBody>
                  <a:tcPr marL="63500" marR="63500" marT="25400" marB="25400" anchor="ctr">
                    <a:lnL>
                      <a:noFill/>
                    </a:lnL>
                    <a:lnR>
                      <a:noFill/>
                    </a:lnR>
                    <a:lnT>
                      <a:noFill/>
                    </a:lnT>
                    <a:lnB>
                      <a:noFill/>
                    </a:lnB>
                    <a:solidFill>
                      <a:srgbClr val="005088"/>
                    </a:solidFill>
                  </a:tcPr>
                </a:tc>
                <a:tc>
                  <a:txBody>
                    <a:bodyPr/>
                    <a:lstStyle/>
                    <a:p>
                      <a:pPr algn="l"/>
                      <a:r>
                        <a:rPr sz="1200" b="0" i="0" u="none" dirty="0" err="1">
                          <a:solidFill>
                            <a:srgbClr val="FFFFFF"/>
                          </a:solidFill>
                          <a:latin typeface="DM Sans SemiBold"/>
                        </a:rPr>
                        <a:t>Eğitim</a:t>
                      </a:r>
                      <a:r>
                        <a:rPr sz="1200" b="0" i="0" u="none" dirty="0">
                          <a:solidFill>
                            <a:srgbClr val="FFFFFF"/>
                          </a:solidFill>
                          <a:latin typeface="DM Sans SemiBold"/>
                        </a:rPr>
                        <a:t> </a:t>
                      </a:r>
                      <a:r>
                        <a:rPr sz="1200" b="0" i="0" u="none" dirty="0" err="1">
                          <a:solidFill>
                            <a:srgbClr val="FFFFFF"/>
                          </a:solidFill>
                          <a:latin typeface="DM Sans SemiBold"/>
                        </a:rPr>
                        <a:t>Süresi</a:t>
                      </a:r>
                      <a:r>
                        <a:rPr sz="1200" b="0" i="0" u="none" dirty="0">
                          <a:solidFill>
                            <a:srgbClr val="FFFFFF"/>
                          </a:solidFill>
                          <a:latin typeface="DM Sans SemiBold"/>
                        </a:rPr>
                        <a:t> (</a:t>
                      </a:r>
                      <a:r>
                        <a:rPr sz="1200" b="0" i="0" u="none" dirty="0" err="1">
                          <a:solidFill>
                            <a:srgbClr val="FFFFFF"/>
                          </a:solidFill>
                          <a:latin typeface="DM Sans SemiBold"/>
                        </a:rPr>
                        <a:t>sn</a:t>
                      </a:r>
                      <a:r>
                        <a:rPr sz="1200" b="0" i="0" u="none" dirty="0">
                          <a:solidFill>
                            <a:srgbClr val="FFFFFF"/>
                          </a:solidFill>
                          <a:latin typeface="DM Sans SemiBold"/>
                        </a:rPr>
                        <a:t>)</a:t>
                      </a:r>
                    </a:p>
                  </a:txBody>
                  <a:tcPr marL="63500" marR="63500" marT="25400" marB="25400" anchor="ctr">
                    <a:lnL>
                      <a:noFill/>
                    </a:lnL>
                    <a:lnR>
                      <a:noFill/>
                    </a:lnR>
                    <a:lnT>
                      <a:noFill/>
                    </a:lnT>
                    <a:lnB>
                      <a:noFill/>
                    </a:lnB>
                    <a:solidFill>
                      <a:srgbClr val="005088"/>
                    </a:solidFill>
                  </a:tcPr>
                </a:tc>
                <a:extLst>
                  <a:ext uri="{0D108BD9-81ED-4DB2-BD59-A6C34878D82A}">
                    <a16:rowId xmlns:a16="http://schemas.microsoft.com/office/drawing/2014/main" val="10000"/>
                  </a:ext>
                </a:extLst>
              </a:tr>
              <a:tr h="448865">
                <a:tc>
                  <a:txBody>
                    <a:bodyPr/>
                    <a:lstStyle/>
                    <a:p>
                      <a:pPr marL="0" algn="l" defTabSz="457200" rtl="0" eaLnBrk="1" latinLnBrk="0" hangingPunct="1"/>
                      <a:r>
                        <a:rPr lang="tr-TR" sz="1200" b="1" i="0" u="none" kern="1200" dirty="0" err="1">
                          <a:solidFill>
                            <a:srgbClr val="064E3B"/>
                          </a:solidFill>
                          <a:latin typeface="DM Sans"/>
                          <a:ea typeface="+mn-ea"/>
                          <a:cs typeface="+mn-cs"/>
                        </a:rPr>
                        <a:t>XGBoost</a:t>
                      </a:r>
                      <a:endParaRPr lang="tr-TR" sz="1200" b="1" i="0" u="none" kern="1200" dirty="0">
                        <a:solidFill>
                          <a:srgbClr val="064E3B"/>
                        </a:solidFill>
                        <a:latin typeface="DM Sans"/>
                        <a:ea typeface="+mn-ea"/>
                        <a:cs typeface="+mn-cs"/>
                      </a:endParaRPr>
                    </a:p>
                  </a:txBody>
                  <a:tcPr anchor="ctr">
                    <a:lnL>
                      <a:noFill/>
                    </a:lnL>
                    <a:lnR>
                      <a:noFill/>
                    </a:lnR>
                    <a:lnT>
                      <a:noFill/>
                    </a:lnT>
                    <a:lnB>
                      <a:noFill/>
                    </a:lnB>
                    <a:solidFill>
                      <a:srgbClr val="F0FDF4"/>
                    </a:solidFill>
                  </a:tcPr>
                </a:tc>
                <a:tc>
                  <a:txBody>
                    <a:bodyPr/>
                    <a:lstStyle/>
                    <a:p>
                      <a:pPr marL="0" algn="l" defTabSz="457200" rtl="0" eaLnBrk="1" latinLnBrk="0" hangingPunct="1"/>
                      <a:r>
                        <a:rPr lang="tr-TR" sz="1200" b="1" i="0" u="none" kern="1200" dirty="0">
                          <a:solidFill>
                            <a:srgbClr val="064E3B"/>
                          </a:solidFill>
                          <a:latin typeface="DM Sans"/>
                          <a:ea typeface="+mn-ea"/>
                          <a:cs typeface="+mn-cs"/>
                        </a:rPr>
                        <a:t>%99,76</a:t>
                      </a:r>
                    </a:p>
                  </a:txBody>
                  <a:tcPr anchor="ctr">
                    <a:lnL>
                      <a:noFill/>
                    </a:lnL>
                    <a:lnR>
                      <a:noFill/>
                    </a:lnR>
                    <a:lnT>
                      <a:noFill/>
                    </a:lnT>
                    <a:lnB>
                      <a:noFill/>
                    </a:lnB>
                    <a:solidFill>
                      <a:srgbClr val="F0FDF4"/>
                    </a:solidFill>
                  </a:tcPr>
                </a:tc>
                <a:tc>
                  <a:txBody>
                    <a:bodyPr/>
                    <a:lstStyle/>
                    <a:p>
                      <a:pPr marL="0" algn="l" defTabSz="457200" rtl="0" eaLnBrk="1" latinLnBrk="0" hangingPunct="1"/>
                      <a:r>
                        <a:rPr lang="tr-TR" sz="1200" b="1" i="0" u="none" kern="1200" dirty="0">
                          <a:solidFill>
                            <a:srgbClr val="064E3B"/>
                          </a:solidFill>
                          <a:latin typeface="DM Sans"/>
                          <a:ea typeface="+mn-ea"/>
                          <a:cs typeface="+mn-cs"/>
                        </a:rPr>
                        <a:t>%99,95</a:t>
                      </a:r>
                    </a:p>
                  </a:txBody>
                  <a:tcPr anchor="ctr">
                    <a:lnL>
                      <a:noFill/>
                    </a:lnL>
                    <a:lnR>
                      <a:noFill/>
                    </a:lnR>
                    <a:lnT>
                      <a:noFill/>
                    </a:lnT>
                    <a:lnB>
                      <a:noFill/>
                    </a:lnB>
                    <a:solidFill>
                      <a:srgbClr val="F0FDF4"/>
                    </a:solidFill>
                  </a:tcPr>
                </a:tc>
                <a:tc>
                  <a:txBody>
                    <a:bodyPr/>
                    <a:lstStyle/>
                    <a:p>
                      <a:pPr marL="0" algn="l" defTabSz="457200" rtl="0" eaLnBrk="1" latinLnBrk="0" hangingPunct="1"/>
                      <a:r>
                        <a:rPr lang="tr-TR" sz="1200" b="1" i="0" u="none" kern="1200" dirty="0">
                          <a:solidFill>
                            <a:srgbClr val="064E3B"/>
                          </a:solidFill>
                          <a:latin typeface="DM Sans"/>
                          <a:ea typeface="+mn-ea"/>
                          <a:cs typeface="+mn-cs"/>
                        </a:rPr>
                        <a:t>%99,58</a:t>
                      </a:r>
                    </a:p>
                  </a:txBody>
                  <a:tcPr anchor="ctr">
                    <a:lnL>
                      <a:noFill/>
                    </a:lnL>
                    <a:lnR>
                      <a:noFill/>
                    </a:lnR>
                    <a:lnT>
                      <a:noFill/>
                    </a:lnT>
                    <a:lnB>
                      <a:noFill/>
                    </a:lnB>
                    <a:solidFill>
                      <a:srgbClr val="F0FDF4"/>
                    </a:solidFill>
                  </a:tcPr>
                </a:tc>
                <a:tc>
                  <a:txBody>
                    <a:bodyPr/>
                    <a:lstStyle/>
                    <a:p>
                      <a:pPr marL="0" algn="l" defTabSz="457200" rtl="0" eaLnBrk="1" latinLnBrk="0" hangingPunct="1"/>
                      <a:r>
                        <a:rPr lang="tr-TR" sz="1200" b="1" i="0" u="none" kern="1200" dirty="0">
                          <a:solidFill>
                            <a:srgbClr val="064E3B"/>
                          </a:solidFill>
                          <a:latin typeface="DM Sans"/>
                          <a:ea typeface="+mn-ea"/>
                          <a:cs typeface="+mn-cs"/>
                        </a:rPr>
                        <a:t>%99,77</a:t>
                      </a:r>
                    </a:p>
                  </a:txBody>
                  <a:tcPr anchor="ctr">
                    <a:lnL>
                      <a:noFill/>
                    </a:lnL>
                    <a:lnR>
                      <a:noFill/>
                    </a:lnR>
                    <a:lnT>
                      <a:noFill/>
                    </a:lnT>
                    <a:lnB>
                      <a:noFill/>
                    </a:lnB>
                    <a:solidFill>
                      <a:srgbClr val="F0FDF4"/>
                    </a:solidFill>
                  </a:tcPr>
                </a:tc>
                <a:tc>
                  <a:txBody>
                    <a:bodyPr/>
                    <a:lstStyle/>
                    <a:p>
                      <a:pPr marL="0" algn="l" defTabSz="457200" rtl="0" eaLnBrk="1" latinLnBrk="0" hangingPunct="1"/>
                      <a:r>
                        <a:rPr lang="tr-TR" sz="1200" b="1" i="0" u="none" kern="1200" dirty="0">
                          <a:solidFill>
                            <a:srgbClr val="064E3B"/>
                          </a:solidFill>
                          <a:latin typeface="DM Sans"/>
                          <a:ea typeface="+mn-ea"/>
                          <a:cs typeface="+mn-cs"/>
                        </a:rPr>
                        <a:t>0,9017 </a:t>
                      </a:r>
                    </a:p>
                  </a:txBody>
                  <a:tcPr anchor="ctr">
                    <a:lnL>
                      <a:noFill/>
                    </a:lnL>
                    <a:lnR>
                      <a:noFill/>
                    </a:lnR>
                    <a:lnT>
                      <a:noFill/>
                    </a:lnT>
                    <a:lnB>
                      <a:noFill/>
                    </a:lnB>
                    <a:solidFill>
                      <a:srgbClr val="F0FDF4"/>
                    </a:solidFill>
                  </a:tcPr>
                </a:tc>
                <a:extLst>
                  <a:ext uri="{0D108BD9-81ED-4DB2-BD59-A6C34878D82A}">
                    <a16:rowId xmlns:a16="http://schemas.microsoft.com/office/drawing/2014/main" val="10001"/>
                  </a:ext>
                </a:extLst>
              </a:tr>
              <a:tr h="448865">
                <a:tc>
                  <a:txBody>
                    <a:bodyPr/>
                    <a:lstStyle/>
                    <a:p>
                      <a:pPr marL="0" algn="l" defTabSz="457200" rtl="0" eaLnBrk="1" latinLnBrk="0" hangingPunct="1"/>
                      <a:r>
                        <a:rPr lang="tr-TR" sz="1200" b="0" i="0" u="none" kern="1200" dirty="0" err="1">
                          <a:solidFill>
                            <a:srgbClr val="334155"/>
                          </a:solidFill>
                          <a:latin typeface="DM Sans"/>
                          <a:ea typeface="+mn-ea"/>
                          <a:cs typeface="+mn-cs"/>
                        </a:rPr>
                        <a:t>Random</a:t>
                      </a:r>
                      <a:r>
                        <a:rPr lang="tr-TR" sz="1200" b="0" i="0" u="none" kern="1200" dirty="0">
                          <a:solidFill>
                            <a:srgbClr val="334155"/>
                          </a:solidFill>
                          <a:latin typeface="DM Sans"/>
                          <a:ea typeface="+mn-ea"/>
                          <a:cs typeface="+mn-cs"/>
                        </a:rPr>
                        <a:t> </a:t>
                      </a:r>
                      <a:r>
                        <a:rPr lang="tr-TR" sz="1200" b="0" i="0" u="none" kern="1200" dirty="0" err="1">
                          <a:solidFill>
                            <a:srgbClr val="334155"/>
                          </a:solidFill>
                          <a:latin typeface="DM Sans"/>
                          <a:ea typeface="+mn-ea"/>
                          <a:cs typeface="+mn-cs"/>
                        </a:rPr>
                        <a:t>Forest</a:t>
                      </a:r>
                      <a:endParaRPr lang="tr-TR" sz="1200" b="0" i="0" u="none" kern="1200" dirty="0">
                        <a:solidFill>
                          <a:srgbClr val="334155"/>
                        </a:solidFill>
                        <a:latin typeface="DM Sans"/>
                        <a:ea typeface="+mn-ea"/>
                        <a:cs typeface="+mn-cs"/>
                      </a:endParaRPr>
                    </a:p>
                  </a:txBody>
                  <a:tcPr anchor="ctr">
                    <a:lnL>
                      <a:noFill/>
                    </a:lnL>
                    <a:lnR>
                      <a:noFill/>
                    </a:lnR>
                    <a:lnT>
                      <a:noFill/>
                    </a:lnT>
                    <a:lnB>
                      <a:noFill/>
                    </a:lnB>
                    <a:solidFill>
                      <a:srgbClr val="F8FAFC"/>
                    </a:solidFill>
                  </a:tcPr>
                </a:tc>
                <a:tc>
                  <a:txBody>
                    <a:bodyPr/>
                    <a:lstStyle/>
                    <a:p>
                      <a:pPr marL="0" algn="l" defTabSz="457200" rtl="0" eaLnBrk="1" latinLnBrk="0" hangingPunct="1"/>
                      <a:r>
                        <a:rPr lang="tr-TR" sz="1200" b="0" i="0" u="none" kern="1200" dirty="0">
                          <a:solidFill>
                            <a:srgbClr val="334155"/>
                          </a:solidFill>
                          <a:latin typeface="DM Sans"/>
                          <a:ea typeface="+mn-ea"/>
                          <a:cs typeface="+mn-cs"/>
                        </a:rPr>
                        <a:t>%99,75</a:t>
                      </a:r>
                    </a:p>
                  </a:txBody>
                  <a:tcPr anchor="ctr">
                    <a:lnL>
                      <a:noFill/>
                    </a:lnL>
                    <a:lnR>
                      <a:noFill/>
                    </a:lnR>
                    <a:lnT>
                      <a:noFill/>
                    </a:lnT>
                    <a:lnB>
                      <a:noFill/>
                    </a:lnB>
                    <a:solidFill>
                      <a:srgbClr val="F8FAFC"/>
                    </a:solidFill>
                  </a:tcPr>
                </a:tc>
                <a:tc>
                  <a:txBody>
                    <a:bodyPr/>
                    <a:lstStyle/>
                    <a:p>
                      <a:pPr marL="0" algn="l" defTabSz="457200" rtl="0" eaLnBrk="1" latinLnBrk="0" hangingPunct="1"/>
                      <a:r>
                        <a:rPr lang="tr-TR" sz="1200" b="0" i="0" u="none" kern="1200">
                          <a:solidFill>
                            <a:srgbClr val="334155"/>
                          </a:solidFill>
                          <a:latin typeface="DM Sans"/>
                          <a:ea typeface="+mn-ea"/>
                          <a:cs typeface="+mn-cs"/>
                        </a:rPr>
                        <a:t>%99,94</a:t>
                      </a:r>
                    </a:p>
                  </a:txBody>
                  <a:tcPr anchor="ctr">
                    <a:lnL>
                      <a:noFill/>
                    </a:lnL>
                    <a:lnR>
                      <a:noFill/>
                    </a:lnR>
                    <a:lnT>
                      <a:noFill/>
                    </a:lnT>
                    <a:lnB>
                      <a:noFill/>
                    </a:lnB>
                    <a:solidFill>
                      <a:srgbClr val="F8FAFC"/>
                    </a:solidFill>
                  </a:tcPr>
                </a:tc>
                <a:tc>
                  <a:txBody>
                    <a:bodyPr/>
                    <a:lstStyle/>
                    <a:p>
                      <a:pPr marL="0" algn="l" defTabSz="457200" rtl="0" eaLnBrk="1" latinLnBrk="0" hangingPunct="1"/>
                      <a:r>
                        <a:rPr lang="tr-TR" sz="1200" b="0" i="0" u="none" kern="1200">
                          <a:solidFill>
                            <a:srgbClr val="334155"/>
                          </a:solidFill>
                          <a:latin typeface="DM Sans"/>
                          <a:ea typeface="+mn-ea"/>
                          <a:cs typeface="+mn-cs"/>
                        </a:rPr>
                        <a:t>%99,59</a:t>
                      </a:r>
                    </a:p>
                  </a:txBody>
                  <a:tcPr anchor="ctr">
                    <a:lnL>
                      <a:noFill/>
                    </a:lnL>
                    <a:lnR>
                      <a:noFill/>
                    </a:lnR>
                    <a:lnT>
                      <a:noFill/>
                    </a:lnT>
                    <a:lnB>
                      <a:noFill/>
                    </a:lnB>
                    <a:solidFill>
                      <a:srgbClr val="F8FAFC"/>
                    </a:solidFill>
                  </a:tcPr>
                </a:tc>
                <a:tc>
                  <a:txBody>
                    <a:bodyPr/>
                    <a:lstStyle/>
                    <a:p>
                      <a:pPr marL="0" algn="l" defTabSz="457200" rtl="0" eaLnBrk="1" latinLnBrk="0" hangingPunct="1"/>
                      <a:r>
                        <a:rPr lang="tr-TR" sz="1200" b="0" i="0" u="none" kern="1200">
                          <a:solidFill>
                            <a:srgbClr val="334155"/>
                          </a:solidFill>
                          <a:latin typeface="DM Sans"/>
                          <a:ea typeface="+mn-ea"/>
                          <a:cs typeface="+mn-cs"/>
                        </a:rPr>
                        <a:t>%99,76</a:t>
                      </a:r>
                    </a:p>
                  </a:txBody>
                  <a:tcPr anchor="ctr">
                    <a:lnL>
                      <a:noFill/>
                    </a:lnL>
                    <a:lnR>
                      <a:noFill/>
                    </a:lnR>
                    <a:lnT>
                      <a:noFill/>
                    </a:lnT>
                    <a:lnB>
                      <a:noFill/>
                    </a:lnB>
                    <a:solidFill>
                      <a:srgbClr val="F8FAFC"/>
                    </a:solidFill>
                  </a:tcPr>
                </a:tc>
                <a:tc>
                  <a:txBody>
                    <a:bodyPr/>
                    <a:lstStyle/>
                    <a:p>
                      <a:pPr marL="0" algn="l" defTabSz="457200" rtl="0" eaLnBrk="1" latinLnBrk="0" hangingPunct="1"/>
                      <a:r>
                        <a:rPr lang="tr-TR" sz="1200" b="0" i="0" u="none" kern="1200" dirty="0">
                          <a:solidFill>
                            <a:srgbClr val="334155"/>
                          </a:solidFill>
                          <a:latin typeface="DM Sans"/>
                          <a:ea typeface="+mn-ea"/>
                          <a:cs typeface="+mn-cs"/>
                        </a:rPr>
                        <a:t>19,2124 </a:t>
                      </a:r>
                    </a:p>
                  </a:txBody>
                  <a:tcPr anchor="ctr">
                    <a:lnL>
                      <a:noFill/>
                    </a:lnL>
                    <a:lnR>
                      <a:noFill/>
                    </a:lnR>
                    <a:lnT>
                      <a:noFill/>
                    </a:lnT>
                    <a:lnB>
                      <a:noFill/>
                    </a:lnB>
                    <a:solidFill>
                      <a:srgbClr val="F8FAFC"/>
                    </a:solidFill>
                  </a:tcPr>
                </a:tc>
                <a:extLst>
                  <a:ext uri="{0D108BD9-81ED-4DB2-BD59-A6C34878D82A}">
                    <a16:rowId xmlns:a16="http://schemas.microsoft.com/office/drawing/2014/main" val="10002"/>
                  </a:ext>
                </a:extLst>
              </a:tr>
              <a:tr h="448865">
                <a:tc>
                  <a:txBody>
                    <a:bodyPr/>
                    <a:lstStyle/>
                    <a:p>
                      <a:pPr marL="0" algn="l" defTabSz="457200" rtl="0" eaLnBrk="1" latinLnBrk="0" hangingPunct="1"/>
                      <a:r>
                        <a:rPr lang="tr-TR" sz="1200" b="0" i="0" u="none" kern="1200" dirty="0">
                          <a:solidFill>
                            <a:srgbClr val="334155"/>
                          </a:solidFill>
                          <a:latin typeface="DM Sans"/>
                          <a:ea typeface="+mn-ea"/>
                          <a:cs typeface="+mn-cs"/>
                        </a:rPr>
                        <a:t>Lojistik Regresyon</a:t>
                      </a:r>
                    </a:p>
                  </a:txBody>
                  <a:tcPr anchor="ctr">
                    <a:lnL>
                      <a:noFill/>
                    </a:lnL>
                    <a:lnR>
                      <a:noFill/>
                    </a:lnR>
                    <a:lnT>
                      <a:noFill/>
                    </a:lnT>
                    <a:lnB>
                      <a:noFill/>
                    </a:lnB>
                    <a:noFill/>
                  </a:tcPr>
                </a:tc>
                <a:tc>
                  <a:txBody>
                    <a:bodyPr/>
                    <a:lstStyle/>
                    <a:p>
                      <a:pPr marL="0" algn="l" defTabSz="457200" rtl="0" eaLnBrk="1" latinLnBrk="0" hangingPunct="1"/>
                      <a:r>
                        <a:rPr lang="tr-TR" sz="1200" b="0" i="0" u="none" kern="1200" dirty="0">
                          <a:solidFill>
                            <a:srgbClr val="334155"/>
                          </a:solidFill>
                          <a:latin typeface="DM Sans"/>
                          <a:ea typeface="+mn-ea"/>
                          <a:cs typeface="+mn-cs"/>
                        </a:rPr>
                        <a:t>%99,73</a:t>
                      </a:r>
                    </a:p>
                  </a:txBody>
                  <a:tcPr anchor="ctr">
                    <a:lnL>
                      <a:noFill/>
                    </a:lnL>
                    <a:lnR>
                      <a:noFill/>
                    </a:lnR>
                    <a:lnT>
                      <a:noFill/>
                    </a:lnT>
                    <a:lnB>
                      <a:noFill/>
                    </a:lnB>
                    <a:noFill/>
                  </a:tcPr>
                </a:tc>
                <a:tc>
                  <a:txBody>
                    <a:bodyPr/>
                    <a:lstStyle/>
                    <a:p>
                      <a:pPr marL="0" algn="l" defTabSz="457200" rtl="0" eaLnBrk="1" latinLnBrk="0" hangingPunct="1"/>
                      <a:r>
                        <a:rPr lang="tr-TR" sz="1200" b="0" i="0" u="none" kern="1200" dirty="0">
                          <a:solidFill>
                            <a:srgbClr val="334155"/>
                          </a:solidFill>
                          <a:latin typeface="DM Sans"/>
                          <a:ea typeface="+mn-ea"/>
                          <a:cs typeface="+mn-cs"/>
                        </a:rPr>
                        <a:t>%99,97</a:t>
                      </a:r>
                    </a:p>
                  </a:txBody>
                  <a:tcPr anchor="ctr">
                    <a:lnL>
                      <a:noFill/>
                    </a:lnL>
                    <a:lnR>
                      <a:noFill/>
                    </a:lnR>
                    <a:lnT>
                      <a:noFill/>
                    </a:lnT>
                    <a:lnB>
                      <a:noFill/>
                    </a:lnB>
                    <a:noFill/>
                  </a:tcPr>
                </a:tc>
                <a:tc>
                  <a:txBody>
                    <a:bodyPr/>
                    <a:lstStyle/>
                    <a:p>
                      <a:pPr marL="0" algn="l" defTabSz="457200" rtl="0" eaLnBrk="1" latinLnBrk="0" hangingPunct="1"/>
                      <a:r>
                        <a:rPr lang="tr-TR" sz="1200" b="0" i="0" u="none" kern="1200">
                          <a:solidFill>
                            <a:srgbClr val="334155"/>
                          </a:solidFill>
                          <a:latin typeface="DM Sans"/>
                          <a:ea typeface="+mn-ea"/>
                          <a:cs typeface="+mn-cs"/>
                        </a:rPr>
                        <a:t>%99,52</a:t>
                      </a:r>
                    </a:p>
                  </a:txBody>
                  <a:tcPr anchor="ctr">
                    <a:lnL>
                      <a:noFill/>
                    </a:lnL>
                    <a:lnR>
                      <a:noFill/>
                    </a:lnR>
                    <a:lnT>
                      <a:noFill/>
                    </a:lnT>
                    <a:lnB>
                      <a:noFill/>
                    </a:lnB>
                    <a:noFill/>
                  </a:tcPr>
                </a:tc>
                <a:tc>
                  <a:txBody>
                    <a:bodyPr/>
                    <a:lstStyle/>
                    <a:p>
                      <a:pPr marL="0" algn="l" defTabSz="457200" rtl="0" eaLnBrk="1" latinLnBrk="0" hangingPunct="1"/>
                      <a:r>
                        <a:rPr lang="tr-TR" sz="1200" b="0" i="0" u="none" kern="1200">
                          <a:solidFill>
                            <a:srgbClr val="334155"/>
                          </a:solidFill>
                          <a:latin typeface="DM Sans"/>
                          <a:ea typeface="+mn-ea"/>
                          <a:cs typeface="+mn-cs"/>
                        </a:rPr>
                        <a:t>%99,74</a:t>
                      </a:r>
                    </a:p>
                  </a:txBody>
                  <a:tcPr anchor="ctr">
                    <a:lnL>
                      <a:noFill/>
                    </a:lnL>
                    <a:lnR>
                      <a:noFill/>
                    </a:lnR>
                    <a:lnT>
                      <a:noFill/>
                    </a:lnT>
                    <a:lnB>
                      <a:noFill/>
                    </a:lnB>
                    <a:noFill/>
                  </a:tcPr>
                </a:tc>
                <a:tc>
                  <a:txBody>
                    <a:bodyPr/>
                    <a:lstStyle/>
                    <a:p>
                      <a:pPr marL="0" algn="l" defTabSz="457200" rtl="0" eaLnBrk="1" latinLnBrk="0" hangingPunct="1"/>
                      <a:r>
                        <a:rPr lang="tr-TR" sz="1200" b="0" i="0" u="none" kern="1200" dirty="0">
                          <a:solidFill>
                            <a:srgbClr val="334155"/>
                          </a:solidFill>
                          <a:latin typeface="DM Sans"/>
                          <a:ea typeface="+mn-ea"/>
                          <a:cs typeface="+mn-cs"/>
                        </a:rPr>
                        <a:t>11,6056 </a:t>
                      </a:r>
                    </a:p>
                  </a:txBody>
                  <a:tcPr anchor="ctr">
                    <a:lnL>
                      <a:noFill/>
                    </a:lnL>
                    <a:lnR>
                      <a:noFill/>
                    </a:lnR>
                    <a:lnT>
                      <a:noFill/>
                    </a:lnT>
                    <a:lnB>
                      <a:noFill/>
                    </a:lnB>
                    <a:noFill/>
                  </a:tcPr>
                </a:tc>
                <a:extLst>
                  <a:ext uri="{0D108BD9-81ED-4DB2-BD59-A6C34878D82A}">
                    <a16:rowId xmlns:a16="http://schemas.microsoft.com/office/drawing/2014/main" val="10003"/>
                  </a:ext>
                </a:extLst>
              </a:tr>
              <a:tr h="448865">
                <a:tc>
                  <a:txBody>
                    <a:bodyPr/>
                    <a:lstStyle/>
                    <a:p>
                      <a:pPr marL="0" algn="l" defTabSz="457200" rtl="0" eaLnBrk="1" latinLnBrk="0" hangingPunct="1"/>
                      <a:r>
                        <a:rPr lang="tr-TR" sz="1200" b="0" i="0" u="none" kern="1200" dirty="0" err="1">
                          <a:solidFill>
                            <a:srgbClr val="334155"/>
                          </a:solidFill>
                          <a:latin typeface="DM Sans"/>
                          <a:ea typeface="+mn-ea"/>
                          <a:cs typeface="+mn-cs"/>
                        </a:rPr>
                        <a:t>Gradient</a:t>
                      </a:r>
                      <a:r>
                        <a:rPr lang="tr-TR" sz="1200" b="0" i="0" u="none" kern="1200" dirty="0">
                          <a:solidFill>
                            <a:srgbClr val="334155"/>
                          </a:solidFill>
                          <a:latin typeface="DM Sans"/>
                          <a:ea typeface="+mn-ea"/>
                          <a:cs typeface="+mn-cs"/>
                        </a:rPr>
                        <a:t> </a:t>
                      </a:r>
                      <a:r>
                        <a:rPr lang="tr-TR" sz="1200" b="0" i="0" u="none" kern="1200" dirty="0" err="1">
                          <a:solidFill>
                            <a:srgbClr val="334155"/>
                          </a:solidFill>
                          <a:latin typeface="DM Sans"/>
                          <a:ea typeface="+mn-ea"/>
                          <a:cs typeface="+mn-cs"/>
                        </a:rPr>
                        <a:t>Boosting</a:t>
                      </a:r>
                      <a:endParaRPr lang="tr-TR" sz="1200" b="0" i="0" u="none" kern="1200" dirty="0">
                        <a:solidFill>
                          <a:srgbClr val="334155"/>
                        </a:solidFill>
                        <a:latin typeface="DM Sans"/>
                        <a:ea typeface="+mn-ea"/>
                        <a:cs typeface="+mn-cs"/>
                      </a:endParaRPr>
                    </a:p>
                  </a:txBody>
                  <a:tcPr anchor="ctr">
                    <a:lnL>
                      <a:noFill/>
                    </a:lnL>
                    <a:lnR>
                      <a:noFill/>
                    </a:lnR>
                    <a:lnT>
                      <a:noFill/>
                    </a:lnT>
                    <a:lnB>
                      <a:noFill/>
                    </a:lnB>
                    <a:solidFill>
                      <a:srgbClr val="F8FAFC"/>
                    </a:solidFill>
                  </a:tcPr>
                </a:tc>
                <a:tc>
                  <a:txBody>
                    <a:bodyPr/>
                    <a:lstStyle/>
                    <a:p>
                      <a:pPr marL="0" algn="l" defTabSz="457200" rtl="0" eaLnBrk="1" latinLnBrk="0" hangingPunct="1"/>
                      <a:r>
                        <a:rPr lang="tr-TR" sz="1200" b="0" i="0" u="none" kern="1200">
                          <a:solidFill>
                            <a:srgbClr val="334155"/>
                          </a:solidFill>
                          <a:latin typeface="DM Sans"/>
                          <a:ea typeface="+mn-ea"/>
                          <a:cs typeface="+mn-cs"/>
                        </a:rPr>
                        <a:t>%99,71</a:t>
                      </a:r>
                    </a:p>
                  </a:txBody>
                  <a:tcPr anchor="ctr">
                    <a:lnL>
                      <a:noFill/>
                    </a:lnL>
                    <a:lnR>
                      <a:noFill/>
                    </a:lnR>
                    <a:lnT>
                      <a:noFill/>
                    </a:lnT>
                    <a:lnB>
                      <a:noFill/>
                    </a:lnB>
                    <a:solidFill>
                      <a:srgbClr val="F8FAFC"/>
                    </a:solidFill>
                  </a:tcPr>
                </a:tc>
                <a:tc>
                  <a:txBody>
                    <a:bodyPr/>
                    <a:lstStyle/>
                    <a:p>
                      <a:pPr marL="0" algn="l" defTabSz="457200" rtl="0" eaLnBrk="1" latinLnBrk="0" hangingPunct="1"/>
                      <a:r>
                        <a:rPr lang="tr-TR" sz="1200" b="0" i="0" u="none" kern="1200" dirty="0">
                          <a:solidFill>
                            <a:srgbClr val="334155"/>
                          </a:solidFill>
                          <a:latin typeface="DM Sans"/>
                          <a:ea typeface="+mn-ea"/>
                          <a:cs typeface="+mn-cs"/>
                        </a:rPr>
                        <a:t>%99,98</a:t>
                      </a:r>
                    </a:p>
                  </a:txBody>
                  <a:tcPr anchor="ctr">
                    <a:lnL>
                      <a:noFill/>
                    </a:lnL>
                    <a:lnR>
                      <a:noFill/>
                    </a:lnR>
                    <a:lnT>
                      <a:noFill/>
                    </a:lnT>
                    <a:lnB>
                      <a:noFill/>
                    </a:lnB>
                    <a:solidFill>
                      <a:srgbClr val="F8FAFC"/>
                    </a:solidFill>
                  </a:tcPr>
                </a:tc>
                <a:tc>
                  <a:txBody>
                    <a:bodyPr/>
                    <a:lstStyle/>
                    <a:p>
                      <a:pPr marL="0" algn="l" defTabSz="457200" rtl="0" eaLnBrk="1" latinLnBrk="0" hangingPunct="1"/>
                      <a:r>
                        <a:rPr lang="tr-TR" sz="1200" b="0" i="0" u="none" kern="1200" dirty="0">
                          <a:solidFill>
                            <a:srgbClr val="334155"/>
                          </a:solidFill>
                          <a:latin typeface="DM Sans"/>
                          <a:ea typeface="+mn-ea"/>
                          <a:cs typeface="+mn-cs"/>
                        </a:rPr>
                        <a:t>%99,47</a:t>
                      </a:r>
                    </a:p>
                  </a:txBody>
                  <a:tcPr anchor="ctr">
                    <a:lnL>
                      <a:noFill/>
                    </a:lnL>
                    <a:lnR>
                      <a:noFill/>
                    </a:lnR>
                    <a:lnT>
                      <a:noFill/>
                    </a:lnT>
                    <a:lnB>
                      <a:noFill/>
                    </a:lnB>
                    <a:solidFill>
                      <a:srgbClr val="F8FAFC"/>
                    </a:solidFill>
                  </a:tcPr>
                </a:tc>
                <a:tc>
                  <a:txBody>
                    <a:bodyPr/>
                    <a:lstStyle/>
                    <a:p>
                      <a:pPr marL="0" algn="l" defTabSz="457200" rtl="0" eaLnBrk="1" latinLnBrk="0" hangingPunct="1"/>
                      <a:r>
                        <a:rPr lang="tr-TR" sz="1200" b="0" i="0" u="none" kern="1200">
                          <a:solidFill>
                            <a:srgbClr val="334155"/>
                          </a:solidFill>
                          <a:latin typeface="DM Sans"/>
                          <a:ea typeface="+mn-ea"/>
                          <a:cs typeface="+mn-cs"/>
                        </a:rPr>
                        <a:t>%99,72</a:t>
                      </a:r>
                    </a:p>
                  </a:txBody>
                  <a:tcPr anchor="ctr">
                    <a:lnL>
                      <a:noFill/>
                    </a:lnL>
                    <a:lnR>
                      <a:noFill/>
                    </a:lnR>
                    <a:lnT>
                      <a:noFill/>
                    </a:lnT>
                    <a:lnB>
                      <a:noFill/>
                    </a:lnB>
                    <a:solidFill>
                      <a:srgbClr val="F8FAFC"/>
                    </a:solidFill>
                  </a:tcPr>
                </a:tc>
                <a:tc>
                  <a:txBody>
                    <a:bodyPr/>
                    <a:lstStyle/>
                    <a:p>
                      <a:pPr marL="0" algn="l" defTabSz="457200" rtl="0" eaLnBrk="1" latinLnBrk="0" hangingPunct="1"/>
                      <a:r>
                        <a:rPr lang="tr-TR" sz="1200" b="0" i="0" u="none" kern="1200" dirty="0">
                          <a:solidFill>
                            <a:srgbClr val="334155"/>
                          </a:solidFill>
                          <a:latin typeface="DM Sans"/>
                          <a:ea typeface="+mn-ea"/>
                          <a:cs typeface="+mn-cs"/>
                        </a:rPr>
                        <a:t>53,6041 </a:t>
                      </a:r>
                    </a:p>
                  </a:txBody>
                  <a:tcPr anchor="ctr">
                    <a:lnL>
                      <a:noFill/>
                    </a:lnL>
                    <a:lnR>
                      <a:noFill/>
                    </a:lnR>
                    <a:lnT>
                      <a:noFill/>
                    </a:lnT>
                    <a:lnB>
                      <a:noFill/>
                    </a:lnB>
                    <a:solidFill>
                      <a:srgbClr val="F8FAFC"/>
                    </a:solidFill>
                  </a:tcPr>
                </a:tc>
                <a:extLst>
                  <a:ext uri="{0D108BD9-81ED-4DB2-BD59-A6C34878D82A}">
                    <a16:rowId xmlns:a16="http://schemas.microsoft.com/office/drawing/2014/main" val="10004"/>
                  </a:ext>
                </a:extLst>
              </a:tr>
              <a:tr h="448865">
                <a:tc>
                  <a:txBody>
                    <a:bodyPr/>
                    <a:lstStyle/>
                    <a:p>
                      <a:pPr marL="0" algn="l" defTabSz="457200" rtl="0" eaLnBrk="1" latinLnBrk="0" hangingPunct="1"/>
                      <a:r>
                        <a:rPr lang="tr-TR" sz="1200" b="0" i="0" u="none" kern="1200" dirty="0" err="1">
                          <a:solidFill>
                            <a:srgbClr val="334155"/>
                          </a:solidFill>
                          <a:latin typeface="DM Sans"/>
                          <a:ea typeface="+mn-ea"/>
                          <a:cs typeface="+mn-cs"/>
                        </a:rPr>
                        <a:t>Decision</a:t>
                      </a:r>
                      <a:r>
                        <a:rPr lang="tr-TR" sz="1200" b="0" i="0" u="none" kern="1200" dirty="0">
                          <a:solidFill>
                            <a:srgbClr val="334155"/>
                          </a:solidFill>
                          <a:latin typeface="DM Sans"/>
                          <a:ea typeface="+mn-ea"/>
                          <a:cs typeface="+mn-cs"/>
                        </a:rPr>
                        <a:t> </a:t>
                      </a:r>
                      <a:r>
                        <a:rPr lang="tr-TR" sz="1200" b="0" i="0" u="none" kern="1200" dirty="0" err="1">
                          <a:solidFill>
                            <a:srgbClr val="334155"/>
                          </a:solidFill>
                          <a:latin typeface="DM Sans"/>
                          <a:ea typeface="+mn-ea"/>
                          <a:cs typeface="+mn-cs"/>
                        </a:rPr>
                        <a:t>Tree</a:t>
                      </a:r>
                      <a:endParaRPr lang="tr-TR" sz="1200" b="0" i="0" u="none" kern="1200" dirty="0">
                        <a:solidFill>
                          <a:srgbClr val="334155"/>
                        </a:solidFill>
                        <a:latin typeface="DM Sans"/>
                        <a:ea typeface="+mn-ea"/>
                        <a:cs typeface="+mn-cs"/>
                      </a:endParaRPr>
                    </a:p>
                  </a:txBody>
                  <a:tcPr anchor="ctr">
                    <a:lnL>
                      <a:noFill/>
                    </a:lnL>
                    <a:lnR>
                      <a:noFill/>
                    </a:lnR>
                    <a:lnT>
                      <a:noFill/>
                    </a:lnT>
                    <a:lnB>
                      <a:noFill/>
                    </a:lnB>
                    <a:noFill/>
                  </a:tcPr>
                </a:tc>
                <a:tc>
                  <a:txBody>
                    <a:bodyPr/>
                    <a:lstStyle/>
                    <a:p>
                      <a:pPr marL="0" algn="l" defTabSz="457200" rtl="0" eaLnBrk="1" latinLnBrk="0" hangingPunct="1"/>
                      <a:r>
                        <a:rPr lang="tr-TR" sz="1200" b="0" i="0" u="none" kern="1200">
                          <a:solidFill>
                            <a:srgbClr val="334155"/>
                          </a:solidFill>
                          <a:latin typeface="DM Sans"/>
                          <a:ea typeface="+mn-ea"/>
                          <a:cs typeface="+mn-cs"/>
                        </a:rPr>
                        <a:t>%99,66</a:t>
                      </a:r>
                    </a:p>
                  </a:txBody>
                  <a:tcPr anchor="ctr">
                    <a:lnL>
                      <a:noFill/>
                    </a:lnL>
                    <a:lnR>
                      <a:noFill/>
                    </a:lnR>
                    <a:lnT>
                      <a:noFill/>
                    </a:lnT>
                    <a:lnB>
                      <a:noFill/>
                    </a:lnB>
                    <a:noFill/>
                  </a:tcPr>
                </a:tc>
                <a:tc>
                  <a:txBody>
                    <a:bodyPr/>
                    <a:lstStyle/>
                    <a:p>
                      <a:pPr marL="0" algn="l" defTabSz="457200" rtl="0" eaLnBrk="1" latinLnBrk="0" hangingPunct="1"/>
                      <a:r>
                        <a:rPr lang="tr-TR" sz="1200" b="0" i="0" u="none" kern="1200">
                          <a:solidFill>
                            <a:srgbClr val="334155"/>
                          </a:solidFill>
                          <a:latin typeface="DM Sans"/>
                          <a:ea typeface="+mn-ea"/>
                          <a:cs typeface="+mn-cs"/>
                        </a:rPr>
                        <a:t>%99,77</a:t>
                      </a:r>
                    </a:p>
                  </a:txBody>
                  <a:tcPr anchor="ctr">
                    <a:lnL>
                      <a:noFill/>
                    </a:lnL>
                    <a:lnR>
                      <a:noFill/>
                    </a:lnR>
                    <a:lnT>
                      <a:noFill/>
                    </a:lnT>
                    <a:lnB>
                      <a:noFill/>
                    </a:lnB>
                    <a:noFill/>
                  </a:tcPr>
                </a:tc>
                <a:tc>
                  <a:txBody>
                    <a:bodyPr/>
                    <a:lstStyle/>
                    <a:p>
                      <a:pPr marL="0" algn="l" defTabSz="457200" rtl="0" eaLnBrk="1" latinLnBrk="0" hangingPunct="1"/>
                      <a:r>
                        <a:rPr lang="tr-TR" sz="1200" b="0" i="0" u="none" kern="1200" dirty="0">
                          <a:solidFill>
                            <a:srgbClr val="334155"/>
                          </a:solidFill>
                          <a:latin typeface="DM Sans"/>
                          <a:ea typeface="+mn-ea"/>
                          <a:cs typeface="+mn-cs"/>
                        </a:rPr>
                        <a:t>%99,58</a:t>
                      </a:r>
                    </a:p>
                  </a:txBody>
                  <a:tcPr anchor="ctr">
                    <a:lnL>
                      <a:noFill/>
                    </a:lnL>
                    <a:lnR>
                      <a:noFill/>
                    </a:lnR>
                    <a:lnT>
                      <a:noFill/>
                    </a:lnT>
                    <a:lnB>
                      <a:noFill/>
                    </a:lnB>
                    <a:noFill/>
                  </a:tcPr>
                </a:tc>
                <a:tc>
                  <a:txBody>
                    <a:bodyPr/>
                    <a:lstStyle/>
                    <a:p>
                      <a:pPr marL="0" algn="l" defTabSz="457200" rtl="0" eaLnBrk="1" latinLnBrk="0" hangingPunct="1"/>
                      <a:r>
                        <a:rPr lang="tr-TR" sz="1200" b="0" i="0" u="none" kern="1200" dirty="0">
                          <a:solidFill>
                            <a:srgbClr val="334155"/>
                          </a:solidFill>
                          <a:latin typeface="DM Sans"/>
                          <a:ea typeface="+mn-ea"/>
                          <a:cs typeface="+mn-cs"/>
                        </a:rPr>
                        <a:t>%99,68</a:t>
                      </a:r>
                    </a:p>
                  </a:txBody>
                  <a:tcPr anchor="ctr">
                    <a:lnL>
                      <a:noFill/>
                    </a:lnL>
                    <a:lnR>
                      <a:noFill/>
                    </a:lnR>
                    <a:lnT>
                      <a:noFill/>
                    </a:lnT>
                    <a:lnB>
                      <a:noFill/>
                    </a:lnB>
                    <a:noFill/>
                  </a:tcPr>
                </a:tc>
                <a:tc>
                  <a:txBody>
                    <a:bodyPr/>
                    <a:lstStyle/>
                    <a:p>
                      <a:pPr marL="0" algn="l" defTabSz="457200" rtl="0" eaLnBrk="1" latinLnBrk="0" hangingPunct="1"/>
                      <a:r>
                        <a:rPr lang="tr-TR" sz="1200" b="0" i="0" u="none" kern="1200" dirty="0">
                          <a:solidFill>
                            <a:srgbClr val="334155"/>
                          </a:solidFill>
                          <a:latin typeface="DM Sans"/>
                          <a:ea typeface="+mn-ea"/>
                          <a:cs typeface="+mn-cs"/>
                        </a:rPr>
                        <a:t>1,9579 </a:t>
                      </a:r>
                    </a:p>
                  </a:txBody>
                  <a:tcPr anchor="ctr">
                    <a:lnL>
                      <a:noFill/>
                    </a:lnL>
                    <a:lnR>
                      <a:noFill/>
                    </a:lnR>
                    <a:lnT>
                      <a:noFill/>
                    </a:lnT>
                    <a:lnB>
                      <a:noFill/>
                    </a:lnB>
                    <a:noFill/>
                  </a:tcPr>
                </a:tc>
                <a:extLst>
                  <a:ext uri="{0D108BD9-81ED-4DB2-BD59-A6C34878D82A}">
                    <a16:rowId xmlns:a16="http://schemas.microsoft.com/office/drawing/2014/main" val="10005"/>
                  </a:ext>
                </a:extLst>
              </a:tr>
              <a:tr h="448865">
                <a:tc>
                  <a:txBody>
                    <a:bodyPr/>
                    <a:lstStyle/>
                    <a:p>
                      <a:pPr marL="0" algn="l" defTabSz="457200" rtl="0" eaLnBrk="1" latinLnBrk="0" hangingPunct="1"/>
                      <a:r>
                        <a:rPr lang="tr-TR" sz="1200" b="0" i="0" u="none" kern="1200" dirty="0" err="1">
                          <a:solidFill>
                            <a:srgbClr val="334155"/>
                          </a:solidFill>
                          <a:latin typeface="DM Sans"/>
                          <a:ea typeface="+mn-ea"/>
                          <a:cs typeface="+mn-cs"/>
                        </a:rPr>
                        <a:t>Linear</a:t>
                      </a:r>
                      <a:r>
                        <a:rPr lang="tr-TR" sz="1200" b="0" i="0" u="none" kern="1200" dirty="0">
                          <a:solidFill>
                            <a:srgbClr val="334155"/>
                          </a:solidFill>
                          <a:latin typeface="DM Sans"/>
                          <a:ea typeface="+mn-ea"/>
                          <a:cs typeface="+mn-cs"/>
                        </a:rPr>
                        <a:t> SVM</a:t>
                      </a:r>
                    </a:p>
                  </a:txBody>
                  <a:tcPr anchor="ctr">
                    <a:lnL>
                      <a:noFill/>
                    </a:lnL>
                    <a:lnR>
                      <a:noFill/>
                    </a:lnR>
                    <a:lnT>
                      <a:noFill/>
                    </a:lnT>
                    <a:lnB>
                      <a:noFill/>
                    </a:lnB>
                    <a:solidFill>
                      <a:srgbClr val="F8FAFC"/>
                    </a:solidFill>
                  </a:tcPr>
                </a:tc>
                <a:tc>
                  <a:txBody>
                    <a:bodyPr/>
                    <a:lstStyle/>
                    <a:p>
                      <a:pPr marL="0" algn="l" defTabSz="457200" rtl="0" eaLnBrk="1" latinLnBrk="0" hangingPunct="1"/>
                      <a:r>
                        <a:rPr lang="tr-TR" sz="1200" b="0" i="0" u="none" kern="1200" dirty="0">
                          <a:solidFill>
                            <a:srgbClr val="334155"/>
                          </a:solidFill>
                          <a:latin typeface="DM Sans"/>
                          <a:ea typeface="+mn-ea"/>
                          <a:cs typeface="+mn-cs"/>
                        </a:rPr>
                        <a:t>%99,65</a:t>
                      </a:r>
                    </a:p>
                  </a:txBody>
                  <a:tcPr anchor="ctr">
                    <a:lnL>
                      <a:noFill/>
                    </a:lnL>
                    <a:lnR>
                      <a:noFill/>
                    </a:lnR>
                    <a:lnT>
                      <a:noFill/>
                    </a:lnT>
                    <a:lnB>
                      <a:noFill/>
                    </a:lnB>
                    <a:solidFill>
                      <a:srgbClr val="F8FAFC"/>
                    </a:solidFill>
                  </a:tcPr>
                </a:tc>
                <a:tc>
                  <a:txBody>
                    <a:bodyPr/>
                    <a:lstStyle/>
                    <a:p>
                      <a:pPr marL="0" algn="l" defTabSz="457200" rtl="0" eaLnBrk="1" latinLnBrk="0" hangingPunct="1"/>
                      <a:r>
                        <a:rPr lang="tr-TR" sz="1200" b="0" i="0" u="none" kern="1200" dirty="0">
                          <a:solidFill>
                            <a:srgbClr val="334155"/>
                          </a:solidFill>
                          <a:latin typeface="DM Sans"/>
                          <a:ea typeface="+mn-ea"/>
                          <a:cs typeface="+mn-cs"/>
                        </a:rPr>
                        <a:t>%99,98</a:t>
                      </a:r>
                    </a:p>
                  </a:txBody>
                  <a:tcPr anchor="ctr">
                    <a:lnL>
                      <a:noFill/>
                    </a:lnL>
                    <a:lnR>
                      <a:noFill/>
                    </a:lnR>
                    <a:lnT>
                      <a:noFill/>
                    </a:lnT>
                    <a:lnB>
                      <a:noFill/>
                    </a:lnB>
                    <a:solidFill>
                      <a:srgbClr val="F8FAFC"/>
                    </a:solidFill>
                  </a:tcPr>
                </a:tc>
                <a:tc>
                  <a:txBody>
                    <a:bodyPr/>
                    <a:lstStyle/>
                    <a:p>
                      <a:pPr marL="0" algn="l" defTabSz="457200" rtl="0" eaLnBrk="1" latinLnBrk="0" hangingPunct="1"/>
                      <a:r>
                        <a:rPr lang="tr-TR" sz="1200" b="0" i="0" u="none" kern="1200" dirty="0">
                          <a:solidFill>
                            <a:srgbClr val="334155"/>
                          </a:solidFill>
                          <a:latin typeface="DM Sans"/>
                          <a:ea typeface="+mn-ea"/>
                          <a:cs typeface="+mn-cs"/>
                        </a:rPr>
                        <a:t>%99,34</a:t>
                      </a:r>
                    </a:p>
                  </a:txBody>
                  <a:tcPr anchor="ctr">
                    <a:lnL>
                      <a:noFill/>
                    </a:lnL>
                    <a:lnR>
                      <a:noFill/>
                    </a:lnR>
                    <a:lnT>
                      <a:noFill/>
                    </a:lnT>
                    <a:lnB>
                      <a:noFill/>
                    </a:lnB>
                    <a:solidFill>
                      <a:srgbClr val="F8FAFC"/>
                    </a:solidFill>
                  </a:tcPr>
                </a:tc>
                <a:tc>
                  <a:txBody>
                    <a:bodyPr/>
                    <a:lstStyle/>
                    <a:p>
                      <a:pPr marL="0" algn="l" defTabSz="457200" rtl="0" eaLnBrk="1" latinLnBrk="0" hangingPunct="1"/>
                      <a:r>
                        <a:rPr lang="tr-TR" sz="1200" b="0" i="0" u="none" kern="1200" dirty="0">
                          <a:solidFill>
                            <a:srgbClr val="334155"/>
                          </a:solidFill>
                          <a:latin typeface="DM Sans"/>
                          <a:ea typeface="+mn-ea"/>
                          <a:cs typeface="+mn-cs"/>
                        </a:rPr>
                        <a:t>%99,66</a:t>
                      </a:r>
                    </a:p>
                  </a:txBody>
                  <a:tcPr anchor="ctr">
                    <a:lnL>
                      <a:noFill/>
                    </a:lnL>
                    <a:lnR>
                      <a:noFill/>
                    </a:lnR>
                    <a:lnT>
                      <a:noFill/>
                    </a:lnT>
                    <a:lnB>
                      <a:noFill/>
                    </a:lnB>
                    <a:solidFill>
                      <a:srgbClr val="F8FAFC"/>
                    </a:solidFill>
                  </a:tcPr>
                </a:tc>
                <a:tc>
                  <a:txBody>
                    <a:bodyPr/>
                    <a:lstStyle/>
                    <a:p>
                      <a:pPr marL="0" algn="l" defTabSz="457200" rtl="0" eaLnBrk="1" latinLnBrk="0" hangingPunct="1"/>
                      <a:r>
                        <a:rPr lang="tr-TR" sz="1200" b="0" i="0" u="none" kern="1200" dirty="0">
                          <a:solidFill>
                            <a:srgbClr val="334155"/>
                          </a:solidFill>
                          <a:latin typeface="DM Sans"/>
                          <a:ea typeface="+mn-ea"/>
                          <a:cs typeface="+mn-cs"/>
                        </a:rPr>
                        <a:t>2,9675 </a:t>
                      </a:r>
                    </a:p>
                  </a:txBody>
                  <a:tcPr anchor="ctr">
                    <a:lnL>
                      <a:noFill/>
                    </a:lnL>
                    <a:lnR>
                      <a:noFill/>
                    </a:lnR>
                    <a:lnT>
                      <a:noFill/>
                    </a:lnT>
                    <a:lnB>
                      <a:noFill/>
                    </a:lnB>
                    <a:solidFill>
                      <a:srgbClr val="F8FAFC"/>
                    </a:solidFill>
                  </a:tcPr>
                </a:tc>
                <a:extLst>
                  <a:ext uri="{0D108BD9-81ED-4DB2-BD59-A6C34878D82A}">
                    <a16:rowId xmlns:a16="http://schemas.microsoft.com/office/drawing/2014/main" val="10006"/>
                  </a:ext>
                </a:extLst>
              </a:tr>
              <a:tr h="448870">
                <a:tc>
                  <a:txBody>
                    <a:bodyPr/>
                    <a:lstStyle/>
                    <a:p>
                      <a:pPr marL="0" algn="l" defTabSz="457200" rtl="0" eaLnBrk="1" latinLnBrk="0" hangingPunct="1"/>
                      <a:r>
                        <a:rPr lang="tr-TR" sz="1200" b="0" i="0" u="none" kern="1200" dirty="0">
                          <a:solidFill>
                            <a:srgbClr val="334155"/>
                          </a:solidFill>
                          <a:latin typeface="DM Sans"/>
                          <a:ea typeface="+mn-ea"/>
                          <a:cs typeface="+mn-cs"/>
                        </a:rPr>
                        <a:t>KNN</a:t>
                      </a:r>
                    </a:p>
                  </a:txBody>
                  <a:tcPr anchor="ctr">
                    <a:lnL>
                      <a:noFill/>
                    </a:lnL>
                    <a:lnR>
                      <a:noFill/>
                    </a:lnR>
                    <a:lnT>
                      <a:noFill/>
                    </a:lnT>
                    <a:lnB>
                      <a:noFill/>
                    </a:lnB>
                    <a:noFill/>
                  </a:tcPr>
                </a:tc>
                <a:tc>
                  <a:txBody>
                    <a:bodyPr/>
                    <a:lstStyle/>
                    <a:p>
                      <a:pPr marL="0" algn="l" defTabSz="457200" rtl="0" eaLnBrk="1" latinLnBrk="0" hangingPunct="1"/>
                      <a:r>
                        <a:rPr lang="tr-TR" sz="1200" b="0" i="0" u="none" kern="1200">
                          <a:solidFill>
                            <a:srgbClr val="334155"/>
                          </a:solidFill>
                          <a:latin typeface="DM Sans"/>
                          <a:ea typeface="+mn-ea"/>
                          <a:cs typeface="+mn-cs"/>
                        </a:rPr>
                        <a:t>%99,34</a:t>
                      </a:r>
                    </a:p>
                  </a:txBody>
                  <a:tcPr anchor="ctr">
                    <a:lnL>
                      <a:noFill/>
                    </a:lnL>
                    <a:lnR>
                      <a:noFill/>
                    </a:lnR>
                    <a:lnT>
                      <a:noFill/>
                    </a:lnT>
                    <a:lnB>
                      <a:noFill/>
                    </a:lnB>
                    <a:noFill/>
                  </a:tcPr>
                </a:tc>
                <a:tc>
                  <a:txBody>
                    <a:bodyPr/>
                    <a:lstStyle/>
                    <a:p>
                      <a:pPr marL="0" algn="l" defTabSz="457200" rtl="0" eaLnBrk="1" latinLnBrk="0" hangingPunct="1"/>
                      <a:r>
                        <a:rPr lang="tr-TR" sz="1200" b="0" i="0" u="none" kern="1200">
                          <a:solidFill>
                            <a:srgbClr val="334155"/>
                          </a:solidFill>
                          <a:latin typeface="DM Sans"/>
                          <a:ea typeface="+mn-ea"/>
                          <a:cs typeface="+mn-cs"/>
                        </a:rPr>
                        <a:t>%99,73</a:t>
                      </a:r>
                    </a:p>
                  </a:txBody>
                  <a:tcPr anchor="ctr">
                    <a:lnL>
                      <a:noFill/>
                    </a:lnL>
                    <a:lnR>
                      <a:noFill/>
                    </a:lnR>
                    <a:lnT>
                      <a:noFill/>
                    </a:lnT>
                    <a:lnB>
                      <a:noFill/>
                    </a:lnB>
                    <a:noFill/>
                  </a:tcPr>
                </a:tc>
                <a:tc>
                  <a:txBody>
                    <a:bodyPr/>
                    <a:lstStyle/>
                    <a:p>
                      <a:pPr marL="0" algn="l" defTabSz="457200" rtl="0" eaLnBrk="1" latinLnBrk="0" hangingPunct="1"/>
                      <a:r>
                        <a:rPr lang="tr-TR" sz="1200" b="0" i="0" u="none" kern="1200">
                          <a:solidFill>
                            <a:srgbClr val="334155"/>
                          </a:solidFill>
                          <a:latin typeface="DM Sans"/>
                          <a:ea typeface="+mn-ea"/>
                          <a:cs typeface="+mn-cs"/>
                        </a:rPr>
                        <a:t>%98,99</a:t>
                      </a:r>
                    </a:p>
                  </a:txBody>
                  <a:tcPr anchor="ctr">
                    <a:lnL>
                      <a:noFill/>
                    </a:lnL>
                    <a:lnR>
                      <a:noFill/>
                    </a:lnR>
                    <a:lnT>
                      <a:noFill/>
                    </a:lnT>
                    <a:lnB>
                      <a:noFill/>
                    </a:lnB>
                    <a:noFill/>
                  </a:tcPr>
                </a:tc>
                <a:tc>
                  <a:txBody>
                    <a:bodyPr/>
                    <a:lstStyle/>
                    <a:p>
                      <a:pPr marL="0" algn="l" defTabSz="457200" rtl="0" eaLnBrk="1" latinLnBrk="0" hangingPunct="1"/>
                      <a:r>
                        <a:rPr lang="tr-TR" sz="1200" b="0" i="0" u="none" kern="1200">
                          <a:solidFill>
                            <a:srgbClr val="334155"/>
                          </a:solidFill>
                          <a:latin typeface="DM Sans"/>
                          <a:ea typeface="+mn-ea"/>
                          <a:cs typeface="+mn-cs"/>
                        </a:rPr>
                        <a:t>%99,36</a:t>
                      </a:r>
                    </a:p>
                  </a:txBody>
                  <a:tcPr anchor="ctr">
                    <a:lnL>
                      <a:noFill/>
                    </a:lnL>
                    <a:lnR>
                      <a:noFill/>
                    </a:lnR>
                    <a:lnT>
                      <a:noFill/>
                    </a:lnT>
                    <a:lnB>
                      <a:noFill/>
                    </a:lnB>
                    <a:noFill/>
                  </a:tcPr>
                </a:tc>
                <a:tc>
                  <a:txBody>
                    <a:bodyPr/>
                    <a:lstStyle/>
                    <a:p>
                      <a:pPr marL="0" algn="l" defTabSz="457200" rtl="0" eaLnBrk="1" latinLnBrk="0" hangingPunct="1"/>
                      <a:r>
                        <a:rPr lang="tr-TR" sz="1200" b="0" i="0" u="none" kern="1200" dirty="0">
                          <a:solidFill>
                            <a:srgbClr val="334155"/>
                          </a:solidFill>
                          <a:latin typeface="DM Sans"/>
                          <a:ea typeface="+mn-ea"/>
                          <a:cs typeface="+mn-cs"/>
                        </a:rPr>
                        <a:t>0,1135 </a:t>
                      </a:r>
                    </a:p>
                  </a:txBody>
                  <a:tcPr anchor="ctr">
                    <a:lnL>
                      <a:noFill/>
                    </a:lnL>
                    <a:lnR>
                      <a:noFill/>
                    </a:lnR>
                    <a:lnT>
                      <a:noFill/>
                    </a:lnT>
                    <a:lnB>
                      <a:noFill/>
                    </a:lnB>
                    <a:noFill/>
                  </a:tcPr>
                </a:tc>
                <a:extLst>
                  <a:ext uri="{0D108BD9-81ED-4DB2-BD59-A6C34878D82A}">
                    <a16:rowId xmlns:a16="http://schemas.microsoft.com/office/drawing/2014/main" val="10007"/>
                  </a:ext>
                </a:extLst>
              </a:tr>
            </a:tbl>
          </a:graphicData>
        </a:graphic>
      </p:graphicFrame>
      <p:sp>
        <p:nvSpPr>
          <p:cNvPr id="9" name="Rectangle 8"/>
          <p:cNvSpPr/>
          <p:nvPr/>
        </p:nvSpPr>
        <p:spPr>
          <a:xfrm>
            <a:off x="571500" y="2143125"/>
            <a:ext cx="203403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605533" y="2143125"/>
            <a:ext cx="213419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739729" y="2143125"/>
            <a:ext cx="226754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007274" y="2143125"/>
            <a:ext cx="180067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807946" y="2143125"/>
            <a:ext cx="96693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9774882" y="2143125"/>
            <a:ext cx="184561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71500" y="2590800"/>
            <a:ext cx="203403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605533" y="2590800"/>
            <a:ext cx="213419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739729" y="2590800"/>
            <a:ext cx="226754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007274" y="2590800"/>
            <a:ext cx="180067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807946" y="2590800"/>
            <a:ext cx="96693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9774882" y="2590800"/>
            <a:ext cx="184561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71500" y="3038475"/>
            <a:ext cx="203403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2605533" y="3038475"/>
            <a:ext cx="213419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739729" y="3038475"/>
            <a:ext cx="226754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7007274" y="3038475"/>
            <a:ext cx="180067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807946" y="3038475"/>
            <a:ext cx="96693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9774882" y="3038475"/>
            <a:ext cx="184561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71500" y="3486150"/>
            <a:ext cx="203403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2605533" y="3486150"/>
            <a:ext cx="213419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4739729" y="3486150"/>
            <a:ext cx="226754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7007274" y="3486150"/>
            <a:ext cx="180067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8807946" y="3486150"/>
            <a:ext cx="96693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9774882" y="3486150"/>
            <a:ext cx="184561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571500" y="3933825"/>
            <a:ext cx="203403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2605533" y="3933825"/>
            <a:ext cx="213419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4739729" y="3933825"/>
            <a:ext cx="226754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7007274" y="3933825"/>
            <a:ext cx="180067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8807946" y="3933825"/>
            <a:ext cx="96693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9774882" y="3933825"/>
            <a:ext cx="184561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571500" y="4381500"/>
            <a:ext cx="203403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2605533" y="4381500"/>
            <a:ext cx="213419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4739729" y="4381500"/>
            <a:ext cx="226754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7007274" y="4381500"/>
            <a:ext cx="180067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8807946" y="4381500"/>
            <a:ext cx="96693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9774882" y="4381500"/>
            <a:ext cx="184561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571500" y="4829175"/>
            <a:ext cx="203403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2605533" y="4829175"/>
            <a:ext cx="213419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4739729" y="4829175"/>
            <a:ext cx="226754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7007274" y="4829175"/>
            <a:ext cx="180067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8807946" y="4829175"/>
            <a:ext cx="96693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9774882" y="4829175"/>
            <a:ext cx="184561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1" name="Picture 1" descr="image.png">
            <a:extLst>
              <a:ext uri="{FF2B5EF4-FFF2-40B4-BE49-F238E27FC236}">
                <a16:creationId xmlns:a16="http://schemas.microsoft.com/office/drawing/2014/main" id="{CC1ACD1F-41DF-9D71-C093-2BF8C70F0142}"/>
              </a:ext>
            </a:extLst>
          </p:cNvPr>
          <p:cNvPicPr>
            <a:picLocks noChangeAspect="1"/>
          </p:cNvPicPr>
          <p:nvPr/>
        </p:nvPicPr>
        <p:blipFill>
          <a:blip r:embed="rId3"/>
          <a:stretch>
            <a:fillRect/>
          </a:stretch>
        </p:blipFill>
        <p:spPr>
          <a:xfrm>
            <a:off x="666750" y="952500"/>
            <a:ext cx="10858500" cy="171450"/>
          </a:xfrm>
          <a:prstGeom prst="rect">
            <a:avLst/>
          </a:prstGeom>
        </p:spPr>
      </p:pic>
      <p:pic>
        <p:nvPicPr>
          <p:cNvPr id="52" name="İçerik Yer Tutucusu 10">
            <a:extLst>
              <a:ext uri="{FF2B5EF4-FFF2-40B4-BE49-F238E27FC236}">
                <a16:creationId xmlns:a16="http://schemas.microsoft.com/office/drawing/2014/main" id="{79D056F0-AEA7-2ED0-6629-9A868221A7BE}"/>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9590435" y="466725"/>
            <a:ext cx="2011362"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 name="Tablo 1">
            <a:extLst>
              <a:ext uri="{FF2B5EF4-FFF2-40B4-BE49-F238E27FC236}">
                <a16:creationId xmlns:a16="http://schemas.microsoft.com/office/drawing/2014/main" id="{0A39AB9D-BCF1-D313-DDD1-13D95927F34E}"/>
              </a:ext>
            </a:extLst>
          </p:cNvPr>
          <p:cNvGraphicFramePr>
            <a:graphicFrameLocks noGrp="1"/>
          </p:cNvGraphicFramePr>
          <p:nvPr>
            <p:extLst>
              <p:ext uri="{D42A27DB-BD31-4B8C-83A1-F6EECF244321}">
                <p14:modId xmlns:p14="http://schemas.microsoft.com/office/powerpoint/2010/main" val="411033504"/>
              </p:ext>
            </p:extLst>
          </p:nvPr>
        </p:nvGraphicFramePr>
        <p:xfrm>
          <a:off x="603503" y="4857154"/>
          <a:ext cx="11016993" cy="448865"/>
        </p:xfrm>
        <a:graphic>
          <a:graphicData uri="http://schemas.openxmlformats.org/drawingml/2006/table">
            <a:tbl>
              <a:tblPr firstRow="1" bandRow="1">
                <a:tableStyleId>{5C22544A-7EE6-4342-B048-85BDC9FD1C3A}</a:tableStyleId>
              </a:tblPr>
              <a:tblGrid>
                <a:gridCol w="2002029">
                  <a:extLst>
                    <a:ext uri="{9D8B030D-6E8A-4147-A177-3AD203B41FA5}">
                      <a16:colId xmlns:a16="http://schemas.microsoft.com/office/drawing/2014/main" val="3647233985"/>
                    </a:ext>
                  </a:extLst>
                </a:gridCol>
                <a:gridCol w="2134195">
                  <a:extLst>
                    <a:ext uri="{9D8B030D-6E8A-4147-A177-3AD203B41FA5}">
                      <a16:colId xmlns:a16="http://schemas.microsoft.com/office/drawing/2014/main" val="165177947"/>
                    </a:ext>
                  </a:extLst>
                </a:gridCol>
                <a:gridCol w="2264576">
                  <a:extLst>
                    <a:ext uri="{9D8B030D-6E8A-4147-A177-3AD203B41FA5}">
                      <a16:colId xmlns:a16="http://schemas.microsoft.com/office/drawing/2014/main" val="2091676434"/>
                    </a:ext>
                  </a:extLst>
                </a:gridCol>
                <a:gridCol w="1803640">
                  <a:extLst>
                    <a:ext uri="{9D8B030D-6E8A-4147-A177-3AD203B41FA5}">
                      <a16:colId xmlns:a16="http://schemas.microsoft.com/office/drawing/2014/main" val="1492216504"/>
                    </a:ext>
                  </a:extLst>
                </a:gridCol>
                <a:gridCol w="966936">
                  <a:extLst>
                    <a:ext uri="{9D8B030D-6E8A-4147-A177-3AD203B41FA5}">
                      <a16:colId xmlns:a16="http://schemas.microsoft.com/office/drawing/2014/main" val="296925089"/>
                    </a:ext>
                  </a:extLst>
                </a:gridCol>
                <a:gridCol w="1845617">
                  <a:extLst>
                    <a:ext uri="{9D8B030D-6E8A-4147-A177-3AD203B41FA5}">
                      <a16:colId xmlns:a16="http://schemas.microsoft.com/office/drawing/2014/main" val="1342823703"/>
                    </a:ext>
                  </a:extLst>
                </a:gridCol>
              </a:tblGrid>
              <a:tr h="448865">
                <a:tc>
                  <a:txBody>
                    <a:bodyPr/>
                    <a:lstStyle/>
                    <a:p>
                      <a:pPr marL="0" algn="l" defTabSz="457200" rtl="0" eaLnBrk="1" latinLnBrk="0" hangingPunct="1"/>
                      <a:r>
                        <a:rPr lang="tr-TR" sz="1200" b="0" i="0" u="none" kern="1200" dirty="0" err="1">
                          <a:solidFill>
                            <a:srgbClr val="334155"/>
                          </a:solidFill>
                          <a:latin typeface="DM Sans"/>
                          <a:ea typeface="+mn-ea"/>
                          <a:cs typeface="+mn-cs"/>
                        </a:rPr>
                        <a:t>Naive</a:t>
                      </a:r>
                      <a:r>
                        <a:rPr lang="tr-TR" sz="1200" b="0" i="0" u="none" kern="1200" dirty="0">
                          <a:solidFill>
                            <a:srgbClr val="334155"/>
                          </a:solidFill>
                          <a:latin typeface="DM Sans"/>
                          <a:ea typeface="+mn-ea"/>
                          <a:cs typeface="+mn-cs"/>
                        </a:rPr>
                        <a:t> </a:t>
                      </a:r>
                      <a:r>
                        <a:rPr lang="tr-TR" sz="1200" b="0" i="0" u="none" kern="1200" dirty="0" err="1">
                          <a:solidFill>
                            <a:srgbClr val="334155"/>
                          </a:solidFill>
                          <a:latin typeface="DM Sans"/>
                          <a:ea typeface="+mn-ea"/>
                          <a:cs typeface="+mn-cs"/>
                        </a:rPr>
                        <a:t>Bayes</a:t>
                      </a:r>
                      <a:endParaRPr lang="tr-TR" sz="1200" b="0" i="0" u="none" kern="1200" dirty="0">
                        <a:solidFill>
                          <a:srgbClr val="334155"/>
                        </a:solidFill>
                        <a:latin typeface="DM Sans"/>
                        <a:ea typeface="+mn-ea"/>
                        <a:cs typeface="+mn-cs"/>
                      </a:endParaRPr>
                    </a:p>
                  </a:txBody>
                  <a:tcPr anchor="ctr">
                    <a:lnL>
                      <a:noFill/>
                    </a:lnL>
                    <a:lnR>
                      <a:noFill/>
                    </a:lnR>
                    <a:lnT>
                      <a:noFill/>
                    </a:lnT>
                    <a:lnB>
                      <a:noFill/>
                    </a:lnB>
                    <a:solidFill>
                      <a:srgbClr val="F8FAFC"/>
                    </a:solidFill>
                  </a:tcPr>
                </a:tc>
                <a:tc>
                  <a:txBody>
                    <a:bodyPr/>
                    <a:lstStyle/>
                    <a:p>
                      <a:pPr marL="0" algn="l" defTabSz="457200" rtl="0" eaLnBrk="1" latinLnBrk="0" hangingPunct="1"/>
                      <a:r>
                        <a:rPr lang="tr-TR" sz="1200" b="0" i="0" u="none" kern="1200" dirty="0">
                          <a:solidFill>
                            <a:srgbClr val="334155"/>
                          </a:solidFill>
                          <a:latin typeface="DM Sans"/>
                          <a:ea typeface="+mn-ea"/>
                          <a:cs typeface="+mn-cs"/>
                        </a:rPr>
                        <a:t>%92,34</a:t>
                      </a:r>
                    </a:p>
                  </a:txBody>
                  <a:tcPr anchor="ctr">
                    <a:lnL>
                      <a:noFill/>
                    </a:lnL>
                    <a:lnR>
                      <a:noFill/>
                    </a:lnR>
                    <a:lnT>
                      <a:noFill/>
                    </a:lnT>
                    <a:lnB>
                      <a:noFill/>
                    </a:lnB>
                    <a:solidFill>
                      <a:srgbClr val="F8FAFC"/>
                    </a:solidFill>
                  </a:tcPr>
                </a:tc>
                <a:tc>
                  <a:txBody>
                    <a:bodyPr/>
                    <a:lstStyle/>
                    <a:p>
                      <a:pPr marL="0" algn="l" defTabSz="457200" rtl="0" eaLnBrk="1" latinLnBrk="0" hangingPunct="1"/>
                      <a:r>
                        <a:rPr lang="tr-TR" sz="1200" b="0" i="0" u="none" kern="1200" dirty="0">
                          <a:solidFill>
                            <a:srgbClr val="334155"/>
                          </a:solidFill>
                          <a:latin typeface="DM Sans"/>
                          <a:ea typeface="+mn-ea"/>
                          <a:cs typeface="+mn-cs"/>
                        </a:rPr>
                        <a:t>%99,37</a:t>
                      </a:r>
                    </a:p>
                  </a:txBody>
                  <a:tcPr anchor="ctr">
                    <a:lnL>
                      <a:noFill/>
                    </a:lnL>
                    <a:lnR>
                      <a:noFill/>
                    </a:lnR>
                    <a:lnT>
                      <a:noFill/>
                    </a:lnT>
                    <a:lnB>
                      <a:noFill/>
                    </a:lnB>
                    <a:solidFill>
                      <a:srgbClr val="F8FAFC"/>
                    </a:solidFill>
                  </a:tcPr>
                </a:tc>
                <a:tc>
                  <a:txBody>
                    <a:bodyPr/>
                    <a:lstStyle/>
                    <a:p>
                      <a:pPr marL="0" algn="l" defTabSz="457200" rtl="0" eaLnBrk="1" latinLnBrk="0" hangingPunct="1"/>
                      <a:r>
                        <a:rPr lang="tr-TR" sz="1200" b="0" i="0" u="none" kern="1200" dirty="0">
                          <a:solidFill>
                            <a:srgbClr val="334155"/>
                          </a:solidFill>
                          <a:latin typeface="DM Sans"/>
                          <a:ea typeface="+mn-ea"/>
                          <a:cs typeface="+mn-cs"/>
                        </a:rPr>
                        <a:t>%8587</a:t>
                      </a:r>
                    </a:p>
                  </a:txBody>
                  <a:tcPr anchor="ctr">
                    <a:lnL>
                      <a:noFill/>
                    </a:lnL>
                    <a:lnR>
                      <a:noFill/>
                    </a:lnR>
                    <a:lnT>
                      <a:noFill/>
                    </a:lnT>
                    <a:lnB>
                      <a:noFill/>
                    </a:lnB>
                    <a:solidFill>
                      <a:srgbClr val="F8FAFC"/>
                    </a:solidFill>
                  </a:tcPr>
                </a:tc>
                <a:tc>
                  <a:txBody>
                    <a:bodyPr/>
                    <a:lstStyle/>
                    <a:p>
                      <a:pPr marL="0" algn="l" defTabSz="457200" rtl="0" eaLnBrk="1" latinLnBrk="0" hangingPunct="1"/>
                      <a:r>
                        <a:rPr lang="tr-TR" sz="1200" b="0" i="0" u="none" kern="1200" dirty="0">
                          <a:solidFill>
                            <a:srgbClr val="334155"/>
                          </a:solidFill>
                          <a:latin typeface="DM Sans"/>
                          <a:ea typeface="+mn-ea"/>
                          <a:cs typeface="+mn-cs"/>
                        </a:rPr>
                        <a:t>%92,13</a:t>
                      </a:r>
                    </a:p>
                  </a:txBody>
                  <a:tcPr anchor="ctr">
                    <a:lnL>
                      <a:noFill/>
                    </a:lnL>
                    <a:lnR>
                      <a:noFill/>
                    </a:lnR>
                    <a:lnT>
                      <a:noFill/>
                    </a:lnT>
                    <a:lnB>
                      <a:noFill/>
                    </a:lnB>
                    <a:solidFill>
                      <a:srgbClr val="F8FAFC"/>
                    </a:solidFill>
                  </a:tcPr>
                </a:tc>
                <a:tc>
                  <a:txBody>
                    <a:bodyPr/>
                    <a:lstStyle/>
                    <a:p>
                      <a:pPr marL="0" algn="l" defTabSz="457200" rtl="0" eaLnBrk="1" latinLnBrk="0" hangingPunct="1"/>
                      <a:r>
                        <a:rPr lang="tr-TR" sz="1200" b="0" i="0" u="none" kern="1200" dirty="0">
                          <a:solidFill>
                            <a:srgbClr val="334155"/>
                          </a:solidFill>
                          <a:latin typeface="DM Sans"/>
                          <a:ea typeface="+mn-ea"/>
                          <a:cs typeface="+mn-cs"/>
                        </a:rPr>
                        <a:t>0,2524 </a:t>
                      </a:r>
                    </a:p>
                  </a:txBody>
                  <a:tcPr anchor="ctr">
                    <a:lnL>
                      <a:noFill/>
                    </a:lnL>
                    <a:lnR>
                      <a:noFill/>
                    </a:lnR>
                    <a:lnT>
                      <a:noFill/>
                    </a:lnT>
                    <a:lnB>
                      <a:noFill/>
                    </a:lnB>
                    <a:solidFill>
                      <a:srgbClr val="F8FAFC"/>
                    </a:solidFill>
                  </a:tcPr>
                </a:tc>
                <a:extLst>
                  <a:ext uri="{0D108BD9-81ED-4DB2-BD59-A6C34878D82A}">
                    <a16:rowId xmlns:a16="http://schemas.microsoft.com/office/drawing/2014/main" val="2491239597"/>
                  </a:ext>
                </a:extLst>
              </a:tr>
            </a:tbl>
          </a:graphicData>
        </a:graphic>
      </p:graphicFrame>
    </p:spTree>
    <p:extLst>
      <p:ext uri="{BB962C8B-B14F-4D97-AF65-F5344CB8AC3E}">
        <p14:creationId xmlns:p14="http://schemas.microsoft.com/office/powerpoint/2010/main" val="23592687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png"/>
          <p:cNvPicPr>
            <a:picLocks noChangeAspect="1"/>
          </p:cNvPicPr>
          <p:nvPr/>
        </p:nvPicPr>
        <p:blipFill>
          <a:blip r:embed="rId2"/>
          <a:stretch>
            <a:fillRect/>
          </a:stretch>
        </p:blipFill>
        <p:spPr>
          <a:xfrm>
            <a:off x="571500" y="6391275"/>
            <a:ext cx="11049000" cy="276225"/>
          </a:xfrm>
          <a:prstGeom prst="rect">
            <a:avLst/>
          </a:prstGeom>
        </p:spPr>
      </p:pic>
      <p:pic>
        <p:nvPicPr>
          <p:cNvPr id="4" name="Picture 3" descr="image.png"/>
          <p:cNvPicPr>
            <a:picLocks noChangeAspect="1"/>
          </p:cNvPicPr>
          <p:nvPr/>
        </p:nvPicPr>
        <p:blipFill>
          <a:blip r:embed="rId3"/>
          <a:stretch>
            <a:fillRect/>
          </a:stretch>
        </p:blipFill>
        <p:spPr>
          <a:xfrm>
            <a:off x="6286500" y="1252537"/>
            <a:ext cx="5334000" cy="2371725"/>
          </a:xfrm>
          <a:prstGeom prst="rect">
            <a:avLst/>
          </a:prstGeom>
        </p:spPr>
      </p:pic>
      <p:sp>
        <p:nvSpPr>
          <p:cNvPr id="5" name="TextBox 4"/>
          <p:cNvSpPr txBox="1"/>
          <p:nvPr/>
        </p:nvSpPr>
        <p:spPr>
          <a:xfrm>
            <a:off x="571500" y="476250"/>
            <a:ext cx="11601450" cy="423862"/>
          </a:xfrm>
          <a:prstGeom prst="rect">
            <a:avLst/>
          </a:prstGeom>
          <a:noFill/>
        </p:spPr>
        <p:txBody>
          <a:bodyPr wrap="square" lIns="0" tIns="0" rIns="0" bIns="0" anchor="t">
            <a:spAutoFit/>
          </a:bodyPr>
          <a:lstStyle/>
          <a:p>
            <a:pPr algn="l">
              <a:lnSpc>
                <a:spcPts val="3187"/>
              </a:lnSpc>
            </a:pPr>
            <a:r>
              <a:rPr sz="2550" b="1" i="0" u="none">
                <a:solidFill>
                  <a:srgbClr val="005088"/>
                </a:solidFill>
                <a:latin typeface="Merriweather"/>
              </a:rPr>
              <a:t>Öznitelik Önem Düzeyleri (Feature Importance) Analizi</a:t>
            </a:r>
          </a:p>
        </p:txBody>
      </p:sp>
      <p:sp>
        <p:nvSpPr>
          <p:cNvPr id="6" name="Rectangle 5"/>
          <p:cNvSpPr/>
          <p:nvPr/>
        </p:nvSpPr>
        <p:spPr>
          <a:xfrm>
            <a:off x="571500" y="995362"/>
            <a:ext cx="11049000"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71500" y="6496050"/>
            <a:ext cx="3009900" cy="171450"/>
          </a:xfrm>
          <a:prstGeom prst="rect">
            <a:avLst/>
          </a:prstGeom>
          <a:noFill/>
        </p:spPr>
        <p:txBody>
          <a:bodyPr wrap="square" lIns="0" tIns="0" rIns="0" bIns="0" anchor="t">
            <a:spAutoFit/>
          </a:bodyPr>
          <a:lstStyle/>
          <a:p>
            <a:pPr algn="l">
              <a:lnSpc>
                <a:spcPts val="1350"/>
              </a:lnSpc>
            </a:pPr>
            <a:r>
              <a:rPr sz="900" b="0" i="0" u="none">
                <a:solidFill>
                  <a:srgbClr val="94A3B8"/>
                </a:solidFill>
                <a:latin typeface="DM Sans"/>
              </a:rPr>
              <a:t>SAKARYA ÜNİVERSİTESİ • YÜKSEK LİSANS TEZ SAVUNMASI</a:t>
            </a:r>
          </a:p>
        </p:txBody>
      </p:sp>
      <p:sp>
        <p:nvSpPr>
          <p:cNvPr id="8" name="TextBox 7"/>
          <p:cNvSpPr txBox="1"/>
          <p:nvPr/>
        </p:nvSpPr>
        <p:spPr>
          <a:xfrm>
            <a:off x="11182350" y="6496050"/>
            <a:ext cx="438150" cy="171450"/>
          </a:xfrm>
          <a:prstGeom prst="rect">
            <a:avLst/>
          </a:prstGeom>
          <a:noFill/>
        </p:spPr>
        <p:txBody>
          <a:bodyPr wrap="square" lIns="0" tIns="0" rIns="0" bIns="0" anchor="t">
            <a:spAutoFit/>
          </a:bodyPr>
          <a:lstStyle/>
          <a:p>
            <a:pPr algn="l">
              <a:lnSpc>
                <a:spcPts val="1350"/>
              </a:lnSpc>
            </a:pPr>
            <a:r>
              <a:rPr sz="900" b="0" i="0" u="none">
                <a:solidFill>
                  <a:srgbClr val="94A3B8"/>
                </a:solidFill>
                <a:latin typeface="DM Sans"/>
              </a:rPr>
              <a:t>Slayt 22</a:t>
            </a:r>
          </a:p>
        </p:txBody>
      </p:sp>
      <p:sp>
        <p:nvSpPr>
          <p:cNvPr id="9" name="TextBox 8"/>
          <p:cNvSpPr txBox="1"/>
          <p:nvPr/>
        </p:nvSpPr>
        <p:spPr>
          <a:xfrm>
            <a:off x="571500" y="1252537"/>
            <a:ext cx="5600700" cy="219075"/>
          </a:xfrm>
          <a:prstGeom prst="rect">
            <a:avLst/>
          </a:prstGeom>
          <a:noFill/>
        </p:spPr>
        <p:txBody>
          <a:bodyPr wrap="square" lIns="0" tIns="0" rIns="0" bIns="0" anchor="t">
            <a:spAutoFit/>
          </a:bodyPr>
          <a:lstStyle/>
          <a:p>
            <a:pPr algn="l"/>
            <a:r>
              <a:rPr sz="1350" b="1" i="0" u="none" dirty="0">
                <a:solidFill>
                  <a:srgbClr val="005088"/>
                </a:solidFill>
                <a:latin typeface="Merriweather"/>
              </a:rPr>
              <a:t>En </a:t>
            </a:r>
            <a:r>
              <a:rPr sz="1350" b="1" i="0" u="none" dirty="0" err="1">
                <a:solidFill>
                  <a:srgbClr val="005088"/>
                </a:solidFill>
                <a:latin typeface="Merriweather"/>
              </a:rPr>
              <a:t>Etkili</a:t>
            </a:r>
            <a:r>
              <a:rPr sz="1350" b="1" i="0" u="none" dirty="0">
                <a:solidFill>
                  <a:srgbClr val="005088"/>
                </a:solidFill>
                <a:latin typeface="Merriweather"/>
              </a:rPr>
              <a:t> Top 5 Lexical </a:t>
            </a:r>
            <a:r>
              <a:rPr sz="1350" b="1" i="0" u="none" dirty="0" err="1">
                <a:solidFill>
                  <a:srgbClr val="005088"/>
                </a:solidFill>
                <a:latin typeface="Merriweather"/>
              </a:rPr>
              <a:t>Öznitelik</a:t>
            </a:r>
            <a:endParaRPr sz="1350" b="1" i="0" u="none" dirty="0">
              <a:solidFill>
                <a:srgbClr val="005088"/>
              </a:solidFill>
              <a:latin typeface="Merriweather"/>
            </a:endParaRPr>
          </a:p>
        </p:txBody>
      </p:sp>
      <p:sp>
        <p:nvSpPr>
          <p:cNvPr id="10" name="TextBox 9"/>
          <p:cNvSpPr txBox="1"/>
          <p:nvPr/>
        </p:nvSpPr>
        <p:spPr>
          <a:xfrm>
            <a:off x="6572250" y="1490662"/>
            <a:ext cx="5050631" cy="219075"/>
          </a:xfrm>
          <a:prstGeom prst="rect">
            <a:avLst/>
          </a:prstGeom>
          <a:noFill/>
        </p:spPr>
        <p:txBody>
          <a:bodyPr wrap="square" lIns="0" tIns="0" rIns="0" bIns="0" anchor="t">
            <a:spAutoFit/>
          </a:bodyPr>
          <a:lstStyle/>
          <a:p>
            <a:pPr algn="l"/>
            <a:r>
              <a:rPr sz="1350" b="1" i="0" u="none">
                <a:solidFill>
                  <a:srgbClr val="005088"/>
                </a:solidFill>
                <a:latin typeface="Merriweather"/>
              </a:rPr>
              <a:t>Bulguların Değerlendirilmesi</a:t>
            </a:r>
          </a:p>
        </p:txBody>
      </p:sp>
      <p:sp>
        <p:nvSpPr>
          <p:cNvPr id="11" name="TextBox 10"/>
          <p:cNvSpPr txBox="1"/>
          <p:nvPr/>
        </p:nvSpPr>
        <p:spPr>
          <a:xfrm>
            <a:off x="6572250" y="1804987"/>
            <a:ext cx="4810125" cy="906851"/>
          </a:xfrm>
          <a:prstGeom prst="rect">
            <a:avLst/>
          </a:prstGeom>
          <a:noFill/>
        </p:spPr>
        <p:txBody>
          <a:bodyPr wrap="square" lIns="0" tIns="0" rIns="0" bIns="0" anchor="t">
            <a:spAutoFit/>
          </a:bodyPr>
          <a:lstStyle/>
          <a:p>
            <a:pPr algn="l">
              <a:lnSpc>
                <a:spcPts val="1800"/>
              </a:lnSpc>
            </a:pPr>
            <a:r>
              <a:rPr lang="tr-TR" sz="1125" dirty="0">
                <a:solidFill>
                  <a:srgbClr val="334155"/>
                </a:solidFill>
                <a:latin typeface="DM Sans"/>
              </a:rPr>
              <a:t>MI skorlarına göre alan adının URL içindeki oranı ve www kullanım sıklığının en yüksek ayrıştırıcı güce sahip olması saldırganların, tespit mekanizmalarını atlatmak için meşru adresleri taklit eden ancak yapısal olarak manipüle edilmiş URL mimarileri oluşturduğunu doğrulamaktadır.</a:t>
            </a:r>
            <a:endParaRPr sz="1125" dirty="0">
              <a:solidFill>
                <a:srgbClr val="334155"/>
              </a:solidFill>
              <a:latin typeface="DM Sans"/>
            </a:endParaRPr>
          </a:p>
        </p:txBody>
      </p:sp>
      <p:sp>
        <p:nvSpPr>
          <p:cNvPr id="12" name="TextBox 11"/>
          <p:cNvSpPr txBox="1"/>
          <p:nvPr/>
        </p:nvSpPr>
        <p:spPr>
          <a:xfrm>
            <a:off x="857250" y="1585912"/>
            <a:ext cx="5048250" cy="216341"/>
          </a:xfrm>
          <a:prstGeom prst="rect">
            <a:avLst/>
          </a:prstGeom>
          <a:noFill/>
        </p:spPr>
        <p:txBody>
          <a:bodyPr wrap="square" lIns="0" tIns="0" rIns="0" bIns="0" anchor="t">
            <a:spAutoFit/>
          </a:bodyPr>
          <a:lstStyle/>
          <a:p>
            <a:pPr algn="l">
              <a:lnSpc>
                <a:spcPts val="1800"/>
              </a:lnSpc>
            </a:pPr>
            <a:r>
              <a:rPr lang="tr-TR" sz="1200" b="1" dirty="0" err="1">
                <a:solidFill>
                  <a:srgbClr val="334155"/>
                </a:solidFill>
                <a:latin typeface="DM Sans"/>
              </a:rPr>
              <a:t>Domain_URL_Ratio</a:t>
            </a:r>
            <a:r>
              <a:rPr sz="1200" b="1" i="0" u="none" dirty="0">
                <a:solidFill>
                  <a:srgbClr val="334155"/>
                </a:solidFill>
                <a:latin typeface="DM Sans"/>
              </a:rPr>
              <a:t>:</a:t>
            </a:r>
            <a:r>
              <a:rPr sz="1200" b="0" i="0" u="none" dirty="0">
                <a:solidFill>
                  <a:srgbClr val="334155"/>
                </a:solidFill>
                <a:latin typeface="DM Sans"/>
              </a:rPr>
              <a:t> </a:t>
            </a:r>
            <a:r>
              <a:rPr lang="tr-TR" sz="1200" dirty="0">
                <a:solidFill>
                  <a:srgbClr val="334155"/>
                </a:solidFill>
                <a:latin typeface="DM Sans"/>
              </a:rPr>
              <a:t>0.3069 (URL/Yol oranı)</a:t>
            </a:r>
            <a:endParaRPr sz="1200" dirty="0">
              <a:solidFill>
                <a:srgbClr val="334155"/>
              </a:solidFill>
              <a:latin typeface="DM Sans"/>
            </a:endParaRPr>
          </a:p>
        </p:txBody>
      </p:sp>
      <p:sp>
        <p:nvSpPr>
          <p:cNvPr id="13" name="TextBox 12"/>
          <p:cNvSpPr txBox="1"/>
          <p:nvPr/>
        </p:nvSpPr>
        <p:spPr>
          <a:xfrm>
            <a:off x="857250" y="1947862"/>
            <a:ext cx="5048250" cy="216341"/>
          </a:xfrm>
          <a:prstGeom prst="rect">
            <a:avLst/>
          </a:prstGeom>
          <a:noFill/>
        </p:spPr>
        <p:txBody>
          <a:bodyPr wrap="square" lIns="0" tIns="0" rIns="0" bIns="0" anchor="t">
            <a:spAutoFit/>
          </a:bodyPr>
          <a:lstStyle/>
          <a:p>
            <a:pPr algn="l">
              <a:lnSpc>
                <a:spcPts val="1800"/>
              </a:lnSpc>
            </a:pPr>
            <a:r>
              <a:rPr lang="tr-TR" sz="1200" b="1" dirty="0" err="1">
                <a:solidFill>
                  <a:srgbClr val="334155"/>
                </a:solidFill>
                <a:latin typeface="DM Sans"/>
              </a:rPr>
              <a:t>Count_www</a:t>
            </a:r>
            <a:r>
              <a:rPr sz="1200" b="1" i="0" u="none" dirty="0">
                <a:solidFill>
                  <a:srgbClr val="334155"/>
                </a:solidFill>
                <a:latin typeface="DM Sans"/>
              </a:rPr>
              <a:t>:</a:t>
            </a:r>
            <a:r>
              <a:rPr sz="1200" b="0" i="0" u="none" dirty="0">
                <a:solidFill>
                  <a:srgbClr val="334155"/>
                </a:solidFill>
                <a:latin typeface="DM Sans"/>
              </a:rPr>
              <a:t> </a:t>
            </a:r>
            <a:r>
              <a:rPr lang="tr-TR" sz="1200" dirty="0">
                <a:solidFill>
                  <a:srgbClr val="334155"/>
                </a:solidFill>
                <a:latin typeface="DM Sans"/>
              </a:rPr>
              <a:t>0.5094 (URL içindeki "www" sayısı)</a:t>
            </a:r>
            <a:endParaRPr sz="1200" dirty="0">
              <a:solidFill>
                <a:srgbClr val="334155"/>
              </a:solidFill>
              <a:latin typeface="DM Sans"/>
            </a:endParaRPr>
          </a:p>
        </p:txBody>
      </p:sp>
      <p:sp>
        <p:nvSpPr>
          <p:cNvPr id="14" name="TextBox 13"/>
          <p:cNvSpPr txBox="1"/>
          <p:nvPr/>
        </p:nvSpPr>
        <p:spPr>
          <a:xfrm>
            <a:off x="857250" y="2309812"/>
            <a:ext cx="5048250" cy="216341"/>
          </a:xfrm>
          <a:prstGeom prst="rect">
            <a:avLst/>
          </a:prstGeom>
          <a:noFill/>
        </p:spPr>
        <p:txBody>
          <a:bodyPr wrap="square" lIns="0" tIns="0" rIns="0" bIns="0" anchor="t">
            <a:spAutoFit/>
          </a:bodyPr>
          <a:lstStyle/>
          <a:p>
            <a:pPr algn="l">
              <a:lnSpc>
                <a:spcPts val="1800"/>
              </a:lnSpc>
            </a:pPr>
            <a:r>
              <a:rPr lang="tr-TR" sz="1200" b="1" dirty="0" err="1">
                <a:solidFill>
                  <a:srgbClr val="334155"/>
                </a:solidFill>
                <a:latin typeface="DM Sans"/>
              </a:rPr>
              <a:t>Count</a:t>
            </a:r>
            <a:r>
              <a:rPr lang="tr-TR" sz="1200" b="1" dirty="0">
                <a:solidFill>
                  <a:srgbClr val="334155"/>
                </a:solidFill>
                <a:latin typeface="DM Sans"/>
              </a:rPr>
              <a:t>_/</a:t>
            </a:r>
            <a:r>
              <a:rPr sz="1200" b="1" i="0" u="none" dirty="0">
                <a:solidFill>
                  <a:srgbClr val="334155"/>
                </a:solidFill>
                <a:latin typeface="DM Sans"/>
              </a:rPr>
              <a:t>:</a:t>
            </a:r>
            <a:r>
              <a:rPr sz="1200" b="0" i="0" u="none" dirty="0">
                <a:solidFill>
                  <a:srgbClr val="334155"/>
                </a:solidFill>
                <a:latin typeface="DM Sans"/>
              </a:rPr>
              <a:t> </a:t>
            </a:r>
            <a:r>
              <a:rPr lang="tr-TR" sz="1200" dirty="0">
                <a:solidFill>
                  <a:srgbClr val="334155"/>
                </a:solidFill>
                <a:latin typeface="DM Sans"/>
              </a:rPr>
              <a:t>0.4554 (Eğik çizgi sembolü sayısı)</a:t>
            </a:r>
            <a:endParaRPr sz="1200" dirty="0">
              <a:solidFill>
                <a:srgbClr val="334155"/>
              </a:solidFill>
              <a:latin typeface="DM Sans"/>
            </a:endParaRPr>
          </a:p>
        </p:txBody>
      </p:sp>
      <p:sp>
        <p:nvSpPr>
          <p:cNvPr id="15" name="TextBox 14"/>
          <p:cNvSpPr txBox="1"/>
          <p:nvPr/>
        </p:nvSpPr>
        <p:spPr>
          <a:xfrm>
            <a:off x="857250" y="2671762"/>
            <a:ext cx="5048250" cy="216341"/>
          </a:xfrm>
          <a:prstGeom prst="rect">
            <a:avLst/>
          </a:prstGeom>
          <a:noFill/>
        </p:spPr>
        <p:txBody>
          <a:bodyPr wrap="square" lIns="0" tIns="0" rIns="0" bIns="0" anchor="t">
            <a:spAutoFit/>
          </a:bodyPr>
          <a:lstStyle/>
          <a:p>
            <a:pPr algn="l">
              <a:lnSpc>
                <a:spcPts val="1800"/>
              </a:lnSpc>
            </a:pPr>
            <a:r>
              <a:rPr lang="tr-TR" sz="1200" b="1" dirty="0" err="1">
                <a:solidFill>
                  <a:srgbClr val="334155"/>
                </a:solidFill>
                <a:latin typeface="DM Sans"/>
              </a:rPr>
              <a:t>Path_Length</a:t>
            </a:r>
            <a:r>
              <a:rPr sz="1200" b="1" i="0" u="none" dirty="0">
                <a:solidFill>
                  <a:srgbClr val="334155"/>
                </a:solidFill>
                <a:latin typeface="DM Sans"/>
              </a:rPr>
              <a:t>:</a:t>
            </a:r>
            <a:r>
              <a:rPr sz="1200" b="0" i="0" u="none" dirty="0">
                <a:solidFill>
                  <a:srgbClr val="334155"/>
                </a:solidFill>
                <a:latin typeface="DM Sans"/>
              </a:rPr>
              <a:t> </a:t>
            </a:r>
            <a:r>
              <a:rPr lang="tr-TR" sz="1200" dirty="0">
                <a:solidFill>
                  <a:srgbClr val="334155"/>
                </a:solidFill>
                <a:latin typeface="DM Sans"/>
              </a:rPr>
              <a:t>0.4359 (Yol bileşeni uzunluğu)</a:t>
            </a:r>
            <a:endParaRPr sz="1200" dirty="0">
              <a:solidFill>
                <a:srgbClr val="334155"/>
              </a:solidFill>
              <a:latin typeface="DM Sans"/>
            </a:endParaRPr>
          </a:p>
        </p:txBody>
      </p:sp>
      <p:sp>
        <p:nvSpPr>
          <p:cNvPr id="16" name="TextBox 15"/>
          <p:cNvSpPr txBox="1"/>
          <p:nvPr/>
        </p:nvSpPr>
        <p:spPr>
          <a:xfrm>
            <a:off x="857250" y="3033712"/>
            <a:ext cx="5048250" cy="216341"/>
          </a:xfrm>
          <a:prstGeom prst="rect">
            <a:avLst/>
          </a:prstGeom>
          <a:noFill/>
        </p:spPr>
        <p:txBody>
          <a:bodyPr wrap="square" lIns="0" tIns="0" rIns="0" bIns="0" anchor="t">
            <a:spAutoFit/>
          </a:bodyPr>
          <a:lstStyle/>
          <a:p>
            <a:pPr algn="l">
              <a:lnSpc>
                <a:spcPts val="1800"/>
              </a:lnSpc>
            </a:pPr>
            <a:r>
              <a:rPr lang="tr-TR" sz="1200" b="1" dirty="0">
                <a:solidFill>
                  <a:srgbClr val="334155"/>
                </a:solidFill>
                <a:latin typeface="DM Sans"/>
              </a:rPr>
              <a:t>URL/</a:t>
            </a:r>
            <a:r>
              <a:rPr lang="tr-TR" sz="1200" b="1" dirty="0" err="1">
                <a:solidFill>
                  <a:srgbClr val="334155"/>
                </a:solidFill>
                <a:latin typeface="DM Sans"/>
              </a:rPr>
              <a:t>Path</a:t>
            </a:r>
            <a:r>
              <a:rPr sz="1200" b="1" i="0" u="none" dirty="0">
                <a:solidFill>
                  <a:srgbClr val="334155"/>
                </a:solidFill>
                <a:latin typeface="DM Sans"/>
              </a:rPr>
              <a:t>:</a:t>
            </a:r>
            <a:r>
              <a:rPr sz="1200" b="0" i="0" u="none" dirty="0">
                <a:solidFill>
                  <a:srgbClr val="334155"/>
                </a:solidFill>
                <a:latin typeface="DM Sans"/>
              </a:rPr>
              <a:t> </a:t>
            </a:r>
            <a:r>
              <a:rPr lang="tr-TR" sz="1200" dirty="0">
                <a:solidFill>
                  <a:srgbClr val="334155"/>
                </a:solidFill>
                <a:latin typeface="DM Sans"/>
              </a:rPr>
              <a:t>0.3069 (URL/Yol oranı)</a:t>
            </a:r>
            <a:endParaRPr sz="1200" dirty="0">
              <a:solidFill>
                <a:srgbClr val="334155"/>
              </a:solidFill>
              <a:latin typeface="DM Sans"/>
            </a:endParaRPr>
          </a:p>
        </p:txBody>
      </p:sp>
      <p:pic>
        <p:nvPicPr>
          <p:cNvPr id="17" name="Picture 16" descr="image.png"/>
          <p:cNvPicPr>
            <a:picLocks noChangeAspect="1"/>
          </p:cNvPicPr>
          <p:nvPr/>
        </p:nvPicPr>
        <p:blipFill>
          <a:blip r:embed="rId4"/>
          <a:stretch>
            <a:fillRect/>
          </a:stretch>
        </p:blipFill>
        <p:spPr>
          <a:xfrm>
            <a:off x="571500" y="1619249"/>
            <a:ext cx="85725" cy="180975"/>
          </a:xfrm>
          <a:prstGeom prst="rect">
            <a:avLst/>
          </a:prstGeom>
        </p:spPr>
      </p:pic>
      <p:pic>
        <p:nvPicPr>
          <p:cNvPr id="18" name="Picture 17" descr="image.png"/>
          <p:cNvPicPr>
            <a:picLocks noChangeAspect="1"/>
          </p:cNvPicPr>
          <p:nvPr/>
        </p:nvPicPr>
        <p:blipFill>
          <a:blip r:embed="rId5"/>
          <a:stretch>
            <a:fillRect/>
          </a:stretch>
        </p:blipFill>
        <p:spPr>
          <a:xfrm>
            <a:off x="571500" y="1971675"/>
            <a:ext cx="114300" cy="180975"/>
          </a:xfrm>
          <a:prstGeom prst="rect">
            <a:avLst/>
          </a:prstGeom>
        </p:spPr>
      </p:pic>
      <p:pic>
        <p:nvPicPr>
          <p:cNvPr id="19" name="Picture 18" descr="image.png"/>
          <p:cNvPicPr>
            <a:picLocks noChangeAspect="1"/>
          </p:cNvPicPr>
          <p:nvPr/>
        </p:nvPicPr>
        <p:blipFill>
          <a:blip r:embed="rId6"/>
          <a:stretch>
            <a:fillRect/>
          </a:stretch>
        </p:blipFill>
        <p:spPr>
          <a:xfrm>
            <a:off x="571500" y="2333625"/>
            <a:ext cx="114300" cy="180975"/>
          </a:xfrm>
          <a:prstGeom prst="rect">
            <a:avLst/>
          </a:prstGeom>
        </p:spPr>
      </p:pic>
      <p:pic>
        <p:nvPicPr>
          <p:cNvPr id="20" name="Picture 19" descr="image.png"/>
          <p:cNvPicPr>
            <a:picLocks noChangeAspect="1"/>
          </p:cNvPicPr>
          <p:nvPr/>
        </p:nvPicPr>
        <p:blipFill>
          <a:blip r:embed="rId7"/>
          <a:stretch>
            <a:fillRect/>
          </a:stretch>
        </p:blipFill>
        <p:spPr>
          <a:xfrm>
            <a:off x="571500" y="2695575"/>
            <a:ext cx="133350" cy="180975"/>
          </a:xfrm>
          <a:prstGeom prst="rect">
            <a:avLst/>
          </a:prstGeom>
        </p:spPr>
      </p:pic>
      <p:pic>
        <p:nvPicPr>
          <p:cNvPr id="21" name="Picture 20" descr="image.png"/>
          <p:cNvPicPr>
            <a:picLocks noChangeAspect="1"/>
          </p:cNvPicPr>
          <p:nvPr/>
        </p:nvPicPr>
        <p:blipFill>
          <a:blip r:embed="rId8"/>
          <a:stretch>
            <a:fillRect/>
          </a:stretch>
        </p:blipFill>
        <p:spPr>
          <a:xfrm>
            <a:off x="571500" y="3057525"/>
            <a:ext cx="114300" cy="180975"/>
          </a:xfrm>
          <a:prstGeom prst="rect">
            <a:avLst/>
          </a:prstGeom>
        </p:spPr>
      </p:pic>
      <p:pic>
        <p:nvPicPr>
          <p:cNvPr id="22" name="Picture 1" descr="image.png">
            <a:extLst>
              <a:ext uri="{FF2B5EF4-FFF2-40B4-BE49-F238E27FC236}">
                <a16:creationId xmlns:a16="http://schemas.microsoft.com/office/drawing/2014/main" id="{C652AE03-FD31-0226-8314-F01F4BBB9A70}"/>
              </a:ext>
            </a:extLst>
          </p:cNvPr>
          <p:cNvPicPr>
            <a:picLocks noChangeAspect="1"/>
          </p:cNvPicPr>
          <p:nvPr/>
        </p:nvPicPr>
        <p:blipFill>
          <a:blip r:embed="rId9"/>
          <a:stretch>
            <a:fillRect/>
          </a:stretch>
        </p:blipFill>
        <p:spPr>
          <a:xfrm>
            <a:off x="666750" y="952500"/>
            <a:ext cx="10858500" cy="171450"/>
          </a:xfrm>
          <a:prstGeom prst="rect">
            <a:avLst/>
          </a:prstGeom>
        </p:spPr>
      </p:pic>
      <p:pic>
        <p:nvPicPr>
          <p:cNvPr id="23" name="İçerik Yer Tutucusu 10">
            <a:extLst>
              <a:ext uri="{FF2B5EF4-FFF2-40B4-BE49-F238E27FC236}">
                <a16:creationId xmlns:a16="http://schemas.microsoft.com/office/drawing/2014/main" id="{D55B1F92-D285-75BA-6CB9-FC48979A10EC}"/>
              </a:ext>
            </a:extLst>
          </p:cNvPr>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a:off x="9590435" y="466725"/>
            <a:ext cx="2011362"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B2C5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666750" y="6429375"/>
            <a:ext cx="10858500" cy="238125"/>
          </a:xfrm>
          <a:prstGeom prst="rect">
            <a:avLst/>
          </a:prstGeom>
        </p:spPr>
      </p:pic>
      <p:pic>
        <p:nvPicPr>
          <p:cNvPr id="3" name="Picture 2" descr="image.png"/>
          <p:cNvPicPr>
            <a:picLocks noChangeAspect="1"/>
          </p:cNvPicPr>
          <p:nvPr/>
        </p:nvPicPr>
        <p:blipFill>
          <a:blip r:embed="rId3"/>
          <a:stretch>
            <a:fillRect/>
          </a:stretch>
        </p:blipFill>
        <p:spPr>
          <a:xfrm>
            <a:off x="4667250" y="3343275"/>
            <a:ext cx="2857500" cy="171450"/>
          </a:xfrm>
          <a:prstGeom prst="rect">
            <a:avLst/>
          </a:prstGeom>
        </p:spPr>
      </p:pic>
      <p:sp>
        <p:nvSpPr>
          <p:cNvPr id="4" name="TextBox 3"/>
          <p:cNvSpPr txBox="1"/>
          <p:nvPr/>
        </p:nvSpPr>
        <p:spPr>
          <a:xfrm>
            <a:off x="666750" y="476250"/>
            <a:ext cx="1838325" cy="133350"/>
          </a:xfrm>
          <a:prstGeom prst="rect">
            <a:avLst/>
          </a:prstGeom>
          <a:noFill/>
        </p:spPr>
        <p:txBody>
          <a:bodyPr wrap="square" lIns="0" tIns="0" rIns="0" bIns="0" anchor="ctr">
            <a:spAutoFit/>
          </a:bodyPr>
          <a:lstStyle/>
          <a:p>
            <a:pPr algn="l"/>
            <a:r>
              <a:rPr sz="1200" b="1" i="0" u="none">
                <a:solidFill>
                  <a:srgbClr val="FFFFFF"/>
                </a:solidFill>
                <a:latin typeface="DM Sans"/>
              </a:rPr>
              <a:t>SAKARYA ÜNİVERSİTESİ</a:t>
            </a:r>
          </a:p>
        </p:txBody>
      </p:sp>
      <p:sp>
        <p:nvSpPr>
          <p:cNvPr id="5" name="TextBox 4"/>
          <p:cNvSpPr txBox="1"/>
          <p:nvPr/>
        </p:nvSpPr>
        <p:spPr>
          <a:xfrm>
            <a:off x="2095500" y="2309961"/>
            <a:ext cx="8001000" cy="238125"/>
          </a:xfrm>
          <a:prstGeom prst="rect">
            <a:avLst/>
          </a:prstGeom>
          <a:noFill/>
        </p:spPr>
        <p:txBody>
          <a:bodyPr wrap="square" lIns="0" tIns="0" rIns="0" bIns="0" anchor="t">
            <a:spAutoFit/>
          </a:bodyPr>
          <a:lstStyle/>
          <a:p>
            <a:pPr algn="ctr"/>
            <a:r>
              <a:rPr sz="1500" b="1" i="0" u="none" dirty="0">
                <a:solidFill>
                  <a:srgbClr val="C5A059"/>
                </a:solidFill>
                <a:latin typeface="Merriweather"/>
              </a:rPr>
              <a:t>BÖLÜM 0</a:t>
            </a:r>
            <a:r>
              <a:rPr lang="tr-TR" sz="1500" b="1" dirty="0">
                <a:solidFill>
                  <a:srgbClr val="C5A059"/>
                </a:solidFill>
                <a:latin typeface="Merriweather"/>
              </a:rPr>
              <a:t>6</a:t>
            </a:r>
            <a:endParaRPr sz="1500" b="1" i="0" u="none" dirty="0">
              <a:solidFill>
                <a:srgbClr val="C5A059"/>
              </a:solidFill>
              <a:latin typeface="Merriweather"/>
            </a:endParaRPr>
          </a:p>
        </p:txBody>
      </p:sp>
      <p:sp>
        <p:nvSpPr>
          <p:cNvPr id="8" name="TextBox 7"/>
          <p:cNvSpPr txBox="1"/>
          <p:nvPr/>
        </p:nvSpPr>
        <p:spPr>
          <a:xfrm>
            <a:off x="666750" y="6534150"/>
            <a:ext cx="2460498" cy="126958"/>
          </a:xfrm>
          <a:prstGeom prst="rect">
            <a:avLst/>
          </a:prstGeom>
          <a:noFill/>
        </p:spPr>
        <p:txBody>
          <a:bodyPr wrap="square" lIns="0" tIns="0" rIns="0" bIns="0" anchor="t">
            <a:spAutoFit/>
          </a:bodyPr>
          <a:lstStyle/>
          <a:p>
            <a:pPr algn="l"/>
            <a:r>
              <a:rPr sz="825" b="0" i="0" u="none" dirty="0">
                <a:solidFill>
                  <a:srgbClr val="94A3B8"/>
                </a:solidFill>
                <a:latin typeface="DM Sans"/>
              </a:rPr>
              <a:t>Mustafa </a:t>
            </a:r>
            <a:r>
              <a:rPr sz="825" b="0" i="0" u="none" dirty="0" err="1">
                <a:solidFill>
                  <a:srgbClr val="94A3B8"/>
                </a:solidFill>
                <a:latin typeface="DM Sans"/>
              </a:rPr>
              <a:t>Melih</a:t>
            </a:r>
            <a:r>
              <a:rPr sz="825" b="0" i="0" u="none" dirty="0">
                <a:solidFill>
                  <a:srgbClr val="94A3B8"/>
                </a:solidFill>
                <a:latin typeface="DM Sans"/>
              </a:rPr>
              <a:t> TÜFEKCİOĞLU • </a:t>
            </a:r>
            <a:r>
              <a:rPr sz="825" b="0" i="0" u="none" dirty="0" err="1">
                <a:solidFill>
                  <a:srgbClr val="94A3B8"/>
                </a:solidFill>
                <a:latin typeface="DM Sans"/>
              </a:rPr>
              <a:t>Yüksek</a:t>
            </a:r>
            <a:r>
              <a:rPr sz="825" b="0" i="0" u="none" dirty="0">
                <a:solidFill>
                  <a:srgbClr val="94A3B8"/>
                </a:solidFill>
                <a:latin typeface="DM Sans"/>
              </a:rPr>
              <a:t> </a:t>
            </a:r>
            <a:r>
              <a:rPr sz="825" b="0" i="0" u="none" dirty="0" err="1">
                <a:solidFill>
                  <a:srgbClr val="94A3B8"/>
                </a:solidFill>
                <a:latin typeface="DM Sans"/>
              </a:rPr>
              <a:t>Lisans</a:t>
            </a:r>
            <a:r>
              <a:rPr sz="825" b="0" i="0" u="none" dirty="0">
                <a:solidFill>
                  <a:srgbClr val="94A3B8"/>
                </a:solidFill>
                <a:latin typeface="DM Sans"/>
              </a:rPr>
              <a:t> </a:t>
            </a:r>
            <a:r>
              <a:rPr sz="825" b="0" i="0" u="none" dirty="0" err="1">
                <a:solidFill>
                  <a:srgbClr val="94A3B8"/>
                </a:solidFill>
                <a:latin typeface="DM Sans"/>
              </a:rPr>
              <a:t>Tezi</a:t>
            </a:r>
            <a:endParaRPr sz="825" b="0" i="0" u="none" dirty="0">
              <a:solidFill>
                <a:srgbClr val="94A3B8"/>
              </a:solidFill>
              <a:latin typeface="DM Sans"/>
            </a:endParaRPr>
          </a:p>
        </p:txBody>
      </p:sp>
      <p:sp>
        <p:nvSpPr>
          <p:cNvPr id="9" name="TextBox 8"/>
          <p:cNvSpPr txBox="1"/>
          <p:nvPr/>
        </p:nvSpPr>
        <p:spPr>
          <a:xfrm>
            <a:off x="11201400" y="6534150"/>
            <a:ext cx="323850" cy="133350"/>
          </a:xfrm>
          <a:prstGeom prst="rect">
            <a:avLst/>
          </a:prstGeom>
          <a:noFill/>
        </p:spPr>
        <p:txBody>
          <a:bodyPr wrap="square" lIns="0" tIns="0" rIns="0" bIns="0" anchor="t">
            <a:spAutoFit/>
          </a:bodyPr>
          <a:lstStyle/>
          <a:p>
            <a:pPr algn="l"/>
            <a:r>
              <a:rPr sz="825" b="0" i="0" u="none">
                <a:solidFill>
                  <a:srgbClr val="94A3B8"/>
                </a:solidFill>
                <a:latin typeface="DM Sans"/>
              </a:rPr>
              <a:t>Slayt 8</a:t>
            </a:r>
          </a:p>
        </p:txBody>
      </p:sp>
      <p:pic>
        <p:nvPicPr>
          <p:cNvPr id="10" name="İçerik Yer Tutucusu 10">
            <a:extLst>
              <a:ext uri="{FF2B5EF4-FFF2-40B4-BE49-F238E27FC236}">
                <a16:creationId xmlns:a16="http://schemas.microsoft.com/office/drawing/2014/main" id="{B37786D2-57C1-72F5-BBAE-597F6ED3EF8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93713" y="286767"/>
            <a:ext cx="2011362"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3">
            <a:extLst>
              <a:ext uri="{FF2B5EF4-FFF2-40B4-BE49-F238E27FC236}">
                <a16:creationId xmlns:a16="http://schemas.microsoft.com/office/drawing/2014/main" id="{56DF2EE7-ACCD-5D48-5151-2C940968B18B}"/>
              </a:ext>
            </a:extLst>
          </p:cNvPr>
          <p:cNvSpPr txBox="1"/>
          <p:nvPr/>
        </p:nvSpPr>
        <p:spPr>
          <a:xfrm>
            <a:off x="295275" y="2638425"/>
            <a:ext cx="11601450" cy="553998"/>
          </a:xfrm>
          <a:prstGeom prst="rect">
            <a:avLst/>
          </a:prstGeom>
          <a:noFill/>
        </p:spPr>
        <p:txBody>
          <a:bodyPr wrap="square" lIns="0" tIns="0" rIns="0" bIns="0" anchor="t">
            <a:spAutoFit/>
          </a:bodyPr>
          <a:lstStyle/>
          <a:p>
            <a:pPr algn="ctr"/>
            <a:r>
              <a:rPr lang="tr-TR" sz="3600" b="1" i="0" u="none" dirty="0">
                <a:solidFill>
                  <a:srgbClr val="FFFFFF"/>
                </a:solidFill>
                <a:latin typeface="Merriweather"/>
              </a:rPr>
              <a:t>TARAYICI EKLENTİSİ VE SAHA TESTLERİ</a:t>
            </a:r>
          </a:p>
        </p:txBody>
      </p:sp>
      <p:sp>
        <p:nvSpPr>
          <p:cNvPr id="6" name="TextBox 4">
            <a:extLst>
              <a:ext uri="{FF2B5EF4-FFF2-40B4-BE49-F238E27FC236}">
                <a16:creationId xmlns:a16="http://schemas.microsoft.com/office/drawing/2014/main" id="{BBC247D3-9279-E49F-6ED4-20CCE75260CB}"/>
              </a:ext>
            </a:extLst>
          </p:cNvPr>
          <p:cNvSpPr txBox="1"/>
          <p:nvPr/>
        </p:nvSpPr>
        <p:spPr>
          <a:xfrm>
            <a:off x="2286000" y="3686175"/>
            <a:ext cx="7620000" cy="571500"/>
          </a:xfrm>
          <a:prstGeom prst="rect">
            <a:avLst/>
          </a:prstGeom>
          <a:noFill/>
        </p:spPr>
        <p:txBody>
          <a:bodyPr wrap="square" lIns="0" tIns="0" rIns="0" bIns="0" anchor="t">
            <a:spAutoFit/>
          </a:bodyPr>
          <a:lstStyle/>
          <a:p>
            <a:pPr algn="ctr">
              <a:lnSpc>
                <a:spcPts val="2250"/>
              </a:lnSpc>
            </a:pPr>
            <a:r>
              <a:rPr sz="1500" b="0" i="0" u="none" dirty="0">
                <a:solidFill>
                  <a:srgbClr val="CBD5E1"/>
                </a:solidFill>
                <a:latin typeface="DM Sans"/>
              </a:rPr>
              <a:t>Chrome Manifest V3 </a:t>
            </a:r>
            <a:r>
              <a:rPr sz="1500" b="0" i="0" u="none" dirty="0" err="1">
                <a:solidFill>
                  <a:srgbClr val="CBD5E1"/>
                </a:solidFill>
                <a:latin typeface="DM Sans"/>
              </a:rPr>
              <a:t>Mimarisi</a:t>
            </a:r>
            <a:r>
              <a:rPr sz="1500" b="0" i="0" u="none" dirty="0">
                <a:solidFill>
                  <a:srgbClr val="CBD5E1"/>
                </a:solidFill>
                <a:latin typeface="DM Sans"/>
              </a:rPr>
              <a:t>, </a:t>
            </a:r>
            <a:r>
              <a:rPr sz="1500" b="0" i="0" u="none" dirty="0" err="1">
                <a:solidFill>
                  <a:srgbClr val="CBD5E1"/>
                </a:solidFill>
                <a:latin typeface="DM Sans"/>
              </a:rPr>
              <a:t>İstemci-Sunucu</a:t>
            </a:r>
            <a:r>
              <a:rPr sz="1500" b="0" i="0" u="none" dirty="0">
                <a:solidFill>
                  <a:srgbClr val="CBD5E1"/>
                </a:solidFill>
                <a:latin typeface="DM Sans"/>
              </a:rPr>
              <a:t> </a:t>
            </a:r>
            <a:r>
              <a:rPr sz="1500" b="0" i="0" u="none" dirty="0" err="1">
                <a:solidFill>
                  <a:srgbClr val="CBD5E1"/>
                </a:solidFill>
                <a:latin typeface="DM Sans"/>
              </a:rPr>
              <a:t>Etkileşimi</a:t>
            </a:r>
            <a:r>
              <a:rPr sz="1500" b="0" i="0" u="none" dirty="0">
                <a:solidFill>
                  <a:srgbClr val="CBD5E1"/>
                </a:solidFill>
                <a:latin typeface="DM Sans"/>
              </a:rPr>
              <a:t>, </a:t>
            </a:r>
            <a:r>
              <a:rPr sz="1500" b="0" i="0" u="none" dirty="0" err="1">
                <a:solidFill>
                  <a:srgbClr val="CBD5E1"/>
                </a:solidFill>
                <a:latin typeface="DM Sans"/>
              </a:rPr>
              <a:t>Gerçek</a:t>
            </a:r>
            <a:r>
              <a:rPr sz="1500" b="0" i="0" u="none" dirty="0">
                <a:solidFill>
                  <a:srgbClr val="CBD5E1"/>
                </a:solidFill>
                <a:latin typeface="DM Sans"/>
              </a:rPr>
              <a:t> </a:t>
            </a:r>
            <a:r>
              <a:rPr sz="1500" b="0" i="0" u="none" dirty="0" err="1">
                <a:solidFill>
                  <a:srgbClr val="CBD5E1"/>
                </a:solidFill>
                <a:latin typeface="DM Sans"/>
              </a:rPr>
              <a:t>Zamanlı</a:t>
            </a:r>
            <a:r>
              <a:rPr sz="1500" b="0" i="0" u="none" dirty="0">
                <a:solidFill>
                  <a:srgbClr val="CBD5E1"/>
                </a:solidFill>
                <a:latin typeface="DM Sans"/>
              </a:rPr>
              <a:t> Saha </a:t>
            </a:r>
            <a:r>
              <a:rPr sz="1500" b="0" i="0" u="none" dirty="0" err="1">
                <a:solidFill>
                  <a:srgbClr val="CBD5E1"/>
                </a:solidFill>
                <a:latin typeface="DM Sans"/>
              </a:rPr>
              <a:t>Testleri</a:t>
            </a:r>
            <a:r>
              <a:rPr sz="1500" b="0" i="0" u="none" dirty="0">
                <a:solidFill>
                  <a:srgbClr val="CBD5E1"/>
                </a:solidFill>
                <a:latin typeface="DM Sans"/>
              </a:rPr>
              <a:t> </a:t>
            </a:r>
            <a:r>
              <a:rPr sz="1500" b="0" i="0" u="none" dirty="0" err="1">
                <a:solidFill>
                  <a:srgbClr val="CBD5E1"/>
                </a:solidFill>
                <a:latin typeface="DM Sans"/>
              </a:rPr>
              <a:t>ve</a:t>
            </a:r>
            <a:r>
              <a:rPr sz="1500" b="0" i="0" u="none" dirty="0">
                <a:solidFill>
                  <a:srgbClr val="CBD5E1"/>
                </a:solidFill>
                <a:latin typeface="DM Sans"/>
              </a:rPr>
              <a:t> </a:t>
            </a:r>
            <a:r>
              <a:rPr sz="1500" b="0" i="0" u="none" dirty="0" err="1">
                <a:solidFill>
                  <a:srgbClr val="CBD5E1"/>
                </a:solidFill>
                <a:latin typeface="DM Sans"/>
              </a:rPr>
              <a:t>Performans</a:t>
            </a:r>
            <a:r>
              <a:rPr sz="1500" b="0" i="0" u="none" dirty="0">
                <a:solidFill>
                  <a:srgbClr val="CBD5E1"/>
                </a:solidFill>
                <a:latin typeface="DM Sans"/>
              </a:rPr>
              <a:t> </a:t>
            </a:r>
            <a:r>
              <a:rPr sz="1500" b="0" i="0" u="none" dirty="0" err="1">
                <a:solidFill>
                  <a:srgbClr val="CBD5E1"/>
                </a:solidFill>
                <a:latin typeface="DM Sans"/>
              </a:rPr>
              <a:t>Bulguları</a:t>
            </a:r>
            <a:endParaRPr sz="1500" b="0" i="0" u="none" dirty="0">
              <a:solidFill>
                <a:srgbClr val="CBD5E1"/>
              </a:solidFill>
              <a:latin typeface="DM Sans"/>
            </a:endParaRPr>
          </a:p>
        </p:txBody>
      </p:sp>
    </p:spTree>
    <p:extLst>
      <p:ext uri="{BB962C8B-B14F-4D97-AF65-F5344CB8AC3E}">
        <p14:creationId xmlns:p14="http://schemas.microsoft.com/office/powerpoint/2010/main" val="8609919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png"/>
          <p:cNvPicPr>
            <a:picLocks noChangeAspect="1"/>
          </p:cNvPicPr>
          <p:nvPr/>
        </p:nvPicPr>
        <p:blipFill>
          <a:blip r:embed="rId2"/>
          <a:stretch>
            <a:fillRect/>
          </a:stretch>
        </p:blipFill>
        <p:spPr>
          <a:xfrm>
            <a:off x="571500" y="6391275"/>
            <a:ext cx="11049000" cy="276225"/>
          </a:xfrm>
          <a:prstGeom prst="rect">
            <a:avLst/>
          </a:prstGeom>
        </p:spPr>
      </p:pic>
      <p:sp>
        <p:nvSpPr>
          <p:cNvPr id="5" name="TextBox 4"/>
          <p:cNvSpPr txBox="1"/>
          <p:nvPr/>
        </p:nvSpPr>
        <p:spPr>
          <a:xfrm>
            <a:off x="571500" y="476250"/>
            <a:ext cx="11601450" cy="392993"/>
          </a:xfrm>
          <a:prstGeom prst="rect">
            <a:avLst/>
          </a:prstGeom>
          <a:noFill/>
        </p:spPr>
        <p:txBody>
          <a:bodyPr wrap="square" lIns="0" tIns="0" rIns="0" bIns="0" anchor="t">
            <a:spAutoFit/>
          </a:bodyPr>
          <a:lstStyle/>
          <a:p>
            <a:pPr algn="l">
              <a:lnSpc>
                <a:spcPts val="3187"/>
              </a:lnSpc>
            </a:pPr>
            <a:r>
              <a:rPr sz="2550" b="1" i="0" u="none" dirty="0" err="1">
                <a:solidFill>
                  <a:srgbClr val="005088"/>
                </a:solidFill>
                <a:latin typeface="Merriweather"/>
              </a:rPr>
              <a:t>Tarayıcı</a:t>
            </a:r>
            <a:r>
              <a:rPr sz="2550" b="1" i="0" u="none" dirty="0">
                <a:solidFill>
                  <a:srgbClr val="005088"/>
                </a:solidFill>
                <a:latin typeface="Merriweather"/>
              </a:rPr>
              <a:t> </a:t>
            </a:r>
            <a:r>
              <a:rPr sz="2550" b="1" i="0" u="none" dirty="0" err="1">
                <a:solidFill>
                  <a:srgbClr val="005088"/>
                </a:solidFill>
                <a:latin typeface="Merriweather"/>
              </a:rPr>
              <a:t>Eklentisi</a:t>
            </a:r>
            <a:r>
              <a:rPr sz="2550" b="1" i="0" u="none" dirty="0">
                <a:solidFill>
                  <a:srgbClr val="005088"/>
                </a:solidFill>
                <a:latin typeface="Merriweather"/>
              </a:rPr>
              <a:t> </a:t>
            </a:r>
            <a:r>
              <a:rPr sz="2550" b="1" i="0" u="none" dirty="0" err="1">
                <a:solidFill>
                  <a:srgbClr val="005088"/>
                </a:solidFill>
                <a:latin typeface="Merriweather"/>
              </a:rPr>
              <a:t>Mimarisi</a:t>
            </a:r>
            <a:endParaRPr sz="2550" b="1" i="0" u="none" dirty="0">
              <a:solidFill>
                <a:srgbClr val="005088"/>
              </a:solidFill>
              <a:latin typeface="Merriweather"/>
            </a:endParaRPr>
          </a:p>
        </p:txBody>
      </p:sp>
      <p:sp>
        <p:nvSpPr>
          <p:cNvPr id="6" name="Rectangle 5"/>
          <p:cNvSpPr/>
          <p:nvPr/>
        </p:nvSpPr>
        <p:spPr>
          <a:xfrm>
            <a:off x="571500" y="995362"/>
            <a:ext cx="11049000"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71500" y="6496050"/>
            <a:ext cx="3009900" cy="171450"/>
          </a:xfrm>
          <a:prstGeom prst="rect">
            <a:avLst/>
          </a:prstGeom>
          <a:noFill/>
        </p:spPr>
        <p:txBody>
          <a:bodyPr wrap="square" lIns="0" tIns="0" rIns="0" bIns="0" anchor="t">
            <a:spAutoFit/>
          </a:bodyPr>
          <a:lstStyle/>
          <a:p>
            <a:pPr algn="l">
              <a:lnSpc>
                <a:spcPts val="1350"/>
              </a:lnSpc>
            </a:pPr>
            <a:r>
              <a:rPr sz="900" b="0" i="0" u="none">
                <a:solidFill>
                  <a:srgbClr val="94A3B8"/>
                </a:solidFill>
                <a:latin typeface="DM Sans"/>
              </a:rPr>
              <a:t>SAKARYA ÜNİVERSİTESİ • YÜKSEK LİSANS TEZ SAVUNMASI</a:t>
            </a:r>
          </a:p>
        </p:txBody>
      </p:sp>
      <p:sp>
        <p:nvSpPr>
          <p:cNvPr id="8" name="TextBox 7"/>
          <p:cNvSpPr txBox="1"/>
          <p:nvPr/>
        </p:nvSpPr>
        <p:spPr>
          <a:xfrm>
            <a:off x="11182350" y="6496050"/>
            <a:ext cx="438150" cy="171450"/>
          </a:xfrm>
          <a:prstGeom prst="rect">
            <a:avLst/>
          </a:prstGeom>
          <a:noFill/>
        </p:spPr>
        <p:txBody>
          <a:bodyPr wrap="square" lIns="0" tIns="0" rIns="0" bIns="0" anchor="t">
            <a:spAutoFit/>
          </a:bodyPr>
          <a:lstStyle/>
          <a:p>
            <a:pPr algn="l">
              <a:lnSpc>
                <a:spcPts val="1350"/>
              </a:lnSpc>
            </a:pPr>
            <a:r>
              <a:rPr sz="900" b="0" i="0" u="none">
                <a:solidFill>
                  <a:srgbClr val="94A3B8"/>
                </a:solidFill>
                <a:latin typeface="DM Sans"/>
              </a:rPr>
              <a:t>Slayt 24</a:t>
            </a:r>
          </a:p>
        </p:txBody>
      </p:sp>
      <p:sp>
        <p:nvSpPr>
          <p:cNvPr id="9" name="TextBox 8"/>
          <p:cNvSpPr txBox="1"/>
          <p:nvPr/>
        </p:nvSpPr>
        <p:spPr>
          <a:xfrm>
            <a:off x="571500" y="1252537"/>
            <a:ext cx="5600700" cy="238125"/>
          </a:xfrm>
          <a:prstGeom prst="rect">
            <a:avLst/>
          </a:prstGeom>
          <a:noFill/>
        </p:spPr>
        <p:txBody>
          <a:bodyPr wrap="square" lIns="0" tIns="0" rIns="0" bIns="0" anchor="t">
            <a:spAutoFit/>
          </a:bodyPr>
          <a:lstStyle/>
          <a:p>
            <a:pPr algn="l"/>
            <a:r>
              <a:rPr sz="1500" b="1" i="0" u="none">
                <a:solidFill>
                  <a:srgbClr val="005088"/>
                </a:solidFill>
                <a:latin typeface="Merriweather"/>
              </a:rPr>
              <a:t>Yazılım Bileşenleri Mimarisi</a:t>
            </a:r>
          </a:p>
        </p:txBody>
      </p:sp>
      <p:sp>
        <p:nvSpPr>
          <p:cNvPr id="10" name="TextBox 9"/>
          <p:cNvSpPr txBox="1"/>
          <p:nvPr/>
        </p:nvSpPr>
        <p:spPr>
          <a:xfrm>
            <a:off x="857250" y="1604962"/>
            <a:ext cx="5048250" cy="457200"/>
          </a:xfrm>
          <a:prstGeom prst="rect">
            <a:avLst/>
          </a:prstGeom>
          <a:noFill/>
        </p:spPr>
        <p:txBody>
          <a:bodyPr wrap="square" lIns="0" tIns="0" rIns="0" bIns="0" anchor="t">
            <a:spAutoFit/>
          </a:bodyPr>
          <a:lstStyle/>
          <a:p>
            <a:pPr algn="l">
              <a:lnSpc>
                <a:spcPts val="1800"/>
              </a:lnSpc>
            </a:pPr>
            <a:r>
              <a:rPr sz="1200" b="1" i="0" u="none">
                <a:solidFill>
                  <a:srgbClr val="334155"/>
                </a:solidFill>
                <a:latin typeface="DM Sans"/>
              </a:rPr>
              <a:t>Content Script:</a:t>
            </a:r>
            <a:r>
              <a:rPr sz="1200" b="0" i="0" u="none">
                <a:solidFill>
                  <a:srgbClr val="334155"/>
                </a:solidFill>
                <a:latin typeface="DM Sans"/>
              </a:rPr>
              <a:t> Ziyaret edilen sekmelerdeki URL değişikliklerini anlık yakalar.</a:t>
            </a:r>
          </a:p>
        </p:txBody>
      </p:sp>
      <p:sp>
        <p:nvSpPr>
          <p:cNvPr id="11" name="TextBox 10"/>
          <p:cNvSpPr txBox="1"/>
          <p:nvPr/>
        </p:nvSpPr>
        <p:spPr>
          <a:xfrm>
            <a:off x="857250" y="2195512"/>
            <a:ext cx="5048250" cy="457200"/>
          </a:xfrm>
          <a:prstGeom prst="rect">
            <a:avLst/>
          </a:prstGeom>
          <a:noFill/>
        </p:spPr>
        <p:txBody>
          <a:bodyPr wrap="square" lIns="0" tIns="0" rIns="0" bIns="0" anchor="t">
            <a:spAutoFit/>
          </a:bodyPr>
          <a:lstStyle/>
          <a:p>
            <a:pPr algn="l">
              <a:lnSpc>
                <a:spcPts val="1800"/>
              </a:lnSpc>
            </a:pPr>
            <a:r>
              <a:rPr sz="1200" b="1" i="0" u="none">
                <a:solidFill>
                  <a:srgbClr val="334155"/>
                </a:solidFill>
                <a:latin typeface="DM Sans"/>
              </a:rPr>
              <a:t>Background Service Worker:</a:t>
            </a:r>
            <a:r>
              <a:rPr sz="1200" b="0" i="0" u="none">
                <a:solidFill>
                  <a:srgbClr val="334155"/>
                </a:solidFill>
                <a:latin typeface="DM Sans"/>
              </a:rPr>
              <a:t> URL'yi asenkron olarak Flask/FastAPI REST API sunucusuna iletir.</a:t>
            </a:r>
          </a:p>
        </p:txBody>
      </p:sp>
      <p:sp>
        <p:nvSpPr>
          <p:cNvPr id="12" name="TextBox 11"/>
          <p:cNvSpPr txBox="1"/>
          <p:nvPr/>
        </p:nvSpPr>
        <p:spPr>
          <a:xfrm>
            <a:off x="857250" y="2786062"/>
            <a:ext cx="5048250" cy="457200"/>
          </a:xfrm>
          <a:prstGeom prst="rect">
            <a:avLst/>
          </a:prstGeom>
          <a:noFill/>
        </p:spPr>
        <p:txBody>
          <a:bodyPr wrap="square" lIns="0" tIns="0" rIns="0" bIns="0" anchor="t">
            <a:spAutoFit/>
          </a:bodyPr>
          <a:lstStyle/>
          <a:p>
            <a:pPr algn="l">
              <a:lnSpc>
                <a:spcPts val="1800"/>
              </a:lnSpc>
            </a:pPr>
            <a:r>
              <a:rPr sz="1200" b="1" i="0" u="none">
                <a:solidFill>
                  <a:srgbClr val="334155"/>
                </a:solidFill>
                <a:latin typeface="DM Sans"/>
              </a:rPr>
              <a:t>Backend API (Python):</a:t>
            </a:r>
            <a:r>
              <a:rPr sz="1200" b="0" i="0" u="none">
                <a:solidFill>
                  <a:srgbClr val="334155"/>
                </a:solidFill>
                <a:latin typeface="DM Sans"/>
              </a:rPr>
              <a:t> Anlık 33 öznitelik çıkarımı yapar ve eğitilmiş XGBoost modelini çağırır.</a:t>
            </a:r>
          </a:p>
        </p:txBody>
      </p:sp>
      <p:sp>
        <p:nvSpPr>
          <p:cNvPr id="13" name="TextBox 12"/>
          <p:cNvSpPr txBox="1"/>
          <p:nvPr/>
        </p:nvSpPr>
        <p:spPr>
          <a:xfrm>
            <a:off x="857250" y="3376612"/>
            <a:ext cx="5048250" cy="447943"/>
          </a:xfrm>
          <a:prstGeom prst="rect">
            <a:avLst/>
          </a:prstGeom>
          <a:noFill/>
        </p:spPr>
        <p:txBody>
          <a:bodyPr wrap="square" lIns="0" tIns="0" rIns="0" bIns="0" anchor="t">
            <a:spAutoFit/>
          </a:bodyPr>
          <a:lstStyle/>
          <a:p>
            <a:pPr algn="l">
              <a:lnSpc>
                <a:spcPts val="1800"/>
              </a:lnSpc>
            </a:pPr>
            <a:r>
              <a:rPr sz="1200" b="1" i="0" u="none" dirty="0">
                <a:solidFill>
                  <a:srgbClr val="334155"/>
                </a:solidFill>
                <a:latin typeface="DM Sans"/>
              </a:rPr>
              <a:t>User Interface / Popup:</a:t>
            </a:r>
            <a:r>
              <a:rPr sz="1200" b="0" i="0" u="none" dirty="0">
                <a:solidFill>
                  <a:srgbClr val="334155"/>
                </a:solidFill>
                <a:latin typeface="DM Sans"/>
              </a:rPr>
              <a:t> </a:t>
            </a:r>
            <a:r>
              <a:rPr sz="1200" b="0" i="0" u="none" dirty="0" err="1">
                <a:solidFill>
                  <a:srgbClr val="334155"/>
                </a:solidFill>
                <a:latin typeface="DM Sans"/>
              </a:rPr>
              <a:t>Tehlikeli</a:t>
            </a:r>
            <a:r>
              <a:rPr sz="1200" b="0" i="0" u="none" dirty="0">
                <a:solidFill>
                  <a:srgbClr val="334155"/>
                </a:solidFill>
                <a:latin typeface="DM Sans"/>
              </a:rPr>
              <a:t> URL </a:t>
            </a:r>
            <a:r>
              <a:rPr sz="1200" b="0" i="0" u="none" dirty="0" err="1">
                <a:solidFill>
                  <a:srgbClr val="334155"/>
                </a:solidFill>
                <a:latin typeface="DM Sans"/>
              </a:rPr>
              <a:t>tespit</a:t>
            </a:r>
            <a:r>
              <a:rPr sz="1200" b="0" i="0" u="none" dirty="0">
                <a:solidFill>
                  <a:srgbClr val="334155"/>
                </a:solidFill>
                <a:latin typeface="DM Sans"/>
              </a:rPr>
              <a:t> </a:t>
            </a:r>
            <a:r>
              <a:rPr sz="1200" b="0" i="0" u="none" dirty="0" err="1">
                <a:solidFill>
                  <a:srgbClr val="334155"/>
                </a:solidFill>
                <a:latin typeface="DM Sans"/>
              </a:rPr>
              <a:t>edildiğinde</a:t>
            </a:r>
            <a:r>
              <a:rPr lang="tr-TR" sz="1200" b="0" i="0" u="none" dirty="0">
                <a:solidFill>
                  <a:srgbClr val="334155"/>
                </a:solidFill>
                <a:latin typeface="DM Sans"/>
              </a:rPr>
              <a:t> kullanıcıyı kısıtlamaz. Ancak ekranın üst kısmında bir uyarı </a:t>
            </a:r>
            <a:r>
              <a:rPr lang="tr-TR" sz="1200" b="0" i="0" u="none" dirty="0" err="1">
                <a:solidFill>
                  <a:srgbClr val="334155"/>
                </a:solidFill>
                <a:latin typeface="DM Sans"/>
              </a:rPr>
              <a:t>banneri</a:t>
            </a:r>
            <a:r>
              <a:rPr lang="tr-TR" sz="1200" b="0" i="0" u="none" dirty="0">
                <a:solidFill>
                  <a:srgbClr val="334155"/>
                </a:solidFill>
                <a:latin typeface="DM Sans"/>
              </a:rPr>
              <a:t> oluşturur.</a:t>
            </a:r>
            <a:endParaRPr sz="1200" b="0" i="0" u="none" dirty="0">
              <a:solidFill>
                <a:srgbClr val="334155"/>
              </a:solidFill>
              <a:latin typeface="DM Sans"/>
            </a:endParaRPr>
          </a:p>
        </p:txBody>
      </p:sp>
      <p:pic>
        <p:nvPicPr>
          <p:cNvPr id="15" name="Picture 14" descr="image.png"/>
          <p:cNvPicPr>
            <a:picLocks noChangeAspect="1"/>
          </p:cNvPicPr>
          <p:nvPr/>
        </p:nvPicPr>
        <p:blipFill>
          <a:blip r:embed="rId3"/>
          <a:stretch>
            <a:fillRect/>
          </a:stretch>
        </p:blipFill>
        <p:spPr>
          <a:xfrm>
            <a:off x="571500" y="1628775"/>
            <a:ext cx="171450" cy="180975"/>
          </a:xfrm>
          <a:prstGeom prst="rect">
            <a:avLst/>
          </a:prstGeom>
        </p:spPr>
      </p:pic>
      <p:pic>
        <p:nvPicPr>
          <p:cNvPr id="16" name="Picture 15" descr="image.png"/>
          <p:cNvPicPr>
            <a:picLocks noChangeAspect="1"/>
          </p:cNvPicPr>
          <p:nvPr/>
        </p:nvPicPr>
        <p:blipFill>
          <a:blip r:embed="rId4"/>
          <a:stretch>
            <a:fillRect/>
          </a:stretch>
        </p:blipFill>
        <p:spPr>
          <a:xfrm>
            <a:off x="571500" y="2219325"/>
            <a:ext cx="219075" cy="180975"/>
          </a:xfrm>
          <a:prstGeom prst="rect">
            <a:avLst/>
          </a:prstGeom>
        </p:spPr>
      </p:pic>
      <p:pic>
        <p:nvPicPr>
          <p:cNvPr id="17" name="Picture 16" descr="image.png"/>
          <p:cNvPicPr>
            <a:picLocks noChangeAspect="1"/>
          </p:cNvPicPr>
          <p:nvPr/>
        </p:nvPicPr>
        <p:blipFill>
          <a:blip r:embed="rId5"/>
          <a:stretch>
            <a:fillRect/>
          </a:stretch>
        </p:blipFill>
        <p:spPr>
          <a:xfrm>
            <a:off x="571500" y="2809875"/>
            <a:ext cx="171450" cy="180975"/>
          </a:xfrm>
          <a:prstGeom prst="rect">
            <a:avLst/>
          </a:prstGeom>
        </p:spPr>
      </p:pic>
      <p:pic>
        <p:nvPicPr>
          <p:cNvPr id="18" name="Picture 17" descr="image.png"/>
          <p:cNvPicPr>
            <a:picLocks noChangeAspect="1"/>
          </p:cNvPicPr>
          <p:nvPr/>
        </p:nvPicPr>
        <p:blipFill>
          <a:blip r:embed="rId6"/>
          <a:stretch>
            <a:fillRect/>
          </a:stretch>
        </p:blipFill>
        <p:spPr>
          <a:xfrm>
            <a:off x="571500" y="3400425"/>
            <a:ext cx="152400" cy="180975"/>
          </a:xfrm>
          <a:prstGeom prst="rect">
            <a:avLst/>
          </a:prstGeom>
        </p:spPr>
      </p:pic>
      <p:pic>
        <p:nvPicPr>
          <p:cNvPr id="19" name="Picture 1" descr="image.png">
            <a:extLst>
              <a:ext uri="{FF2B5EF4-FFF2-40B4-BE49-F238E27FC236}">
                <a16:creationId xmlns:a16="http://schemas.microsoft.com/office/drawing/2014/main" id="{9581FF7A-97BD-325E-F32B-578BEE257896}"/>
              </a:ext>
            </a:extLst>
          </p:cNvPr>
          <p:cNvPicPr>
            <a:picLocks noChangeAspect="1"/>
          </p:cNvPicPr>
          <p:nvPr/>
        </p:nvPicPr>
        <p:blipFill>
          <a:blip r:embed="rId7"/>
          <a:stretch>
            <a:fillRect/>
          </a:stretch>
        </p:blipFill>
        <p:spPr>
          <a:xfrm>
            <a:off x="666750" y="952500"/>
            <a:ext cx="10858500" cy="171450"/>
          </a:xfrm>
          <a:prstGeom prst="rect">
            <a:avLst/>
          </a:prstGeom>
        </p:spPr>
      </p:pic>
      <p:pic>
        <p:nvPicPr>
          <p:cNvPr id="20" name="İçerik Yer Tutucusu 10">
            <a:extLst>
              <a:ext uri="{FF2B5EF4-FFF2-40B4-BE49-F238E27FC236}">
                <a16:creationId xmlns:a16="http://schemas.microsoft.com/office/drawing/2014/main" id="{62A5D755-AAAD-F77D-91C2-7A29D861E7FA}"/>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9590435" y="466725"/>
            <a:ext cx="2011362"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png"/>
          <p:cNvPicPr>
            <a:picLocks noChangeAspect="1"/>
          </p:cNvPicPr>
          <p:nvPr/>
        </p:nvPicPr>
        <p:blipFill>
          <a:blip r:embed="rId2"/>
          <a:stretch>
            <a:fillRect/>
          </a:stretch>
        </p:blipFill>
        <p:spPr>
          <a:xfrm>
            <a:off x="571500" y="6391275"/>
            <a:ext cx="11049000" cy="276225"/>
          </a:xfrm>
          <a:prstGeom prst="rect">
            <a:avLst/>
          </a:prstGeom>
        </p:spPr>
      </p:pic>
      <p:pic>
        <p:nvPicPr>
          <p:cNvPr id="4" name="Picture 3" descr="image.png"/>
          <p:cNvPicPr>
            <a:picLocks noChangeAspect="1"/>
          </p:cNvPicPr>
          <p:nvPr/>
        </p:nvPicPr>
        <p:blipFill>
          <a:blip r:embed="rId3"/>
          <a:stretch>
            <a:fillRect/>
          </a:stretch>
        </p:blipFill>
        <p:spPr>
          <a:xfrm>
            <a:off x="6771382" y="1252537"/>
            <a:ext cx="4849117" cy="1219200"/>
          </a:xfrm>
          <a:prstGeom prst="rect">
            <a:avLst/>
          </a:prstGeom>
        </p:spPr>
      </p:pic>
      <p:pic>
        <p:nvPicPr>
          <p:cNvPr id="5" name="Picture 4" descr="image.png"/>
          <p:cNvPicPr>
            <a:picLocks noChangeAspect="1"/>
          </p:cNvPicPr>
          <p:nvPr/>
        </p:nvPicPr>
        <p:blipFill>
          <a:blip r:embed="rId4"/>
          <a:stretch>
            <a:fillRect/>
          </a:stretch>
        </p:blipFill>
        <p:spPr>
          <a:xfrm>
            <a:off x="6771382" y="2614612"/>
            <a:ext cx="4849117" cy="1181100"/>
          </a:xfrm>
          <a:prstGeom prst="rect">
            <a:avLst/>
          </a:prstGeom>
        </p:spPr>
      </p:pic>
      <p:sp>
        <p:nvSpPr>
          <p:cNvPr id="6" name="TextBox 5"/>
          <p:cNvSpPr txBox="1"/>
          <p:nvPr/>
        </p:nvSpPr>
        <p:spPr>
          <a:xfrm>
            <a:off x="571500" y="476250"/>
            <a:ext cx="11601450" cy="392993"/>
          </a:xfrm>
          <a:prstGeom prst="rect">
            <a:avLst/>
          </a:prstGeom>
          <a:noFill/>
        </p:spPr>
        <p:txBody>
          <a:bodyPr wrap="square" lIns="0" tIns="0" rIns="0" bIns="0" anchor="t">
            <a:spAutoFit/>
          </a:bodyPr>
          <a:lstStyle/>
          <a:p>
            <a:pPr algn="l">
              <a:lnSpc>
                <a:spcPts val="3187"/>
              </a:lnSpc>
            </a:pPr>
            <a:r>
              <a:rPr sz="2550" b="1" i="0" u="none" dirty="0" err="1">
                <a:solidFill>
                  <a:srgbClr val="005088"/>
                </a:solidFill>
                <a:latin typeface="Merriweather"/>
              </a:rPr>
              <a:t>Canlı</a:t>
            </a:r>
            <a:r>
              <a:rPr sz="2550" b="1" i="0" u="none" dirty="0">
                <a:solidFill>
                  <a:srgbClr val="005088"/>
                </a:solidFill>
                <a:latin typeface="Merriweather"/>
              </a:rPr>
              <a:t> Saha </a:t>
            </a:r>
            <a:r>
              <a:rPr sz="2550" b="1" i="0" u="none" dirty="0" err="1">
                <a:solidFill>
                  <a:srgbClr val="005088"/>
                </a:solidFill>
                <a:latin typeface="Merriweather"/>
              </a:rPr>
              <a:t>Testi</a:t>
            </a:r>
            <a:r>
              <a:rPr sz="2550" b="1" i="0" u="none" dirty="0">
                <a:solidFill>
                  <a:srgbClr val="005088"/>
                </a:solidFill>
                <a:latin typeface="Merriweather"/>
              </a:rPr>
              <a:t> </a:t>
            </a:r>
            <a:r>
              <a:rPr sz="2550" b="1" i="0" u="none" dirty="0" err="1">
                <a:solidFill>
                  <a:srgbClr val="005088"/>
                </a:solidFill>
                <a:latin typeface="Merriweather"/>
              </a:rPr>
              <a:t>Sonuçları</a:t>
            </a:r>
            <a:endParaRPr sz="2550" b="1" i="0" u="none" dirty="0">
              <a:solidFill>
                <a:srgbClr val="005088"/>
              </a:solidFill>
              <a:latin typeface="Merriweather"/>
            </a:endParaRPr>
          </a:p>
        </p:txBody>
      </p:sp>
      <p:sp>
        <p:nvSpPr>
          <p:cNvPr id="7" name="Rectangle 6"/>
          <p:cNvSpPr/>
          <p:nvPr/>
        </p:nvSpPr>
        <p:spPr>
          <a:xfrm>
            <a:off x="571500" y="995362"/>
            <a:ext cx="11049000"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71500" y="6496050"/>
            <a:ext cx="3009900" cy="171450"/>
          </a:xfrm>
          <a:prstGeom prst="rect">
            <a:avLst/>
          </a:prstGeom>
          <a:noFill/>
        </p:spPr>
        <p:txBody>
          <a:bodyPr wrap="square" lIns="0" tIns="0" rIns="0" bIns="0" anchor="t">
            <a:spAutoFit/>
          </a:bodyPr>
          <a:lstStyle/>
          <a:p>
            <a:pPr algn="l">
              <a:lnSpc>
                <a:spcPts val="1350"/>
              </a:lnSpc>
            </a:pPr>
            <a:r>
              <a:rPr sz="900" b="0" i="0" u="none">
                <a:solidFill>
                  <a:srgbClr val="94A3B8"/>
                </a:solidFill>
                <a:latin typeface="DM Sans"/>
              </a:rPr>
              <a:t>SAKARYA ÜNİVERSİTESİ • YÜKSEK LİSANS TEZ SAVUNMASI</a:t>
            </a:r>
          </a:p>
        </p:txBody>
      </p:sp>
      <p:sp>
        <p:nvSpPr>
          <p:cNvPr id="9" name="TextBox 8"/>
          <p:cNvSpPr txBox="1"/>
          <p:nvPr/>
        </p:nvSpPr>
        <p:spPr>
          <a:xfrm>
            <a:off x="11182350" y="6496050"/>
            <a:ext cx="438150" cy="171450"/>
          </a:xfrm>
          <a:prstGeom prst="rect">
            <a:avLst/>
          </a:prstGeom>
          <a:noFill/>
        </p:spPr>
        <p:txBody>
          <a:bodyPr wrap="square" lIns="0" tIns="0" rIns="0" bIns="0" anchor="t">
            <a:spAutoFit/>
          </a:bodyPr>
          <a:lstStyle/>
          <a:p>
            <a:pPr algn="l">
              <a:lnSpc>
                <a:spcPts val="1350"/>
              </a:lnSpc>
            </a:pPr>
            <a:r>
              <a:rPr sz="900" b="0" i="0" u="none">
                <a:solidFill>
                  <a:srgbClr val="94A3B8"/>
                </a:solidFill>
                <a:latin typeface="DM Sans"/>
              </a:rPr>
              <a:t>Slayt 25</a:t>
            </a:r>
          </a:p>
        </p:txBody>
      </p:sp>
      <p:graphicFrame>
        <p:nvGraphicFramePr>
          <p:cNvPr id="10" name="Table 9"/>
          <p:cNvGraphicFramePr>
            <a:graphicFrameLocks noGrp="1"/>
          </p:cNvGraphicFramePr>
          <p:nvPr>
            <p:extLst>
              <p:ext uri="{D42A27DB-BD31-4B8C-83A1-F6EECF244321}">
                <p14:modId xmlns:p14="http://schemas.microsoft.com/office/powerpoint/2010/main" val="1410670945"/>
              </p:ext>
            </p:extLst>
          </p:nvPr>
        </p:nvGraphicFramePr>
        <p:xfrm>
          <a:off x="571500" y="1252537"/>
          <a:ext cx="5818881" cy="2245180"/>
        </p:xfrm>
        <a:graphic>
          <a:graphicData uri="http://schemas.openxmlformats.org/drawingml/2006/table">
            <a:tbl>
              <a:tblPr firstRow="1" bandRow="1">
                <a:tableStyleId>{5C22544A-7EE6-4342-B048-85BDC9FD1C3A}</a:tableStyleId>
              </a:tblPr>
              <a:tblGrid>
                <a:gridCol w="2857053">
                  <a:extLst>
                    <a:ext uri="{9D8B030D-6E8A-4147-A177-3AD203B41FA5}">
                      <a16:colId xmlns:a16="http://schemas.microsoft.com/office/drawing/2014/main" val="20000"/>
                    </a:ext>
                  </a:extLst>
                </a:gridCol>
                <a:gridCol w="2961828">
                  <a:extLst>
                    <a:ext uri="{9D8B030D-6E8A-4147-A177-3AD203B41FA5}">
                      <a16:colId xmlns:a16="http://schemas.microsoft.com/office/drawing/2014/main" val="20001"/>
                    </a:ext>
                  </a:extLst>
                </a:gridCol>
              </a:tblGrid>
              <a:tr h="449035">
                <a:tc>
                  <a:txBody>
                    <a:bodyPr/>
                    <a:lstStyle/>
                    <a:p>
                      <a:pPr algn="l"/>
                      <a:r>
                        <a:rPr sz="1200" b="0" i="0" u="none">
                          <a:solidFill>
                            <a:srgbClr val="FFFFFF"/>
                          </a:solidFill>
                          <a:latin typeface="DM Sans SemiBold"/>
                        </a:rPr>
                        <a:t>Test Parametresi</a:t>
                      </a:r>
                    </a:p>
                  </a:txBody>
                  <a:tcPr marL="63500" marR="63500" marT="25400" marB="25400" anchor="ctr">
                    <a:lnL>
                      <a:noFill/>
                    </a:lnL>
                    <a:lnR>
                      <a:noFill/>
                    </a:lnR>
                    <a:lnT>
                      <a:noFill/>
                    </a:lnT>
                    <a:lnB>
                      <a:noFill/>
                    </a:lnB>
                    <a:solidFill>
                      <a:srgbClr val="005088"/>
                    </a:solidFill>
                  </a:tcPr>
                </a:tc>
                <a:tc>
                  <a:txBody>
                    <a:bodyPr/>
                    <a:lstStyle/>
                    <a:p>
                      <a:pPr algn="l"/>
                      <a:r>
                        <a:rPr sz="1200" b="0" i="0" u="none">
                          <a:solidFill>
                            <a:srgbClr val="FFFFFF"/>
                          </a:solidFill>
                          <a:latin typeface="DM Sans SemiBold"/>
                        </a:rPr>
                        <a:t>Elde Edilen Değer</a:t>
                      </a:r>
                    </a:p>
                  </a:txBody>
                  <a:tcPr marL="63500" marR="63500" marT="25400" marB="25400" anchor="ctr">
                    <a:lnL>
                      <a:noFill/>
                    </a:lnL>
                    <a:lnR>
                      <a:noFill/>
                    </a:lnR>
                    <a:lnT>
                      <a:noFill/>
                    </a:lnT>
                    <a:lnB>
                      <a:noFill/>
                    </a:lnB>
                    <a:solidFill>
                      <a:srgbClr val="005088"/>
                    </a:solidFill>
                  </a:tcPr>
                </a:tc>
                <a:extLst>
                  <a:ext uri="{0D108BD9-81ED-4DB2-BD59-A6C34878D82A}">
                    <a16:rowId xmlns:a16="http://schemas.microsoft.com/office/drawing/2014/main" val="10000"/>
                  </a:ext>
                </a:extLst>
              </a:tr>
              <a:tr h="449035">
                <a:tc>
                  <a:txBody>
                    <a:bodyPr/>
                    <a:lstStyle/>
                    <a:p>
                      <a:pPr algn="l"/>
                      <a:r>
                        <a:rPr sz="1200" b="0" i="0" u="none">
                          <a:solidFill>
                            <a:srgbClr val="334155"/>
                          </a:solidFill>
                          <a:latin typeface="DM Sans"/>
                        </a:rPr>
                        <a:t>Test Edilen Canlı URL Sayısı</a:t>
                      </a:r>
                    </a:p>
                  </a:txBody>
                  <a:tcPr marL="63500" marR="63500" marT="25400" marB="25400" anchor="ctr">
                    <a:lnL>
                      <a:noFill/>
                    </a:lnL>
                    <a:lnR>
                      <a:noFill/>
                    </a:lnR>
                    <a:lnT>
                      <a:noFill/>
                    </a:lnT>
                    <a:lnB>
                      <a:noFill/>
                    </a:lnB>
                    <a:noFill/>
                  </a:tcPr>
                </a:tc>
                <a:tc>
                  <a:txBody>
                    <a:bodyPr/>
                    <a:lstStyle/>
                    <a:p>
                      <a:pPr algn="l"/>
                      <a:r>
                        <a:rPr sz="1200" b="1" i="0" u="none" dirty="0">
                          <a:solidFill>
                            <a:srgbClr val="334155"/>
                          </a:solidFill>
                          <a:latin typeface="DM Sans"/>
                        </a:rPr>
                        <a:t>177 </a:t>
                      </a:r>
                      <a:r>
                        <a:rPr sz="1200" b="1" i="0" u="none" dirty="0" err="1">
                          <a:solidFill>
                            <a:srgbClr val="334155"/>
                          </a:solidFill>
                          <a:latin typeface="DM Sans"/>
                        </a:rPr>
                        <a:t>Adet</a:t>
                      </a:r>
                      <a:endParaRPr sz="1200" b="0" i="0" u="none" dirty="0">
                        <a:solidFill>
                          <a:srgbClr val="334155"/>
                        </a:solidFill>
                        <a:latin typeface="DM Sans"/>
                      </a:endParaRPr>
                    </a:p>
                  </a:txBody>
                  <a:tcPr marL="63500" marR="63500" marT="25400" marB="25400" anchor="ctr">
                    <a:lnL>
                      <a:noFill/>
                    </a:lnL>
                    <a:lnR>
                      <a:noFill/>
                    </a:lnR>
                    <a:lnT>
                      <a:noFill/>
                    </a:lnT>
                    <a:lnB>
                      <a:noFill/>
                    </a:lnB>
                    <a:noFill/>
                  </a:tcPr>
                </a:tc>
                <a:extLst>
                  <a:ext uri="{0D108BD9-81ED-4DB2-BD59-A6C34878D82A}">
                    <a16:rowId xmlns:a16="http://schemas.microsoft.com/office/drawing/2014/main" val="10001"/>
                  </a:ext>
                </a:extLst>
              </a:tr>
              <a:tr h="449035">
                <a:tc>
                  <a:txBody>
                    <a:bodyPr/>
                    <a:lstStyle/>
                    <a:p>
                      <a:pPr algn="l"/>
                      <a:r>
                        <a:rPr sz="1200" b="0" i="0" u="none">
                          <a:solidFill>
                            <a:srgbClr val="334155"/>
                          </a:solidFill>
                          <a:latin typeface="DM Sans"/>
                        </a:rPr>
                        <a:t>Doğru Sınıflandırılan URL</a:t>
                      </a:r>
                    </a:p>
                  </a:txBody>
                  <a:tcPr marL="63500" marR="63500" marT="25400" marB="25400" anchor="ctr">
                    <a:lnL>
                      <a:noFill/>
                    </a:lnL>
                    <a:lnR>
                      <a:noFill/>
                    </a:lnR>
                    <a:lnT>
                      <a:noFill/>
                    </a:lnT>
                    <a:lnB>
                      <a:noFill/>
                    </a:lnB>
                    <a:solidFill>
                      <a:srgbClr val="F8FAFC"/>
                    </a:solidFill>
                  </a:tcPr>
                </a:tc>
                <a:tc>
                  <a:txBody>
                    <a:bodyPr/>
                    <a:lstStyle/>
                    <a:p>
                      <a:pPr algn="l"/>
                      <a:r>
                        <a:rPr sz="1200" b="1" i="0" u="none">
                          <a:solidFill>
                            <a:srgbClr val="334155"/>
                          </a:solidFill>
                          <a:latin typeface="DM Sans"/>
                        </a:rPr>
                        <a:t>176 Adet</a:t>
                      </a:r>
                      <a:r>
                        <a:rPr sz="1200" b="0" i="0" u="none">
                          <a:solidFill>
                            <a:srgbClr val="334155"/>
                          </a:solidFill>
                          <a:latin typeface="DM Sans"/>
                        </a:rPr>
                        <a:t> (%99.44 Sınıflandırma)</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2"/>
                  </a:ext>
                </a:extLst>
              </a:tr>
              <a:tr h="449035">
                <a:tc>
                  <a:txBody>
                    <a:bodyPr/>
                    <a:lstStyle/>
                    <a:p>
                      <a:pPr algn="l"/>
                      <a:r>
                        <a:rPr sz="1200" b="1" i="0" u="none">
                          <a:solidFill>
                            <a:srgbClr val="064E3B"/>
                          </a:solidFill>
                          <a:latin typeface="DM Sans"/>
                        </a:rPr>
                        <a:t>Yanlış Pozitif (False Positive)</a:t>
                      </a:r>
                    </a:p>
                  </a:txBody>
                  <a:tcPr marL="63500" marR="63500" marT="25400" marB="25400" anchor="ctr">
                    <a:lnL>
                      <a:noFill/>
                    </a:lnL>
                    <a:lnR>
                      <a:noFill/>
                    </a:lnR>
                    <a:lnT>
                      <a:noFill/>
                    </a:lnT>
                    <a:lnB>
                      <a:noFill/>
                    </a:lnB>
                    <a:solidFill>
                      <a:srgbClr val="F0FDF4"/>
                    </a:solidFill>
                  </a:tcPr>
                </a:tc>
                <a:tc>
                  <a:txBody>
                    <a:bodyPr/>
                    <a:lstStyle/>
                    <a:p>
                      <a:pPr algn="l"/>
                      <a:r>
                        <a:rPr sz="1200" b="1" i="0" u="none">
                          <a:solidFill>
                            <a:srgbClr val="064E3B"/>
                          </a:solidFill>
                          <a:latin typeface="DM Sans"/>
                        </a:rPr>
                        <a:t>0 Adet (%0.00 FPR)</a:t>
                      </a:r>
                    </a:p>
                  </a:txBody>
                  <a:tcPr marL="63500" marR="63500" marT="25400" marB="25400" anchor="ctr">
                    <a:lnL>
                      <a:noFill/>
                    </a:lnL>
                    <a:lnR>
                      <a:noFill/>
                    </a:lnR>
                    <a:lnT>
                      <a:noFill/>
                    </a:lnT>
                    <a:lnB>
                      <a:noFill/>
                    </a:lnB>
                    <a:solidFill>
                      <a:srgbClr val="F0FDF4"/>
                    </a:solidFill>
                  </a:tcPr>
                </a:tc>
                <a:extLst>
                  <a:ext uri="{0D108BD9-81ED-4DB2-BD59-A6C34878D82A}">
                    <a16:rowId xmlns:a16="http://schemas.microsoft.com/office/drawing/2014/main" val="10003"/>
                  </a:ext>
                </a:extLst>
              </a:tr>
              <a:tr h="449040">
                <a:tc>
                  <a:txBody>
                    <a:bodyPr/>
                    <a:lstStyle/>
                    <a:p>
                      <a:pPr algn="l"/>
                      <a:r>
                        <a:rPr sz="1200" b="1" i="0" u="none" dirty="0" err="1">
                          <a:solidFill>
                            <a:srgbClr val="064E3B"/>
                          </a:solidFill>
                          <a:latin typeface="DM Sans"/>
                        </a:rPr>
                        <a:t>Toplam</a:t>
                      </a:r>
                      <a:r>
                        <a:rPr sz="1200" b="1" i="0" u="none" dirty="0">
                          <a:solidFill>
                            <a:srgbClr val="064E3B"/>
                          </a:solidFill>
                          <a:latin typeface="DM Sans"/>
                        </a:rPr>
                        <a:t> </a:t>
                      </a:r>
                      <a:r>
                        <a:rPr sz="1200" b="1" i="0" u="none" dirty="0" err="1">
                          <a:solidFill>
                            <a:srgbClr val="064E3B"/>
                          </a:solidFill>
                          <a:latin typeface="DM Sans"/>
                        </a:rPr>
                        <a:t>İstemci</a:t>
                      </a:r>
                      <a:r>
                        <a:rPr sz="1200" b="1" i="0" u="none" dirty="0">
                          <a:solidFill>
                            <a:srgbClr val="064E3B"/>
                          </a:solidFill>
                          <a:latin typeface="DM Sans"/>
                        </a:rPr>
                        <a:t> </a:t>
                      </a:r>
                      <a:r>
                        <a:rPr sz="1200" b="1" i="0" u="none" dirty="0" err="1">
                          <a:solidFill>
                            <a:srgbClr val="064E3B"/>
                          </a:solidFill>
                          <a:latin typeface="DM Sans"/>
                        </a:rPr>
                        <a:t>Yanıt</a:t>
                      </a:r>
                      <a:r>
                        <a:rPr sz="1200" b="1" i="0" u="none" dirty="0">
                          <a:solidFill>
                            <a:srgbClr val="064E3B"/>
                          </a:solidFill>
                          <a:latin typeface="DM Sans"/>
                        </a:rPr>
                        <a:t> </a:t>
                      </a:r>
                      <a:r>
                        <a:rPr sz="1200" b="1" i="0" u="none" dirty="0" err="1">
                          <a:solidFill>
                            <a:srgbClr val="064E3B"/>
                          </a:solidFill>
                          <a:latin typeface="DM Sans"/>
                        </a:rPr>
                        <a:t>Süresi</a:t>
                      </a:r>
                      <a:endParaRPr sz="1200" b="1" i="0" u="none" dirty="0">
                        <a:solidFill>
                          <a:srgbClr val="064E3B"/>
                        </a:solidFill>
                        <a:latin typeface="DM Sans"/>
                      </a:endParaRPr>
                    </a:p>
                  </a:txBody>
                  <a:tcPr marL="63500" marR="63500" marT="25400" marB="25400" anchor="ctr">
                    <a:lnL>
                      <a:noFill/>
                    </a:lnL>
                    <a:lnR>
                      <a:noFill/>
                    </a:lnR>
                    <a:lnT>
                      <a:noFill/>
                    </a:lnT>
                    <a:lnB>
                      <a:noFill/>
                    </a:lnB>
                    <a:solidFill>
                      <a:srgbClr val="F0FDF4"/>
                    </a:solidFill>
                  </a:tcPr>
                </a:tc>
                <a:tc>
                  <a:txBody>
                    <a:bodyPr/>
                    <a:lstStyle/>
                    <a:p>
                      <a:pPr algn="l"/>
                      <a:r>
                        <a:rPr sz="1200" b="1" i="0" u="none" dirty="0">
                          <a:solidFill>
                            <a:srgbClr val="064E3B"/>
                          </a:solidFill>
                          <a:latin typeface="DM Sans"/>
                        </a:rPr>
                        <a:t>16.5 </a:t>
                      </a:r>
                      <a:r>
                        <a:rPr sz="1200" b="1" i="0" u="none" dirty="0" err="1">
                          <a:solidFill>
                            <a:srgbClr val="064E3B"/>
                          </a:solidFill>
                          <a:latin typeface="DM Sans"/>
                        </a:rPr>
                        <a:t>ms</a:t>
                      </a:r>
                      <a:endParaRPr sz="1200" b="1" i="0" u="none" dirty="0">
                        <a:solidFill>
                          <a:srgbClr val="064E3B"/>
                        </a:solidFill>
                        <a:latin typeface="DM Sans"/>
                      </a:endParaRPr>
                    </a:p>
                  </a:txBody>
                  <a:tcPr marL="63500" marR="63500" marT="25400" marB="25400" anchor="ctr">
                    <a:lnL>
                      <a:noFill/>
                    </a:lnL>
                    <a:lnR>
                      <a:noFill/>
                    </a:lnR>
                    <a:lnT>
                      <a:noFill/>
                    </a:lnT>
                    <a:lnB>
                      <a:noFill/>
                    </a:lnB>
                    <a:solidFill>
                      <a:srgbClr val="F0FDF4"/>
                    </a:solidFill>
                  </a:tcPr>
                </a:tc>
                <a:extLst>
                  <a:ext uri="{0D108BD9-81ED-4DB2-BD59-A6C34878D82A}">
                    <a16:rowId xmlns:a16="http://schemas.microsoft.com/office/drawing/2014/main" val="10006"/>
                  </a:ext>
                </a:extLst>
              </a:tr>
            </a:tbl>
          </a:graphicData>
        </a:graphic>
      </p:graphicFrame>
      <p:sp>
        <p:nvSpPr>
          <p:cNvPr id="11" name="TextBox 10"/>
          <p:cNvSpPr txBox="1"/>
          <p:nvPr/>
        </p:nvSpPr>
        <p:spPr>
          <a:xfrm>
            <a:off x="7028557" y="1509712"/>
            <a:ext cx="4334767" cy="438150"/>
          </a:xfrm>
          <a:prstGeom prst="rect">
            <a:avLst/>
          </a:prstGeom>
          <a:noFill/>
        </p:spPr>
        <p:txBody>
          <a:bodyPr wrap="square" lIns="0" tIns="0" rIns="0" bIns="0" anchor="t">
            <a:spAutoFit/>
          </a:bodyPr>
          <a:lstStyle/>
          <a:p>
            <a:pPr algn="ctr">
              <a:lnSpc>
                <a:spcPts val="3450"/>
              </a:lnSpc>
            </a:pPr>
            <a:r>
              <a:rPr sz="3450" b="1" i="0" u="none" dirty="0">
                <a:solidFill>
                  <a:srgbClr val="065F46"/>
                </a:solidFill>
                <a:latin typeface="Merriweather"/>
              </a:rPr>
              <a:t>16.5 </a:t>
            </a:r>
            <a:r>
              <a:rPr sz="3450" b="1" i="0" u="none" dirty="0" err="1">
                <a:solidFill>
                  <a:srgbClr val="065F46"/>
                </a:solidFill>
                <a:latin typeface="Merriweather"/>
              </a:rPr>
              <a:t>ms</a:t>
            </a:r>
            <a:endParaRPr sz="3450" b="1" i="0" u="none" dirty="0">
              <a:solidFill>
                <a:srgbClr val="065F46"/>
              </a:solidFill>
              <a:latin typeface="Merriweather"/>
            </a:endParaRPr>
          </a:p>
        </p:txBody>
      </p:sp>
      <p:sp>
        <p:nvSpPr>
          <p:cNvPr id="12" name="TextBox 11"/>
          <p:cNvSpPr txBox="1"/>
          <p:nvPr/>
        </p:nvSpPr>
        <p:spPr>
          <a:xfrm>
            <a:off x="7028557" y="2024062"/>
            <a:ext cx="4334767" cy="173124"/>
          </a:xfrm>
          <a:prstGeom prst="rect">
            <a:avLst/>
          </a:prstGeom>
          <a:noFill/>
        </p:spPr>
        <p:txBody>
          <a:bodyPr wrap="square" lIns="0" tIns="0" rIns="0" bIns="0" anchor="t">
            <a:spAutoFit/>
          </a:bodyPr>
          <a:lstStyle/>
          <a:p>
            <a:pPr algn="ctr"/>
            <a:r>
              <a:rPr sz="1125" b="1" i="0" u="none" dirty="0" err="1">
                <a:solidFill>
                  <a:srgbClr val="047857"/>
                </a:solidFill>
                <a:latin typeface="DM Sans"/>
              </a:rPr>
              <a:t>Ortalama</a:t>
            </a:r>
            <a:r>
              <a:rPr lang="tr-TR" sz="1125" b="1" dirty="0">
                <a:solidFill>
                  <a:srgbClr val="047857"/>
                </a:solidFill>
                <a:latin typeface="DM Sans"/>
              </a:rPr>
              <a:t> </a:t>
            </a:r>
            <a:r>
              <a:rPr sz="1125" b="1" i="0" u="none" dirty="0" err="1">
                <a:solidFill>
                  <a:srgbClr val="047857"/>
                </a:solidFill>
                <a:latin typeface="DM Sans"/>
              </a:rPr>
              <a:t>Tespit</a:t>
            </a:r>
            <a:r>
              <a:rPr sz="1125" b="1" i="0" u="none" dirty="0">
                <a:solidFill>
                  <a:srgbClr val="047857"/>
                </a:solidFill>
                <a:latin typeface="DM Sans"/>
              </a:rPr>
              <a:t> </a:t>
            </a:r>
            <a:r>
              <a:rPr sz="1125" b="1" i="0" u="none" dirty="0" err="1">
                <a:solidFill>
                  <a:srgbClr val="047857"/>
                </a:solidFill>
                <a:latin typeface="DM Sans"/>
              </a:rPr>
              <a:t>Süresi</a:t>
            </a:r>
            <a:endParaRPr sz="1125" b="1" i="0" u="none" dirty="0">
              <a:solidFill>
                <a:srgbClr val="047857"/>
              </a:solidFill>
              <a:latin typeface="DM Sans"/>
            </a:endParaRPr>
          </a:p>
        </p:txBody>
      </p:sp>
      <p:sp>
        <p:nvSpPr>
          <p:cNvPr id="13" name="TextBox 12"/>
          <p:cNvSpPr txBox="1"/>
          <p:nvPr/>
        </p:nvSpPr>
        <p:spPr>
          <a:xfrm>
            <a:off x="7009507" y="2852737"/>
            <a:ext cx="4372867" cy="438150"/>
          </a:xfrm>
          <a:prstGeom prst="rect">
            <a:avLst/>
          </a:prstGeom>
          <a:noFill/>
        </p:spPr>
        <p:txBody>
          <a:bodyPr wrap="square" lIns="0" tIns="0" rIns="0" bIns="0" anchor="t">
            <a:spAutoFit/>
          </a:bodyPr>
          <a:lstStyle/>
          <a:p>
            <a:pPr algn="ctr">
              <a:lnSpc>
                <a:spcPts val="3450"/>
              </a:lnSpc>
            </a:pPr>
            <a:r>
              <a:rPr sz="3450" b="1" i="0" u="none" dirty="0">
                <a:solidFill>
                  <a:srgbClr val="11CAA0"/>
                </a:solidFill>
                <a:latin typeface="Merriweather"/>
              </a:rPr>
              <a:t>%0.00</a:t>
            </a:r>
          </a:p>
        </p:txBody>
      </p:sp>
      <p:sp>
        <p:nvSpPr>
          <p:cNvPr id="14" name="TextBox 13"/>
          <p:cNvSpPr txBox="1"/>
          <p:nvPr/>
        </p:nvSpPr>
        <p:spPr>
          <a:xfrm>
            <a:off x="7009507" y="3367087"/>
            <a:ext cx="4372867" cy="173124"/>
          </a:xfrm>
          <a:prstGeom prst="rect">
            <a:avLst/>
          </a:prstGeom>
          <a:noFill/>
        </p:spPr>
        <p:txBody>
          <a:bodyPr wrap="square" lIns="0" tIns="0" rIns="0" bIns="0" anchor="t">
            <a:spAutoFit/>
          </a:bodyPr>
          <a:lstStyle/>
          <a:p>
            <a:pPr algn="ctr"/>
            <a:r>
              <a:rPr sz="1125" b="0" i="0" u="none" dirty="0">
                <a:solidFill>
                  <a:srgbClr val="F3F0DF"/>
                </a:solidFill>
                <a:latin typeface="DM Sans Medium"/>
              </a:rPr>
              <a:t>Saha </a:t>
            </a:r>
            <a:r>
              <a:rPr sz="1125" b="0" i="0" u="none" dirty="0" err="1">
                <a:solidFill>
                  <a:srgbClr val="F3F0DF"/>
                </a:solidFill>
                <a:latin typeface="DM Sans Medium"/>
              </a:rPr>
              <a:t>Testi</a:t>
            </a:r>
            <a:r>
              <a:rPr sz="1125" b="0" i="0" u="none" dirty="0">
                <a:solidFill>
                  <a:srgbClr val="F3F0DF"/>
                </a:solidFill>
                <a:latin typeface="DM Sans Medium"/>
              </a:rPr>
              <a:t> </a:t>
            </a:r>
            <a:r>
              <a:rPr sz="1125" b="0" i="0" u="none" dirty="0" err="1">
                <a:solidFill>
                  <a:srgbClr val="F3F0DF"/>
                </a:solidFill>
                <a:latin typeface="DM Sans Medium"/>
              </a:rPr>
              <a:t>Yanlış</a:t>
            </a:r>
            <a:r>
              <a:rPr sz="1125" b="0" i="0" u="none" dirty="0">
                <a:solidFill>
                  <a:srgbClr val="F3F0DF"/>
                </a:solidFill>
                <a:latin typeface="DM Sans Medium"/>
              </a:rPr>
              <a:t> </a:t>
            </a:r>
            <a:r>
              <a:rPr sz="1125" b="0" i="0" u="none" dirty="0" err="1">
                <a:solidFill>
                  <a:srgbClr val="F3F0DF"/>
                </a:solidFill>
                <a:latin typeface="DM Sans Medium"/>
              </a:rPr>
              <a:t>Pozitif</a:t>
            </a:r>
            <a:r>
              <a:rPr sz="1125" b="0" i="0" u="none" dirty="0">
                <a:solidFill>
                  <a:srgbClr val="F3F0DF"/>
                </a:solidFill>
                <a:latin typeface="DM Sans Medium"/>
              </a:rPr>
              <a:t> </a:t>
            </a:r>
            <a:r>
              <a:rPr sz="1125" b="0" i="0" u="none" dirty="0" err="1">
                <a:solidFill>
                  <a:srgbClr val="F3F0DF"/>
                </a:solidFill>
                <a:latin typeface="DM Sans Medium"/>
              </a:rPr>
              <a:t>Oranı</a:t>
            </a:r>
            <a:r>
              <a:rPr sz="1125" b="0" i="0" u="none" dirty="0">
                <a:solidFill>
                  <a:srgbClr val="F3F0DF"/>
                </a:solidFill>
                <a:latin typeface="DM Sans Medium"/>
              </a:rPr>
              <a:t> (False Positive)</a:t>
            </a:r>
          </a:p>
        </p:txBody>
      </p:sp>
      <p:sp>
        <p:nvSpPr>
          <p:cNvPr id="15" name="Rectangle 14"/>
          <p:cNvSpPr/>
          <p:nvPr/>
        </p:nvSpPr>
        <p:spPr>
          <a:xfrm>
            <a:off x="571500" y="2143125"/>
            <a:ext cx="285705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428553" y="2143125"/>
            <a:ext cx="2961828"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71500" y="2590800"/>
            <a:ext cx="285705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3428553" y="2590800"/>
            <a:ext cx="2961828"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71500" y="3038475"/>
            <a:ext cx="285705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428553" y="3038475"/>
            <a:ext cx="2961828"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71500" y="3486150"/>
            <a:ext cx="285705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3428553" y="3486150"/>
            <a:ext cx="2961828"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1" descr="image.png">
            <a:extLst>
              <a:ext uri="{FF2B5EF4-FFF2-40B4-BE49-F238E27FC236}">
                <a16:creationId xmlns:a16="http://schemas.microsoft.com/office/drawing/2014/main" id="{62AFA291-0E28-8BB2-64EF-77E54595D163}"/>
              </a:ext>
            </a:extLst>
          </p:cNvPr>
          <p:cNvPicPr>
            <a:picLocks noChangeAspect="1"/>
          </p:cNvPicPr>
          <p:nvPr/>
        </p:nvPicPr>
        <p:blipFill>
          <a:blip r:embed="rId5"/>
          <a:stretch>
            <a:fillRect/>
          </a:stretch>
        </p:blipFill>
        <p:spPr>
          <a:xfrm>
            <a:off x="666750" y="952500"/>
            <a:ext cx="10858500" cy="171450"/>
          </a:xfrm>
          <a:prstGeom prst="rect">
            <a:avLst/>
          </a:prstGeom>
        </p:spPr>
      </p:pic>
      <p:pic>
        <p:nvPicPr>
          <p:cNvPr id="28" name="İçerik Yer Tutucusu 10">
            <a:extLst>
              <a:ext uri="{FF2B5EF4-FFF2-40B4-BE49-F238E27FC236}">
                <a16:creationId xmlns:a16="http://schemas.microsoft.com/office/drawing/2014/main" id="{1BDBDF28-F7DC-700F-EF45-024B4A09925C}"/>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9590435" y="466725"/>
            <a:ext cx="2011362"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png"/>
          <p:cNvPicPr>
            <a:picLocks noChangeAspect="1"/>
          </p:cNvPicPr>
          <p:nvPr/>
        </p:nvPicPr>
        <p:blipFill>
          <a:blip r:embed="rId2"/>
          <a:stretch>
            <a:fillRect/>
          </a:stretch>
        </p:blipFill>
        <p:spPr>
          <a:xfrm>
            <a:off x="571500" y="6391275"/>
            <a:ext cx="11049000" cy="276225"/>
          </a:xfrm>
          <a:prstGeom prst="rect">
            <a:avLst/>
          </a:prstGeom>
        </p:spPr>
      </p:pic>
      <p:pic>
        <p:nvPicPr>
          <p:cNvPr id="4" name="Picture 3" descr="image.png"/>
          <p:cNvPicPr>
            <a:picLocks noChangeAspect="1"/>
          </p:cNvPicPr>
          <p:nvPr/>
        </p:nvPicPr>
        <p:blipFill>
          <a:blip r:embed="rId3"/>
          <a:stretch>
            <a:fillRect/>
          </a:stretch>
        </p:blipFill>
        <p:spPr>
          <a:xfrm>
            <a:off x="571500" y="1252537"/>
            <a:ext cx="3524250" cy="2305050"/>
          </a:xfrm>
          <a:prstGeom prst="rect">
            <a:avLst/>
          </a:prstGeom>
        </p:spPr>
      </p:pic>
      <p:pic>
        <p:nvPicPr>
          <p:cNvPr id="5" name="Picture 4" descr="image.png"/>
          <p:cNvPicPr>
            <a:picLocks noChangeAspect="1"/>
          </p:cNvPicPr>
          <p:nvPr/>
        </p:nvPicPr>
        <p:blipFill>
          <a:blip r:embed="rId4"/>
          <a:stretch>
            <a:fillRect/>
          </a:stretch>
        </p:blipFill>
        <p:spPr>
          <a:xfrm>
            <a:off x="4333875" y="1252537"/>
            <a:ext cx="3524250" cy="2305050"/>
          </a:xfrm>
          <a:prstGeom prst="rect">
            <a:avLst/>
          </a:prstGeom>
        </p:spPr>
      </p:pic>
      <p:pic>
        <p:nvPicPr>
          <p:cNvPr id="6" name="Picture 5" descr="image.png"/>
          <p:cNvPicPr>
            <a:picLocks noChangeAspect="1"/>
          </p:cNvPicPr>
          <p:nvPr/>
        </p:nvPicPr>
        <p:blipFill>
          <a:blip r:embed="rId4"/>
          <a:stretch>
            <a:fillRect/>
          </a:stretch>
        </p:blipFill>
        <p:spPr>
          <a:xfrm>
            <a:off x="8096250" y="1252537"/>
            <a:ext cx="3524250" cy="2305050"/>
          </a:xfrm>
          <a:prstGeom prst="rect">
            <a:avLst/>
          </a:prstGeom>
        </p:spPr>
      </p:pic>
      <p:sp>
        <p:nvSpPr>
          <p:cNvPr id="7" name="TextBox 6"/>
          <p:cNvSpPr txBox="1"/>
          <p:nvPr/>
        </p:nvSpPr>
        <p:spPr>
          <a:xfrm>
            <a:off x="571500" y="476250"/>
            <a:ext cx="11601450" cy="423862"/>
          </a:xfrm>
          <a:prstGeom prst="rect">
            <a:avLst/>
          </a:prstGeom>
          <a:noFill/>
        </p:spPr>
        <p:txBody>
          <a:bodyPr wrap="square" lIns="0" tIns="0" rIns="0" bIns="0" anchor="t">
            <a:spAutoFit/>
          </a:bodyPr>
          <a:lstStyle/>
          <a:p>
            <a:pPr algn="l">
              <a:lnSpc>
                <a:spcPts val="3187"/>
              </a:lnSpc>
            </a:pPr>
            <a:r>
              <a:rPr sz="2550" b="1" i="0" u="none">
                <a:solidFill>
                  <a:srgbClr val="005088"/>
                </a:solidFill>
                <a:latin typeface="Merriweather"/>
              </a:rPr>
              <a:t>Sonuçlar, Tartışma ve Genel Değerlendirme</a:t>
            </a:r>
          </a:p>
        </p:txBody>
      </p:sp>
      <p:sp>
        <p:nvSpPr>
          <p:cNvPr id="8" name="Rectangle 7"/>
          <p:cNvSpPr/>
          <p:nvPr/>
        </p:nvSpPr>
        <p:spPr>
          <a:xfrm>
            <a:off x="571500" y="995362"/>
            <a:ext cx="11049000"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71500" y="6496050"/>
            <a:ext cx="3009900" cy="171450"/>
          </a:xfrm>
          <a:prstGeom prst="rect">
            <a:avLst/>
          </a:prstGeom>
          <a:noFill/>
        </p:spPr>
        <p:txBody>
          <a:bodyPr wrap="square" lIns="0" tIns="0" rIns="0" bIns="0" anchor="t">
            <a:spAutoFit/>
          </a:bodyPr>
          <a:lstStyle/>
          <a:p>
            <a:pPr algn="l">
              <a:lnSpc>
                <a:spcPts val="1350"/>
              </a:lnSpc>
            </a:pPr>
            <a:r>
              <a:rPr sz="900" b="0" i="0" u="none">
                <a:solidFill>
                  <a:srgbClr val="94A3B8"/>
                </a:solidFill>
                <a:latin typeface="DM Sans"/>
              </a:rPr>
              <a:t>SAKARYA ÜNİVERSİTESİ • YÜKSEK LİSANS TEZ SAVUNMASI</a:t>
            </a:r>
          </a:p>
        </p:txBody>
      </p:sp>
      <p:sp>
        <p:nvSpPr>
          <p:cNvPr id="10" name="TextBox 9"/>
          <p:cNvSpPr txBox="1"/>
          <p:nvPr/>
        </p:nvSpPr>
        <p:spPr>
          <a:xfrm>
            <a:off x="11172825" y="6496050"/>
            <a:ext cx="447675" cy="171450"/>
          </a:xfrm>
          <a:prstGeom prst="rect">
            <a:avLst/>
          </a:prstGeom>
          <a:noFill/>
        </p:spPr>
        <p:txBody>
          <a:bodyPr wrap="square" lIns="0" tIns="0" rIns="0" bIns="0" anchor="t">
            <a:spAutoFit/>
          </a:bodyPr>
          <a:lstStyle/>
          <a:p>
            <a:pPr algn="l">
              <a:lnSpc>
                <a:spcPts val="1350"/>
              </a:lnSpc>
            </a:pPr>
            <a:r>
              <a:rPr sz="900" b="0" i="0" u="none">
                <a:solidFill>
                  <a:srgbClr val="94A3B8"/>
                </a:solidFill>
                <a:latin typeface="DM Sans"/>
              </a:rPr>
              <a:t>Slayt 26</a:t>
            </a:r>
          </a:p>
        </p:txBody>
      </p:sp>
      <p:sp>
        <p:nvSpPr>
          <p:cNvPr id="11" name="TextBox 10"/>
          <p:cNvSpPr txBox="1"/>
          <p:nvPr/>
        </p:nvSpPr>
        <p:spPr>
          <a:xfrm>
            <a:off x="819150" y="2119312"/>
            <a:ext cx="3180397" cy="238125"/>
          </a:xfrm>
          <a:prstGeom prst="rect">
            <a:avLst/>
          </a:prstGeom>
          <a:noFill/>
        </p:spPr>
        <p:txBody>
          <a:bodyPr wrap="square" lIns="0" tIns="0" rIns="0" bIns="0" anchor="t">
            <a:spAutoFit/>
          </a:bodyPr>
          <a:lstStyle/>
          <a:p>
            <a:pPr algn="l"/>
            <a:r>
              <a:rPr sz="1500" b="1" i="0" u="none">
                <a:solidFill>
                  <a:srgbClr val="0F172A"/>
                </a:solidFill>
                <a:latin typeface="Merriweather"/>
              </a:rPr>
              <a:t>Yüksek Doğruluk Başarımı</a:t>
            </a:r>
          </a:p>
        </p:txBody>
      </p:sp>
      <p:sp>
        <p:nvSpPr>
          <p:cNvPr id="12" name="TextBox 11"/>
          <p:cNvSpPr txBox="1"/>
          <p:nvPr/>
        </p:nvSpPr>
        <p:spPr>
          <a:xfrm>
            <a:off x="819150" y="2452687"/>
            <a:ext cx="3028950" cy="857250"/>
          </a:xfrm>
          <a:prstGeom prst="rect">
            <a:avLst/>
          </a:prstGeom>
          <a:noFill/>
        </p:spPr>
        <p:txBody>
          <a:bodyPr wrap="square" lIns="0" tIns="0" rIns="0" bIns="0" anchor="t">
            <a:spAutoFit/>
          </a:bodyPr>
          <a:lstStyle/>
          <a:p>
            <a:pPr algn="l">
              <a:lnSpc>
                <a:spcPts val="1687"/>
              </a:lnSpc>
            </a:pPr>
            <a:r>
              <a:rPr sz="1125" b="0" i="0" u="none" dirty="0" err="1">
                <a:solidFill>
                  <a:srgbClr val="64748B"/>
                </a:solidFill>
                <a:latin typeface="DM Sans"/>
              </a:rPr>
              <a:t>Geliştirilen</a:t>
            </a:r>
            <a:r>
              <a:rPr sz="1125" b="0" i="0" u="none" dirty="0">
                <a:solidFill>
                  <a:srgbClr val="64748B"/>
                </a:solidFill>
                <a:latin typeface="DM Sans"/>
              </a:rPr>
              <a:t> </a:t>
            </a:r>
            <a:r>
              <a:rPr sz="1125" b="0" i="0" u="none" dirty="0" err="1">
                <a:solidFill>
                  <a:srgbClr val="64748B"/>
                </a:solidFill>
                <a:latin typeface="DM Sans"/>
              </a:rPr>
              <a:t>XGBoost</a:t>
            </a:r>
            <a:r>
              <a:rPr sz="1125" b="0" i="0" u="none" dirty="0">
                <a:solidFill>
                  <a:srgbClr val="64748B"/>
                </a:solidFill>
                <a:latin typeface="DM Sans"/>
              </a:rPr>
              <a:t> </a:t>
            </a:r>
            <a:r>
              <a:rPr sz="1125" b="0" i="0" u="none" dirty="0" err="1">
                <a:solidFill>
                  <a:srgbClr val="64748B"/>
                </a:solidFill>
                <a:latin typeface="DM Sans"/>
              </a:rPr>
              <a:t>modeli</a:t>
            </a:r>
            <a:r>
              <a:rPr sz="1125" b="0" i="0" u="none" dirty="0">
                <a:solidFill>
                  <a:srgbClr val="64748B"/>
                </a:solidFill>
                <a:latin typeface="DM Sans"/>
              </a:rPr>
              <a:t>, </a:t>
            </a:r>
            <a:r>
              <a:rPr lang="tr-TR" sz="1125" b="0" i="0" u="none" dirty="0">
                <a:solidFill>
                  <a:srgbClr val="64748B"/>
                </a:solidFill>
                <a:latin typeface="DM Sans"/>
              </a:rPr>
              <a:t>336.</a:t>
            </a:r>
            <a:r>
              <a:rPr sz="1125" b="0" i="0" u="none" dirty="0">
                <a:solidFill>
                  <a:srgbClr val="64748B"/>
                </a:solidFill>
                <a:latin typeface="DM Sans"/>
              </a:rPr>
              <a:t>000+ URL </a:t>
            </a:r>
            <a:r>
              <a:rPr sz="1125" b="0" i="0" u="none" dirty="0" err="1">
                <a:solidFill>
                  <a:srgbClr val="64748B"/>
                </a:solidFill>
                <a:latin typeface="DM Sans"/>
              </a:rPr>
              <a:t>üzerinde</a:t>
            </a:r>
            <a:r>
              <a:rPr sz="1125" b="0" i="0" u="none" dirty="0">
                <a:solidFill>
                  <a:srgbClr val="64748B"/>
                </a:solidFill>
                <a:latin typeface="DM Sans"/>
              </a:rPr>
              <a:t> %99.88 </a:t>
            </a:r>
            <a:r>
              <a:rPr sz="1125" b="0" i="0" u="none" dirty="0" err="1">
                <a:solidFill>
                  <a:srgbClr val="64748B"/>
                </a:solidFill>
                <a:latin typeface="DM Sans"/>
              </a:rPr>
              <a:t>doğruluk</a:t>
            </a:r>
            <a:r>
              <a:rPr lang="tr-TR" sz="1125" dirty="0">
                <a:solidFill>
                  <a:srgbClr val="64748B"/>
                </a:solidFill>
                <a:latin typeface="DM Sans"/>
              </a:rPr>
              <a:t> </a:t>
            </a:r>
            <a:r>
              <a:rPr sz="1125" b="0" i="0" u="none" dirty="0" err="1">
                <a:solidFill>
                  <a:srgbClr val="64748B"/>
                </a:solidFill>
                <a:latin typeface="DM Sans"/>
              </a:rPr>
              <a:t>ile</a:t>
            </a:r>
            <a:r>
              <a:rPr sz="1125" b="0" i="0" u="none" dirty="0">
                <a:solidFill>
                  <a:srgbClr val="64748B"/>
                </a:solidFill>
                <a:latin typeface="DM Sans"/>
              </a:rPr>
              <a:t> </a:t>
            </a:r>
            <a:r>
              <a:rPr sz="1125" b="0" i="0" u="none" dirty="0" err="1">
                <a:solidFill>
                  <a:srgbClr val="64748B"/>
                </a:solidFill>
                <a:latin typeface="DM Sans"/>
              </a:rPr>
              <a:t>literatürdeki</a:t>
            </a:r>
            <a:r>
              <a:rPr sz="1125" b="0" i="0" u="none" dirty="0">
                <a:solidFill>
                  <a:srgbClr val="64748B"/>
                </a:solidFill>
                <a:latin typeface="DM Sans"/>
              </a:rPr>
              <a:t> </a:t>
            </a:r>
            <a:r>
              <a:rPr sz="1125" b="0" i="0" u="none" dirty="0" err="1">
                <a:solidFill>
                  <a:srgbClr val="64748B"/>
                </a:solidFill>
                <a:latin typeface="DM Sans"/>
              </a:rPr>
              <a:t>en</a:t>
            </a:r>
            <a:r>
              <a:rPr sz="1125" b="0" i="0" u="none" dirty="0">
                <a:solidFill>
                  <a:srgbClr val="64748B"/>
                </a:solidFill>
                <a:latin typeface="DM Sans"/>
              </a:rPr>
              <a:t> </a:t>
            </a:r>
            <a:r>
              <a:rPr sz="1125" b="0" i="0" u="none" dirty="0" err="1">
                <a:solidFill>
                  <a:srgbClr val="64748B"/>
                </a:solidFill>
                <a:latin typeface="DM Sans"/>
              </a:rPr>
              <a:t>başarılı</a:t>
            </a:r>
            <a:r>
              <a:rPr sz="1125" b="0" i="0" u="none" dirty="0">
                <a:solidFill>
                  <a:srgbClr val="64748B"/>
                </a:solidFill>
                <a:latin typeface="DM Sans"/>
              </a:rPr>
              <a:t> </a:t>
            </a:r>
            <a:r>
              <a:rPr sz="1125" b="0" i="0" u="none" dirty="0" err="1">
                <a:solidFill>
                  <a:srgbClr val="64748B"/>
                </a:solidFill>
                <a:latin typeface="DM Sans"/>
              </a:rPr>
              <a:t>hafif</a:t>
            </a:r>
            <a:r>
              <a:rPr sz="1125" b="0" i="0" u="none" dirty="0">
                <a:solidFill>
                  <a:srgbClr val="64748B"/>
                </a:solidFill>
                <a:latin typeface="DM Sans"/>
              </a:rPr>
              <a:t> </a:t>
            </a:r>
            <a:r>
              <a:rPr sz="1125" b="0" i="0" u="none" dirty="0" err="1">
                <a:solidFill>
                  <a:srgbClr val="64748B"/>
                </a:solidFill>
                <a:latin typeface="DM Sans"/>
              </a:rPr>
              <a:t>tespit</a:t>
            </a:r>
            <a:r>
              <a:rPr sz="1125" b="0" i="0" u="none" dirty="0">
                <a:solidFill>
                  <a:srgbClr val="64748B"/>
                </a:solidFill>
                <a:latin typeface="DM Sans"/>
              </a:rPr>
              <a:t> </a:t>
            </a:r>
            <a:r>
              <a:rPr sz="1125" b="0" i="0" u="none" dirty="0" err="1">
                <a:solidFill>
                  <a:srgbClr val="64748B"/>
                </a:solidFill>
                <a:latin typeface="DM Sans"/>
              </a:rPr>
              <a:t>modellerinden</a:t>
            </a:r>
            <a:r>
              <a:rPr sz="1125" b="0" i="0" u="none" dirty="0">
                <a:solidFill>
                  <a:srgbClr val="64748B"/>
                </a:solidFill>
                <a:latin typeface="DM Sans"/>
              </a:rPr>
              <a:t> </a:t>
            </a:r>
            <a:r>
              <a:rPr sz="1125" b="0" i="0" u="none" dirty="0" err="1">
                <a:solidFill>
                  <a:srgbClr val="64748B"/>
                </a:solidFill>
                <a:latin typeface="DM Sans"/>
              </a:rPr>
              <a:t>biri</a:t>
            </a:r>
            <a:r>
              <a:rPr sz="1125" b="0" i="0" u="none" dirty="0">
                <a:solidFill>
                  <a:srgbClr val="64748B"/>
                </a:solidFill>
                <a:latin typeface="DM Sans"/>
              </a:rPr>
              <a:t> </a:t>
            </a:r>
            <a:r>
              <a:rPr sz="1125" b="0" i="0" u="none" dirty="0" err="1">
                <a:solidFill>
                  <a:srgbClr val="64748B"/>
                </a:solidFill>
                <a:latin typeface="DM Sans"/>
              </a:rPr>
              <a:t>olmuştur</a:t>
            </a:r>
            <a:r>
              <a:rPr sz="1125" b="0" i="0" u="none" dirty="0">
                <a:solidFill>
                  <a:srgbClr val="64748B"/>
                </a:solidFill>
                <a:latin typeface="DM Sans"/>
              </a:rPr>
              <a:t>.</a:t>
            </a:r>
          </a:p>
        </p:txBody>
      </p:sp>
      <p:sp>
        <p:nvSpPr>
          <p:cNvPr id="13" name="TextBox 12"/>
          <p:cNvSpPr txBox="1"/>
          <p:nvPr/>
        </p:nvSpPr>
        <p:spPr>
          <a:xfrm>
            <a:off x="4581525" y="2119312"/>
            <a:ext cx="3180397" cy="238125"/>
          </a:xfrm>
          <a:prstGeom prst="rect">
            <a:avLst/>
          </a:prstGeom>
          <a:noFill/>
        </p:spPr>
        <p:txBody>
          <a:bodyPr wrap="square" lIns="0" tIns="0" rIns="0" bIns="0" anchor="t">
            <a:spAutoFit/>
          </a:bodyPr>
          <a:lstStyle/>
          <a:p>
            <a:pPr algn="l"/>
            <a:r>
              <a:rPr sz="1500" b="1" i="0" u="none">
                <a:solidFill>
                  <a:srgbClr val="0F172A"/>
                </a:solidFill>
                <a:latin typeface="Merriweather"/>
              </a:rPr>
              <a:t>Düşük Gecikme (Low Latency)</a:t>
            </a:r>
          </a:p>
        </p:txBody>
      </p:sp>
      <p:sp>
        <p:nvSpPr>
          <p:cNvPr id="14" name="TextBox 13"/>
          <p:cNvSpPr txBox="1"/>
          <p:nvPr/>
        </p:nvSpPr>
        <p:spPr>
          <a:xfrm>
            <a:off x="4581525" y="2452687"/>
            <a:ext cx="3028950" cy="642937"/>
          </a:xfrm>
          <a:prstGeom prst="rect">
            <a:avLst/>
          </a:prstGeom>
          <a:noFill/>
        </p:spPr>
        <p:txBody>
          <a:bodyPr wrap="square" lIns="0" tIns="0" rIns="0" bIns="0" anchor="t">
            <a:spAutoFit/>
          </a:bodyPr>
          <a:lstStyle/>
          <a:p>
            <a:pPr algn="l">
              <a:lnSpc>
                <a:spcPts val="1687"/>
              </a:lnSpc>
            </a:pPr>
            <a:r>
              <a:rPr sz="1125" b="0" i="0" u="none">
                <a:solidFill>
                  <a:srgbClr val="64748B"/>
                </a:solidFill>
                <a:latin typeface="DM Sans"/>
              </a:rPr>
              <a:t>16.5 ms ortalama yanıt süresi sayesinde kullanıcı tarama deneyimini yavaşlatmayan gerçek zamanlı koruma sağlanmıştır.</a:t>
            </a:r>
          </a:p>
        </p:txBody>
      </p:sp>
      <p:sp>
        <p:nvSpPr>
          <p:cNvPr id="15" name="TextBox 14"/>
          <p:cNvSpPr txBox="1"/>
          <p:nvPr/>
        </p:nvSpPr>
        <p:spPr>
          <a:xfrm>
            <a:off x="8343900" y="2119312"/>
            <a:ext cx="3180397" cy="238125"/>
          </a:xfrm>
          <a:prstGeom prst="rect">
            <a:avLst/>
          </a:prstGeom>
          <a:noFill/>
        </p:spPr>
        <p:txBody>
          <a:bodyPr wrap="square" lIns="0" tIns="0" rIns="0" bIns="0" anchor="t">
            <a:spAutoFit/>
          </a:bodyPr>
          <a:lstStyle/>
          <a:p>
            <a:pPr algn="l"/>
            <a:r>
              <a:rPr sz="1500" b="1" i="0" u="none">
                <a:solidFill>
                  <a:srgbClr val="0F172A"/>
                </a:solidFill>
                <a:latin typeface="Merriweather"/>
              </a:rPr>
              <a:t>Proaktif Sıfırıncı Gün Koruması</a:t>
            </a:r>
          </a:p>
        </p:txBody>
      </p:sp>
      <p:sp>
        <p:nvSpPr>
          <p:cNvPr id="16" name="TextBox 15"/>
          <p:cNvSpPr txBox="1"/>
          <p:nvPr/>
        </p:nvSpPr>
        <p:spPr>
          <a:xfrm>
            <a:off x="8343900" y="2452687"/>
            <a:ext cx="3028950" cy="857250"/>
          </a:xfrm>
          <a:prstGeom prst="rect">
            <a:avLst/>
          </a:prstGeom>
          <a:noFill/>
        </p:spPr>
        <p:txBody>
          <a:bodyPr wrap="square" lIns="0" tIns="0" rIns="0" bIns="0" anchor="t">
            <a:spAutoFit/>
          </a:bodyPr>
          <a:lstStyle/>
          <a:p>
            <a:pPr algn="l">
              <a:lnSpc>
                <a:spcPts val="1687"/>
              </a:lnSpc>
            </a:pPr>
            <a:r>
              <a:rPr sz="1125" b="0" i="0" u="none">
                <a:solidFill>
                  <a:srgbClr val="64748B"/>
                </a:solidFill>
                <a:latin typeface="DM Sans"/>
              </a:rPr>
              <a:t>Sunucu içeriğine ihtiyaç duymaksızın yalnızca URL dizesi (lexical) analizi ile henüz kara listelere girmemiş zararlı bağlantılar engellenmektedir.</a:t>
            </a:r>
          </a:p>
        </p:txBody>
      </p:sp>
      <p:pic>
        <p:nvPicPr>
          <p:cNvPr id="17" name="Picture 16" descr="image.png"/>
          <p:cNvPicPr>
            <a:picLocks noChangeAspect="1"/>
          </p:cNvPicPr>
          <p:nvPr/>
        </p:nvPicPr>
        <p:blipFill>
          <a:blip r:embed="rId5"/>
          <a:stretch>
            <a:fillRect/>
          </a:stretch>
        </p:blipFill>
        <p:spPr>
          <a:xfrm>
            <a:off x="819150" y="1576387"/>
            <a:ext cx="257175" cy="342900"/>
          </a:xfrm>
          <a:prstGeom prst="rect">
            <a:avLst/>
          </a:prstGeom>
        </p:spPr>
      </p:pic>
      <p:pic>
        <p:nvPicPr>
          <p:cNvPr id="18" name="Picture 17" descr="image.png"/>
          <p:cNvPicPr>
            <a:picLocks noChangeAspect="1"/>
          </p:cNvPicPr>
          <p:nvPr/>
        </p:nvPicPr>
        <p:blipFill>
          <a:blip r:embed="rId6"/>
          <a:stretch>
            <a:fillRect/>
          </a:stretch>
        </p:blipFill>
        <p:spPr>
          <a:xfrm>
            <a:off x="4581525" y="1576387"/>
            <a:ext cx="342900" cy="342900"/>
          </a:xfrm>
          <a:prstGeom prst="rect">
            <a:avLst/>
          </a:prstGeom>
        </p:spPr>
      </p:pic>
      <p:pic>
        <p:nvPicPr>
          <p:cNvPr id="19" name="Picture 18" descr="image.png"/>
          <p:cNvPicPr>
            <a:picLocks noChangeAspect="1"/>
          </p:cNvPicPr>
          <p:nvPr/>
        </p:nvPicPr>
        <p:blipFill>
          <a:blip r:embed="rId7"/>
          <a:stretch>
            <a:fillRect/>
          </a:stretch>
        </p:blipFill>
        <p:spPr>
          <a:xfrm>
            <a:off x="8343900" y="1576387"/>
            <a:ext cx="428625" cy="342900"/>
          </a:xfrm>
          <a:prstGeom prst="rect">
            <a:avLst/>
          </a:prstGeom>
        </p:spPr>
      </p:pic>
      <p:pic>
        <p:nvPicPr>
          <p:cNvPr id="20" name="Picture 1" descr="image.png">
            <a:extLst>
              <a:ext uri="{FF2B5EF4-FFF2-40B4-BE49-F238E27FC236}">
                <a16:creationId xmlns:a16="http://schemas.microsoft.com/office/drawing/2014/main" id="{27254A7F-60F8-F69F-5D69-77282FACA674}"/>
              </a:ext>
            </a:extLst>
          </p:cNvPr>
          <p:cNvPicPr>
            <a:picLocks noChangeAspect="1"/>
          </p:cNvPicPr>
          <p:nvPr/>
        </p:nvPicPr>
        <p:blipFill>
          <a:blip r:embed="rId8"/>
          <a:stretch>
            <a:fillRect/>
          </a:stretch>
        </p:blipFill>
        <p:spPr>
          <a:xfrm>
            <a:off x="666750" y="952500"/>
            <a:ext cx="10858500" cy="171450"/>
          </a:xfrm>
          <a:prstGeom prst="rect">
            <a:avLst/>
          </a:prstGeom>
        </p:spPr>
      </p:pic>
      <p:pic>
        <p:nvPicPr>
          <p:cNvPr id="21" name="İçerik Yer Tutucusu 10">
            <a:extLst>
              <a:ext uri="{FF2B5EF4-FFF2-40B4-BE49-F238E27FC236}">
                <a16:creationId xmlns:a16="http://schemas.microsoft.com/office/drawing/2014/main" id="{4B40221F-FE6A-E0A2-2946-BA616C25BDE2}"/>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9590435" y="466725"/>
            <a:ext cx="2011362"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B2C5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666750" y="6429375"/>
            <a:ext cx="10858500" cy="238125"/>
          </a:xfrm>
          <a:prstGeom prst="rect">
            <a:avLst/>
          </a:prstGeom>
        </p:spPr>
      </p:pic>
      <p:pic>
        <p:nvPicPr>
          <p:cNvPr id="3" name="Picture 2" descr="image.png"/>
          <p:cNvPicPr>
            <a:picLocks noChangeAspect="1"/>
          </p:cNvPicPr>
          <p:nvPr/>
        </p:nvPicPr>
        <p:blipFill>
          <a:blip r:embed="rId3"/>
          <a:stretch>
            <a:fillRect/>
          </a:stretch>
        </p:blipFill>
        <p:spPr>
          <a:xfrm>
            <a:off x="4667250" y="3514725"/>
            <a:ext cx="2857500" cy="171450"/>
          </a:xfrm>
          <a:prstGeom prst="rect">
            <a:avLst/>
          </a:prstGeom>
        </p:spPr>
      </p:pic>
      <p:pic>
        <p:nvPicPr>
          <p:cNvPr id="4" name="Picture 3" descr="image.png"/>
          <p:cNvPicPr>
            <a:picLocks noChangeAspect="1"/>
          </p:cNvPicPr>
          <p:nvPr/>
        </p:nvPicPr>
        <p:blipFill>
          <a:blip r:embed="rId4"/>
          <a:stretch>
            <a:fillRect/>
          </a:stretch>
        </p:blipFill>
        <p:spPr>
          <a:xfrm>
            <a:off x="1809750" y="3971925"/>
            <a:ext cx="8572500" cy="1295400"/>
          </a:xfrm>
          <a:prstGeom prst="rect">
            <a:avLst/>
          </a:prstGeom>
        </p:spPr>
      </p:pic>
      <p:sp>
        <p:nvSpPr>
          <p:cNvPr id="5" name="TextBox 4"/>
          <p:cNvSpPr txBox="1"/>
          <p:nvPr/>
        </p:nvSpPr>
        <p:spPr>
          <a:xfrm>
            <a:off x="10639425" y="628650"/>
            <a:ext cx="885825" cy="152400"/>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CBD5E1"/>
                </a:solidFill>
                <a:effectLst/>
                <a:uLnTx/>
                <a:uFillTx/>
                <a:latin typeface="DM Sans Medium"/>
                <a:ea typeface="+mn-ea"/>
                <a:cs typeface="+mn-cs"/>
              </a:rPr>
              <a:t>TEMMUZ 2026</a:t>
            </a:r>
          </a:p>
        </p:txBody>
      </p:sp>
      <p:sp>
        <p:nvSpPr>
          <p:cNvPr id="6" name="TextBox 5"/>
          <p:cNvSpPr txBox="1"/>
          <p:nvPr/>
        </p:nvSpPr>
        <p:spPr>
          <a:xfrm>
            <a:off x="1595437" y="2047875"/>
            <a:ext cx="9001125" cy="762000"/>
          </a:xfrm>
          <a:prstGeom prst="rect">
            <a:avLst/>
          </a:prstGeom>
          <a:noFill/>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4800" b="1" i="0" u="none" strike="noStrike" kern="1200" cap="none" spc="0" normalizeH="0" baseline="0" noProof="0">
                <a:ln>
                  <a:noFill/>
                </a:ln>
                <a:solidFill>
                  <a:srgbClr val="FFFFFF"/>
                </a:solidFill>
                <a:effectLst/>
                <a:uLnTx/>
                <a:uFillTx/>
                <a:latin typeface="Merriweather"/>
                <a:ea typeface="+mn-ea"/>
                <a:cs typeface="+mn-cs"/>
              </a:rPr>
              <a:t>Teşekkür Ederim</a:t>
            </a:r>
          </a:p>
        </p:txBody>
      </p:sp>
      <p:sp>
        <p:nvSpPr>
          <p:cNvPr id="8" name="TextBox 7"/>
          <p:cNvSpPr txBox="1"/>
          <p:nvPr/>
        </p:nvSpPr>
        <p:spPr>
          <a:xfrm>
            <a:off x="666750" y="6534150"/>
            <a:ext cx="1123950" cy="126958"/>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825" b="0" i="0" u="none" strike="noStrike" kern="1200" cap="none" spc="0" normalizeH="0" baseline="0" noProof="0" dirty="0">
                <a:ln>
                  <a:noFill/>
                </a:ln>
                <a:solidFill>
                  <a:srgbClr val="94A3B8"/>
                </a:solidFill>
                <a:effectLst/>
                <a:uLnTx/>
                <a:uFillTx/>
                <a:latin typeface="DM Sans"/>
                <a:ea typeface="+mn-ea"/>
                <a:cs typeface="+mn-cs"/>
              </a:rPr>
              <a:t>Soru &amp; </a:t>
            </a:r>
            <a:r>
              <a:rPr kumimoji="0" sz="825" b="0" i="0" u="none" strike="noStrike" kern="1200" cap="none" spc="0" normalizeH="0" baseline="0" noProof="0" dirty="0" err="1">
                <a:ln>
                  <a:noFill/>
                </a:ln>
                <a:solidFill>
                  <a:srgbClr val="94A3B8"/>
                </a:solidFill>
                <a:effectLst/>
                <a:uLnTx/>
                <a:uFillTx/>
                <a:latin typeface="DM Sans"/>
                <a:ea typeface="+mn-ea"/>
                <a:cs typeface="+mn-cs"/>
              </a:rPr>
              <a:t>Cevap</a:t>
            </a:r>
            <a:endParaRPr kumimoji="0" sz="825" b="0" i="0" u="none" strike="noStrike" kern="1200" cap="none" spc="0" normalizeH="0" baseline="0" noProof="0" dirty="0">
              <a:ln>
                <a:noFill/>
              </a:ln>
              <a:solidFill>
                <a:srgbClr val="94A3B8"/>
              </a:solidFill>
              <a:effectLst/>
              <a:uLnTx/>
              <a:uFillTx/>
              <a:latin typeface="DM Sans"/>
              <a:ea typeface="+mn-ea"/>
              <a:cs typeface="+mn-cs"/>
            </a:endParaRPr>
          </a:p>
        </p:txBody>
      </p:sp>
      <p:sp>
        <p:nvSpPr>
          <p:cNvPr id="9" name="TextBox 8"/>
          <p:cNvSpPr txBox="1"/>
          <p:nvPr/>
        </p:nvSpPr>
        <p:spPr>
          <a:xfrm>
            <a:off x="10572750" y="6534150"/>
            <a:ext cx="1021842" cy="126958"/>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825" b="0" i="0" u="none" strike="noStrike" kern="1200" cap="none" spc="0" normalizeH="0" baseline="0" noProof="0" dirty="0">
                <a:ln>
                  <a:noFill/>
                </a:ln>
                <a:solidFill>
                  <a:srgbClr val="FFFFFF"/>
                </a:solidFill>
                <a:effectLst/>
                <a:uLnTx/>
                <a:uFillTx/>
                <a:latin typeface="DM Sans Medium"/>
                <a:ea typeface="+mn-ea"/>
                <a:cs typeface="+mn-cs"/>
              </a:rPr>
              <a:t>www.sakarya.edu.tr</a:t>
            </a:r>
          </a:p>
        </p:txBody>
      </p:sp>
      <p:pic>
        <p:nvPicPr>
          <p:cNvPr id="10" name="Picture 9" descr="image.png"/>
          <p:cNvPicPr>
            <a:picLocks noChangeAspect="1"/>
          </p:cNvPicPr>
          <p:nvPr/>
        </p:nvPicPr>
        <p:blipFill>
          <a:blip r:embed="rId5"/>
          <a:stretch>
            <a:fillRect/>
          </a:stretch>
        </p:blipFill>
        <p:spPr>
          <a:xfrm>
            <a:off x="666750" y="476250"/>
            <a:ext cx="457200" cy="457200"/>
          </a:xfrm>
          <a:prstGeom prst="rect">
            <a:avLst/>
          </a:prstGeom>
        </p:spPr>
      </p:pic>
      <p:sp>
        <p:nvSpPr>
          <p:cNvPr id="11" name="TextBox 10"/>
          <p:cNvSpPr txBox="1"/>
          <p:nvPr/>
        </p:nvSpPr>
        <p:spPr>
          <a:xfrm>
            <a:off x="1266825" y="542925"/>
            <a:ext cx="2324100" cy="323850"/>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DM Sans"/>
                <a:ea typeface="+mn-ea"/>
                <a:cs typeface="+mn-cs"/>
              </a:rPr>
              <a:t>SAKARYA ÜNİVERSİTESİ</a:t>
            </a:r>
            <a:r>
              <a:rPr kumimoji="0" sz="1200" b="0" i="0" u="none" strike="noStrike" kern="1200" cap="none" spc="0" normalizeH="0" baseline="0" noProof="0">
                <a:ln>
                  <a:noFill/>
                </a:ln>
                <a:solidFill>
                  <a:srgbClr val="FFFFFF"/>
                </a:solidFill>
                <a:effectLst/>
                <a:uLnTx/>
                <a:uFillTx/>
                <a:latin typeface="DM Sans"/>
                <a:ea typeface="+mn-ea"/>
                <a:cs typeface="+mn-cs"/>
              </a:rPr>
              <a:t> FEN BİLİMLERİ ENSTİTÜSÜ</a:t>
            </a:r>
          </a:p>
        </p:txBody>
      </p:sp>
      <p:sp>
        <p:nvSpPr>
          <p:cNvPr id="12" name="TextBox 11"/>
          <p:cNvSpPr txBox="1"/>
          <p:nvPr/>
        </p:nvSpPr>
        <p:spPr>
          <a:xfrm>
            <a:off x="2200275" y="4219575"/>
            <a:ext cx="7791450" cy="190500"/>
          </a:xfrm>
          <a:prstGeom prst="rect">
            <a:avLst/>
          </a:prstGeom>
          <a:noFill/>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25" b="0" i="0" u="none" strike="noStrike" kern="1200" cap="none" spc="0" normalizeH="0" baseline="0" noProof="0">
                <a:ln>
                  <a:noFill/>
                </a:ln>
                <a:solidFill>
                  <a:srgbClr val="94A3B8"/>
                </a:solidFill>
                <a:effectLst/>
                <a:uLnTx/>
                <a:uFillTx/>
                <a:latin typeface="DM Sans"/>
                <a:ea typeface="+mn-ea"/>
                <a:cs typeface="+mn-cs"/>
              </a:rPr>
              <a:t>YÜKSEK LISANS ADAYI</a:t>
            </a:r>
          </a:p>
        </p:txBody>
      </p:sp>
      <p:sp>
        <p:nvSpPr>
          <p:cNvPr id="13" name="TextBox 12"/>
          <p:cNvSpPr txBox="1"/>
          <p:nvPr/>
        </p:nvSpPr>
        <p:spPr>
          <a:xfrm>
            <a:off x="2200275" y="4457700"/>
            <a:ext cx="7791450" cy="247650"/>
          </a:xfrm>
          <a:prstGeom prst="rect">
            <a:avLst/>
          </a:prstGeom>
          <a:noFill/>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a:ln>
                  <a:noFill/>
                </a:ln>
                <a:solidFill>
                  <a:srgbClr val="FFFFFF"/>
                </a:solidFill>
                <a:effectLst/>
                <a:uLnTx/>
                <a:uFillTx/>
                <a:latin typeface="DM Sans"/>
                <a:ea typeface="+mn-ea"/>
                <a:cs typeface="+mn-cs"/>
              </a:rPr>
              <a:t>Mustafa Melih TÜFEKCİOĞLU</a:t>
            </a:r>
          </a:p>
        </p:txBody>
      </p:sp>
      <p:sp>
        <p:nvSpPr>
          <p:cNvPr id="14" name="TextBox 13"/>
          <p:cNvSpPr txBox="1"/>
          <p:nvPr/>
        </p:nvSpPr>
        <p:spPr>
          <a:xfrm>
            <a:off x="2200275" y="4848225"/>
            <a:ext cx="7791450" cy="161583"/>
          </a:xfrm>
          <a:prstGeom prst="rect">
            <a:avLst/>
          </a:prstGeom>
          <a:noFill/>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dirty="0" err="1">
                <a:ln>
                  <a:noFill/>
                </a:ln>
                <a:solidFill>
                  <a:srgbClr val="CBD5E1"/>
                </a:solidFill>
                <a:effectLst/>
                <a:uLnTx/>
                <a:uFillTx/>
                <a:latin typeface="DM Sans"/>
                <a:ea typeface="+mn-ea"/>
                <a:cs typeface="+mn-cs"/>
              </a:rPr>
              <a:t>Sakarya</a:t>
            </a:r>
            <a:r>
              <a:rPr kumimoji="0" sz="1050" b="0" i="0" u="none" strike="noStrike" kern="1200" cap="none" spc="0" normalizeH="0" baseline="0" noProof="0" dirty="0">
                <a:ln>
                  <a:noFill/>
                </a:ln>
                <a:solidFill>
                  <a:srgbClr val="CBD5E1"/>
                </a:solidFill>
                <a:effectLst/>
                <a:uLnTx/>
                <a:uFillTx/>
                <a:latin typeface="DM Sans"/>
                <a:ea typeface="+mn-ea"/>
                <a:cs typeface="+mn-cs"/>
              </a:rPr>
              <a:t> </a:t>
            </a:r>
            <a:r>
              <a:rPr kumimoji="0" sz="1050" b="0" i="0" u="none" strike="noStrike" kern="1200" cap="none" spc="0" normalizeH="0" baseline="0" noProof="0" dirty="0" err="1">
                <a:ln>
                  <a:noFill/>
                </a:ln>
                <a:solidFill>
                  <a:srgbClr val="CBD5E1"/>
                </a:solidFill>
                <a:effectLst/>
                <a:uLnTx/>
                <a:uFillTx/>
                <a:latin typeface="DM Sans"/>
                <a:ea typeface="+mn-ea"/>
                <a:cs typeface="+mn-cs"/>
              </a:rPr>
              <a:t>Üniversitesi</a:t>
            </a:r>
            <a:r>
              <a:rPr kumimoji="0" sz="1050" b="0" i="0" u="none" strike="noStrike" kern="1200" cap="none" spc="0" normalizeH="0" baseline="0" noProof="0" dirty="0">
                <a:ln>
                  <a:noFill/>
                </a:ln>
                <a:solidFill>
                  <a:srgbClr val="CBD5E1"/>
                </a:solidFill>
                <a:effectLst/>
                <a:uLnTx/>
                <a:uFillTx/>
                <a:latin typeface="DM Sans"/>
                <a:ea typeface="+mn-ea"/>
                <a:cs typeface="+mn-cs"/>
              </a:rPr>
              <a:t> • </a:t>
            </a:r>
            <a:r>
              <a:rPr kumimoji="0" sz="1050" b="0" i="0" u="none" strike="noStrike" kern="1200" cap="none" spc="0" normalizeH="0" baseline="0" noProof="0" dirty="0" err="1">
                <a:ln>
                  <a:noFill/>
                </a:ln>
                <a:solidFill>
                  <a:srgbClr val="CBD5E1"/>
                </a:solidFill>
                <a:effectLst/>
                <a:uLnTx/>
                <a:uFillTx/>
                <a:latin typeface="DM Sans"/>
                <a:ea typeface="+mn-ea"/>
                <a:cs typeface="+mn-cs"/>
              </a:rPr>
              <a:t>Bilgisayar</a:t>
            </a:r>
            <a:r>
              <a:rPr kumimoji="0" sz="1050" b="0" i="0" u="none" strike="noStrike" kern="1200" cap="none" spc="0" normalizeH="0" baseline="0" noProof="0" dirty="0">
                <a:ln>
                  <a:noFill/>
                </a:ln>
                <a:solidFill>
                  <a:srgbClr val="CBD5E1"/>
                </a:solidFill>
                <a:effectLst/>
                <a:uLnTx/>
                <a:uFillTx/>
                <a:latin typeface="DM Sans"/>
                <a:ea typeface="+mn-ea"/>
                <a:cs typeface="+mn-cs"/>
              </a:rPr>
              <a:t> </a:t>
            </a:r>
            <a:r>
              <a:rPr kumimoji="0" sz="1050" b="0" i="0" u="none" strike="noStrike" kern="1200" cap="none" spc="0" normalizeH="0" baseline="0" noProof="0" dirty="0" err="1">
                <a:ln>
                  <a:noFill/>
                </a:ln>
                <a:solidFill>
                  <a:srgbClr val="CBD5E1"/>
                </a:solidFill>
                <a:effectLst/>
                <a:uLnTx/>
                <a:uFillTx/>
                <a:latin typeface="DM Sans"/>
                <a:ea typeface="+mn-ea"/>
                <a:cs typeface="+mn-cs"/>
              </a:rPr>
              <a:t>ve</a:t>
            </a:r>
            <a:r>
              <a:rPr kumimoji="0" sz="1050" b="0" i="0" u="none" strike="noStrike" kern="1200" cap="none" spc="0" normalizeH="0" baseline="0" noProof="0" dirty="0">
                <a:ln>
                  <a:noFill/>
                </a:ln>
                <a:solidFill>
                  <a:srgbClr val="CBD5E1"/>
                </a:solidFill>
                <a:effectLst/>
                <a:uLnTx/>
                <a:uFillTx/>
                <a:latin typeface="DM Sans"/>
                <a:ea typeface="+mn-ea"/>
                <a:cs typeface="+mn-cs"/>
              </a:rPr>
              <a:t> </a:t>
            </a:r>
            <a:r>
              <a:rPr kumimoji="0" sz="1050" b="0" i="0" u="none" strike="noStrike" kern="1200" cap="none" spc="0" normalizeH="0" baseline="0" noProof="0" dirty="0" err="1">
                <a:ln>
                  <a:noFill/>
                </a:ln>
                <a:solidFill>
                  <a:srgbClr val="CBD5E1"/>
                </a:solidFill>
                <a:effectLst/>
                <a:uLnTx/>
                <a:uFillTx/>
                <a:latin typeface="DM Sans"/>
                <a:ea typeface="+mn-ea"/>
                <a:cs typeface="+mn-cs"/>
              </a:rPr>
              <a:t>Bilişim</a:t>
            </a:r>
            <a:r>
              <a:rPr kumimoji="0" sz="1050" b="0" i="0" u="none" strike="noStrike" kern="1200" cap="none" spc="0" normalizeH="0" baseline="0" noProof="0" dirty="0">
                <a:ln>
                  <a:noFill/>
                </a:ln>
                <a:solidFill>
                  <a:srgbClr val="CBD5E1"/>
                </a:solidFill>
                <a:effectLst/>
                <a:uLnTx/>
                <a:uFillTx/>
                <a:latin typeface="DM Sans"/>
                <a:ea typeface="+mn-ea"/>
                <a:cs typeface="+mn-cs"/>
              </a:rPr>
              <a:t> </a:t>
            </a:r>
            <a:r>
              <a:rPr kumimoji="0" lang="tr-TR" sz="1050" b="0" i="0" u="none" strike="noStrike" kern="1200" cap="none" spc="0" normalizeH="0" baseline="0" noProof="0" dirty="0">
                <a:ln>
                  <a:noFill/>
                </a:ln>
                <a:solidFill>
                  <a:srgbClr val="CBD5E1"/>
                </a:solidFill>
                <a:effectLst/>
                <a:uLnTx/>
                <a:uFillTx/>
                <a:latin typeface="DM Sans"/>
                <a:ea typeface="+mn-ea"/>
                <a:cs typeface="+mn-cs"/>
              </a:rPr>
              <a:t>Mühendisliği Anabilim Dalı</a:t>
            </a:r>
            <a:r>
              <a:rPr kumimoji="0" sz="1050" b="0" i="0" u="none" strike="noStrike" kern="1200" cap="none" spc="0" normalizeH="0" baseline="0" noProof="0" dirty="0">
                <a:ln>
                  <a:noFill/>
                </a:ln>
                <a:solidFill>
                  <a:srgbClr val="CBD5E1"/>
                </a:solidFill>
                <a:effectLst/>
                <a:uLnTx/>
                <a:uFillTx/>
                <a:latin typeface="DM Sans"/>
                <a:ea typeface="+mn-ea"/>
                <a:cs typeface="+mn-cs"/>
              </a:rPr>
              <a:t> • </a:t>
            </a:r>
            <a:r>
              <a:rPr kumimoji="0" sz="1050" b="0" i="0" u="none" strike="noStrike" kern="1200" cap="none" spc="0" normalizeH="0" baseline="0" noProof="0" dirty="0" err="1">
                <a:ln>
                  <a:noFill/>
                </a:ln>
                <a:solidFill>
                  <a:srgbClr val="CBD5E1"/>
                </a:solidFill>
                <a:effectLst/>
                <a:uLnTx/>
                <a:uFillTx/>
                <a:latin typeface="DM Sans"/>
                <a:ea typeface="+mn-ea"/>
                <a:cs typeface="+mn-cs"/>
              </a:rPr>
              <a:t>Siber</a:t>
            </a:r>
            <a:r>
              <a:rPr kumimoji="0" sz="1050" b="0" i="0" u="none" strike="noStrike" kern="1200" cap="none" spc="0" normalizeH="0" baseline="0" noProof="0" dirty="0">
                <a:ln>
                  <a:noFill/>
                </a:ln>
                <a:solidFill>
                  <a:srgbClr val="CBD5E1"/>
                </a:solidFill>
                <a:effectLst/>
                <a:uLnTx/>
                <a:uFillTx/>
                <a:latin typeface="DM Sans"/>
                <a:ea typeface="+mn-ea"/>
                <a:cs typeface="+mn-cs"/>
              </a:rPr>
              <a:t> </a:t>
            </a:r>
            <a:r>
              <a:rPr kumimoji="0" sz="1050" b="0" i="0" u="none" strike="noStrike" kern="1200" cap="none" spc="0" normalizeH="0" baseline="0" noProof="0" dirty="0" err="1">
                <a:ln>
                  <a:noFill/>
                </a:ln>
                <a:solidFill>
                  <a:srgbClr val="CBD5E1"/>
                </a:solidFill>
                <a:effectLst/>
                <a:uLnTx/>
                <a:uFillTx/>
                <a:latin typeface="DM Sans"/>
                <a:ea typeface="+mn-ea"/>
                <a:cs typeface="+mn-cs"/>
              </a:rPr>
              <a:t>Güvenlik</a:t>
            </a:r>
            <a:r>
              <a:rPr kumimoji="0" sz="1050" b="0" i="0" u="none" strike="noStrike" kern="1200" cap="none" spc="0" normalizeH="0" baseline="0" noProof="0" dirty="0">
                <a:ln>
                  <a:noFill/>
                </a:ln>
                <a:solidFill>
                  <a:srgbClr val="CBD5E1"/>
                </a:solidFill>
                <a:effectLst/>
                <a:uLnTx/>
                <a:uFillTx/>
                <a:latin typeface="DM Sans"/>
                <a:ea typeface="+mn-ea"/>
                <a:cs typeface="+mn-cs"/>
              </a:rPr>
              <a:t> </a:t>
            </a:r>
            <a:r>
              <a:rPr kumimoji="0" lang="tr-TR" sz="1050" b="0" i="0" u="none" strike="noStrike" kern="1200" cap="none" spc="0" normalizeH="0" baseline="0" noProof="0" dirty="0">
                <a:ln>
                  <a:noFill/>
                </a:ln>
                <a:solidFill>
                  <a:srgbClr val="CBD5E1"/>
                </a:solidFill>
                <a:effectLst/>
                <a:uLnTx/>
                <a:uFillTx/>
                <a:latin typeface="DM Sans"/>
                <a:ea typeface="+mn-ea"/>
                <a:cs typeface="+mn-cs"/>
              </a:rPr>
              <a:t>Programı</a:t>
            </a:r>
            <a:endParaRPr kumimoji="0" sz="1050" b="0" i="0" u="none" strike="noStrike" kern="1200" cap="none" spc="0" normalizeH="0" baseline="0" noProof="0" dirty="0">
              <a:ln>
                <a:noFill/>
              </a:ln>
              <a:solidFill>
                <a:srgbClr val="CBD5E1"/>
              </a:solidFill>
              <a:effectLst/>
              <a:uLnTx/>
              <a:uFillTx/>
              <a:latin typeface="DM Sans"/>
              <a:ea typeface="+mn-ea"/>
              <a:cs typeface="+mn-cs"/>
            </a:endParaRPr>
          </a:p>
        </p:txBody>
      </p:sp>
      <p:pic>
        <p:nvPicPr>
          <p:cNvPr id="15" name="İçerik Yer Tutucusu 10">
            <a:extLst>
              <a:ext uri="{FF2B5EF4-FFF2-40B4-BE49-F238E27FC236}">
                <a16:creationId xmlns:a16="http://schemas.microsoft.com/office/drawing/2014/main" id="{93AEC6A2-EE6E-EA5E-1118-58252B5A57B7}"/>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5090318" y="358352"/>
            <a:ext cx="2011362"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505</TotalTime>
  <Words>2273</Words>
  <Application>Microsoft Office PowerPoint</Application>
  <PresentationFormat>Geniş ekran</PresentationFormat>
  <Paragraphs>417</Paragraphs>
  <Slides>26</Slides>
  <Notes>0</Notes>
  <HiddenSlides>0</HiddenSlides>
  <MMClips>0</MMClips>
  <ScaleCrop>false</ScaleCrop>
  <HeadingPairs>
    <vt:vector size="6" baseType="variant">
      <vt:variant>
        <vt:lpstr>Kullanılan Yazı Tipleri</vt:lpstr>
      </vt:variant>
      <vt:variant>
        <vt:i4>7</vt:i4>
      </vt:variant>
      <vt:variant>
        <vt:lpstr>Tema</vt:lpstr>
      </vt:variant>
      <vt:variant>
        <vt:i4>1</vt:i4>
      </vt:variant>
      <vt:variant>
        <vt:lpstr>Slayt Başlıkları</vt:lpstr>
      </vt:variant>
      <vt:variant>
        <vt:i4>26</vt:i4>
      </vt:variant>
    </vt:vector>
  </HeadingPairs>
  <TitlesOfParts>
    <vt:vector size="34" baseType="lpstr">
      <vt:lpstr>Arial</vt:lpstr>
      <vt:lpstr>Calibri</vt:lpstr>
      <vt:lpstr>DM Sans</vt:lpstr>
      <vt:lpstr>DM Sans Medium</vt:lpstr>
      <vt:lpstr>DM Sans SemiBold</vt:lpstr>
      <vt:lpstr>Inter</vt:lpstr>
      <vt:lpstr>Merriweather</vt: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M.Melih Tüfekcioğlu</cp:lastModifiedBy>
  <cp:revision>70</cp:revision>
  <dcterms:created xsi:type="dcterms:W3CDTF">2013-01-27T09:14:16Z</dcterms:created>
  <dcterms:modified xsi:type="dcterms:W3CDTF">2026-07-26T13:02:37Z</dcterms:modified>
  <cp:category/>
</cp:coreProperties>
</file>